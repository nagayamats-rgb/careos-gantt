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6"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192"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525772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hyperlink" Target="https://s23.jizokukahojokin.info/" TargetMode="External"/><Relationship Id="rId3" Type="http://schemas.openxmlformats.org/officeDocument/2006/relationships/hyperlink" Target="https://iot-robot.jp/business/dxsubsidy/" TargetMode="External"/><Relationship Id="rId7" Type="http://schemas.openxmlformats.org/officeDocument/2006/relationships/hyperlink" Target="https://it-shien.smrj.go.jp/"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www.cas.go.jp/jp/seisaku/atarashii_sihonsyugi/shouryokukatousi/10-2.pdf" TargetMode="External"/><Relationship Id="rId5" Type="http://schemas.openxmlformats.org/officeDocument/2006/relationships/hyperlink" Target="https://shakaikadai.metro.tokyo.lg.jp/" TargetMode="External"/><Relationship Id="rId10" Type="http://schemas.openxmlformats.org/officeDocument/2006/relationships/hyperlink" Target="https://carerobot.kanafuku.jp/tech/" TargetMode="External"/><Relationship Id="rId4" Type="http://schemas.openxmlformats.org/officeDocument/2006/relationships/hyperlink" Target="https://www.tokyo-sogyo-net.metro.tokyo.lg.jp/finance/sogyo_josei.html" TargetMode="External"/><Relationship Id="rId9" Type="http://schemas.openxmlformats.org/officeDocument/2006/relationships/hyperlink" Target="https://sbir.csti-startup-policy.go.jp/"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4630400" cy="73152"/>
          </a:xfrm>
          <a:prstGeom prst="rect">
            <a:avLst/>
          </a:prstGeom>
          <a:solidFill>
            <a:srgbClr val="4A90D9"/>
          </a:solidFill>
          <a:ln/>
        </p:spPr>
        <p:txBody>
          <a:bodyPr/>
          <a:lstStyle/>
          <a:p>
            <a:endParaRPr lang="ja-JP" altLang="en-US"/>
          </a:p>
        </p:txBody>
      </p:sp>
      <p:sp>
        <p:nvSpPr>
          <p:cNvPr id="3" name="Text 1"/>
          <p:cNvSpPr/>
          <p:nvPr/>
        </p:nvSpPr>
        <p:spPr>
          <a:xfrm>
            <a:off x="1371600" y="1828800"/>
            <a:ext cx="11887200" cy="1097280"/>
          </a:xfrm>
          <a:prstGeom prst="rect">
            <a:avLst/>
          </a:prstGeom>
          <a:noFill/>
          <a:ln/>
        </p:spPr>
        <p:txBody>
          <a:bodyPr wrap="square" rtlCol="0" anchor="ctr"/>
          <a:lstStyle/>
          <a:p>
            <a:pPr marL="0" indent="0" algn="ctr">
              <a:buNone/>
            </a:pPr>
            <a:r>
              <a:rPr lang="en-US" sz="4800" b="1" dirty="0">
                <a:solidFill>
                  <a:srgbClr val="FFFFFF"/>
                </a:solidFill>
                <a:latin typeface="Hiragino Sans W6" pitchFamily="34" charset="0"/>
                <a:ea typeface="Hiragino Sans W6" pitchFamily="34" charset="-122"/>
                <a:cs typeface="Hiragino Sans W6" pitchFamily="34" charset="-120"/>
              </a:rPr>
              <a:t>Universal Care OS</a:t>
            </a:r>
            <a:endParaRPr lang="en-US" sz="4800" dirty="0"/>
          </a:p>
        </p:txBody>
      </p:sp>
      <p:sp>
        <p:nvSpPr>
          <p:cNvPr id="4" name="Text 2"/>
          <p:cNvSpPr/>
          <p:nvPr/>
        </p:nvSpPr>
        <p:spPr>
          <a:xfrm>
            <a:off x="1371600" y="3017520"/>
            <a:ext cx="11887200" cy="731520"/>
          </a:xfrm>
          <a:prstGeom prst="rect">
            <a:avLst/>
          </a:prstGeom>
          <a:noFill/>
          <a:ln/>
        </p:spPr>
        <p:txBody>
          <a:bodyPr wrap="square" rtlCol="0" anchor="ctr"/>
          <a:lstStyle/>
          <a:p>
            <a:pPr marL="0" indent="0" algn="ctr">
              <a:buNone/>
            </a:pPr>
            <a:r>
              <a:rPr lang="en-US" sz="3000" dirty="0">
                <a:solidFill>
                  <a:srgbClr val="4A90D9"/>
                </a:solidFill>
                <a:latin typeface="Hiragino Sans W3" pitchFamily="34" charset="0"/>
                <a:ea typeface="Hiragino Sans W3" pitchFamily="34" charset="-122"/>
                <a:cs typeface="Hiragino Sans W3" pitchFamily="34" charset="-120"/>
              </a:rPr>
              <a:t>助成金・補助金ロードマップ</a:t>
            </a:r>
            <a:endParaRPr lang="en-US" sz="3000" dirty="0"/>
          </a:p>
        </p:txBody>
      </p:sp>
      <p:sp>
        <p:nvSpPr>
          <p:cNvPr id="5" name="Text 3"/>
          <p:cNvSpPr/>
          <p:nvPr/>
        </p:nvSpPr>
        <p:spPr>
          <a:xfrm>
            <a:off x="1828800" y="4206240"/>
            <a:ext cx="10972800" cy="548640"/>
          </a:xfrm>
          <a:prstGeom prst="rect">
            <a:avLst/>
          </a:prstGeom>
          <a:noFill/>
          <a:ln/>
        </p:spPr>
        <p:txBody>
          <a:bodyPr wrap="square" rtlCol="0" anchor="ctr"/>
          <a:lstStyle/>
          <a:p>
            <a:pPr marL="0" indent="0" algn="ctr">
              <a:buNone/>
            </a:pPr>
            <a:r>
              <a:rPr lang="en-US" sz="1800" dirty="0">
                <a:solidFill>
                  <a:srgbClr val="F39C12"/>
                </a:solidFill>
                <a:latin typeface="Hiragino Sans W3" pitchFamily="34" charset="0"/>
                <a:ea typeface="Hiragino Sans W3" pitchFamily="34" charset="-122"/>
                <a:cs typeface="Hiragino Sans W3" pitchFamily="34" charset="-120"/>
              </a:rPr>
              <a:t>JV発足から初年度で最大4,400万円の補助金ポテンシャル</a:t>
            </a:r>
            <a:endParaRPr lang="en-US" sz="1800" dirty="0"/>
          </a:p>
        </p:txBody>
      </p:sp>
      <p:sp>
        <p:nvSpPr>
          <p:cNvPr id="6" name="Text 4"/>
          <p:cNvSpPr/>
          <p:nvPr/>
        </p:nvSpPr>
        <p:spPr>
          <a:xfrm>
            <a:off x="1828800" y="6858000"/>
            <a:ext cx="10972800" cy="457200"/>
          </a:xfrm>
          <a:prstGeom prst="rect">
            <a:avLst/>
          </a:prstGeom>
          <a:noFill/>
          <a:ln/>
        </p:spPr>
        <p:txBody>
          <a:bodyPr wrap="square" rtlCol="0" anchor="ctr"/>
          <a:lstStyle/>
          <a:p>
            <a:pPr marL="0" indent="0" algn="ctr">
              <a:buNone/>
            </a:pPr>
            <a:r>
              <a:rPr lang="en-US" sz="1400" dirty="0">
                <a:solidFill>
                  <a:srgbClr val="888888"/>
                </a:solidFill>
                <a:latin typeface="Hiragino Sans W3" pitchFamily="34" charset="0"/>
                <a:ea typeface="Hiragino Sans W3" pitchFamily="34" charset="-122"/>
                <a:cs typeface="Hiragino Sans W3" pitchFamily="34" charset="-120"/>
              </a:rPr>
              <a:t>2026年3月20日  |  DataBee × サンライズ × FDSi</a:t>
            </a:r>
            <a:endParaRPr lang="en-US" sz="1400" dirty="0"/>
          </a:p>
        </p:txBody>
      </p:sp>
      <p:sp>
        <p:nvSpPr>
          <p:cNvPr id="7" name="Text 5"/>
          <p:cNvSpPr/>
          <p:nvPr/>
        </p:nvSpPr>
        <p:spPr>
          <a:xfrm>
            <a:off x="1828800" y="7406640"/>
            <a:ext cx="10972800" cy="365760"/>
          </a:xfrm>
          <a:prstGeom prst="rect">
            <a:avLst/>
          </a:prstGeom>
          <a:noFill/>
          <a:ln/>
        </p:spPr>
        <p:txBody>
          <a:bodyPr wrap="square" rtlCol="0" anchor="ctr"/>
          <a:lstStyle/>
          <a:p>
            <a:pPr marL="0" indent="0" algn="ctr">
              <a:buNone/>
            </a:pPr>
            <a:r>
              <a:rPr lang="en-US" sz="1200" i="1" dirty="0">
                <a:solidFill>
                  <a:srgbClr val="666666"/>
                </a:solidFill>
                <a:latin typeface="Hiragino Sans W3" pitchFamily="34" charset="0"/>
                <a:ea typeface="Hiragino Sans W3" pitchFamily="34" charset="-122"/>
                <a:cs typeface="Hiragino Sans W3" pitchFamily="34" charset="-120"/>
              </a:rPr>
              <a:t>CONFIDENTIAL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E8DD"/>
        </a:solidFill>
        <a:effectLst/>
      </p:bgPr>
    </p:bg>
    <p:spTree>
      <p:nvGrpSpPr>
        <p:cNvPr id="1" name=""/>
        <p:cNvGrpSpPr/>
        <p:nvPr/>
      </p:nvGrpSpPr>
      <p:grpSpPr>
        <a:xfrm>
          <a:off x="0" y="0"/>
          <a:ext cx="0" cy="0"/>
          <a:chOff x="0" y="0"/>
          <a:chExt cx="0" cy="0"/>
        </a:xfrm>
      </p:grpSpPr>
      <p:sp>
        <p:nvSpPr>
          <p:cNvPr id="2" name="Shape 0"/>
          <p:cNvSpPr/>
          <p:nvPr/>
        </p:nvSpPr>
        <p:spPr>
          <a:xfrm>
            <a:off x="475488" y="256032"/>
            <a:ext cx="13679424" cy="640080"/>
          </a:xfrm>
          <a:prstGeom prst="rect">
            <a:avLst/>
          </a:prstGeom>
          <a:solidFill>
            <a:srgbClr val="484237"/>
          </a:solidFill>
          <a:ln/>
        </p:spPr>
        <p:txBody>
          <a:bodyPr/>
          <a:lstStyle/>
          <a:p>
            <a:endParaRPr lang="ja-JP" altLang="en-US"/>
          </a:p>
        </p:txBody>
      </p:sp>
      <p:sp>
        <p:nvSpPr>
          <p:cNvPr id="3" name="Text 1"/>
          <p:cNvSpPr/>
          <p:nvPr/>
        </p:nvSpPr>
        <p:spPr>
          <a:xfrm>
            <a:off x="658368" y="256032"/>
            <a:ext cx="13313664" cy="640080"/>
          </a:xfrm>
          <a:prstGeom prst="rect">
            <a:avLst/>
          </a:prstGeom>
          <a:noFill/>
          <a:ln/>
        </p:spPr>
        <p:txBody>
          <a:bodyPr wrap="square" rtlCol="0" anchor="ctr"/>
          <a:lstStyle/>
          <a:p>
            <a:pPr marL="0" indent="0">
              <a:buNone/>
            </a:pPr>
            <a:r>
              <a:rPr lang="en-US" sz="2800" b="1" dirty="0">
                <a:solidFill>
                  <a:srgbClr val="FFFFFF"/>
                </a:solidFill>
                <a:latin typeface="Hiragino Sans W6" pitchFamily="34" charset="0"/>
                <a:ea typeface="Hiragino Sans W6" pitchFamily="34" charset="-122"/>
                <a:cs typeface="Hiragino Sans W6" pitchFamily="34" charset="-120"/>
              </a:rPr>
              <a:t>なぜ助成金・補助金が重要なのか</a:t>
            </a:r>
            <a:endParaRPr lang="en-US" sz="2800" dirty="0"/>
          </a:p>
        </p:txBody>
      </p:sp>
      <p:sp>
        <p:nvSpPr>
          <p:cNvPr id="4" name="Shape 2"/>
          <p:cNvSpPr/>
          <p:nvPr/>
        </p:nvSpPr>
        <p:spPr>
          <a:xfrm>
            <a:off x="731520" y="1645920"/>
            <a:ext cx="4206240" cy="2743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5" name="Shape 3"/>
          <p:cNvSpPr/>
          <p:nvPr/>
        </p:nvSpPr>
        <p:spPr>
          <a:xfrm>
            <a:off x="731520" y="1645920"/>
            <a:ext cx="4206240" cy="73152"/>
          </a:xfrm>
          <a:prstGeom prst="rect">
            <a:avLst/>
          </a:prstGeom>
          <a:solidFill>
            <a:srgbClr val="4A90D9"/>
          </a:solidFill>
          <a:ln/>
        </p:spPr>
        <p:txBody>
          <a:bodyPr/>
          <a:lstStyle/>
          <a:p>
            <a:endParaRPr lang="ja-JP" altLang="en-US"/>
          </a:p>
        </p:txBody>
      </p:sp>
      <p:sp>
        <p:nvSpPr>
          <p:cNvPr id="6" name="Text 4"/>
          <p:cNvSpPr/>
          <p:nvPr/>
        </p:nvSpPr>
        <p:spPr>
          <a:xfrm>
            <a:off x="731520" y="2011680"/>
            <a:ext cx="4206240" cy="1097280"/>
          </a:xfrm>
          <a:prstGeom prst="rect">
            <a:avLst/>
          </a:prstGeom>
          <a:noFill/>
          <a:ln/>
        </p:spPr>
        <p:txBody>
          <a:bodyPr wrap="square" rtlCol="0" anchor="ctr"/>
          <a:lstStyle/>
          <a:p>
            <a:pPr marL="0" indent="0" algn="ctr">
              <a:buNone/>
            </a:pPr>
            <a:r>
              <a:rPr lang="en-US" sz="3600" b="1" dirty="0">
                <a:solidFill>
                  <a:srgbClr val="4A90D9"/>
                </a:solidFill>
                <a:latin typeface="Hiragino Sans W6" pitchFamily="34" charset="0"/>
                <a:ea typeface="Hiragino Sans W6" pitchFamily="34" charset="-122"/>
                <a:cs typeface="Hiragino Sans W6" pitchFamily="34" charset="-120"/>
              </a:rPr>
              <a:t>6,800万円</a:t>
            </a:r>
            <a:endParaRPr lang="en-US" sz="3600" dirty="0"/>
          </a:p>
        </p:txBody>
      </p:sp>
      <p:sp>
        <p:nvSpPr>
          <p:cNvPr id="7" name="Text 5"/>
          <p:cNvSpPr/>
          <p:nvPr/>
        </p:nvSpPr>
        <p:spPr>
          <a:xfrm>
            <a:off x="731520" y="3017520"/>
            <a:ext cx="4206240" cy="548640"/>
          </a:xfrm>
          <a:prstGeom prst="rect">
            <a:avLst/>
          </a:prstGeom>
          <a:noFill/>
          <a:ln/>
        </p:spPr>
        <p:txBody>
          <a:bodyPr wrap="square" rtlCol="0" anchor="ctr"/>
          <a:lstStyle/>
          <a:p>
            <a:pPr marL="0" indent="0" algn="ctr">
              <a:buNone/>
            </a:pPr>
            <a:r>
              <a:rPr lang="en-US" sz="1600" b="1" dirty="0">
                <a:solidFill>
                  <a:srgbClr val="4A4A45"/>
                </a:solidFill>
                <a:latin typeface="Hiragino Sans W6" pitchFamily="34" charset="0"/>
                <a:ea typeface="Hiragino Sans W6" pitchFamily="34" charset="-122"/>
                <a:cs typeface="Hiragino Sans W6" pitchFamily="34" charset="-120"/>
              </a:rPr>
              <a:t>開発投資総額</a:t>
            </a:r>
            <a:endParaRPr lang="en-US" sz="1600" dirty="0"/>
          </a:p>
        </p:txBody>
      </p:sp>
      <p:sp>
        <p:nvSpPr>
          <p:cNvPr id="8" name="Text 6"/>
          <p:cNvSpPr/>
          <p:nvPr/>
        </p:nvSpPr>
        <p:spPr>
          <a:xfrm>
            <a:off x="731520" y="3566160"/>
            <a:ext cx="4206240" cy="548640"/>
          </a:xfrm>
          <a:prstGeom prst="rect">
            <a:avLst/>
          </a:prstGeom>
          <a:noFill/>
          <a:ln/>
        </p:spPr>
        <p:txBody>
          <a:bodyPr wrap="square" rtlCol="0" anchor="ctr"/>
          <a:lstStyle/>
          <a:p>
            <a:pPr marL="0" indent="0" algn="ctr">
              <a:buNone/>
            </a:pPr>
            <a:r>
              <a:rPr lang="en-US" sz="1300" dirty="0">
                <a:solidFill>
                  <a:srgbClr val="746558"/>
                </a:solidFill>
                <a:latin typeface="Hiragino Sans W3" pitchFamily="34" charset="0"/>
                <a:ea typeface="Hiragino Sans W3" pitchFamily="34" charset="-122"/>
                <a:cs typeface="Hiragino Sans W3" pitchFamily="34" charset="-120"/>
              </a:rPr>
              <a:t>DataBeeが本事業に賭ける覚悟</a:t>
            </a:r>
            <a:endParaRPr lang="en-US" sz="1300" dirty="0"/>
          </a:p>
        </p:txBody>
      </p:sp>
      <p:sp>
        <p:nvSpPr>
          <p:cNvPr id="9" name="Shape 7"/>
          <p:cNvSpPr/>
          <p:nvPr/>
        </p:nvSpPr>
        <p:spPr>
          <a:xfrm>
            <a:off x="5394960" y="1645920"/>
            <a:ext cx="4206240" cy="2743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0" name="Shape 8"/>
          <p:cNvSpPr/>
          <p:nvPr/>
        </p:nvSpPr>
        <p:spPr>
          <a:xfrm>
            <a:off x="5394960" y="1645920"/>
            <a:ext cx="4206240" cy="73152"/>
          </a:xfrm>
          <a:prstGeom prst="rect">
            <a:avLst/>
          </a:prstGeom>
          <a:solidFill>
            <a:srgbClr val="4A90D9"/>
          </a:solidFill>
          <a:ln/>
        </p:spPr>
        <p:txBody>
          <a:bodyPr/>
          <a:lstStyle/>
          <a:p>
            <a:endParaRPr lang="ja-JP" altLang="en-US"/>
          </a:p>
        </p:txBody>
      </p:sp>
      <p:sp>
        <p:nvSpPr>
          <p:cNvPr id="11" name="Text 9"/>
          <p:cNvSpPr/>
          <p:nvPr/>
        </p:nvSpPr>
        <p:spPr>
          <a:xfrm>
            <a:off x="5394960" y="2011680"/>
            <a:ext cx="4206240" cy="1097280"/>
          </a:xfrm>
          <a:prstGeom prst="rect">
            <a:avLst/>
          </a:prstGeom>
          <a:noFill/>
          <a:ln/>
        </p:spPr>
        <p:txBody>
          <a:bodyPr wrap="square" rtlCol="0" anchor="ctr"/>
          <a:lstStyle/>
          <a:p>
            <a:pPr marL="0" indent="0" algn="ctr">
              <a:buNone/>
            </a:pPr>
            <a:r>
              <a:rPr lang="en-US" sz="3600" b="1" dirty="0">
                <a:solidFill>
                  <a:srgbClr val="4A90D9"/>
                </a:solidFill>
                <a:latin typeface="Hiragino Sans W6" pitchFamily="34" charset="0"/>
                <a:ea typeface="Hiragino Sans W6" pitchFamily="34" charset="-122"/>
                <a:cs typeface="Hiragino Sans W6" pitchFamily="34" charset="-120"/>
              </a:rPr>
              <a:t>最大4,400万円</a:t>
            </a:r>
            <a:endParaRPr lang="en-US" sz="3600" dirty="0"/>
          </a:p>
        </p:txBody>
      </p:sp>
      <p:sp>
        <p:nvSpPr>
          <p:cNvPr id="12" name="Text 10"/>
          <p:cNvSpPr/>
          <p:nvPr/>
        </p:nvSpPr>
        <p:spPr>
          <a:xfrm>
            <a:off x="5394960" y="3017520"/>
            <a:ext cx="4206240" cy="548640"/>
          </a:xfrm>
          <a:prstGeom prst="rect">
            <a:avLst/>
          </a:prstGeom>
          <a:noFill/>
          <a:ln/>
        </p:spPr>
        <p:txBody>
          <a:bodyPr wrap="square" rtlCol="0" anchor="ctr"/>
          <a:lstStyle/>
          <a:p>
            <a:pPr marL="0" indent="0" algn="ctr">
              <a:buNone/>
            </a:pPr>
            <a:r>
              <a:rPr lang="en-US" sz="1600" b="1" dirty="0">
                <a:solidFill>
                  <a:srgbClr val="4A4A45"/>
                </a:solidFill>
                <a:latin typeface="Hiragino Sans W6" pitchFamily="34" charset="0"/>
                <a:ea typeface="Hiragino Sans W6" pitchFamily="34" charset="-122"/>
                <a:cs typeface="Hiragino Sans W6" pitchFamily="34" charset="-120"/>
              </a:rPr>
              <a:t>初年度補助金ポテンシャル</a:t>
            </a:r>
            <a:endParaRPr lang="en-US" sz="1600" dirty="0"/>
          </a:p>
        </p:txBody>
      </p:sp>
      <p:sp>
        <p:nvSpPr>
          <p:cNvPr id="13" name="Text 11"/>
          <p:cNvSpPr/>
          <p:nvPr/>
        </p:nvSpPr>
        <p:spPr>
          <a:xfrm>
            <a:off x="5394960" y="3566160"/>
            <a:ext cx="4206240" cy="548640"/>
          </a:xfrm>
          <a:prstGeom prst="rect">
            <a:avLst/>
          </a:prstGeom>
          <a:noFill/>
          <a:ln/>
        </p:spPr>
        <p:txBody>
          <a:bodyPr wrap="square" rtlCol="0" anchor="ctr"/>
          <a:lstStyle/>
          <a:p>
            <a:pPr marL="0" indent="0" algn="ctr">
              <a:buNone/>
            </a:pPr>
            <a:r>
              <a:rPr lang="en-US" sz="1300" dirty="0">
                <a:solidFill>
                  <a:srgbClr val="746558"/>
                </a:solidFill>
                <a:latin typeface="Hiragino Sans W3" pitchFamily="34" charset="0"/>
                <a:ea typeface="Hiragino Sans W3" pitchFamily="34" charset="-122"/>
                <a:cs typeface="Hiragino Sans W3" pitchFamily="34" charset="-120"/>
              </a:rPr>
              <a:t>JV本店を東京に置いた場合</a:t>
            </a:r>
            <a:endParaRPr lang="en-US" sz="1300" dirty="0"/>
          </a:p>
        </p:txBody>
      </p:sp>
      <p:sp>
        <p:nvSpPr>
          <p:cNvPr id="14" name="Shape 12"/>
          <p:cNvSpPr/>
          <p:nvPr/>
        </p:nvSpPr>
        <p:spPr>
          <a:xfrm>
            <a:off x="10058400" y="1645920"/>
            <a:ext cx="4206240" cy="27432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5" name="Shape 13"/>
          <p:cNvSpPr/>
          <p:nvPr/>
        </p:nvSpPr>
        <p:spPr>
          <a:xfrm>
            <a:off x="10058400" y="1645920"/>
            <a:ext cx="4206240" cy="73152"/>
          </a:xfrm>
          <a:prstGeom prst="rect">
            <a:avLst/>
          </a:prstGeom>
          <a:solidFill>
            <a:srgbClr val="4A90D9"/>
          </a:solidFill>
          <a:ln/>
        </p:spPr>
        <p:txBody>
          <a:bodyPr/>
          <a:lstStyle/>
          <a:p>
            <a:endParaRPr lang="ja-JP" altLang="en-US"/>
          </a:p>
        </p:txBody>
      </p:sp>
      <p:sp>
        <p:nvSpPr>
          <p:cNvPr id="16" name="Text 14"/>
          <p:cNvSpPr/>
          <p:nvPr/>
        </p:nvSpPr>
        <p:spPr>
          <a:xfrm>
            <a:off x="10058400" y="2011680"/>
            <a:ext cx="4206240" cy="1097280"/>
          </a:xfrm>
          <a:prstGeom prst="rect">
            <a:avLst/>
          </a:prstGeom>
          <a:noFill/>
          <a:ln/>
        </p:spPr>
        <p:txBody>
          <a:bodyPr wrap="square" rtlCol="0" anchor="ctr"/>
          <a:lstStyle/>
          <a:p>
            <a:pPr marL="0" indent="0" algn="ctr">
              <a:buNone/>
            </a:pPr>
            <a:r>
              <a:rPr lang="en-US" sz="3600" b="1" dirty="0">
                <a:solidFill>
                  <a:srgbClr val="4A90D9"/>
                </a:solidFill>
                <a:latin typeface="Hiragino Sans W6" pitchFamily="34" charset="0"/>
                <a:ea typeface="Hiragino Sans W6" pitchFamily="34" charset="-122"/>
                <a:cs typeface="Hiragino Sans W6" pitchFamily="34" charset="-120"/>
              </a:rPr>
              <a:t>3年</a:t>
            </a:r>
            <a:endParaRPr lang="en-US" sz="3600" dirty="0"/>
          </a:p>
        </p:txBody>
      </p:sp>
      <p:sp>
        <p:nvSpPr>
          <p:cNvPr id="17" name="Text 15"/>
          <p:cNvSpPr/>
          <p:nvPr/>
        </p:nvSpPr>
        <p:spPr>
          <a:xfrm>
            <a:off x="10058400" y="3017520"/>
            <a:ext cx="4206240" cy="548640"/>
          </a:xfrm>
          <a:prstGeom prst="rect">
            <a:avLst/>
          </a:prstGeom>
          <a:noFill/>
          <a:ln/>
        </p:spPr>
        <p:txBody>
          <a:bodyPr wrap="square" rtlCol="0" anchor="ctr"/>
          <a:lstStyle/>
          <a:p>
            <a:pPr marL="0" indent="0" algn="ctr">
              <a:buNone/>
            </a:pPr>
            <a:r>
              <a:rPr lang="en-US" sz="1600" b="1" dirty="0">
                <a:solidFill>
                  <a:srgbClr val="4A4A45"/>
                </a:solidFill>
                <a:latin typeface="Hiragino Sans W6" pitchFamily="34" charset="0"/>
                <a:ea typeface="Hiragino Sans W6" pitchFamily="34" charset="-122"/>
                <a:cs typeface="Hiragino Sans W6" pitchFamily="34" charset="-120"/>
              </a:rPr>
              <a:t>最短回収目標</a:t>
            </a:r>
            <a:endParaRPr lang="en-US" sz="1600" dirty="0"/>
          </a:p>
        </p:txBody>
      </p:sp>
      <p:sp>
        <p:nvSpPr>
          <p:cNvPr id="18" name="Text 16"/>
          <p:cNvSpPr/>
          <p:nvPr/>
        </p:nvSpPr>
        <p:spPr>
          <a:xfrm>
            <a:off x="10058400" y="3566160"/>
            <a:ext cx="4206240" cy="548640"/>
          </a:xfrm>
          <a:prstGeom prst="rect">
            <a:avLst/>
          </a:prstGeom>
          <a:noFill/>
          <a:ln/>
        </p:spPr>
        <p:txBody>
          <a:bodyPr wrap="square" rtlCol="0" anchor="ctr"/>
          <a:lstStyle/>
          <a:p>
            <a:pPr marL="0" indent="0" algn="ctr">
              <a:buNone/>
            </a:pPr>
            <a:r>
              <a:rPr lang="en-US" sz="1300" dirty="0">
                <a:solidFill>
                  <a:srgbClr val="746558"/>
                </a:solidFill>
                <a:latin typeface="Hiragino Sans W3" pitchFamily="34" charset="0"/>
                <a:ea typeface="Hiragino Sans W3" pitchFamily="34" charset="-122"/>
                <a:cs typeface="Hiragino Sans W3" pitchFamily="34" charset="-120"/>
              </a:rPr>
              <a:t>助成金・利益配分で加速可能</a:t>
            </a:r>
            <a:endParaRPr lang="en-US" sz="1300" dirty="0"/>
          </a:p>
        </p:txBody>
      </p:sp>
      <p:sp>
        <p:nvSpPr>
          <p:cNvPr id="19" name="Shape 17"/>
          <p:cNvSpPr/>
          <p:nvPr/>
        </p:nvSpPr>
        <p:spPr>
          <a:xfrm>
            <a:off x="731520" y="5120640"/>
            <a:ext cx="13167360" cy="1280160"/>
          </a:xfrm>
          <a:prstGeom prst="rect">
            <a:avLst/>
          </a:prstGeom>
          <a:solidFill>
            <a:srgbClr val="F5EDE0"/>
          </a:solidFill>
          <a:ln/>
          <a:effectLst>
            <a:outerShdw blurRad="76200" dist="25400" dir="8100000" algn="bl" rotWithShape="0">
              <a:srgbClr val="000000">
                <a:alpha val="12000"/>
              </a:srgbClr>
            </a:outerShdw>
          </a:effectLst>
        </p:spPr>
        <p:txBody>
          <a:bodyPr/>
          <a:lstStyle/>
          <a:p>
            <a:endParaRPr lang="ja-JP" altLang="en-US"/>
          </a:p>
        </p:txBody>
      </p:sp>
      <p:sp>
        <p:nvSpPr>
          <p:cNvPr id="20" name="Text 18"/>
          <p:cNvSpPr/>
          <p:nvPr/>
        </p:nvSpPr>
        <p:spPr>
          <a:xfrm>
            <a:off x="1097280" y="5303520"/>
            <a:ext cx="12435840" cy="914400"/>
          </a:xfrm>
          <a:prstGeom prst="rect">
            <a:avLst/>
          </a:prstGeom>
          <a:noFill/>
          <a:ln/>
        </p:spPr>
        <p:txBody>
          <a:bodyPr wrap="square" rtlCol="0" anchor="ctr"/>
          <a:lstStyle/>
          <a:p>
            <a:pPr marL="0" indent="0">
              <a:buNone/>
            </a:pPr>
            <a:r>
              <a:rPr lang="en-US" sz="1800" b="1" dirty="0">
                <a:solidFill>
                  <a:srgbClr val="484237"/>
                </a:solidFill>
                <a:latin typeface="Hiragino Sans" pitchFamily="34" charset="0"/>
                <a:ea typeface="Hiragino Sans" pitchFamily="34" charset="-122"/>
                <a:cs typeface="Hiragino Sans" pitchFamily="34" charset="-120"/>
              </a:rPr>
              <a:t>サンライズの「補助金を受けにくい」問題を解決するスキーム</a:t>
            </a:r>
            <a:endParaRPr lang="en-US" sz="1800" dirty="0"/>
          </a:p>
          <a:p>
            <a:pPr marL="0" indent="0">
              <a:buNone/>
            </a:pPr>
            <a:r>
              <a:rPr lang="en-US" sz="1400" dirty="0">
                <a:solidFill>
                  <a:srgbClr val="4A4A45"/>
                </a:solidFill>
                <a:latin typeface="Hiragino Sans" pitchFamily="34" charset="0"/>
                <a:ea typeface="Hiragino Sans" pitchFamily="34" charset="-122"/>
                <a:cs typeface="Hiragino Sans" pitchFamily="34" charset="-120"/>
              </a:rPr>
              <a:t>サンライズは株式会社であり障害福祉給付費（公費）で運営。WAM助成等は対象外。→ JV新設法人が申請主体となることで、大型補助金にアクセス可能に</a:t>
            </a:r>
            <a:endParaRPr lang="en-US" sz="1800" dirty="0"/>
          </a:p>
        </p:txBody>
      </p:sp>
      <p:sp>
        <p:nvSpPr>
          <p:cNvPr id="21" name="Text 19"/>
          <p:cNvSpPr/>
          <p:nvPr/>
        </p:nvSpPr>
        <p:spPr>
          <a:xfrm>
            <a:off x="731520" y="6949440"/>
            <a:ext cx="13167360" cy="365760"/>
          </a:xfrm>
          <a:prstGeom prst="rect">
            <a:avLst/>
          </a:prstGeom>
          <a:noFill/>
          <a:ln/>
        </p:spPr>
        <p:txBody>
          <a:bodyPr wrap="square" rtlCol="0" anchor="ctr"/>
          <a:lstStyle/>
          <a:p>
            <a:pPr marL="0" indent="0">
              <a:buNone/>
            </a:pPr>
            <a:r>
              <a:rPr lang="en-US" sz="1100" dirty="0">
                <a:solidFill>
                  <a:srgbClr val="999999"/>
                </a:solidFill>
                <a:latin typeface="Hiragino Sans W3" pitchFamily="34" charset="0"/>
                <a:ea typeface="Hiragino Sans W3" pitchFamily="34" charset="-122"/>
                <a:cs typeface="Hiragino Sans W3" pitchFamily="34" charset="-120"/>
              </a:rPr>
              <a:t>※WAM助成 = 福祉医療機構社会福祉振興助成事業（非営利法人のみ対象）</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8DD"/>
        </a:solidFill>
        <a:effectLst/>
      </p:bgPr>
    </p:bg>
    <p:spTree>
      <p:nvGrpSpPr>
        <p:cNvPr id="1" name=""/>
        <p:cNvGrpSpPr/>
        <p:nvPr/>
      </p:nvGrpSpPr>
      <p:grpSpPr>
        <a:xfrm>
          <a:off x="0" y="0"/>
          <a:ext cx="0" cy="0"/>
          <a:chOff x="0" y="0"/>
          <a:chExt cx="0" cy="0"/>
        </a:xfrm>
      </p:grpSpPr>
      <p:sp>
        <p:nvSpPr>
          <p:cNvPr id="2" name="Shape 0"/>
          <p:cNvSpPr/>
          <p:nvPr/>
        </p:nvSpPr>
        <p:spPr>
          <a:xfrm>
            <a:off x="475488" y="256032"/>
            <a:ext cx="13679424" cy="640080"/>
          </a:xfrm>
          <a:prstGeom prst="rect">
            <a:avLst/>
          </a:prstGeom>
          <a:solidFill>
            <a:srgbClr val="484237"/>
          </a:solidFill>
          <a:ln/>
        </p:spPr>
        <p:txBody>
          <a:bodyPr/>
          <a:lstStyle/>
          <a:p>
            <a:endParaRPr lang="ja-JP" altLang="en-US"/>
          </a:p>
        </p:txBody>
      </p:sp>
      <p:sp>
        <p:nvSpPr>
          <p:cNvPr id="3" name="Text 1"/>
          <p:cNvSpPr/>
          <p:nvPr/>
        </p:nvSpPr>
        <p:spPr>
          <a:xfrm>
            <a:off x="658368" y="256032"/>
            <a:ext cx="13313664" cy="640080"/>
          </a:xfrm>
          <a:prstGeom prst="rect">
            <a:avLst/>
          </a:prstGeom>
          <a:noFill/>
          <a:ln/>
        </p:spPr>
        <p:txBody>
          <a:bodyPr wrap="square" rtlCol="0" anchor="ctr"/>
          <a:lstStyle/>
          <a:p>
            <a:pPr marL="0" indent="0">
              <a:buNone/>
            </a:pPr>
            <a:r>
              <a:rPr lang="en-US" sz="2800" b="1" dirty="0">
                <a:solidFill>
                  <a:srgbClr val="FFFFFF"/>
                </a:solidFill>
                <a:latin typeface="Hiragino Sans W6" pitchFamily="34" charset="0"/>
                <a:ea typeface="Hiragino Sans W6" pitchFamily="34" charset="-122"/>
                <a:cs typeface="Hiragino Sans W6" pitchFamily="34" charset="-120"/>
              </a:rPr>
              <a:t>補助金・助成金 全体マップ（4カテゴリ）</a:t>
            </a:r>
            <a:endParaRPr lang="en-US" sz="2800" dirty="0"/>
          </a:p>
        </p:txBody>
      </p:sp>
      <p:sp>
        <p:nvSpPr>
          <p:cNvPr id="4" name="Shape 2"/>
          <p:cNvSpPr/>
          <p:nvPr/>
        </p:nvSpPr>
        <p:spPr>
          <a:xfrm>
            <a:off x="731520" y="1371600"/>
            <a:ext cx="13167360"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5" name="Shape 3"/>
          <p:cNvSpPr/>
          <p:nvPr/>
        </p:nvSpPr>
        <p:spPr>
          <a:xfrm>
            <a:off x="731520" y="1371600"/>
            <a:ext cx="109728" cy="1280160"/>
          </a:xfrm>
          <a:prstGeom prst="rect">
            <a:avLst/>
          </a:prstGeom>
          <a:solidFill>
            <a:srgbClr val="4A90D9"/>
          </a:solidFill>
          <a:ln/>
        </p:spPr>
        <p:txBody>
          <a:bodyPr/>
          <a:lstStyle/>
          <a:p>
            <a:endParaRPr lang="ja-JP" altLang="en-US"/>
          </a:p>
        </p:txBody>
      </p:sp>
      <p:sp>
        <p:nvSpPr>
          <p:cNvPr id="6" name="Text 4"/>
          <p:cNvSpPr/>
          <p:nvPr/>
        </p:nvSpPr>
        <p:spPr>
          <a:xfrm>
            <a:off x="1188720" y="1371600"/>
            <a:ext cx="4114800" cy="1280160"/>
          </a:xfrm>
          <a:prstGeom prst="rect">
            <a:avLst/>
          </a:prstGeom>
          <a:noFill/>
          <a:ln/>
        </p:spPr>
        <p:txBody>
          <a:bodyPr wrap="square" rtlCol="0" anchor="ctr"/>
          <a:lstStyle/>
          <a:p>
            <a:pPr marL="0" indent="0">
              <a:buNone/>
            </a:pPr>
            <a:r>
              <a:rPr lang="en-US" sz="2000" b="1" dirty="0">
                <a:solidFill>
                  <a:srgbClr val="4A90D9"/>
                </a:solidFill>
                <a:latin typeface="Hiragino Sans W6" pitchFamily="34" charset="0"/>
                <a:ea typeface="Hiragino Sans W6" pitchFamily="34" charset="-122"/>
                <a:cs typeface="Hiragino Sans W6" pitchFamily="34" charset="-120"/>
              </a:rPr>
              <a:t>A. JV法人が申請</a:t>
            </a:r>
            <a:endParaRPr lang="en-US" sz="2000" dirty="0"/>
          </a:p>
        </p:txBody>
      </p:sp>
      <p:sp>
        <p:nvSpPr>
          <p:cNvPr id="7" name="Text 5"/>
          <p:cNvSpPr/>
          <p:nvPr/>
        </p:nvSpPr>
        <p:spPr>
          <a:xfrm>
            <a:off x="5303520" y="1371600"/>
            <a:ext cx="5486400" cy="1280160"/>
          </a:xfrm>
          <a:prstGeom prst="rect">
            <a:avLst/>
          </a:prstGeom>
          <a:noFill/>
          <a:ln/>
        </p:spPr>
        <p:txBody>
          <a:bodyPr wrap="square" rtlCol="0" anchor="ctr"/>
          <a:lstStyle/>
          <a:p>
            <a:pPr marL="0" indent="0">
              <a:buNone/>
            </a:pPr>
            <a:r>
              <a:rPr lang="en-US" sz="1500" dirty="0">
                <a:solidFill>
                  <a:srgbClr val="4A4A45"/>
                </a:solidFill>
                <a:latin typeface="Hiragino Sans W3" pitchFamily="34" charset="0"/>
                <a:ea typeface="Hiragino Sans W3" pitchFamily="34" charset="-122"/>
                <a:cs typeface="Hiragino Sans W3" pitchFamily="34" charset="-120"/>
              </a:rPr>
              <a:t>東京都創業助成・DX推進・TCiN・持続化</a:t>
            </a:r>
            <a:endParaRPr lang="en-US" sz="1500" dirty="0"/>
          </a:p>
        </p:txBody>
      </p:sp>
      <p:sp>
        <p:nvSpPr>
          <p:cNvPr id="8" name="Text 6"/>
          <p:cNvSpPr/>
          <p:nvPr/>
        </p:nvSpPr>
        <p:spPr>
          <a:xfrm>
            <a:off x="10972800" y="1371600"/>
            <a:ext cx="2743200" cy="1280160"/>
          </a:xfrm>
          <a:prstGeom prst="rect">
            <a:avLst/>
          </a:prstGeom>
          <a:noFill/>
          <a:ln/>
        </p:spPr>
        <p:txBody>
          <a:bodyPr wrap="square" rtlCol="0" anchor="ctr"/>
          <a:lstStyle/>
          <a:p>
            <a:pPr marL="0" indent="0" algn="r">
              <a:buNone/>
            </a:pPr>
            <a:r>
              <a:rPr lang="en-US" sz="1800" b="1" dirty="0">
                <a:solidFill>
                  <a:srgbClr val="4A90D9"/>
                </a:solidFill>
                <a:latin typeface="Hiragino Sans W6" pitchFamily="34" charset="0"/>
                <a:ea typeface="Hiragino Sans W6" pitchFamily="34" charset="-122"/>
                <a:cs typeface="Hiragino Sans W6" pitchFamily="34" charset="-120"/>
              </a:rPr>
              <a:t>最大3,650万円</a:t>
            </a:r>
            <a:endParaRPr lang="en-US" sz="1800" dirty="0"/>
          </a:p>
        </p:txBody>
      </p:sp>
      <p:sp>
        <p:nvSpPr>
          <p:cNvPr id="9" name="Shape 7"/>
          <p:cNvSpPr/>
          <p:nvPr/>
        </p:nvSpPr>
        <p:spPr>
          <a:xfrm>
            <a:off x="731520" y="2926080"/>
            <a:ext cx="13167360"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0" name="Shape 8"/>
          <p:cNvSpPr/>
          <p:nvPr/>
        </p:nvSpPr>
        <p:spPr>
          <a:xfrm>
            <a:off x="731520" y="2926080"/>
            <a:ext cx="109728" cy="1280160"/>
          </a:xfrm>
          <a:prstGeom prst="rect">
            <a:avLst/>
          </a:prstGeom>
          <a:solidFill>
            <a:srgbClr val="27AE60"/>
          </a:solidFill>
          <a:ln/>
        </p:spPr>
        <p:txBody>
          <a:bodyPr/>
          <a:lstStyle/>
          <a:p>
            <a:endParaRPr lang="ja-JP" altLang="en-US"/>
          </a:p>
        </p:txBody>
      </p:sp>
      <p:sp>
        <p:nvSpPr>
          <p:cNvPr id="11" name="Text 9"/>
          <p:cNvSpPr/>
          <p:nvPr/>
        </p:nvSpPr>
        <p:spPr>
          <a:xfrm>
            <a:off x="1188720" y="2926080"/>
            <a:ext cx="4114800" cy="1280160"/>
          </a:xfrm>
          <a:prstGeom prst="rect">
            <a:avLst/>
          </a:prstGeom>
          <a:noFill/>
          <a:ln/>
        </p:spPr>
        <p:txBody>
          <a:bodyPr wrap="square" rtlCol="0" anchor="ctr"/>
          <a:lstStyle/>
          <a:p>
            <a:pPr marL="0" indent="0">
              <a:buNone/>
            </a:pPr>
            <a:r>
              <a:rPr lang="en-US" sz="2000" b="1" dirty="0">
                <a:solidFill>
                  <a:srgbClr val="27AE60"/>
                </a:solidFill>
                <a:latin typeface="Hiragino Sans W6" pitchFamily="34" charset="0"/>
                <a:ea typeface="Hiragino Sans W6" pitchFamily="34" charset="-122"/>
                <a:cs typeface="Hiragino Sans W6" pitchFamily="34" charset="-120"/>
              </a:rPr>
              <a:t>B. 施設が申請</a:t>
            </a:r>
            <a:endParaRPr lang="en-US" sz="2000" dirty="0"/>
          </a:p>
        </p:txBody>
      </p:sp>
      <p:sp>
        <p:nvSpPr>
          <p:cNvPr id="12" name="Text 10"/>
          <p:cNvSpPr/>
          <p:nvPr/>
        </p:nvSpPr>
        <p:spPr>
          <a:xfrm>
            <a:off x="5303520" y="2926080"/>
            <a:ext cx="5486400" cy="1280160"/>
          </a:xfrm>
          <a:prstGeom prst="rect">
            <a:avLst/>
          </a:prstGeom>
          <a:noFill/>
          <a:ln/>
        </p:spPr>
        <p:txBody>
          <a:bodyPr wrap="square" rtlCol="0" anchor="ctr"/>
          <a:lstStyle/>
          <a:p>
            <a:pPr marL="0" indent="0">
              <a:buNone/>
            </a:pPr>
            <a:r>
              <a:rPr lang="en-US" sz="1500" dirty="0">
                <a:solidFill>
                  <a:srgbClr val="4A4A45"/>
                </a:solidFill>
                <a:latin typeface="Hiragino Sans W3" pitchFamily="34" charset="0"/>
                <a:ea typeface="Hiragino Sans W3" pitchFamily="34" charset="-122"/>
                <a:cs typeface="Hiragino Sans W3" pitchFamily="34" charset="-120"/>
              </a:rPr>
              <a:t>障害福祉ICT導入支援・デジタル化・AI導入</a:t>
            </a:r>
            <a:endParaRPr lang="en-US" sz="1500" dirty="0"/>
          </a:p>
        </p:txBody>
      </p:sp>
      <p:sp>
        <p:nvSpPr>
          <p:cNvPr id="13" name="Text 11"/>
          <p:cNvSpPr/>
          <p:nvPr/>
        </p:nvSpPr>
        <p:spPr>
          <a:xfrm>
            <a:off x="10972800" y="2926080"/>
            <a:ext cx="2743200" cy="1280160"/>
          </a:xfrm>
          <a:prstGeom prst="rect">
            <a:avLst/>
          </a:prstGeom>
          <a:noFill/>
          <a:ln/>
        </p:spPr>
        <p:txBody>
          <a:bodyPr wrap="square" rtlCol="0" anchor="ctr"/>
          <a:lstStyle/>
          <a:p>
            <a:pPr marL="0" indent="0" algn="r">
              <a:buNone/>
            </a:pPr>
            <a:r>
              <a:rPr lang="en-US" sz="1800" b="1" dirty="0">
                <a:solidFill>
                  <a:srgbClr val="27AE60"/>
                </a:solidFill>
                <a:latin typeface="Hiragino Sans W6" pitchFamily="34" charset="0"/>
                <a:ea typeface="Hiragino Sans W6" pitchFamily="34" charset="-122"/>
                <a:cs typeface="Hiragino Sans W6" pitchFamily="34" charset="-120"/>
              </a:rPr>
              <a:t>最大1,450万円/施設</a:t>
            </a:r>
            <a:endParaRPr lang="en-US" sz="1800" dirty="0"/>
          </a:p>
        </p:txBody>
      </p:sp>
      <p:sp>
        <p:nvSpPr>
          <p:cNvPr id="14" name="Shape 12"/>
          <p:cNvSpPr/>
          <p:nvPr/>
        </p:nvSpPr>
        <p:spPr>
          <a:xfrm>
            <a:off x="731520" y="4480560"/>
            <a:ext cx="13167360"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5" name="Shape 13"/>
          <p:cNvSpPr/>
          <p:nvPr/>
        </p:nvSpPr>
        <p:spPr>
          <a:xfrm>
            <a:off x="731520" y="4480560"/>
            <a:ext cx="109728" cy="1280160"/>
          </a:xfrm>
          <a:prstGeom prst="rect">
            <a:avLst/>
          </a:prstGeom>
          <a:solidFill>
            <a:srgbClr val="F39C12"/>
          </a:solidFill>
          <a:ln/>
        </p:spPr>
        <p:txBody>
          <a:bodyPr/>
          <a:lstStyle/>
          <a:p>
            <a:endParaRPr lang="ja-JP" altLang="en-US"/>
          </a:p>
        </p:txBody>
      </p:sp>
      <p:sp>
        <p:nvSpPr>
          <p:cNvPr id="16" name="Text 14"/>
          <p:cNvSpPr/>
          <p:nvPr/>
        </p:nvSpPr>
        <p:spPr>
          <a:xfrm>
            <a:off x="1188720" y="4480560"/>
            <a:ext cx="4114800" cy="1280160"/>
          </a:xfrm>
          <a:prstGeom prst="rect">
            <a:avLst/>
          </a:prstGeom>
          <a:noFill/>
          <a:ln/>
        </p:spPr>
        <p:txBody>
          <a:bodyPr wrap="square" rtlCol="0" anchor="ctr"/>
          <a:lstStyle/>
          <a:p>
            <a:pPr marL="0" indent="0">
              <a:buNone/>
            </a:pPr>
            <a:r>
              <a:rPr lang="en-US" sz="2000" b="1" dirty="0">
                <a:solidFill>
                  <a:srgbClr val="F39C12"/>
                </a:solidFill>
                <a:latin typeface="Hiragino Sans W6" pitchFamily="34" charset="0"/>
                <a:ea typeface="Hiragino Sans W6" pitchFamily="34" charset="-122"/>
                <a:cs typeface="Hiragino Sans W6" pitchFamily="34" charset="-120"/>
              </a:rPr>
              <a:t>C. 2年目以降（大型）</a:t>
            </a:r>
            <a:endParaRPr lang="en-US" sz="2000" dirty="0"/>
          </a:p>
        </p:txBody>
      </p:sp>
      <p:sp>
        <p:nvSpPr>
          <p:cNvPr id="17" name="Text 15"/>
          <p:cNvSpPr/>
          <p:nvPr/>
        </p:nvSpPr>
        <p:spPr>
          <a:xfrm>
            <a:off x="5303520" y="4480560"/>
            <a:ext cx="5486400" cy="1280160"/>
          </a:xfrm>
          <a:prstGeom prst="rect">
            <a:avLst/>
          </a:prstGeom>
          <a:noFill/>
          <a:ln/>
        </p:spPr>
        <p:txBody>
          <a:bodyPr wrap="square" rtlCol="0" anchor="ctr"/>
          <a:lstStyle/>
          <a:p>
            <a:pPr marL="0" indent="0">
              <a:buNone/>
            </a:pPr>
            <a:r>
              <a:rPr lang="en-US" sz="1500" dirty="0">
                <a:solidFill>
                  <a:srgbClr val="4A4A45"/>
                </a:solidFill>
                <a:latin typeface="Hiragino Sans W3" pitchFamily="34" charset="0"/>
                <a:ea typeface="Hiragino Sans W3" pitchFamily="34" charset="-122"/>
                <a:cs typeface="Hiragino Sans W3" pitchFamily="34" charset="-120"/>
              </a:rPr>
              <a:t>SBIR・ものづくり・成長加速化</a:t>
            </a:r>
            <a:endParaRPr lang="en-US" sz="1500" dirty="0"/>
          </a:p>
        </p:txBody>
      </p:sp>
      <p:sp>
        <p:nvSpPr>
          <p:cNvPr id="18" name="Text 16"/>
          <p:cNvSpPr/>
          <p:nvPr/>
        </p:nvSpPr>
        <p:spPr>
          <a:xfrm>
            <a:off x="10972800" y="4480560"/>
            <a:ext cx="2743200" cy="1280160"/>
          </a:xfrm>
          <a:prstGeom prst="rect">
            <a:avLst/>
          </a:prstGeom>
          <a:noFill/>
          <a:ln/>
        </p:spPr>
        <p:txBody>
          <a:bodyPr wrap="square" rtlCol="0" anchor="ctr"/>
          <a:lstStyle/>
          <a:p>
            <a:pPr marL="0" indent="0" algn="r">
              <a:buNone/>
            </a:pPr>
            <a:r>
              <a:rPr lang="en-US" sz="1800" b="1" dirty="0">
                <a:solidFill>
                  <a:srgbClr val="F39C12"/>
                </a:solidFill>
                <a:latin typeface="Hiragino Sans W6" pitchFamily="34" charset="0"/>
                <a:ea typeface="Hiragino Sans W6" pitchFamily="34" charset="-122"/>
                <a:cs typeface="Hiragino Sans W6" pitchFamily="34" charset="-120"/>
              </a:rPr>
              <a:t>最大9,000万円</a:t>
            </a:r>
            <a:endParaRPr lang="en-US" sz="1800" dirty="0"/>
          </a:p>
        </p:txBody>
      </p:sp>
      <p:sp>
        <p:nvSpPr>
          <p:cNvPr id="19" name="Shape 17"/>
          <p:cNvSpPr/>
          <p:nvPr/>
        </p:nvSpPr>
        <p:spPr>
          <a:xfrm>
            <a:off x="731520" y="6035040"/>
            <a:ext cx="13167360"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0" name="Shape 18"/>
          <p:cNvSpPr/>
          <p:nvPr/>
        </p:nvSpPr>
        <p:spPr>
          <a:xfrm>
            <a:off x="731520" y="6035040"/>
            <a:ext cx="109728" cy="1280160"/>
          </a:xfrm>
          <a:prstGeom prst="rect">
            <a:avLst/>
          </a:prstGeom>
          <a:solidFill>
            <a:srgbClr val="8E44AD"/>
          </a:solidFill>
          <a:ln/>
        </p:spPr>
        <p:txBody>
          <a:bodyPr/>
          <a:lstStyle/>
          <a:p>
            <a:endParaRPr lang="ja-JP" altLang="en-US"/>
          </a:p>
        </p:txBody>
      </p:sp>
      <p:sp>
        <p:nvSpPr>
          <p:cNvPr id="21" name="Text 19"/>
          <p:cNvSpPr/>
          <p:nvPr/>
        </p:nvSpPr>
        <p:spPr>
          <a:xfrm>
            <a:off x="1188720" y="6035040"/>
            <a:ext cx="4114800" cy="1280160"/>
          </a:xfrm>
          <a:prstGeom prst="rect">
            <a:avLst/>
          </a:prstGeom>
          <a:noFill/>
          <a:ln/>
        </p:spPr>
        <p:txBody>
          <a:bodyPr wrap="square" rtlCol="0" anchor="ctr"/>
          <a:lstStyle/>
          <a:p>
            <a:pPr marL="0" indent="0">
              <a:buNone/>
            </a:pPr>
            <a:r>
              <a:rPr lang="en-US" sz="2000" b="1" dirty="0">
                <a:solidFill>
                  <a:srgbClr val="8E44AD"/>
                </a:solidFill>
                <a:latin typeface="Hiragino Sans W6" pitchFamily="34" charset="0"/>
                <a:ea typeface="Hiragino Sans W6" pitchFamily="34" charset="-122"/>
                <a:cs typeface="Hiragino Sans W6" pitchFamily="34" charset="-120"/>
              </a:rPr>
              <a:t>D. 藤井議員連携</a:t>
            </a:r>
            <a:endParaRPr lang="en-US" sz="2000" dirty="0"/>
          </a:p>
        </p:txBody>
      </p:sp>
      <p:sp>
        <p:nvSpPr>
          <p:cNvPr id="22" name="Text 20"/>
          <p:cNvSpPr/>
          <p:nvPr/>
        </p:nvSpPr>
        <p:spPr>
          <a:xfrm>
            <a:off x="5303520" y="6035040"/>
            <a:ext cx="5486400" cy="1280160"/>
          </a:xfrm>
          <a:prstGeom prst="rect">
            <a:avLst/>
          </a:prstGeom>
          <a:noFill/>
          <a:ln/>
        </p:spPr>
        <p:txBody>
          <a:bodyPr wrap="square" rtlCol="0" anchor="ctr"/>
          <a:lstStyle/>
          <a:p>
            <a:pPr marL="0" indent="0">
              <a:buNone/>
            </a:pPr>
            <a:r>
              <a:rPr lang="en-US" sz="1500" dirty="0">
                <a:solidFill>
                  <a:srgbClr val="4A4A45"/>
                </a:solidFill>
                <a:latin typeface="Hiragino Sans W3" pitchFamily="34" charset="0"/>
                <a:ea typeface="Hiragino Sans W3" pitchFamily="34" charset="-122"/>
                <a:cs typeface="Hiragino Sans W3" pitchFamily="34" charset="-120"/>
              </a:rPr>
              <a:t>都補助金推薦・福祉部局橋渡し・TCiN紹介</a:t>
            </a:r>
            <a:endParaRPr lang="en-US" sz="1500" dirty="0"/>
          </a:p>
        </p:txBody>
      </p:sp>
      <p:sp>
        <p:nvSpPr>
          <p:cNvPr id="23" name="Text 21"/>
          <p:cNvSpPr/>
          <p:nvPr/>
        </p:nvSpPr>
        <p:spPr>
          <a:xfrm>
            <a:off x="10972800" y="6035040"/>
            <a:ext cx="2743200" cy="1280160"/>
          </a:xfrm>
          <a:prstGeom prst="rect">
            <a:avLst/>
          </a:prstGeom>
          <a:noFill/>
          <a:ln/>
        </p:spPr>
        <p:txBody>
          <a:bodyPr wrap="square" rtlCol="0" anchor="ctr"/>
          <a:lstStyle/>
          <a:p>
            <a:pPr marL="0" indent="0" algn="r">
              <a:buNone/>
            </a:pPr>
            <a:r>
              <a:rPr lang="en-US" sz="1800" b="1" dirty="0">
                <a:solidFill>
                  <a:srgbClr val="8E44AD"/>
                </a:solidFill>
                <a:latin typeface="Hiragino Sans W6" pitchFamily="34" charset="0"/>
                <a:ea typeface="Hiragino Sans W6" pitchFamily="34" charset="-122"/>
                <a:cs typeface="Hiragino Sans W6" pitchFamily="34" charset="-120"/>
              </a:rPr>
              <a:t>加速機能</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8DD"/>
        </a:solidFill>
        <a:effectLst/>
      </p:bgPr>
    </p:bg>
    <p:spTree>
      <p:nvGrpSpPr>
        <p:cNvPr id="1" name=""/>
        <p:cNvGrpSpPr/>
        <p:nvPr/>
      </p:nvGrpSpPr>
      <p:grpSpPr>
        <a:xfrm>
          <a:off x="0" y="0"/>
          <a:ext cx="0" cy="0"/>
          <a:chOff x="0" y="0"/>
          <a:chExt cx="0" cy="0"/>
        </a:xfrm>
      </p:grpSpPr>
      <p:sp>
        <p:nvSpPr>
          <p:cNvPr id="2" name="Shape 0"/>
          <p:cNvSpPr/>
          <p:nvPr/>
        </p:nvSpPr>
        <p:spPr>
          <a:xfrm>
            <a:off x="475488" y="256032"/>
            <a:ext cx="13679424" cy="640080"/>
          </a:xfrm>
          <a:prstGeom prst="rect">
            <a:avLst/>
          </a:prstGeom>
          <a:solidFill>
            <a:srgbClr val="484237"/>
          </a:solidFill>
          <a:ln/>
        </p:spPr>
        <p:txBody>
          <a:bodyPr/>
          <a:lstStyle/>
          <a:p>
            <a:endParaRPr lang="ja-JP" altLang="en-US"/>
          </a:p>
        </p:txBody>
      </p:sp>
      <p:sp>
        <p:nvSpPr>
          <p:cNvPr id="3" name="Text 1"/>
          <p:cNvSpPr/>
          <p:nvPr/>
        </p:nvSpPr>
        <p:spPr>
          <a:xfrm>
            <a:off x="658368" y="256032"/>
            <a:ext cx="13313664" cy="640080"/>
          </a:xfrm>
          <a:prstGeom prst="rect">
            <a:avLst/>
          </a:prstGeom>
          <a:noFill/>
          <a:ln/>
        </p:spPr>
        <p:txBody>
          <a:bodyPr wrap="square" rtlCol="0" anchor="ctr"/>
          <a:lstStyle/>
          <a:p>
            <a:pPr marL="0" indent="0">
              <a:buNone/>
            </a:pPr>
            <a:r>
              <a:rPr lang="en-US" sz="2600" b="1" dirty="0">
                <a:solidFill>
                  <a:srgbClr val="FFFFFF"/>
                </a:solidFill>
                <a:latin typeface="Hiragino Sans W6" pitchFamily="34" charset="0"/>
                <a:ea typeface="Hiragino Sans W6" pitchFamily="34" charset="-122"/>
                <a:cs typeface="Hiragino Sans W6" pitchFamily="34" charset="-120"/>
              </a:rPr>
              <a:t>A. JV法人が申請主体（最優先）</a:t>
            </a:r>
            <a:endParaRPr lang="en-US" sz="2600" dirty="0"/>
          </a:p>
        </p:txBody>
      </p:sp>
      <p:sp>
        <p:nvSpPr>
          <p:cNvPr id="4" name="Shape 2"/>
          <p:cNvSpPr/>
          <p:nvPr/>
        </p:nvSpPr>
        <p:spPr>
          <a:xfrm>
            <a:off x="731520" y="1188720"/>
            <a:ext cx="13167360" cy="1234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5" name="Shape 3"/>
          <p:cNvSpPr/>
          <p:nvPr/>
        </p:nvSpPr>
        <p:spPr>
          <a:xfrm>
            <a:off x="731520" y="1188720"/>
            <a:ext cx="109728" cy="1234440"/>
          </a:xfrm>
          <a:prstGeom prst="rect">
            <a:avLst/>
          </a:prstGeom>
          <a:solidFill>
            <a:srgbClr val="27AE60"/>
          </a:solidFill>
          <a:ln/>
        </p:spPr>
        <p:txBody>
          <a:bodyPr/>
          <a:lstStyle/>
          <a:p>
            <a:endParaRPr lang="ja-JP" altLang="en-US"/>
          </a:p>
        </p:txBody>
      </p:sp>
      <p:sp>
        <p:nvSpPr>
          <p:cNvPr id="6" name="Text 4"/>
          <p:cNvSpPr/>
          <p:nvPr/>
        </p:nvSpPr>
        <p:spPr>
          <a:xfrm>
            <a:off x="1097280" y="1188720"/>
            <a:ext cx="3657600" cy="594360"/>
          </a:xfrm>
          <a:prstGeom prst="rect">
            <a:avLst/>
          </a:prstGeom>
          <a:noFill/>
          <a:ln/>
        </p:spPr>
        <p:txBody>
          <a:bodyPr wrap="square" lIns="0" tIns="0" rIns="0" bIns="0" rtlCol="0" anchor="b"/>
          <a:lstStyle/>
          <a:p>
            <a:pPr marL="0" indent="0">
              <a:buNone/>
            </a:pPr>
            <a:r>
              <a:rPr lang="en-US" sz="1600" b="1" dirty="0">
                <a:solidFill>
                  <a:srgbClr val="4A4A45"/>
                </a:solidFill>
                <a:latin typeface="Hiragino Sans W6" pitchFamily="34" charset="0"/>
                <a:ea typeface="Hiragino Sans W6" pitchFamily="34" charset="-122"/>
                <a:cs typeface="Hiragino Sans W6" pitchFamily="34" charset="-120"/>
              </a:rPr>
              <a:t>東京都DX推進助成金</a:t>
            </a:r>
            <a:endParaRPr lang="en-US" sz="1600" dirty="0"/>
          </a:p>
        </p:txBody>
      </p:sp>
      <p:sp>
        <p:nvSpPr>
          <p:cNvPr id="7" name="Text 5"/>
          <p:cNvSpPr/>
          <p:nvPr/>
        </p:nvSpPr>
        <p:spPr>
          <a:xfrm>
            <a:off x="1097280" y="1812516"/>
            <a:ext cx="2286000" cy="502920"/>
          </a:xfrm>
          <a:prstGeom prst="rect">
            <a:avLst/>
          </a:prstGeom>
          <a:noFill/>
          <a:ln/>
        </p:spPr>
        <p:txBody>
          <a:bodyPr wrap="square" lIns="0" tIns="0" rIns="0" bIns="0" rtlCol="0" anchor="t"/>
          <a:lstStyle/>
          <a:p>
            <a:pPr marL="0" indent="0">
              <a:buNone/>
            </a:pPr>
            <a:r>
              <a:rPr lang="en-US" sz="2200" b="1" dirty="0">
                <a:solidFill>
                  <a:srgbClr val="4A90D9"/>
                </a:solidFill>
                <a:latin typeface="Hiragino Sans W6" pitchFamily="34" charset="0"/>
                <a:ea typeface="Hiragino Sans W6" pitchFamily="34" charset="-122"/>
                <a:cs typeface="Hiragino Sans W6" pitchFamily="34" charset="-120"/>
              </a:rPr>
              <a:t>3,000万円</a:t>
            </a:r>
            <a:endParaRPr lang="en-US" sz="2200" dirty="0"/>
          </a:p>
        </p:txBody>
      </p:sp>
      <p:sp>
        <p:nvSpPr>
          <p:cNvPr id="8" name="Text 6"/>
          <p:cNvSpPr/>
          <p:nvPr/>
        </p:nvSpPr>
        <p:spPr>
          <a:xfrm>
            <a:off x="3383280" y="1850094"/>
            <a:ext cx="1371600" cy="502920"/>
          </a:xfrm>
          <a:prstGeom prst="rect">
            <a:avLst/>
          </a:prstGeom>
          <a:noFill/>
          <a:ln/>
        </p:spPr>
        <p:txBody>
          <a:bodyPr wrap="square" lIns="0" tIns="0" rIns="0" bIns="0" rtlCol="0" anchor="t"/>
          <a:lstStyle/>
          <a:p>
            <a:pPr marL="0" indent="0">
              <a:buNone/>
            </a:pPr>
            <a:r>
              <a:rPr lang="en-US" sz="1300" dirty="0">
                <a:solidFill>
                  <a:srgbClr val="746558"/>
                </a:solidFill>
                <a:latin typeface="Hiragino Sans W3" pitchFamily="34" charset="0"/>
                <a:ea typeface="Hiragino Sans W3" pitchFamily="34" charset="-122"/>
                <a:cs typeface="Hiragino Sans W3" pitchFamily="34" charset="-120"/>
              </a:rPr>
              <a:t>補助率 3/4～4/5</a:t>
            </a:r>
            <a:endParaRPr lang="en-US" sz="1300" dirty="0"/>
          </a:p>
        </p:txBody>
      </p:sp>
      <p:sp>
        <p:nvSpPr>
          <p:cNvPr id="9" name="Text 7"/>
          <p:cNvSpPr/>
          <p:nvPr/>
        </p:nvSpPr>
        <p:spPr>
          <a:xfrm>
            <a:off x="5029200" y="1238824"/>
            <a:ext cx="2743200" cy="594360"/>
          </a:xfrm>
          <a:prstGeom prst="rect">
            <a:avLst/>
          </a:prstGeom>
          <a:noFill/>
          <a:ln/>
        </p:spPr>
        <p:txBody>
          <a:bodyPr wrap="square" lIns="0" tIns="0" rIns="0" bIns="0" rtlCol="0" anchor="b"/>
          <a:lstStyle/>
          <a:p>
            <a:pPr marL="0" indent="0">
              <a:buNone/>
            </a:pPr>
            <a:r>
              <a:rPr lang="en-US" sz="1300" dirty="0">
                <a:solidFill>
                  <a:srgbClr val="746558"/>
                </a:solidFill>
                <a:latin typeface="Hiragino Sans W3" pitchFamily="34" charset="0"/>
                <a:ea typeface="Hiragino Sans W3" pitchFamily="34" charset="-122"/>
                <a:cs typeface="Hiragino Sans W3" pitchFamily="34" charset="-120"/>
              </a:rPr>
              <a:t>申請主体: JV法人</a:t>
            </a:r>
            <a:endParaRPr lang="en-US" sz="1300" dirty="0"/>
          </a:p>
        </p:txBody>
      </p:sp>
      <p:sp>
        <p:nvSpPr>
          <p:cNvPr id="10" name="Text 8"/>
          <p:cNvSpPr/>
          <p:nvPr/>
        </p:nvSpPr>
        <p:spPr>
          <a:xfrm>
            <a:off x="5029200" y="1787464"/>
            <a:ext cx="3200400" cy="502920"/>
          </a:xfrm>
          <a:prstGeom prst="rect">
            <a:avLst/>
          </a:prstGeom>
          <a:noFill/>
          <a:ln/>
        </p:spPr>
        <p:txBody>
          <a:bodyPr wrap="square" lIns="0" tIns="0" rIns="0" bIns="0" rtlCol="0" anchor="t"/>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申請時期: DXアドバイザー3ヶ月後</a:t>
            </a:r>
            <a:endParaRPr lang="en-US" sz="1300" dirty="0"/>
          </a:p>
        </p:txBody>
      </p:sp>
      <p:sp>
        <p:nvSpPr>
          <p:cNvPr id="11" name="Text 9"/>
          <p:cNvSpPr/>
          <p:nvPr/>
        </p:nvSpPr>
        <p:spPr>
          <a:xfrm>
            <a:off x="8412480" y="1284544"/>
            <a:ext cx="5120640" cy="1097280"/>
          </a:xfrm>
          <a:prstGeom prst="rect">
            <a:avLst/>
          </a:prstGeom>
          <a:noFill/>
          <a:ln/>
        </p:spPr>
        <p:txBody>
          <a:bodyPr wrap="square" rtlCol="0" anchor="ct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東京都中小企業振興公社のDXアドバイザー支援を受けた上で申請。SaaS開発費・サーバー費・クラウド費用が対象。最大規模の補助金。</a:t>
            </a:r>
            <a:endParaRPr lang="en-US" sz="1200" dirty="0"/>
          </a:p>
        </p:txBody>
      </p:sp>
      <p:sp>
        <p:nvSpPr>
          <p:cNvPr id="12" name="Text 10"/>
          <p:cNvSpPr/>
          <p:nvPr/>
        </p:nvSpPr>
        <p:spPr>
          <a:xfrm>
            <a:off x="12984480" y="1238824"/>
            <a:ext cx="731520" cy="457200"/>
          </a:xfrm>
          <a:prstGeom prst="rect">
            <a:avLst/>
          </a:prstGeom>
          <a:noFill/>
          <a:ln/>
        </p:spPr>
        <p:txBody>
          <a:bodyPr wrap="square" rtlCol="0" anchor="ctr"/>
          <a:lstStyle/>
          <a:p>
            <a:pPr marL="0" indent="0" algn="ctr">
              <a:buNone/>
            </a:pPr>
            <a:r>
              <a:rPr lang="en-US" sz="1400" dirty="0">
                <a:solidFill>
                  <a:srgbClr val="27AE60"/>
                </a:solidFill>
              </a:rPr>
              <a:t>★★★</a:t>
            </a:r>
            <a:endParaRPr lang="en-US" sz="1400" dirty="0"/>
          </a:p>
        </p:txBody>
      </p:sp>
      <p:sp>
        <p:nvSpPr>
          <p:cNvPr id="13" name="Shape 11"/>
          <p:cNvSpPr/>
          <p:nvPr/>
        </p:nvSpPr>
        <p:spPr>
          <a:xfrm>
            <a:off x="731520" y="2606040"/>
            <a:ext cx="13167360" cy="1234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4" name="Shape 12"/>
          <p:cNvSpPr/>
          <p:nvPr/>
        </p:nvSpPr>
        <p:spPr>
          <a:xfrm>
            <a:off x="731520" y="2606040"/>
            <a:ext cx="109728" cy="1234440"/>
          </a:xfrm>
          <a:prstGeom prst="rect">
            <a:avLst/>
          </a:prstGeom>
          <a:solidFill>
            <a:srgbClr val="27AE60"/>
          </a:solidFill>
          <a:ln/>
        </p:spPr>
        <p:txBody>
          <a:bodyPr/>
          <a:lstStyle/>
          <a:p>
            <a:endParaRPr lang="ja-JP" altLang="en-US"/>
          </a:p>
        </p:txBody>
      </p:sp>
      <p:sp>
        <p:nvSpPr>
          <p:cNvPr id="15" name="Text 13"/>
          <p:cNvSpPr/>
          <p:nvPr/>
        </p:nvSpPr>
        <p:spPr>
          <a:xfrm>
            <a:off x="1097280" y="2606040"/>
            <a:ext cx="3657600" cy="594360"/>
          </a:xfrm>
          <a:prstGeom prst="rect">
            <a:avLst/>
          </a:prstGeom>
          <a:noFill/>
          <a:ln/>
        </p:spPr>
        <p:txBody>
          <a:bodyPr wrap="square" lIns="0" tIns="0" rIns="0" bIns="0" rtlCol="0" anchor="b"/>
          <a:lstStyle/>
          <a:p>
            <a:pPr marL="0" indent="0">
              <a:buNone/>
            </a:pPr>
            <a:r>
              <a:rPr lang="en-US" sz="1600" b="1" dirty="0">
                <a:solidFill>
                  <a:srgbClr val="4A4A45"/>
                </a:solidFill>
                <a:latin typeface="Hiragino Sans W6" pitchFamily="34" charset="0"/>
                <a:ea typeface="Hiragino Sans W6" pitchFamily="34" charset="-122"/>
                <a:cs typeface="Hiragino Sans W6" pitchFamily="34" charset="-120"/>
              </a:rPr>
              <a:t>東京都創業助成事業</a:t>
            </a:r>
            <a:endParaRPr lang="en-US" sz="1600" dirty="0"/>
          </a:p>
        </p:txBody>
      </p:sp>
      <p:sp>
        <p:nvSpPr>
          <p:cNvPr id="16" name="Text 14"/>
          <p:cNvSpPr/>
          <p:nvPr/>
        </p:nvSpPr>
        <p:spPr>
          <a:xfrm>
            <a:off x="1097280" y="3229836"/>
            <a:ext cx="2286000" cy="502920"/>
          </a:xfrm>
          <a:prstGeom prst="rect">
            <a:avLst/>
          </a:prstGeom>
          <a:noFill/>
          <a:ln/>
        </p:spPr>
        <p:txBody>
          <a:bodyPr wrap="square" lIns="0" tIns="0" rIns="0" bIns="0" rtlCol="0" anchor="t"/>
          <a:lstStyle/>
          <a:p>
            <a:pPr marL="0" indent="0">
              <a:buNone/>
            </a:pPr>
            <a:r>
              <a:rPr lang="en-US" sz="2200" b="1" dirty="0">
                <a:solidFill>
                  <a:srgbClr val="4A90D9"/>
                </a:solidFill>
                <a:latin typeface="Hiragino Sans W6" pitchFamily="34" charset="0"/>
                <a:ea typeface="Hiragino Sans W6" pitchFamily="34" charset="-122"/>
                <a:cs typeface="Hiragino Sans W6" pitchFamily="34" charset="-120"/>
              </a:rPr>
              <a:t>400万円</a:t>
            </a:r>
            <a:endParaRPr lang="en-US" sz="2200" dirty="0"/>
          </a:p>
        </p:txBody>
      </p:sp>
      <p:sp>
        <p:nvSpPr>
          <p:cNvPr id="17" name="Text 15"/>
          <p:cNvSpPr/>
          <p:nvPr/>
        </p:nvSpPr>
        <p:spPr>
          <a:xfrm>
            <a:off x="3383280" y="3267414"/>
            <a:ext cx="1371600" cy="502920"/>
          </a:xfrm>
          <a:prstGeom prst="rect">
            <a:avLst/>
          </a:prstGeom>
          <a:noFill/>
          <a:ln/>
        </p:spPr>
        <p:txBody>
          <a:bodyPr wrap="square" lIns="0" tIns="0" rIns="0" bIns="0" rtlCol="0" anchor="t"/>
          <a:lstStyle/>
          <a:p>
            <a:pPr marL="0" indent="0">
              <a:buNone/>
            </a:pPr>
            <a:r>
              <a:rPr lang="en-US" sz="1300" dirty="0">
                <a:solidFill>
                  <a:srgbClr val="746558"/>
                </a:solidFill>
                <a:latin typeface="Hiragino Sans W3" pitchFamily="34" charset="0"/>
                <a:ea typeface="Hiragino Sans W3" pitchFamily="34" charset="-122"/>
                <a:cs typeface="Hiragino Sans W3" pitchFamily="34" charset="-120"/>
              </a:rPr>
              <a:t>補助率 2/3</a:t>
            </a:r>
            <a:endParaRPr lang="en-US" sz="1300" dirty="0"/>
          </a:p>
        </p:txBody>
      </p:sp>
      <p:sp>
        <p:nvSpPr>
          <p:cNvPr id="18" name="Text 16"/>
          <p:cNvSpPr/>
          <p:nvPr/>
        </p:nvSpPr>
        <p:spPr>
          <a:xfrm>
            <a:off x="5029200" y="2656144"/>
            <a:ext cx="2743200" cy="594360"/>
          </a:xfrm>
          <a:prstGeom prst="rect">
            <a:avLst/>
          </a:prstGeom>
          <a:noFill/>
          <a:ln/>
        </p:spPr>
        <p:txBody>
          <a:bodyPr wrap="square" lIns="0" tIns="0" rIns="0" bIns="0" rtlCol="0" anchor="b"/>
          <a:lstStyle/>
          <a:p>
            <a:pPr marL="0" indent="0">
              <a:buNone/>
            </a:pPr>
            <a:r>
              <a:rPr lang="en-US" sz="1300" dirty="0">
                <a:solidFill>
                  <a:srgbClr val="746558"/>
                </a:solidFill>
                <a:latin typeface="Hiragino Sans W3" pitchFamily="34" charset="0"/>
                <a:ea typeface="Hiragino Sans W3" pitchFamily="34" charset="-122"/>
                <a:cs typeface="Hiragino Sans W3" pitchFamily="34" charset="-120"/>
              </a:rPr>
              <a:t>申請主体: JV法人</a:t>
            </a:r>
            <a:endParaRPr lang="en-US" sz="1300" dirty="0"/>
          </a:p>
        </p:txBody>
      </p:sp>
      <p:sp>
        <p:nvSpPr>
          <p:cNvPr id="19" name="Text 17"/>
          <p:cNvSpPr/>
          <p:nvPr/>
        </p:nvSpPr>
        <p:spPr>
          <a:xfrm>
            <a:off x="5029200" y="3204784"/>
            <a:ext cx="3200400" cy="502920"/>
          </a:xfrm>
          <a:prstGeom prst="rect">
            <a:avLst/>
          </a:prstGeom>
          <a:noFill/>
          <a:ln/>
        </p:spPr>
        <p:txBody>
          <a:bodyPr wrap="square" lIns="0" tIns="0" rIns="0" bIns="0" rtlCol="0" anchor="t"/>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申請時期: 2026年4月 第1回公募</a:t>
            </a:r>
            <a:endParaRPr lang="en-US" sz="1300" dirty="0"/>
          </a:p>
        </p:txBody>
      </p:sp>
      <p:sp>
        <p:nvSpPr>
          <p:cNvPr id="20" name="Text 18"/>
          <p:cNvSpPr/>
          <p:nvPr/>
        </p:nvSpPr>
        <p:spPr>
          <a:xfrm>
            <a:off x="8412480" y="2701864"/>
            <a:ext cx="5120640" cy="1097280"/>
          </a:xfrm>
          <a:prstGeom prst="rect">
            <a:avLst/>
          </a:prstGeom>
          <a:noFill/>
          <a:ln/>
        </p:spPr>
        <p:txBody>
          <a:bodyPr wrap="square" rtlCol="0" anchor="ct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創業5年未満が対象。人件費・委託費・広告費・市場調査費など幅広い経費が対象。JV設立直後に即申請可能。</a:t>
            </a:r>
            <a:endParaRPr lang="en-US" sz="1200" dirty="0"/>
          </a:p>
        </p:txBody>
      </p:sp>
      <p:sp>
        <p:nvSpPr>
          <p:cNvPr id="21" name="Text 19"/>
          <p:cNvSpPr/>
          <p:nvPr/>
        </p:nvSpPr>
        <p:spPr>
          <a:xfrm>
            <a:off x="12984480" y="2656144"/>
            <a:ext cx="731520" cy="457200"/>
          </a:xfrm>
          <a:prstGeom prst="rect">
            <a:avLst/>
          </a:prstGeom>
          <a:noFill/>
          <a:ln/>
        </p:spPr>
        <p:txBody>
          <a:bodyPr wrap="square" rtlCol="0" anchor="ctr"/>
          <a:lstStyle/>
          <a:p>
            <a:pPr marL="0" indent="0" algn="ctr">
              <a:buNone/>
            </a:pPr>
            <a:r>
              <a:rPr lang="en-US" sz="1400" dirty="0">
                <a:solidFill>
                  <a:srgbClr val="27AE60"/>
                </a:solidFill>
              </a:rPr>
              <a:t>★★★</a:t>
            </a:r>
            <a:endParaRPr lang="en-US" sz="1400" dirty="0"/>
          </a:p>
        </p:txBody>
      </p:sp>
      <p:sp>
        <p:nvSpPr>
          <p:cNvPr id="22" name="Shape 20"/>
          <p:cNvSpPr/>
          <p:nvPr/>
        </p:nvSpPr>
        <p:spPr>
          <a:xfrm>
            <a:off x="731520" y="4023360"/>
            <a:ext cx="13167360" cy="1234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3" name="Shape 21"/>
          <p:cNvSpPr/>
          <p:nvPr/>
        </p:nvSpPr>
        <p:spPr>
          <a:xfrm>
            <a:off x="731520" y="4023360"/>
            <a:ext cx="109728" cy="1234440"/>
          </a:xfrm>
          <a:prstGeom prst="rect">
            <a:avLst/>
          </a:prstGeom>
          <a:solidFill>
            <a:srgbClr val="F39C12"/>
          </a:solidFill>
          <a:ln/>
        </p:spPr>
        <p:txBody>
          <a:bodyPr/>
          <a:lstStyle/>
          <a:p>
            <a:endParaRPr lang="ja-JP" altLang="en-US"/>
          </a:p>
        </p:txBody>
      </p:sp>
      <p:sp>
        <p:nvSpPr>
          <p:cNvPr id="24" name="Text 22"/>
          <p:cNvSpPr/>
          <p:nvPr/>
        </p:nvSpPr>
        <p:spPr>
          <a:xfrm>
            <a:off x="1097280" y="4023360"/>
            <a:ext cx="3657600" cy="594360"/>
          </a:xfrm>
          <a:prstGeom prst="rect">
            <a:avLst/>
          </a:prstGeom>
          <a:noFill/>
          <a:ln/>
        </p:spPr>
        <p:txBody>
          <a:bodyPr wrap="square" lIns="0" tIns="0" rIns="0" bIns="0" rtlCol="0" anchor="b"/>
          <a:lstStyle/>
          <a:p>
            <a:pPr marL="0" indent="0">
              <a:buNone/>
            </a:pPr>
            <a:r>
              <a:rPr lang="en-US" sz="1600" b="1" dirty="0">
                <a:solidFill>
                  <a:srgbClr val="4A4A45"/>
                </a:solidFill>
                <a:latin typeface="Hiragino Sans W6" pitchFamily="34" charset="0"/>
                <a:ea typeface="Hiragino Sans W6" pitchFamily="34" charset="-122"/>
                <a:cs typeface="Hiragino Sans W6" pitchFamily="34" charset="-120"/>
              </a:rPr>
              <a:t>社会課題解決型スタートアップ支援 (TCiN)</a:t>
            </a:r>
            <a:endParaRPr lang="en-US" sz="1600" dirty="0"/>
          </a:p>
        </p:txBody>
      </p:sp>
      <p:sp>
        <p:nvSpPr>
          <p:cNvPr id="25" name="Text 23"/>
          <p:cNvSpPr/>
          <p:nvPr/>
        </p:nvSpPr>
        <p:spPr>
          <a:xfrm>
            <a:off x="1097280" y="4647156"/>
            <a:ext cx="2286000" cy="502920"/>
          </a:xfrm>
          <a:prstGeom prst="rect">
            <a:avLst/>
          </a:prstGeom>
          <a:noFill/>
          <a:ln/>
        </p:spPr>
        <p:txBody>
          <a:bodyPr wrap="square" lIns="0" tIns="0" rIns="0" bIns="0" rtlCol="0" anchor="t"/>
          <a:lstStyle/>
          <a:p>
            <a:pPr marL="0" indent="0">
              <a:buNone/>
            </a:pPr>
            <a:r>
              <a:rPr lang="en-US" sz="2200" b="1" dirty="0">
                <a:solidFill>
                  <a:srgbClr val="4A90D9"/>
                </a:solidFill>
                <a:latin typeface="Hiragino Sans W6" pitchFamily="34" charset="0"/>
                <a:ea typeface="Hiragino Sans W6" pitchFamily="34" charset="-122"/>
                <a:cs typeface="Hiragino Sans W6" pitchFamily="34" charset="-120"/>
              </a:rPr>
              <a:t>支援プログラム型</a:t>
            </a:r>
            <a:endParaRPr lang="en-US" sz="2200" dirty="0"/>
          </a:p>
        </p:txBody>
      </p:sp>
      <p:sp>
        <p:nvSpPr>
          <p:cNvPr id="26" name="Text 24"/>
          <p:cNvSpPr/>
          <p:nvPr/>
        </p:nvSpPr>
        <p:spPr>
          <a:xfrm>
            <a:off x="3383280" y="4684734"/>
            <a:ext cx="1371600" cy="502920"/>
          </a:xfrm>
          <a:prstGeom prst="rect">
            <a:avLst/>
          </a:prstGeom>
          <a:noFill/>
          <a:ln/>
        </p:spPr>
        <p:txBody>
          <a:bodyPr wrap="square" lIns="0" tIns="0" rIns="0" bIns="0" rtlCol="0" anchor="t"/>
          <a:lstStyle/>
          <a:p>
            <a:pPr marL="0" indent="0">
              <a:buNone/>
            </a:pPr>
            <a:r>
              <a:rPr lang="en-US" sz="1300" dirty="0">
                <a:solidFill>
                  <a:srgbClr val="746558"/>
                </a:solidFill>
                <a:latin typeface="Hiragino Sans W3" pitchFamily="34" charset="0"/>
                <a:ea typeface="Hiragino Sans W3" pitchFamily="34" charset="-122"/>
                <a:cs typeface="Hiragino Sans W3" pitchFamily="34" charset="-120"/>
              </a:rPr>
              <a:t>開発費等補助</a:t>
            </a:r>
            <a:endParaRPr lang="en-US" sz="1300" dirty="0"/>
          </a:p>
        </p:txBody>
      </p:sp>
      <p:sp>
        <p:nvSpPr>
          <p:cNvPr id="27" name="Text 25"/>
          <p:cNvSpPr/>
          <p:nvPr/>
        </p:nvSpPr>
        <p:spPr>
          <a:xfrm>
            <a:off x="5029200" y="4073464"/>
            <a:ext cx="2743200" cy="594360"/>
          </a:xfrm>
          <a:prstGeom prst="rect">
            <a:avLst/>
          </a:prstGeom>
          <a:noFill/>
          <a:ln/>
        </p:spPr>
        <p:txBody>
          <a:bodyPr wrap="square" lIns="0" tIns="0" rIns="0" bIns="0" rtlCol="0" anchor="b"/>
          <a:lstStyle/>
          <a:p>
            <a:pPr marL="0" indent="0">
              <a:buNone/>
            </a:pPr>
            <a:r>
              <a:rPr lang="en-US" sz="1300" dirty="0">
                <a:solidFill>
                  <a:srgbClr val="746558"/>
                </a:solidFill>
                <a:latin typeface="Hiragino Sans W3" pitchFamily="34" charset="0"/>
                <a:ea typeface="Hiragino Sans W3" pitchFamily="34" charset="-122"/>
                <a:cs typeface="Hiragino Sans W3" pitchFamily="34" charset="-120"/>
              </a:rPr>
              <a:t>申請主体: JV法人</a:t>
            </a:r>
            <a:endParaRPr lang="en-US" sz="1300" dirty="0"/>
          </a:p>
        </p:txBody>
      </p:sp>
      <p:sp>
        <p:nvSpPr>
          <p:cNvPr id="28" name="Text 26"/>
          <p:cNvSpPr/>
          <p:nvPr/>
        </p:nvSpPr>
        <p:spPr>
          <a:xfrm>
            <a:off x="5029200" y="4622104"/>
            <a:ext cx="3200400" cy="502920"/>
          </a:xfrm>
          <a:prstGeom prst="rect">
            <a:avLst/>
          </a:prstGeom>
          <a:noFill/>
          <a:ln/>
        </p:spPr>
        <p:txBody>
          <a:bodyPr wrap="square" lIns="0" tIns="0" rIns="0" bIns="0" rtlCol="0" anchor="t"/>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申請時期: 2026年4～5月 第4期</a:t>
            </a:r>
            <a:endParaRPr lang="en-US" sz="1300" dirty="0"/>
          </a:p>
        </p:txBody>
      </p:sp>
      <p:sp>
        <p:nvSpPr>
          <p:cNvPr id="29" name="Text 27"/>
          <p:cNvSpPr/>
          <p:nvPr/>
        </p:nvSpPr>
        <p:spPr>
          <a:xfrm>
            <a:off x="8412480" y="4119184"/>
            <a:ext cx="5120640" cy="1097280"/>
          </a:xfrm>
          <a:prstGeom prst="rect">
            <a:avLst/>
          </a:prstGeom>
          <a:noFill/>
          <a:ln/>
        </p:spPr>
        <p:txBody>
          <a:bodyPr wrap="square" rtlCol="0" anchor="ct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福祉×DXは「生きやすさ・働きやすさ」分野で高適合。大企業とのマッチング支援あり。藤井議員を通じた紹介も期待。</a:t>
            </a:r>
            <a:endParaRPr lang="en-US" sz="1200" dirty="0"/>
          </a:p>
        </p:txBody>
      </p:sp>
      <p:sp>
        <p:nvSpPr>
          <p:cNvPr id="30" name="Text 28"/>
          <p:cNvSpPr/>
          <p:nvPr/>
        </p:nvSpPr>
        <p:spPr>
          <a:xfrm>
            <a:off x="12984480" y="4073464"/>
            <a:ext cx="731520" cy="457200"/>
          </a:xfrm>
          <a:prstGeom prst="rect">
            <a:avLst/>
          </a:prstGeom>
          <a:noFill/>
          <a:ln/>
        </p:spPr>
        <p:txBody>
          <a:bodyPr wrap="square" rtlCol="0" anchor="ctr"/>
          <a:lstStyle/>
          <a:p>
            <a:pPr marL="0" indent="0" algn="ctr">
              <a:buNone/>
            </a:pPr>
            <a:r>
              <a:rPr lang="en-US" sz="1400" dirty="0">
                <a:solidFill>
                  <a:srgbClr val="F39C12"/>
                </a:solidFill>
              </a:rPr>
              <a:t>★★☆</a:t>
            </a:r>
            <a:endParaRPr lang="en-US" sz="1400" dirty="0"/>
          </a:p>
        </p:txBody>
      </p:sp>
      <p:sp>
        <p:nvSpPr>
          <p:cNvPr id="31" name="Shape 29"/>
          <p:cNvSpPr/>
          <p:nvPr/>
        </p:nvSpPr>
        <p:spPr>
          <a:xfrm>
            <a:off x="731520" y="5440680"/>
            <a:ext cx="13167360" cy="1234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32" name="Shape 30"/>
          <p:cNvSpPr/>
          <p:nvPr/>
        </p:nvSpPr>
        <p:spPr>
          <a:xfrm>
            <a:off x="731520" y="5440680"/>
            <a:ext cx="109728" cy="1234440"/>
          </a:xfrm>
          <a:prstGeom prst="rect">
            <a:avLst/>
          </a:prstGeom>
          <a:solidFill>
            <a:srgbClr val="F39C12"/>
          </a:solidFill>
          <a:ln/>
        </p:spPr>
        <p:txBody>
          <a:bodyPr/>
          <a:lstStyle/>
          <a:p>
            <a:endParaRPr lang="ja-JP" altLang="en-US"/>
          </a:p>
        </p:txBody>
      </p:sp>
      <p:sp>
        <p:nvSpPr>
          <p:cNvPr id="33" name="Text 31"/>
          <p:cNvSpPr/>
          <p:nvPr/>
        </p:nvSpPr>
        <p:spPr>
          <a:xfrm>
            <a:off x="1097280" y="5440680"/>
            <a:ext cx="3657600" cy="594360"/>
          </a:xfrm>
          <a:prstGeom prst="rect">
            <a:avLst/>
          </a:prstGeom>
          <a:noFill/>
          <a:ln/>
        </p:spPr>
        <p:txBody>
          <a:bodyPr wrap="square" lIns="0" tIns="0" rIns="0" bIns="0" rtlCol="0" anchor="b"/>
          <a:lstStyle/>
          <a:p>
            <a:pPr marL="0" indent="0">
              <a:buNone/>
            </a:pPr>
            <a:r>
              <a:rPr lang="en-US" sz="1600" b="1" dirty="0">
                <a:solidFill>
                  <a:srgbClr val="4A4A45"/>
                </a:solidFill>
                <a:latin typeface="Hiragino Sans W6" pitchFamily="34" charset="0"/>
                <a:ea typeface="Hiragino Sans W6" pitchFamily="34" charset="-122"/>
                <a:cs typeface="Hiragino Sans W6" pitchFamily="34" charset="-120"/>
              </a:rPr>
              <a:t>小規模事業者持続化補助金（創業枚）</a:t>
            </a:r>
            <a:endParaRPr lang="en-US" sz="1600" dirty="0"/>
          </a:p>
        </p:txBody>
      </p:sp>
      <p:sp>
        <p:nvSpPr>
          <p:cNvPr id="34" name="Text 32"/>
          <p:cNvSpPr/>
          <p:nvPr/>
        </p:nvSpPr>
        <p:spPr>
          <a:xfrm>
            <a:off x="1097280" y="6064476"/>
            <a:ext cx="2286000" cy="502920"/>
          </a:xfrm>
          <a:prstGeom prst="rect">
            <a:avLst/>
          </a:prstGeom>
          <a:noFill/>
          <a:ln/>
        </p:spPr>
        <p:txBody>
          <a:bodyPr wrap="square" lIns="0" tIns="0" rIns="0" bIns="0" rtlCol="0" anchor="t"/>
          <a:lstStyle/>
          <a:p>
            <a:pPr marL="0" indent="0">
              <a:buNone/>
            </a:pPr>
            <a:r>
              <a:rPr lang="en-US" sz="2200" b="1" dirty="0">
                <a:solidFill>
                  <a:srgbClr val="4A90D9"/>
                </a:solidFill>
                <a:latin typeface="Hiragino Sans W6" pitchFamily="34" charset="0"/>
                <a:ea typeface="Hiragino Sans W6" pitchFamily="34" charset="-122"/>
                <a:cs typeface="Hiragino Sans W6" pitchFamily="34" charset="-120"/>
              </a:rPr>
              <a:t>250万円</a:t>
            </a:r>
            <a:endParaRPr lang="en-US" sz="2200" dirty="0"/>
          </a:p>
        </p:txBody>
      </p:sp>
      <p:sp>
        <p:nvSpPr>
          <p:cNvPr id="35" name="Text 33"/>
          <p:cNvSpPr/>
          <p:nvPr/>
        </p:nvSpPr>
        <p:spPr>
          <a:xfrm>
            <a:off x="3383280" y="6102054"/>
            <a:ext cx="1371600" cy="502920"/>
          </a:xfrm>
          <a:prstGeom prst="rect">
            <a:avLst/>
          </a:prstGeom>
          <a:noFill/>
          <a:ln/>
        </p:spPr>
        <p:txBody>
          <a:bodyPr wrap="square" lIns="0" tIns="0" rIns="0" bIns="0" rtlCol="0" anchor="t"/>
          <a:lstStyle/>
          <a:p>
            <a:pPr marL="0" indent="0">
              <a:buNone/>
            </a:pPr>
            <a:r>
              <a:rPr lang="en-US" sz="1300" dirty="0">
                <a:solidFill>
                  <a:srgbClr val="746558"/>
                </a:solidFill>
                <a:latin typeface="Hiragino Sans W3" pitchFamily="34" charset="0"/>
                <a:ea typeface="Hiragino Sans W3" pitchFamily="34" charset="-122"/>
                <a:cs typeface="Hiragino Sans W3" pitchFamily="34" charset="-120"/>
              </a:rPr>
              <a:t>補助率 2/3</a:t>
            </a:r>
            <a:endParaRPr lang="en-US" sz="1300" dirty="0"/>
          </a:p>
        </p:txBody>
      </p:sp>
      <p:sp>
        <p:nvSpPr>
          <p:cNvPr id="36" name="Text 34"/>
          <p:cNvSpPr/>
          <p:nvPr/>
        </p:nvSpPr>
        <p:spPr>
          <a:xfrm>
            <a:off x="5029200" y="5490784"/>
            <a:ext cx="2743200" cy="594360"/>
          </a:xfrm>
          <a:prstGeom prst="rect">
            <a:avLst/>
          </a:prstGeom>
          <a:noFill/>
          <a:ln/>
        </p:spPr>
        <p:txBody>
          <a:bodyPr wrap="square" lIns="0" tIns="0" rIns="0" bIns="0" rtlCol="0" anchor="b"/>
          <a:lstStyle/>
          <a:p>
            <a:pPr marL="0" indent="0">
              <a:buNone/>
            </a:pPr>
            <a:r>
              <a:rPr lang="en-US" sz="1300" dirty="0">
                <a:solidFill>
                  <a:srgbClr val="746558"/>
                </a:solidFill>
                <a:latin typeface="Hiragino Sans W3" pitchFamily="34" charset="0"/>
                <a:ea typeface="Hiragino Sans W3" pitchFamily="34" charset="-122"/>
                <a:cs typeface="Hiragino Sans W3" pitchFamily="34" charset="-120"/>
              </a:rPr>
              <a:t>申請主体: JV法人</a:t>
            </a:r>
            <a:endParaRPr lang="en-US" sz="1300" dirty="0"/>
          </a:p>
        </p:txBody>
      </p:sp>
      <p:sp>
        <p:nvSpPr>
          <p:cNvPr id="37" name="Text 35"/>
          <p:cNvSpPr/>
          <p:nvPr/>
        </p:nvSpPr>
        <p:spPr>
          <a:xfrm>
            <a:off x="5029200" y="6039424"/>
            <a:ext cx="3200400" cy="502920"/>
          </a:xfrm>
          <a:prstGeom prst="rect">
            <a:avLst/>
          </a:prstGeom>
          <a:noFill/>
          <a:ln/>
        </p:spPr>
        <p:txBody>
          <a:bodyPr wrap="square" lIns="0" tIns="0" rIns="0" bIns="0" rtlCol="0" anchor="t"/>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申請時期: 2026年春 第4回公募</a:t>
            </a:r>
            <a:endParaRPr lang="en-US" sz="1300" dirty="0"/>
          </a:p>
        </p:txBody>
      </p:sp>
      <p:sp>
        <p:nvSpPr>
          <p:cNvPr id="38" name="Text 36"/>
          <p:cNvSpPr/>
          <p:nvPr/>
        </p:nvSpPr>
        <p:spPr>
          <a:xfrm>
            <a:off x="8412480" y="5536504"/>
            <a:ext cx="5120640" cy="1097280"/>
          </a:xfrm>
          <a:prstGeom prst="rect">
            <a:avLst/>
          </a:prstGeom>
          <a:noFill/>
          <a:ln/>
        </p:spPr>
        <p:txBody>
          <a:bodyPr wrap="square" rtlCol="0" anchor="ct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創業5年未満。広告・マーケティング費用に活用。特定創業支援等事業の証明書が必要。</a:t>
            </a:r>
            <a:endParaRPr lang="en-US" sz="1200" dirty="0"/>
          </a:p>
        </p:txBody>
      </p:sp>
      <p:sp>
        <p:nvSpPr>
          <p:cNvPr id="39" name="Text 37"/>
          <p:cNvSpPr/>
          <p:nvPr/>
        </p:nvSpPr>
        <p:spPr>
          <a:xfrm>
            <a:off x="12984480" y="5490784"/>
            <a:ext cx="731520" cy="457200"/>
          </a:xfrm>
          <a:prstGeom prst="rect">
            <a:avLst/>
          </a:prstGeom>
          <a:noFill/>
          <a:ln/>
        </p:spPr>
        <p:txBody>
          <a:bodyPr wrap="square" rtlCol="0" anchor="ctr"/>
          <a:lstStyle/>
          <a:p>
            <a:pPr marL="0" indent="0" algn="ctr">
              <a:buNone/>
            </a:pPr>
            <a:r>
              <a:rPr lang="en-US" sz="1400" dirty="0">
                <a:solidFill>
                  <a:srgbClr val="F39C12"/>
                </a:solidFill>
              </a:rPr>
              <a: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8DD"/>
        </a:solidFill>
        <a:effectLst/>
      </p:bgPr>
    </p:bg>
    <p:spTree>
      <p:nvGrpSpPr>
        <p:cNvPr id="1" name=""/>
        <p:cNvGrpSpPr/>
        <p:nvPr/>
      </p:nvGrpSpPr>
      <p:grpSpPr>
        <a:xfrm>
          <a:off x="0" y="0"/>
          <a:ext cx="0" cy="0"/>
          <a:chOff x="0" y="0"/>
          <a:chExt cx="0" cy="0"/>
        </a:xfrm>
      </p:grpSpPr>
      <p:sp>
        <p:nvSpPr>
          <p:cNvPr id="2" name="Shape 0"/>
          <p:cNvSpPr/>
          <p:nvPr/>
        </p:nvSpPr>
        <p:spPr>
          <a:xfrm>
            <a:off x="475488" y="256032"/>
            <a:ext cx="13679424" cy="640080"/>
          </a:xfrm>
          <a:prstGeom prst="rect">
            <a:avLst/>
          </a:prstGeom>
          <a:solidFill>
            <a:srgbClr val="484237"/>
          </a:solidFill>
          <a:ln/>
        </p:spPr>
        <p:txBody>
          <a:bodyPr/>
          <a:lstStyle/>
          <a:p>
            <a:endParaRPr lang="ja-JP" altLang="en-US"/>
          </a:p>
        </p:txBody>
      </p:sp>
      <p:sp>
        <p:nvSpPr>
          <p:cNvPr id="3" name="Text 1"/>
          <p:cNvSpPr/>
          <p:nvPr/>
        </p:nvSpPr>
        <p:spPr>
          <a:xfrm>
            <a:off x="658368" y="256032"/>
            <a:ext cx="13313664" cy="640080"/>
          </a:xfrm>
          <a:prstGeom prst="rect">
            <a:avLst/>
          </a:prstGeom>
          <a:noFill/>
          <a:ln/>
        </p:spPr>
        <p:txBody>
          <a:bodyPr wrap="square" rtlCol="0" anchor="ctr"/>
          <a:lstStyle/>
          <a:p>
            <a:pPr marL="0" indent="0">
              <a:buNone/>
            </a:pPr>
            <a:r>
              <a:rPr lang="en-US" sz="2600" b="1" dirty="0">
                <a:solidFill>
                  <a:srgbClr val="FFFFFF"/>
                </a:solidFill>
                <a:latin typeface="Hiragino Sans W6" pitchFamily="34" charset="0"/>
                <a:ea typeface="Hiragino Sans W6" pitchFamily="34" charset="-122"/>
                <a:cs typeface="Hiragino Sans W6" pitchFamily="34" charset="-120"/>
              </a:rPr>
              <a:t>B. 導入先施設が申請主体（サンライズ及び他施設）</a:t>
            </a:r>
            <a:endParaRPr lang="en-US" sz="2600" dirty="0"/>
          </a:p>
        </p:txBody>
      </p:sp>
      <p:sp>
        <p:nvSpPr>
          <p:cNvPr id="4" name="Shape 2"/>
          <p:cNvSpPr/>
          <p:nvPr/>
        </p:nvSpPr>
        <p:spPr>
          <a:xfrm>
            <a:off x="731520" y="1188720"/>
            <a:ext cx="13167360" cy="1234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5" name="Shape 3"/>
          <p:cNvSpPr/>
          <p:nvPr/>
        </p:nvSpPr>
        <p:spPr>
          <a:xfrm>
            <a:off x="731520" y="1188720"/>
            <a:ext cx="109728" cy="1234440"/>
          </a:xfrm>
          <a:prstGeom prst="rect">
            <a:avLst/>
          </a:prstGeom>
          <a:solidFill>
            <a:srgbClr val="27AE60"/>
          </a:solidFill>
          <a:ln/>
        </p:spPr>
        <p:txBody>
          <a:bodyPr/>
          <a:lstStyle/>
          <a:p>
            <a:endParaRPr lang="ja-JP" altLang="en-US"/>
          </a:p>
        </p:txBody>
      </p:sp>
      <p:sp>
        <p:nvSpPr>
          <p:cNvPr id="6" name="Text 4"/>
          <p:cNvSpPr/>
          <p:nvPr/>
        </p:nvSpPr>
        <p:spPr>
          <a:xfrm>
            <a:off x="1097280" y="1188720"/>
            <a:ext cx="3657600" cy="594360"/>
          </a:xfrm>
          <a:prstGeom prst="rect">
            <a:avLst/>
          </a:prstGeom>
          <a:noFill/>
          <a:ln/>
        </p:spPr>
        <p:txBody>
          <a:bodyPr wrap="square" lIns="0" tIns="0" rIns="0" bIns="0" rtlCol="0" anchor="b"/>
          <a:lstStyle/>
          <a:p>
            <a:pPr marL="0" indent="0">
              <a:buNone/>
            </a:pPr>
            <a:r>
              <a:rPr lang="en-US" sz="1600" b="1" dirty="0">
                <a:solidFill>
                  <a:srgbClr val="4A4A45"/>
                </a:solidFill>
                <a:latin typeface="Hiragino Sans W6" pitchFamily="34" charset="0"/>
                <a:ea typeface="Hiragino Sans W6" pitchFamily="34" charset="-122"/>
                <a:cs typeface="Hiragino Sans W6" pitchFamily="34" charset="-120"/>
              </a:rPr>
              <a:t>障害福祉分野 介護テクノロジー導入支援</a:t>
            </a:r>
            <a:endParaRPr lang="en-US" sz="1600" dirty="0"/>
          </a:p>
        </p:txBody>
      </p:sp>
      <p:sp>
        <p:nvSpPr>
          <p:cNvPr id="7" name="Text 5"/>
          <p:cNvSpPr/>
          <p:nvPr/>
        </p:nvSpPr>
        <p:spPr>
          <a:xfrm>
            <a:off x="1097280" y="1737360"/>
            <a:ext cx="2286000" cy="502920"/>
          </a:xfrm>
          <a:prstGeom prst="rect">
            <a:avLst/>
          </a:prstGeom>
          <a:noFill/>
          <a:ln/>
        </p:spPr>
        <p:txBody>
          <a:bodyPr wrap="square" lIns="0" tIns="0" rIns="0" bIns="0" rtlCol="0" anchor="t"/>
          <a:lstStyle/>
          <a:p>
            <a:pPr marL="0" indent="0">
              <a:buNone/>
            </a:pPr>
            <a:r>
              <a:rPr lang="en-US" sz="2200" b="1" dirty="0">
                <a:solidFill>
                  <a:srgbClr val="4A90D9"/>
                </a:solidFill>
                <a:latin typeface="Hiragino Sans W6" pitchFamily="34" charset="0"/>
                <a:ea typeface="Hiragino Sans W6" pitchFamily="34" charset="-122"/>
                <a:cs typeface="Hiragino Sans W6" pitchFamily="34" charset="-120"/>
              </a:rPr>
              <a:t>1,000万円/施設</a:t>
            </a:r>
            <a:endParaRPr lang="en-US" sz="2200" dirty="0"/>
          </a:p>
        </p:txBody>
      </p:sp>
      <p:sp>
        <p:nvSpPr>
          <p:cNvPr id="8" name="Text 6"/>
          <p:cNvSpPr/>
          <p:nvPr/>
        </p:nvSpPr>
        <p:spPr>
          <a:xfrm>
            <a:off x="3383280" y="1737360"/>
            <a:ext cx="1371600" cy="502920"/>
          </a:xfrm>
          <a:prstGeom prst="rect">
            <a:avLst/>
          </a:prstGeom>
          <a:noFill/>
          <a:ln/>
        </p:spPr>
        <p:txBody>
          <a:bodyPr wrap="square" lIns="0" tIns="0" rIns="0" bIns="0" rtlCol="0" anchor="t"/>
          <a:lstStyle/>
          <a:p>
            <a:pPr marL="0" indent="0">
              <a:buNone/>
            </a:pPr>
            <a:r>
              <a:rPr lang="en-US" sz="1300" dirty="0">
                <a:solidFill>
                  <a:srgbClr val="746558"/>
                </a:solidFill>
                <a:latin typeface="Hiragino Sans W3" pitchFamily="34" charset="0"/>
                <a:ea typeface="Hiragino Sans W3" pitchFamily="34" charset="-122"/>
                <a:cs typeface="Hiragino Sans W3" pitchFamily="34" charset="-120"/>
              </a:rPr>
              <a:t>補助率 3/4</a:t>
            </a:r>
            <a:endParaRPr lang="en-US" sz="1300" dirty="0"/>
          </a:p>
        </p:txBody>
      </p:sp>
      <p:sp>
        <p:nvSpPr>
          <p:cNvPr id="9" name="Text 7"/>
          <p:cNvSpPr/>
          <p:nvPr/>
        </p:nvSpPr>
        <p:spPr>
          <a:xfrm>
            <a:off x="5029200" y="1188720"/>
            <a:ext cx="2743200" cy="594360"/>
          </a:xfrm>
          <a:prstGeom prst="rect">
            <a:avLst/>
          </a:prstGeom>
          <a:noFill/>
          <a:ln/>
        </p:spPr>
        <p:txBody>
          <a:bodyPr wrap="square" lIns="0" tIns="0" rIns="0" bIns="0" rtlCol="0" anchor="b"/>
          <a:lstStyle/>
          <a:p>
            <a:pPr marL="0" indent="0">
              <a:buNone/>
            </a:pPr>
            <a:r>
              <a:rPr lang="en-US" sz="1300" dirty="0">
                <a:solidFill>
                  <a:srgbClr val="746558"/>
                </a:solidFill>
                <a:latin typeface="Hiragino Sans W3" pitchFamily="34" charset="0"/>
                <a:ea typeface="Hiragino Sans W3" pitchFamily="34" charset="-122"/>
                <a:cs typeface="Hiragino Sans W3" pitchFamily="34" charset="-120"/>
              </a:rPr>
              <a:t>申請主体: サンライズ施設</a:t>
            </a:r>
            <a:endParaRPr lang="en-US" sz="1300" dirty="0"/>
          </a:p>
        </p:txBody>
      </p:sp>
      <p:sp>
        <p:nvSpPr>
          <p:cNvPr id="10" name="Text 8"/>
          <p:cNvSpPr/>
          <p:nvPr/>
        </p:nvSpPr>
        <p:spPr>
          <a:xfrm>
            <a:off x="5029200" y="1737360"/>
            <a:ext cx="3200400" cy="502920"/>
          </a:xfrm>
          <a:prstGeom prst="rect">
            <a:avLst/>
          </a:prstGeom>
          <a:noFill/>
          <a:ln/>
        </p:spPr>
        <p:txBody>
          <a:bodyPr wrap="square" lIns="0" tIns="0" rIns="0" bIns="0" rtlCol="0" anchor="t"/>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申請時期: 各都道府県 年1～2回</a:t>
            </a:r>
            <a:endParaRPr lang="en-US" sz="1300" dirty="0"/>
          </a:p>
        </p:txBody>
      </p:sp>
      <p:sp>
        <p:nvSpPr>
          <p:cNvPr id="11" name="Text 9"/>
          <p:cNvSpPr/>
          <p:nvPr/>
        </p:nvSpPr>
        <p:spPr>
          <a:xfrm>
            <a:off x="8412480" y="1234440"/>
            <a:ext cx="5120640" cy="1097280"/>
          </a:xfrm>
          <a:prstGeom prst="rect">
            <a:avLst/>
          </a:prstGeom>
          <a:noFill/>
          <a:ln/>
        </p:spPr>
        <p:txBody>
          <a:bodyPr wrap="square" rtlCol="0" anchor="ct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厨労省→都道府県経由。株式会社でも障害福祉事業所であれば対象。CareOS導入+タブレット+Wi-Fi等一括申請可能。藤井議員→都福祉部局の橋渡しが有効。</a:t>
            </a:r>
            <a:endParaRPr lang="en-US" sz="1200" dirty="0"/>
          </a:p>
        </p:txBody>
      </p:sp>
      <p:sp>
        <p:nvSpPr>
          <p:cNvPr id="12" name="Text 10"/>
          <p:cNvSpPr/>
          <p:nvPr/>
        </p:nvSpPr>
        <p:spPr>
          <a:xfrm>
            <a:off x="12984480" y="1188720"/>
            <a:ext cx="731520" cy="457200"/>
          </a:xfrm>
          <a:prstGeom prst="rect">
            <a:avLst/>
          </a:prstGeom>
          <a:noFill/>
          <a:ln/>
        </p:spPr>
        <p:txBody>
          <a:bodyPr wrap="square" rtlCol="0" anchor="ctr"/>
          <a:lstStyle/>
          <a:p>
            <a:pPr marL="0" indent="0" algn="ctr">
              <a:buNone/>
            </a:pPr>
            <a:r>
              <a:rPr lang="en-US" sz="1400" dirty="0">
                <a:solidFill>
                  <a:srgbClr val="27AE60"/>
                </a:solidFill>
              </a:rPr>
              <a:t>★★★</a:t>
            </a:r>
            <a:endParaRPr lang="en-US" sz="1400" dirty="0"/>
          </a:p>
        </p:txBody>
      </p:sp>
      <p:sp>
        <p:nvSpPr>
          <p:cNvPr id="13" name="Shape 11"/>
          <p:cNvSpPr/>
          <p:nvPr/>
        </p:nvSpPr>
        <p:spPr>
          <a:xfrm>
            <a:off x="731520" y="2606040"/>
            <a:ext cx="13167360" cy="1234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4" name="Shape 12"/>
          <p:cNvSpPr/>
          <p:nvPr/>
        </p:nvSpPr>
        <p:spPr>
          <a:xfrm>
            <a:off x="731520" y="2606040"/>
            <a:ext cx="109728" cy="1234440"/>
          </a:xfrm>
          <a:prstGeom prst="rect">
            <a:avLst/>
          </a:prstGeom>
          <a:solidFill>
            <a:srgbClr val="27AE60"/>
          </a:solidFill>
          <a:ln/>
        </p:spPr>
        <p:txBody>
          <a:bodyPr/>
          <a:lstStyle/>
          <a:p>
            <a:endParaRPr lang="ja-JP" altLang="en-US"/>
          </a:p>
        </p:txBody>
      </p:sp>
      <p:sp>
        <p:nvSpPr>
          <p:cNvPr id="15" name="Text 13"/>
          <p:cNvSpPr/>
          <p:nvPr/>
        </p:nvSpPr>
        <p:spPr>
          <a:xfrm>
            <a:off x="1097280" y="2606040"/>
            <a:ext cx="3657600" cy="594360"/>
          </a:xfrm>
          <a:prstGeom prst="rect">
            <a:avLst/>
          </a:prstGeom>
          <a:noFill/>
          <a:ln/>
        </p:spPr>
        <p:txBody>
          <a:bodyPr wrap="square" lIns="0" tIns="0" rIns="0" bIns="0" rtlCol="0" anchor="b"/>
          <a:lstStyle/>
          <a:p>
            <a:pPr marL="0" indent="0">
              <a:buNone/>
            </a:pPr>
            <a:r>
              <a:rPr lang="en-US" sz="1600" b="1" dirty="0">
                <a:solidFill>
                  <a:srgbClr val="4A4A45"/>
                </a:solidFill>
                <a:latin typeface="Hiragino Sans W6" pitchFamily="34" charset="0"/>
                <a:ea typeface="Hiragino Sans W6" pitchFamily="34" charset="-122"/>
                <a:cs typeface="Hiragino Sans W6" pitchFamily="34" charset="-120"/>
              </a:rPr>
              <a:t>デジタル化・AI導入補助金（旧IT導入）</a:t>
            </a:r>
            <a:endParaRPr lang="en-US" sz="1600" dirty="0"/>
          </a:p>
        </p:txBody>
      </p:sp>
      <p:sp>
        <p:nvSpPr>
          <p:cNvPr id="16" name="Text 14"/>
          <p:cNvSpPr/>
          <p:nvPr/>
        </p:nvSpPr>
        <p:spPr>
          <a:xfrm>
            <a:off x="1097280" y="3154680"/>
            <a:ext cx="2286000" cy="502920"/>
          </a:xfrm>
          <a:prstGeom prst="rect">
            <a:avLst/>
          </a:prstGeom>
          <a:noFill/>
          <a:ln/>
        </p:spPr>
        <p:txBody>
          <a:bodyPr wrap="square" lIns="0" tIns="0" rIns="0" bIns="0" rtlCol="0" anchor="t"/>
          <a:lstStyle/>
          <a:p>
            <a:pPr marL="0" indent="0">
              <a:buNone/>
            </a:pPr>
            <a:r>
              <a:rPr lang="en-US" sz="2200" b="1" dirty="0">
                <a:solidFill>
                  <a:srgbClr val="4A90D9"/>
                </a:solidFill>
                <a:latin typeface="Hiragino Sans W6" pitchFamily="34" charset="0"/>
                <a:ea typeface="Hiragino Sans W6" pitchFamily="34" charset="-122"/>
                <a:cs typeface="Hiragino Sans W6" pitchFamily="34" charset="-120"/>
              </a:rPr>
              <a:t>450万円</a:t>
            </a:r>
            <a:endParaRPr lang="en-US" sz="2200" dirty="0"/>
          </a:p>
        </p:txBody>
      </p:sp>
      <p:sp>
        <p:nvSpPr>
          <p:cNvPr id="17" name="Text 15"/>
          <p:cNvSpPr/>
          <p:nvPr/>
        </p:nvSpPr>
        <p:spPr>
          <a:xfrm>
            <a:off x="3383280" y="3154680"/>
            <a:ext cx="1371600" cy="502920"/>
          </a:xfrm>
          <a:prstGeom prst="rect">
            <a:avLst/>
          </a:prstGeom>
          <a:noFill/>
          <a:ln/>
        </p:spPr>
        <p:txBody>
          <a:bodyPr wrap="square" lIns="0" tIns="0" rIns="0" bIns="0" rtlCol="0" anchor="t"/>
          <a:lstStyle/>
          <a:p>
            <a:pPr marL="0" indent="0">
              <a:buNone/>
            </a:pPr>
            <a:r>
              <a:rPr lang="en-US" sz="1300" dirty="0">
                <a:solidFill>
                  <a:srgbClr val="746558"/>
                </a:solidFill>
                <a:latin typeface="Hiragino Sans W3" pitchFamily="34" charset="0"/>
                <a:ea typeface="Hiragino Sans W3" pitchFamily="34" charset="-122"/>
                <a:cs typeface="Hiragino Sans W3" pitchFamily="34" charset="-120"/>
              </a:rPr>
              <a:t>補助率 1/2～3/4</a:t>
            </a:r>
            <a:endParaRPr lang="en-US" sz="1300" dirty="0"/>
          </a:p>
        </p:txBody>
      </p:sp>
      <p:sp>
        <p:nvSpPr>
          <p:cNvPr id="18" name="Text 16"/>
          <p:cNvSpPr/>
          <p:nvPr/>
        </p:nvSpPr>
        <p:spPr>
          <a:xfrm>
            <a:off x="5029200" y="2606040"/>
            <a:ext cx="2743200" cy="594360"/>
          </a:xfrm>
          <a:prstGeom prst="rect">
            <a:avLst/>
          </a:prstGeom>
          <a:noFill/>
          <a:ln/>
        </p:spPr>
        <p:txBody>
          <a:bodyPr wrap="square" lIns="0" tIns="0" rIns="0" bIns="0" rtlCol="0" anchor="b"/>
          <a:lstStyle/>
          <a:p>
            <a:pPr marL="0" indent="0">
              <a:buNone/>
            </a:pPr>
            <a:r>
              <a:rPr lang="en-US" sz="1300" dirty="0">
                <a:solidFill>
                  <a:srgbClr val="746558"/>
                </a:solidFill>
                <a:latin typeface="Hiragino Sans W3" pitchFamily="34" charset="0"/>
                <a:ea typeface="Hiragino Sans W3" pitchFamily="34" charset="-122"/>
                <a:cs typeface="Hiragino Sans W3" pitchFamily="34" charset="-120"/>
              </a:rPr>
              <a:t>申請主体: 導入先施設</a:t>
            </a:r>
            <a:endParaRPr lang="en-US" sz="1300" dirty="0"/>
          </a:p>
        </p:txBody>
      </p:sp>
      <p:sp>
        <p:nvSpPr>
          <p:cNvPr id="19" name="Text 17"/>
          <p:cNvSpPr/>
          <p:nvPr/>
        </p:nvSpPr>
        <p:spPr>
          <a:xfrm>
            <a:off x="5029200" y="3154680"/>
            <a:ext cx="3200400" cy="502920"/>
          </a:xfrm>
          <a:prstGeom prst="rect">
            <a:avLst/>
          </a:prstGeom>
          <a:noFill/>
          <a:ln/>
        </p:spPr>
        <p:txBody>
          <a:bodyPr wrap="square" lIns="0" tIns="0" rIns="0" bIns="0" rtlCol="0" anchor="t"/>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申請時期: 2026年春～ 複数回</a:t>
            </a:r>
            <a:endParaRPr lang="en-US" sz="1300" dirty="0"/>
          </a:p>
        </p:txBody>
      </p:sp>
      <p:sp>
        <p:nvSpPr>
          <p:cNvPr id="20" name="Text 18"/>
          <p:cNvSpPr/>
          <p:nvPr/>
        </p:nvSpPr>
        <p:spPr>
          <a:xfrm>
            <a:off x="8412480" y="2651760"/>
            <a:ext cx="5120640" cy="1097280"/>
          </a:xfrm>
          <a:prstGeom prst="rect">
            <a:avLst/>
          </a:prstGeom>
          <a:noFill/>
          <a:ln/>
        </p:spPr>
        <p:txBody>
          <a:bodyPr wrap="square" rtlCol="0" anchor="ct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CareOSをITツール登録することで、全国の導入先施設が補助金で購入可能に。営業の最大の武器になる。</a:t>
            </a:r>
            <a:endParaRPr lang="en-US" sz="1200" dirty="0"/>
          </a:p>
        </p:txBody>
      </p:sp>
      <p:sp>
        <p:nvSpPr>
          <p:cNvPr id="21" name="Text 19"/>
          <p:cNvSpPr/>
          <p:nvPr/>
        </p:nvSpPr>
        <p:spPr>
          <a:xfrm>
            <a:off x="12984480" y="2606040"/>
            <a:ext cx="731520" cy="457200"/>
          </a:xfrm>
          <a:prstGeom prst="rect">
            <a:avLst/>
          </a:prstGeom>
          <a:noFill/>
          <a:ln/>
        </p:spPr>
        <p:txBody>
          <a:bodyPr wrap="square" rtlCol="0" anchor="ctr"/>
          <a:lstStyle/>
          <a:p>
            <a:pPr marL="0" indent="0" algn="ctr">
              <a:buNone/>
            </a:pPr>
            <a:r>
              <a:rPr lang="en-US" sz="1400" dirty="0">
                <a:solidFill>
                  <a:srgbClr val="27AE60"/>
                </a:solidFill>
              </a:rPr>
              <a:t>★★★</a:t>
            </a:r>
            <a:endParaRPr lang="en-US" sz="1400" dirty="0"/>
          </a:p>
        </p:txBody>
      </p:sp>
      <p:sp>
        <p:nvSpPr>
          <p:cNvPr id="22" name="Shape 20"/>
          <p:cNvSpPr/>
          <p:nvPr/>
        </p:nvSpPr>
        <p:spPr>
          <a:xfrm>
            <a:off x="731520" y="4023360"/>
            <a:ext cx="13167360" cy="1234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3" name="Shape 21"/>
          <p:cNvSpPr/>
          <p:nvPr/>
        </p:nvSpPr>
        <p:spPr>
          <a:xfrm>
            <a:off x="731520" y="4023360"/>
            <a:ext cx="109728" cy="1234440"/>
          </a:xfrm>
          <a:prstGeom prst="rect">
            <a:avLst/>
          </a:prstGeom>
          <a:solidFill>
            <a:srgbClr val="F39C12"/>
          </a:solidFill>
          <a:ln/>
        </p:spPr>
        <p:txBody>
          <a:bodyPr/>
          <a:lstStyle/>
          <a:p>
            <a:endParaRPr lang="ja-JP" altLang="en-US"/>
          </a:p>
        </p:txBody>
      </p:sp>
      <p:sp>
        <p:nvSpPr>
          <p:cNvPr id="24" name="Text 22"/>
          <p:cNvSpPr/>
          <p:nvPr/>
        </p:nvSpPr>
        <p:spPr>
          <a:xfrm>
            <a:off x="1097280" y="4023360"/>
            <a:ext cx="3657600" cy="594360"/>
          </a:xfrm>
          <a:prstGeom prst="rect">
            <a:avLst/>
          </a:prstGeom>
          <a:noFill/>
          <a:ln/>
        </p:spPr>
        <p:txBody>
          <a:bodyPr wrap="square" lIns="0" tIns="0" rIns="0" bIns="0" rtlCol="0" anchor="b"/>
          <a:lstStyle/>
          <a:p>
            <a:pPr marL="0" indent="0">
              <a:buNone/>
            </a:pPr>
            <a:r>
              <a:rPr lang="en-US" sz="1600" b="1" dirty="0">
                <a:solidFill>
                  <a:srgbClr val="4A4A45"/>
                </a:solidFill>
                <a:latin typeface="Hiragino Sans W6" pitchFamily="34" charset="0"/>
                <a:ea typeface="Hiragino Sans W6" pitchFamily="34" charset="-122"/>
                <a:cs typeface="Hiragino Sans W6" pitchFamily="34" charset="-120"/>
              </a:rPr>
              <a:t>東京都デジタル機器導入促進支援</a:t>
            </a:r>
            <a:endParaRPr lang="en-US" sz="1600" dirty="0"/>
          </a:p>
        </p:txBody>
      </p:sp>
      <p:sp>
        <p:nvSpPr>
          <p:cNvPr id="25" name="Text 23"/>
          <p:cNvSpPr/>
          <p:nvPr/>
        </p:nvSpPr>
        <p:spPr>
          <a:xfrm>
            <a:off x="1097280" y="4572000"/>
            <a:ext cx="2286000" cy="502920"/>
          </a:xfrm>
          <a:prstGeom prst="rect">
            <a:avLst/>
          </a:prstGeom>
          <a:noFill/>
          <a:ln/>
        </p:spPr>
        <p:txBody>
          <a:bodyPr wrap="square" lIns="0" tIns="0" rIns="0" bIns="0" rtlCol="0" anchor="t"/>
          <a:lstStyle/>
          <a:p>
            <a:pPr marL="0" indent="0">
              <a:buNone/>
            </a:pPr>
            <a:r>
              <a:rPr lang="en-US" sz="2200" b="1" dirty="0">
                <a:solidFill>
                  <a:srgbClr val="4A90D9"/>
                </a:solidFill>
                <a:latin typeface="Hiragino Sans W6" pitchFamily="34" charset="0"/>
                <a:ea typeface="Hiragino Sans W6" pitchFamily="34" charset="-122"/>
                <a:cs typeface="Hiragino Sans W6" pitchFamily="34" charset="-120"/>
              </a:rPr>
              <a:t>規模による</a:t>
            </a:r>
            <a:endParaRPr lang="en-US" sz="2200" dirty="0"/>
          </a:p>
        </p:txBody>
      </p:sp>
      <p:sp>
        <p:nvSpPr>
          <p:cNvPr id="26" name="Text 24"/>
          <p:cNvSpPr/>
          <p:nvPr/>
        </p:nvSpPr>
        <p:spPr>
          <a:xfrm>
            <a:off x="3383280" y="4572000"/>
            <a:ext cx="1371600" cy="502920"/>
          </a:xfrm>
          <a:prstGeom prst="rect">
            <a:avLst/>
          </a:prstGeom>
          <a:noFill/>
          <a:ln/>
        </p:spPr>
        <p:txBody>
          <a:bodyPr wrap="square" lIns="0" tIns="0" rIns="0" bIns="0" rtlCol="0" anchor="t"/>
          <a:lstStyle/>
          <a:p>
            <a:pPr marL="0" indent="0">
              <a:buNone/>
            </a:pPr>
            <a:r>
              <a:rPr lang="en-US" sz="1300" dirty="0">
                <a:solidFill>
                  <a:srgbClr val="746558"/>
                </a:solidFill>
                <a:latin typeface="Hiragino Sans W3" pitchFamily="34" charset="0"/>
                <a:ea typeface="Hiragino Sans W3" pitchFamily="34" charset="-122"/>
                <a:cs typeface="Hiragino Sans W3" pitchFamily="34" charset="-120"/>
              </a:rPr>
              <a:t>補助率 1/2～3/4</a:t>
            </a:r>
            <a:endParaRPr lang="en-US" sz="1300" dirty="0"/>
          </a:p>
        </p:txBody>
      </p:sp>
      <p:sp>
        <p:nvSpPr>
          <p:cNvPr id="27" name="Text 25"/>
          <p:cNvSpPr/>
          <p:nvPr/>
        </p:nvSpPr>
        <p:spPr>
          <a:xfrm>
            <a:off x="5029200" y="4023360"/>
            <a:ext cx="2743200" cy="594360"/>
          </a:xfrm>
          <a:prstGeom prst="rect">
            <a:avLst/>
          </a:prstGeom>
          <a:noFill/>
          <a:ln/>
        </p:spPr>
        <p:txBody>
          <a:bodyPr wrap="square" lIns="0" tIns="0" rIns="0" bIns="0" rtlCol="0" anchor="b"/>
          <a:lstStyle/>
          <a:p>
            <a:pPr marL="0" indent="0">
              <a:buNone/>
            </a:pPr>
            <a:r>
              <a:rPr lang="en-US" sz="1300" dirty="0">
                <a:solidFill>
                  <a:srgbClr val="746558"/>
                </a:solidFill>
                <a:latin typeface="Hiragino Sans W3" pitchFamily="34" charset="0"/>
                <a:ea typeface="Hiragino Sans W3" pitchFamily="34" charset="-122"/>
                <a:cs typeface="Hiragino Sans W3" pitchFamily="34" charset="-120"/>
              </a:rPr>
              <a:t>申請主体: 都内福祉施設</a:t>
            </a:r>
            <a:endParaRPr lang="en-US" sz="1300" dirty="0"/>
          </a:p>
        </p:txBody>
      </p:sp>
      <p:sp>
        <p:nvSpPr>
          <p:cNvPr id="28" name="Text 26"/>
          <p:cNvSpPr/>
          <p:nvPr/>
        </p:nvSpPr>
        <p:spPr>
          <a:xfrm>
            <a:off x="5029200" y="4572000"/>
            <a:ext cx="3200400" cy="502920"/>
          </a:xfrm>
          <a:prstGeom prst="rect">
            <a:avLst/>
          </a:prstGeom>
          <a:noFill/>
          <a:ln/>
        </p:spPr>
        <p:txBody>
          <a:bodyPr wrap="square" lIns="0" tIns="0" rIns="0" bIns="0" rtlCol="0" anchor="t"/>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申請時期: 都度公募</a:t>
            </a:r>
            <a:endParaRPr lang="en-US" sz="1300" dirty="0"/>
          </a:p>
        </p:txBody>
      </p:sp>
      <p:sp>
        <p:nvSpPr>
          <p:cNvPr id="29" name="Text 27"/>
          <p:cNvSpPr/>
          <p:nvPr/>
        </p:nvSpPr>
        <p:spPr>
          <a:xfrm>
            <a:off x="8412480" y="4069080"/>
            <a:ext cx="5120640" cy="1097280"/>
          </a:xfrm>
          <a:prstGeom prst="rect">
            <a:avLst/>
          </a:prstGeom>
          <a:noFill/>
          <a:ln/>
        </p:spPr>
        <p:txBody>
          <a:bodyPr wrap="square" rtlCol="0" anchor="ct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東京都福祉保健財団が管轄。都内の福祉施設が対象。導入先拡大時に活用。</a:t>
            </a:r>
            <a:endParaRPr lang="en-US" sz="1200" dirty="0"/>
          </a:p>
        </p:txBody>
      </p:sp>
      <p:sp>
        <p:nvSpPr>
          <p:cNvPr id="30" name="Text 28"/>
          <p:cNvSpPr/>
          <p:nvPr/>
        </p:nvSpPr>
        <p:spPr>
          <a:xfrm>
            <a:off x="12984480" y="4023360"/>
            <a:ext cx="731520" cy="457200"/>
          </a:xfrm>
          <a:prstGeom prst="rect">
            <a:avLst/>
          </a:prstGeom>
          <a:noFill/>
          <a:ln/>
        </p:spPr>
        <p:txBody>
          <a:bodyPr wrap="square" rtlCol="0" anchor="ctr"/>
          <a:lstStyle/>
          <a:p>
            <a:pPr marL="0" indent="0" algn="ctr">
              <a:buNone/>
            </a:pPr>
            <a:r>
              <a:rPr lang="en-US" sz="1400" dirty="0">
                <a:solidFill>
                  <a:srgbClr val="F39C12"/>
                </a:solidFill>
              </a:rPr>
              <a:t>★★☆</a:t>
            </a:r>
            <a:endParaRPr lang="en-US" sz="1400" dirty="0"/>
          </a:p>
        </p:txBody>
      </p:sp>
      <p:sp>
        <p:nvSpPr>
          <p:cNvPr id="31" name="Shape 29"/>
          <p:cNvSpPr/>
          <p:nvPr/>
        </p:nvSpPr>
        <p:spPr>
          <a:xfrm>
            <a:off x="731520" y="5440680"/>
            <a:ext cx="13167360" cy="12344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32" name="Shape 30"/>
          <p:cNvSpPr/>
          <p:nvPr/>
        </p:nvSpPr>
        <p:spPr>
          <a:xfrm>
            <a:off x="731520" y="5440680"/>
            <a:ext cx="109728" cy="1234440"/>
          </a:xfrm>
          <a:prstGeom prst="rect">
            <a:avLst/>
          </a:prstGeom>
          <a:solidFill>
            <a:srgbClr val="AAAAAA"/>
          </a:solidFill>
          <a:ln/>
        </p:spPr>
        <p:txBody>
          <a:bodyPr/>
          <a:lstStyle/>
          <a:p>
            <a:endParaRPr lang="ja-JP" altLang="en-US"/>
          </a:p>
        </p:txBody>
      </p:sp>
      <p:sp>
        <p:nvSpPr>
          <p:cNvPr id="33" name="Text 31"/>
          <p:cNvSpPr/>
          <p:nvPr/>
        </p:nvSpPr>
        <p:spPr>
          <a:xfrm>
            <a:off x="1097280" y="5440680"/>
            <a:ext cx="3657600" cy="594360"/>
          </a:xfrm>
          <a:prstGeom prst="rect">
            <a:avLst/>
          </a:prstGeom>
          <a:noFill/>
          <a:ln/>
        </p:spPr>
        <p:txBody>
          <a:bodyPr wrap="square" lIns="0" tIns="0" rIns="0" bIns="0" rtlCol="0" anchor="b"/>
          <a:lstStyle/>
          <a:p>
            <a:pPr marL="0" indent="0">
              <a:buNone/>
            </a:pPr>
            <a:r>
              <a:rPr lang="en-US" sz="1600" b="1" dirty="0">
                <a:solidFill>
                  <a:srgbClr val="4A4A45"/>
                </a:solidFill>
                <a:latin typeface="Hiragino Sans W6" pitchFamily="34" charset="0"/>
                <a:ea typeface="Hiragino Sans W6" pitchFamily="34" charset="-122"/>
                <a:cs typeface="Hiragino Sans W6" pitchFamily="34" charset="-120"/>
              </a:rPr>
              <a:t>神奈川県障害福祉ロボット等・ICT導入支援</a:t>
            </a:r>
            <a:endParaRPr lang="en-US" sz="1600" dirty="0"/>
          </a:p>
        </p:txBody>
      </p:sp>
      <p:sp>
        <p:nvSpPr>
          <p:cNvPr id="34" name="Text 32"/>
          <p:cNvSpPr/>
          <p:nvPr/>
        </p:nvSpPr>
        <p:spPr>
          <a:xfrm>
            <a:off x="1097280" y="5989320"/>
            <a:ext cx="2286000" cy="502920"/>
          </a:xfrm>
          <a:prstGeom prst="rect">
            <a:avLst/>
          </a:prstGeom>
          <a:noFill/>
          <a:ln/>
        </p:spPr>
        <p:txBody>
          <a:bodyPr wrap="square" lIns="0" tIns="0" rIns="0" bIns="0" rtlCol="0" anchor="t"/>
          <a:lstStyle/>
          <a:p>
            <a:pPr marL="0" indent="0">
              <a:buNone/>
            </a:pPr>
            <a:r>
              <a:rPr lang="en-US" sz="2200" b="1" dirty="0">
                <a:solidFill>
                  <a:srgbClr val="4A90D9"/>
                </a:solidFill>
                <a:latin typeface="Hiragino Sans W6" pitchFamily="34" charset="0"/>
                <a:ea typeface="Hiragino Sans W6" pitchFamily="34" charset="-122"/>
                <a:cs typeface="Hiragino Sans W6" pitchFamily="34" charset="-120"/>
              </a:rPr>
              <a:t>30万円/台～</a:t>
            </a:r>
            <a:endParaRPr lang="en-US" sz="2200" dirty="0"/>
          </a:p>
        </p:txBody>
      </p:sp>
      <p:sp>
        <p:nvSpPr>
          <p:cNvPr id="35" name="Text 33"/>
          <p:cNvSpPr/>
          <p:nvPr/>
        </p:nvSpPr>
        <p:spPr>
          <a:xfrm>
            <a:off x="3383280" y="5989320"/>
            <a:ext cx="1371600" cy="502920"/>
          </a:xfrm>
          <a:prstGeom prst="rect">
            <a:avLst/>
          </a:prstGeom>
          <a:noFill/>
          <a:ln/>
        </p:spPr>
        <p:txBody>
          <a:bodyPr wrap="square" lIns="0" tIns="0" rIns="0" bIns="0" rtlCol="0" anchor="t"/>
          <a:lstStyle/>
          <a:p>
            <a:pPr marL="0" indent="0">
              <a:buNone/>
            </a:pPr>
            <a:r>
              <a:rPr lang="en-US" sz="1300" dirty="0">
                <a:solidFill>
                  <a:srgbClr val="746558"/>
                </a:solidFill>
                <a:latin typeface="Hiragino Sans W3" pitchFamily="34" charset="0"/>
                <a:ea typeface="Hiragino Sans W3" pitchFamily="34" charset="-122"/>
                <a:cs typeface="Hiragino Sans W3" pitchFamily="34" charset="-120"/>
              </a:rPr>
              <a:t>補助率 1/2～3/4</a:t>
            </a:r>
            <a:endParaRPr lang="en-US" sz="1300" dirty="0"/>
          </a:p>
        </p:txBody>
      </p:sp>
      <p:sp>
        <p:nvSpPr>
          <p:cNvPr id="36" name="Text 34"/>
          <p:cNvSpPr/>
          <p:nvPr/>
        </p:nvSpPr>
        <p:spPr>
          <a:xfrm>
            <a:off x="5029200" y="5440680"/>
            <a:ext cx="2743200" cy="594360"/>
          </a:xfrm>
          <a:prstGeom prst="rect">
            <a:avLst/>
          </a:prstGeom>
          <a:noFill/>
          <a:ln/>
        </p:spPr>
        <p:txBody>
          <a:bodyPr wrap="square" lIns="0" tIns="0" rIns="0" bIns="0" rtlCol="0" anchor="b"/>
          <a:lstStyle/>
          <a:p>
            <a:pPr marL="0" indent="0">
              <a:buNone/>
            </a:pPr>
            <a:r>
              <a:rPr lang="en-US" sz="1300" dirty="0">
                <a:solidFill>
                  <a:srgbClr val="746558"/>
                </a:solidFill>
                <a:latin typeface="Hiragino Sans W3" pitchFamily="34" charset="0"/>
                <a:ea typeface="Hiragino Sans W3" pitchFamily="34" charset="-122"/>
                <a:cs typeface="Hiragino Sans W3" pitchFamily="34" charset="-120"/>
              </a:rPr>
              <a:t>申請主体: 県内施設</a:t>
            </a:r>
            <a:endParaRPr lang="en-US" sz="1300" dirty="0"/>
          </a:p>
        </p:txBody>
      </p:sp>
      <p:sp>
        <p:nvSpPr>
          <p:cNvPr id="37" name="Text 35"/>
          <p:cNvSpPr/>
          <p:nvPr/>
        </p:nvSpPr>
        <p:spPr>
          <a:xfrm>
            <a:off x="5029200" y="5989320"/>
            <a:ext cx="3200400" cy="502920"/>
          </a:xfrm>
          <a:prstGeom prst="rect">
            <a:avLst/>
          </a:prstGeom>
          <a:noFill/>
          <a:ln/>
        </p:spPr>
        <p:txBody>
          <a:bodyPr wrap="square" lIns="0" tIns="0" rIns="0" bIns="0" rtlCol="0" anchor="t"/>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申請時期: 2026年10月頃</a:t>
            </a:r>
            <a:endParaRPr lang="en-US" sz="1300" dirty="0"/>
          </a:p>
        </p:txBody>
      </p:sp>
      <p:sp>
        <p:nvSpPr>
          <p:cNvPr id="38" name="Text 36"/>
          <p:cNvSpPr/>
          <p:nvPr/>
        </p:nvSpPr>
        <p:spPr>
          <a:xfrm>
            <a:off x="8412480" y="5486400"/>
            <a:ext cx="5120640" cy="1097280"/>
          </a:xfrm>
          <a:prstGeom prst="rect">
            <a:avLst/>
          </a:prstGeom>
          <a:noFill/>
          <a:ln/>
        </p:spPr>
        <p:txBody>
          <a:bodyPr wrap="square" rtlCol="0" anchor="ct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神奈川県内の障害福祉事業所対象。サンライズ施設が県内にあれば利用可。</a:t>
            </a:r>
            <a:endParaRPr lang="en-US" sz="1200" dirty="0"/>
          </a:p>
        </p:txBody>
      </p:sp>
      <p:sp>
        <p:nvSpPr>
          <p:cNvPr id="39" name="Text 37"/>
          <p:cNvSpPr/>
          <p:nvPr/>
        </p:nvSpPr>
        <p:spPr>
          <a:xfrm>
            <a:off x="12984480" y="5440680"/>
            <a:ext cx="731520" cy="457200"/>
          </a:xfrm>
          <a:prstGeom prst="rect">
            <a:avLst/>
          </a:prstGeom>
          <a:noFill/>
          <a:ln/>
        </p:spPr>
        <p:txBody>
          <a:bodyPr wrap="square" rtlCol="0" anchor="ctr"/>
          <a:lstStyle/>
          <a:p>
            <a:pPr marL="0" indent="0" algn="ctr">
              <a:buNone/>
            </a:pPr>
            <a:r>
              <a:rPr lang="en-US" sz="1400" dirty="0">
                <a:solidFill>
                  <a:srgbClr val="AAAAAA"/>
                </a:solidFill>
              </a:rPr>
              <a: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8DD"/>
        </a:solidFill>
        <a:effectLst/>
      </p:bgPr>
    </p:bg>
    <p:spTree>
      <p:nvGrpSpPr>
        <p:cNvPr id="1" name=""/>
        <p:cNvGrpSpPr/>
        <p:nvPr/>
      </p:nvGrpSpPr>
      <p:grpSpPr>
        <a:xfrm>
          <a:off x="0" y="0"/>
          <a:ext cx="0" cy="0"/>
          <a:chOff x="0" y="0"/>
          <a:chExt cx="0" cy="0"/>
        </a:xfrm>
      </p:grpSpPr>
      <p:sp>
        <p:nvSpPr>
          <p:cNvPr id="2" name="Shape 0"/>
          <p:cNvSpPr/>
          <p:nvPr/>
        </p:nvSpPr>
        <p:spPr>
          <a:xfrm>
            <a:off x="475488" y="256032"/>
            <a:ext cx="13679424" cy="640080"/>
          </a:xfrm>
          <a:prstGeom prst="rect">
            <a:avLst/>
          </a:prstGeom>
          <a:solidFill>
            <a:srgbClr val="484237"/>
          </a:solidFill>
          <a:ln/>
        </p:spPr>
        <p:txBody>
          <a:bodyPr/>
          <a:lstStyle/>
          <a:p>
            <a:endParaRPr lang="ja-JP" altLang="en-US"/>
          </a:p>
        </p:txBody>
      </p:sp>
      <p:sp>
        <p:nvSpPr>
          <p:cNvPr id="3" name="Text 1"/>
          <p:cNvSpPr/>
          <p:nvPr/>
        </p:nvSpPr>
        <p:spPr>
          <a:xfrm>
            <a:off x="658368" y="256032"/>
            <a:ext cx="13313664" cy="640080"/>
          </a:xfrm>
          <a:prstGeom prst="rect">
            <a:avLst/>
          </a:prstGeom>
          <a:noFill/>
          <a:ln/>
        </p:spPr>
        <p:txBody>
          <a:bodyPr wrap="square" rtlCol="0" anchor="ctr"/>
          <a:lstStyle/>
          <a:p>
            <a:pPr marL="0" indent="0">
              <a:buNone/>
            </a:pPr>
            <a:r>
              <a:rPr lang="en-US" sz="2600" b="1" dirty="0">
                <a:solidFill>
                  <a:srgbClr val="FFFFFF"/>
                </a:solidFill>
                <a:latin typeface="Hiragino Sans W6" pitchFamily="34" charset="0"/>
                <a:ea typeface="Hiragino Sans W6" pitchFamily="34" charset="-122"/>
                <a:cs typeface="Hiragino Sans W6" pitchFamily="34" charset="-120"/>
              </a:rPr>
              <a:t>C. 2年目以降の大型補助金（決算1期後）</a:t>
            </a:r>
            <a:endParaRPr lang="en-US" sz="2600" dirty="0"/>
          </a:p>
        </p:txBody>
      </p:sp>
      <p:sp>
        <p:nvSpPr>
          <p:cNvPr id="4" name="Shape 2"/>
          <p:cNvSpPr/>
          <p:nvPr/>
        </p:nvSpPr>
        <p:spPr>
          <a:xfrm>
            <a:off x="731520" y="1371600"/>
            <a:ext cx="13167360" cy="1737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5" name="Shape 3"/>
          <p:cNvSpPr/>
          <p:nvPr/>
        </p:nvSpPr>
        <p:spPr>
          <a:xfrm>
            <a:off x="731520" y="1371600"/>
            <a:ext cx="109728" cy="1737360"/>
          </a:xfrm>
          <a:prstGeom prst="rect">
            <a:avLst/>
          </a:prstGeom>
          <a:solidFill>
            <a:srgbClr val="F39C12"/>
          </a:solidFill>
          <a:ln/>
        </p:spPr>
        <p:txBody>
          <a:bodyPr/>
          <a:lstStyle/>
          <a:p>
            <a:endParaRPr lang="ja-JP" altLang="en-US"/>
          </a:p>
        </p:txBody>
      </p:sp>
      <p:sp>
        <p:nvSpPr>
          <p:cNvPr id="6" name="Text 4"/>
          <p:cNvSpPr/>
          <p:nvPr/>
        </p:nvSpPr>
        <p:spPr>
          <a:xfrm>
            <a:off x="1188720" y="1508760"/>
            <a:ext cx="5486400" cy="502920"/>
          </a:xfrm>
          <a:prstGeom prst="rect">
            <a:avLst/>
          </a:prstGeom>
          <a:noFill/>
          <a:ln/>
        </p:spPr>
        <p:txBody>
          <a:bodyPr wrap="square" lIns="0" tIns="0" rIns="0" bIns="0" rtlCol="0" anchor="ctr"/>
          <a:lstStyle/>
          <a:p>
            <a:pPr marL="0" indent="0">
              <a:buNone/>
            </a:pPr>
            <a:r>
              <a:rPr lang="en-US" sz="1800" b="1" dirty="0">
                <a:solidFill>
                  <a:srgbClr val="4A4A45"/>
                </a:solidFill>
                <a:latin typeface="Hiragino Sans W6" pitchFamily="34" charset="0"/>
                <a:ea typeface="Hiragino Sans W6" pitchFamily="34" charset="-122"/>
                <a:cs typeface="Hiragino Sans W6" pitchFamily="34" charset="-120"/>
              </a:rPr>
              <a:t>SBIR（中小企業技術革新制度）</a:t>
            </a:r>
            <a:endParaRPr lang="en-US" sz="1800" dirty="0"/>
          </a:p>
        </p:txBody>
      </p:sp>
      <p:sp>
        <p:nvSpPr>
          <p:cNvPr id="7" name="Text 5"/>
          <p:cNvSpPr/>
          <p:nvPr/>
        </p:nvSpPr>
        <p:spPr>
          <a:xfrm>
            <a:off x="1188720" y="2011680"/>
            <a:ext cx="3657600" cy="502920"/>
          </a:xfrm>
          <a:prstGeom prst="rect">
            <a:avLst/>
          </a:prstGeom>
          <a:noFill/>
          <a:ln/>
        </p:spPr>
        <p:txBody>
          <a:bodyPr wrap="square" lIns="0" tIns="0" rIns="0" bIns="0" rtlCol="0" anchor="ctr"/>
          <a:lstStyle/>
          <a:p>
            <a:pPr marL="0" indent="0">
              <a:buNone/>
            </a:pPr>
            <a:r>
              <a:rPr lang="en-US" sz="2600" b="1" dirty="0">
                <a:solidFill>
                  <a:srgbClr val="4A90D9"/>
                </a:solidFill>
                <a:latin typeface="Hiragino Sans W6" pitchFamily="34" charset="0"/>
                <a:ea typeface="Hiragino Sans W6" pitchFamily="34" charset="-122"/>
                <a:cs typeface="Hiragino Sans W6" pitchFamily="34" charset="-120"/>
              </a:rPr>
              <a:t>数千万～数億円</a:t>
            </a:r>
            <a:endParaRPr lang="en-US" sz="2600" dirty="0"/>
          </a:p>
        </p:txBody>
      </p:sp>
      <p:sp>
        <p:nvSpPr>
          <p:cNvPr id="8" name="Text 6"/>
          <p:cNvSpPr/>
          <p:nvPr/>
        </p:nvSpPr>
        <p:spPr>
          <a:xfrm>
            <a:off x="6858000" y="1508760"/>
            <a:ext cx="6583680" cy="914400"/>
          </a:xfrm>
          <a:prstGeom prst="rect">
            <a:avLst/>
          </a:prstGeom>
          <a:noFill/>
          <a:ln/>
        </p:spPr>
        <p:txBody>
          <a:bodyPr wrap="square"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AI虐待予防・支援品質向上テーマで研究開発計画策定。各省庁の公募テーマ次第。</a:t>
            </a:r>
            <a:endParaRPr lang="en-US" sz="1400" dirty="0"/>
          </a:p>
        </p:txBody>
      </p:sp>
      <p:sp>
        <p:nvSpPr>
          <p:cNvPr id="9" name="Text 7"/>
          <p:cNvSpPr/>
          <p:nvPr/>
        </p:nvSpPr>
        <p:spPr>
          <a:xfrm>
            <a:off x="6858000" y="2468880"/>
            <a:ext cx="6583680" cy="365760"/>
          </a:xfrm>
          <a:prstGeom prst="rect">
            <a:avLst/>
          </a:prstGeom>
          <a:noFill/>
          <a:ln/>
        </p:spPr>
        <p:txBody>
          <a:bodyPr wrap="square" rtlCol="0" anchor="ctr"/>
          <a:lstStyle/>
          <a:p>
            <a:pPr marL="0" indent="0">
              <a:buNone/>
            </a:pPr>
            <a:r>
              <a:rPr lang="en-US" sz="1100" dirty="0">
                <a:solidFill>
                  <a:srgbClr val="4A90D9"/>
                </a:solidFill>
                <a:latin typeface="Hiragino Sans W3" pitchFamily="34" charset="0"/>
                <a:ea typeface="Hiragino Sans W3" pitchFamily="34" charset="-122"/>
                <a:cs typeface="Hiragino Sans W3" pitchFamily="34" charset="-120"/>
              </a:rPr>
              <a:t>https://sbir.csti-startup-policy.go.jp/</a:t>
            </a:r>
            <a:endParaRPr lang="en-US" sz="1100" dirty="0"/>
          </a:p>
        </p:txBody>
      </p:sp>
      <p:sp>
        <p:nvSpPr>
          <p:cNvPr id="10" name="Shape 8"/>
          <p:cNvSpPr/>
          <p:nvPr/>
        </p:nvSpPr>
        <p:spPr>
          <a:xfrm>
            <a:off x="731520" y="3383280"/>
            <a:ext cx="13167360" cy="1737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1" name="Shape 9"/>
          <p:cNvSpPr/>
          <p:nvPr/>
        </p:nvSpPr>
        <p:spPr>
          <a:xfrm>
            <a:off x="731520" y="3383280"/>
            <a:ext cx="109728" cy="1737360"/>
          </a:xfrm>
          <a:prstGeom prst="rect">
            <a:avLst/>
          </a:prstGeom>
          <a:solidFill>
            <a:srgbClr val="F39C12"/>
          </a:solidFill>
          <a:ln/>
        </p:spPr>
        <p:txBody>
          <a:bodyPr/>
          <a:lstStyle/>
          <a:p>
            <a:endParaRPr lang="ja-JP" altLang="en-US"/>
          </a:p>
        </p:txBody>
      </p:sp>
      <p:sp>
        <p:nvSpPr>
          <p:cNvPr id="12" name="Text 10"/>
          <p:cNvSpPr/>
          <p:nvPr/>
        </p:nvSpPr>
        <p:spPr>
          <a:xfrm>
            <a:off x="1188720" y="3520440"/>
            <a:ext cx="5486400" cy="502920"/>
          </a:xfrm>
          <a:prstGeom prst="rect">
            <a:avLst/>
          </a:prstGeom>
          <a:noFill/>
          <a:ln/>
        </p:spPr>
        <p:txBody>
          <a:bodyPr wrap="square" lIns="0" tIns="0" rIns="0" bIns="0" rtlCol="0" anchor="ctr"/>
          <a:lstStyle/>
          <a:p>
            <a:pPr marL="0" indent="0">
              <a:buNone/>
            </a:pPr>
            <a:r>
              <a:rPr lang="en-US" sz="1800" b="1" dirty="0">
                <a:solidFill>
                  <a:srgbClr val="4A4A45"/>
                </a:solidFill>
                <a:latin typeface="Hiragino Sans W6" pitchFamily="34" charset="0"/>
                <a:ea typeface="Hiragino Sans W6" pitchFamily="34" charset="-122"/>
                <a:cs typeface="Hiragino Sans W6" pitchFamily="34" charset="-120"/>
              </a:rPr>
              <a:t>新事業進出・ものづくり補助金</a:t>
            </a:r>
            <a:endParaRPr lang="en-US" sz="1800" dirty="0"/>
          </a:p>
        </p:txBody>
      </p:sp>
      <p:sp>
        <p:nvSpPr>
          <p:cNvPr id="13" name="Text 11"/>
          <p:cNvSpPr/>
          <p:nvPr/>
        </p:nvSpPr>
        <p:spPr>
          <a:xfrm>
            <a:off x="1188720" y="4023360"/>
            <a:ext cx="3657600" cy="502920"/>
          </a:xfrm>
          <a:prstGeom prst="rect">
            <a:avLst/>
          </a:prstGeom>
          <a:noFill/>
          <a:ln/>
        </p:spPr>
        <p:txBody>
          <a:bodyPr wrap="square" lIns="0" tIns="0" rIns="0" bIns="0" rtlCol="0" anchor="ctr"/>
          <a:lstStyle/>
          <a:p>
            <a:pPr marL="0" indent="0">
              <a:buNone/>
            </a:pPr>
            <a:r>
              <a:rPr lang="en-US" sz="2600" b="1" dirty="0">
                <a:solidFill>
                  <a:srgbClr val="4A90D9"/>
                </a:solidFill>
                <a:latin typeface="Hiragino Sans W6" pitchFamily="34" charset="0"/>
                <a:ea typeface="Hiragino Sans W6" pitchFamily="34" charset="-122"/>
                <a:cs typeface="Hiragino Sans W6" pitchFamily="34" charset="-120"/>
              </a:rPr>
              <a:t>最大9,000万円</a:t>
            </a:r>
            <a:endParaRPr lang="en-US" sz="2600" dirty="0"/>
          </a:p>
        </p:txBody>
      </p:sp>
      <p:sp>
        <p:nvSpPr>
          <p:cNvPr id="14" name="Text 12"/>
          <p:cNvSpPr/>
          <p:nvPr/>
        </p:nvSpPr>
        <p:spPr>
          <a:xfrm>
            <a:off x="6858000" y="3520440"/>
            <a:ext cx="6583680" cy="914400"/>
          </a:xfrm>
          <a:prstGeom prst="rect">
            <a:avLst/>
          </a:prstGeom>
          <a:noFill/>
          <a:ln/>
        </p:spPr>
        <p:txBody>
          <a:bodyPr wrap="square"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決算1期完了後に申請可能。SaaS全国展開の開発費に充当。</a:t>
            </a:r>
            <a:endParaRPr lang="en-US" sz="1400" dirty="0"/>
          </a:p>
        </p:txBody>
      </p:sp>
      <p:sp>
        <p:nvSpPr>
          <p:cNvPr id="15" name="Text 13"/>
          <p:cNvSpPr/>
          <p:nvPr/>
        </p:nvSpPr>
        <p:spPr>
          <a:xfrm>
            <a:off x="6858000" y="4480560"/>
            <a:ext cx="6583680" cy="365760"/>
          </a:xfrm>
          <a:prstGeom prst="rect">
            <a:avLst/>
          </a:prstGeom>
          <a:noFill/>
          <a:ln/>
        </p:spPr>
        <p:txBody>
          <a:bodyPr wrap="square" rtlCol="0" anchor="ctr"/>
          <a:lstStyle/>
          <a:p>
            <a:pPr marL="0" indent="0">
              <a:buNone/>
            </a:pPr>
            <a:r>
              <a:rPr lang="en-US" sz="1100" dirty="0">
                <a:solidFill>
                  <a:srgbClr val="4A90D9"/>
                </a:solidFill>
                <a:latin typeface="Hiragino Sans W3" pitchFamily="34" charset="0"/>
                <a:ea typeface="Hiragino Sans W3" pitchFamily="34" charset="-122"/>
                <a:cs typeface="Hiragino Sans W3" pitchFamily="34" charset="-120"/>
              </a:rPr>
              <a:t>https://mono-shien.smrj.go.jp/</a:t>
            </a:r>
            <a:endParaRPr lang="en-US" sz="1100" dirty="0"/>
          </a:p>
        </p:txBody>
      </p:sp>
      <p:sp>
        <p:nvSpPr>
          <p:cNvPr id="16" name="Shape 14"/>
          <p:cNvSpPr/>
          <p:nvPr/>
        </p:nvSpPr>
        <p:spPr>
          <a:xfrm>
            <a:off x="731520" y="5394960"/>
            <a:ext cx="13167360" cy="17373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7" name="Shape 15"/>
          <p:cNvSpPr/>
          <p:nvPr/>
        </p:nvSpPr>
        <p:spPr>
          <a:xfrm>
            <a:off x="731520" y="5394960"/>
            <a:ext cx="109728" cy="1737360"/>
          </a:xfrm>
          <a:prstGeom prst="rect">
            <a:avLst/>
          </a:prstGeom>
          <a:solidFill>
            <a:srgbClr val="F39C12"/>
          </a:solidFill>
          <a:ln/>
        </p:spPr>
        <p:txBody>
          <a:bodyPr/>
          <a:lstStyle/>
          <a:p>
            <a:endParaRPr lang="ja-JP" altLang="en-US"/>
          </a:p>
        </p:txBody>
      </p:sp>
      <p:sp>
        <p:nvSpPr>
          <p:cNvPr id="18" name="Text 16"/>
          <p:cNvSpPr/>
          <p:nvPr/>
        </p:nvSpPr>
        <p:spPr>
          <a:xfrm>
            <a:off x="1188720" y="5532120"/>
            <a:ext cx="5486400" cy="502920"/>
          </a:xfrm>
          <a:prstGeom prst="rect">
            <a:avLst/>
          </a:prstGeom>
          <a:noFill/>
          <a:ln/>
        </p:spPr>
        <p:txBody>
          <a:bodyPr wrap="square" lIns="0" tIns="0" rIns="0" bIns="0" rtlCol="0" anchor="ctr"/>
          <a:lstStyle/>
          <a:p>
            <a:pPr marL="0" indent="0">
              <a:buNone/>
            </a:pPr>
            <a:r>
              <a:rPr lang="en-US" sz="1800" b="1" dirty="0">
                <a:solidFill>
                  <a:srgbClr val="4A4A45"/>
                </a:solidFill>
                <a:latin typeface="Hiragino Sans W6" pitchFamily="34" charset="0"/>
                <a:ea typeface="Hiragino Sans W6" pitchFamily="34" charset="-122"/>
                <a:cs typeface="Hiragino Sans W6" pitchFamily="34" charset="-120"/>
              </a:rPr>
              <a:t>中小企業成長加速化補助金</a:t>
            </a:r>
            <a:endParaRPr lang="en-US" sz="1800" dirty="0"/>
          </a:p>
        </p:txBody>
      </p:sp>
      <p:sp>
        <p:nvSpPr>
          <p:cNvPr id="19" name="Text 17"/>
          <p:cNvSpPr/>
          <p:nvPr/>
        </p:nvSpPr>
        <p:spPr>
          <a:xfrm>
            <a:off x="1188720" y="6035040"/>
            <a:ext cx="3657600" cy="502920"/>
          </a:xfrm>
          <a:prstGeom prst="rect">
            <a:avLst/>
          </a:prstGeom>
          <a:noFill/>
          <a:ln/>
        </p:spPr>
        <p:txBody>
          <a:bodyPr wrap="square" lIns="0" tIns="0" rIns="0" bIns="0" rtlCol="0" anchor="ctr"/>
          <a:lstStyle/>
          <a:p>
            <a:pPr marL="0" indent="0">
              <a:buNone/>
            </a:pPr>
            <a:r>
              <a:rPr lang="en-US" sz="2600" b="1" dirty="0">
                <a:solidFill>
                  <a:srgbClr val="4A90D9"/>
                </a:solidFill>
                <a:latin typeface="Hiragino Sans W6" pitchFamily="34" charset="0"/>
                <a:ea typeface="Hiragino Sans W6" pitchFamily="34" charset="-122"/>
                <a:cs typeface="Hiragino Sans W6" pitchFamily="34" charset="-120"/>
              </a:rPr>
              <a:t>2,500～5,000万円</a:t>
            </a:r>
            <a:endParaRPr lang="en-US" sz="2600" dirty="0"/>
          </a:p>
        </p:txBody>
      </p:sp>
      <p:sp>
        <p:nvSpPr>
          <p:cNvPr id="20" name="Text 18"/>
          <p:cNvSpPr/>
          <p:nvPr/>
        </p:nvSpPr>
        <p:spPr>
          <a:xfrm>
            <a:off x="6858000" y="5532120"/>
            <a:ext cx="6583680" cy="914400"/>
          </a:xfrm>
          <a:prstGeom prst="rect">
            <a:avLst/>
          </a:prstGeom>
          <a:noFill/>
          <a:ln/>
        </p:spPr>
        <p:txBody>
          <a:bodyPr wrap="square"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「大胆な成長投資」枚。全国展開フェーズ向き。</a:t>
            </a:r>
            <a:endParaRPr lang="en-US" sz="1400" dirty="0"/>
          </a:p>
        </p:txBody>
      </p:sp>
      <p:sp>
        <p:nvSpPr>
          <p:cNvPr id="21" name="Text 19"/>
          <p:cNvSpPr/>
          <p:nvPr/>
        </p:nvSpPr>
        <p:spPr>
          <a:xfrm>
            <a:off x="6858000" y="6492240"/>
            <a:ext cx="6583680" cy="365760"/>
          </a:xfrm>
          <a:prstGeom prst="rect">
            <a:avLst/>
          </a:prstGeom>
          <a:noFill/>
          <a:ln/>
        </p:spPr>
        <p:txBody>
          <a:bodyPr wrap="square" rtlCol="0" anchor="ctr"/>
          <a:lstStyle/>
          <a:p>
            <a:pPr marL="0" indent="0">
              <a:buNone/>
            </a:pPr>
            <a:r>
              <a:rPr lang="en-US" sz="1100" dirty="0">
                <a:solidFill>
                  <a:srgbClr val="4A90D9"/>
                </a:solidFill>
                <a:latin typeface="Hiragino Sans W3" pitchFamily="34" charset="0"/>
                <a:ea typeface="Hiragino Sans W3" pitchFamily="34" charset="-122"/>
                <a:cs typeface="Hiragino Sans W3" pitchFamily="34" charset="-120"/>
              </a:rPr>
              <a:t>https://seisansei.smrj.go.jp/</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8DD"/>
        </a:solidFill>
        <a:effectLst/>
      </p:bgPr>
    </p:bg>
    <p:spTree>
      <p:nvGrpSpPr>
        <p:cNvPr id="1" name=""/>
        <p:cNvGrpSpPr/>
        <p:nvPr/>
      </p:nvGrpSpPr>
      <p:grpSpPr>
        <a:xfrm>
          <a:off x="0" y="0"/>
          <a:ext cx="0" cy="0"/>
          <a:chOff x="0" y="0"/>
          <a:chExt cx="0" cy="0"/>
        </a:xfrm>
      </p:grpSpPr>
      <p:sp>
        <p:nvSpPr>
          <p:cNvPr id="2" name="Shape 0"/>
          <p:cNvSpPr/>
          <p:nvPr/>
        </p:nvSpPr>
        <p:spPr>
          <a:xfrm>
            <a:off x="475488" y="256032"/>
            <a:ext cx="13679424" cy="640080"/>
          </a:xfrm>
          <a:prstGeom prst="rect">
            <a:avLst/>
          </a:prstGeom>
          <a:solidFill>
            <a:srgbClr val="484237"/>
          </a:solidFill>
          <a:ln/>
        </p:spPr>
        <p:txBody>
          <a:bodyPr/>
          <a:lstStyle/>
          <a:p>
            <a:endParaRPr lang="ja-JP" altLang="en-US"/>
          </a:p>
        </p:txBody>
      </p:sp>
      <p:sp>
        <p:nvSpPr>
          <p:cNvPr id="3" name="Text 1"/>
          <p:cNvSpPr/>
          <p:nvPr/>
        </p:nvSpPr>
        <p:spPr>
          <a:xfrm>
            <a:off x="658368" y="256032"/>
            <a:ext cx="13313664" cy="640080"/>
          </a:xfrm>
          <a:prstGeom prst="rect">
            <a:avLst/>
          </a:prstGeom>
          <a:noFill/>
          <a:ln/>
        </p:spPr>
        <p:txBody>
          <a:bodyPr wrap="square" rtlCol="0" anchor="ctr"/>
          <a:lstStyle/>
          <a:p>
            <a:pPr marL="0" indent="0">
              <a:buNone/>
            </a:pPr>
            <a:r>
              <a:rPr lang="en-US" sz="2600" b="1" dirty="0">
                <a:solidFill>
                  <a:srgbClr val="FFFFFF"/>
                </a:solidFill>
                <a:latin typeface="Hiragino Sans W6" pitchFamily="34" charset="0"/>
                <a:ea typeface="Hiragino Sans W6" pitchFamily="34" charset="-122"/>
                <a:cs typeface="Hiragino Sans W6" pitchFamily="34" charset="-120"/>
              </a:rPr>
              <a:t>申請に必要な書類と役割分担</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13167360" cy="3931920"/>
        </p:xfrm>
        <a:graphic>
          <a:graphicData uri="http://schemas.openxmlformats.org/drawingml/2006/table">
            <a:tbl>
              <a:tblPr/>
              <a:tblGrid>
                <a:gridCol w="29260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411480">
                <a:tc>
                  <a:txBody>
                    <a:bodyPr/>
                    <a:lstStyle/>
                    <a:p>
                      <a:pPr marL="0" indent="0" algn="ctr">
                        <a:buNone/>
                      </a:pPr>
                      <a:r>
                        <a:rPr lang="en-US" sz="1300" b="1" dirty="0">
                          <a:solidFill>
                            <a:srgbClr val="FFFFFF"/>
                          </a:solidFill>
                          <a:latin typeface="Hiragino Sans W6" pitchFamily="34" charset="0"/>
                          <a:ea typeface="Hiragino Sans W6" pitchFamily="34" charset="-122"/>
                          <a:cs typeface="Hiragino Sans W6" pitchFamily="34" charset="-120"/>
                        </a:rPr>
                        <a:t>必要書類</a:t>
                      </a:r>
                      <a:endParaRPr lang="en-US" sz="1300" dirty="0">
                        <a:latin typeface="Hiragino Sans W6" charset="0"/>
                        <a:ea typeface="Hiragino Sans W6" charset="0"/>
                        <a:cs typeface="Hiragino Sans W6"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3E50"/>
                    </a:solidFill>
                  </a:tcPr>
                </a:tc>
                <a:tc>
                  <a:txBody>
                    <a:bodyPr/>
                    <a:lstStyle/>
                    <a:p>
                      <a:pPr marL="0" indent="0" algn="ctr">
                        <a:buNone/>
                      </a:pPr>
                      <a:r>
                        <a:rPr lang="en-US" sz="1300" b="1" dirty="0">
                          <a:solidFill>
                            <a:srgbClr val="FFFFFF"/>
                          </a:solidFill>
                          <a:latin typeface="Hiragino Sans W6" pitchFamily="34" charset="0"/>
                          <a:ea typeface="Hiragino Sans W6" pitchFamily="34" charset="-122"/>
                          <a:cs typeface="Hiragino Sans W6" pitchFamily="34" charset="-120"/>
                        </a:rPr>
                        <a:t>担当</a:t>
                      </a:r>
                      <a:endParaRPr lang="en-US" sz="1300" dirty="0">
                        <a:latin typeface="Hiragino Sans W6" charset="0"/>
                        <a:ea typeface="Hiragino Sans W6" charset="0"/>
                        <a:cs typeface="Hiragino Sans W6"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3E50"/>
                    </a:solidFill>
                  </a:tcPr>
                </a:tc>
                <a:tc>
                  <a:txBody>
                    <a:bodyPr/>
                    <a:lstStyle/>
                    <a:p>
                      <a:pPr marL="0" indent="0" algn="ctr">
                        <a:buNone/>
                      </a:pPr>
                      <a:r>
                        <a:rPr lang="en-US" sz="1300" b="1" dirty="0">
                          <a:solidFill>
                            <a:srgbClr val="FFFFFF"/>
                          </a:solidFill>
                          <a:latin typeface="Hiragino Sans W6" pitchFamily="34" charset="0"/>
                          <a:ea typeface="Hiragino Sans W6" pitchFamily="34" charset="-122"/>
                          <a:cs typeface="Hiragino Sans W6" pitchFamily="34" charset="-120"/>
                        </a:rPr>
                        <a:t>概要</a:t>
                      </a:r>
                      <a:endParaRPr lang="en-US" sz="1300" dirty="0">
                        <a:latin typeface="Hiragino Sans W6" charset="0"/>
                        <a:ea typeface="Hiragino Sans W6" charset="0"/>
                        <a:cs typeface="Hiragino Sans W6"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3E50"/>
                    </a:solidFill>
                  </a:tcPr>
                </a:tc>
                <a:tc>
                  <a:txBody>
                    <a:bodyPr/>
                    <a:lstStyle/>
                    <a:p>
                      <a:pPr marL="0" indent="0" algn="ctr">
                        <a:buNone/>
                      </a:pPr>
                      <a:r>
                        <a:rPr lang="en-US" sz="1300" b="1" dirty="0">
                          <a:solidFill>
                            <a:srgbClr val="FFFFFF"/>
                          </a:solidFill>
                          <a:latin typeface="Hiragino Sans W6" pitchFamily="34" charset="0"/>
                          <a:ea typeface="Hiragino Sans W6" pitchFamily="34" charset="-122"/>
                          <a:cs typeface="Hiragino Sans W6" pitchFamily="34" charset="-120"/>
                        </a:rPr>
                        <a:t>ステータス</a:t>
                      </a:r>
                      <a:endParaRPr lang="en-US" sz="1300" dirty="0">
                        <a:latin typeface="Hiragino Sans W6" charset="0"/>
                        <a:ea typeface="Hiragino Sans W6" charset="0"/>
                        <a:cs typeface="Hiragino Sans W6"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3E50"/>
                    </a:solidFill>
                  </a:tcPr>
                </a:tc>
                <a:extLst>
                  <a:ext uri="{0D108BD9-81ED-4DB2-BD59-A6C34878D82A}">
                    <a16:rowId xmlns:a16="http://schemas.microsoft.com/office/drawing/2014/main" val="10000"/>
                  </a:ext>
                </a:extLst>
              </a:tr>
              <a:tr h="502920">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事業計画書</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DataBee（主導）</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4F8"/>
                    </a:solidFill>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補助金対象事業の計画・目標・KPI</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テンプレート準備済</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収支計画書</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DataBee（主導）</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4F8"/>
                    </a:solidFill>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経費明細・売上見通し・資金繰り</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作成可能</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定款・登記簿謄本</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サンライズ+DataBee</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4F8"/>
                    </a:solidFill>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JV法人設立後に取得</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JV設立待ち</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確定申告書/決算書</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DataBee</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4F8"/>
                    </a:solidFill>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JV初年度は設立時の資本金情報で代替</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代替対応可</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特定創業支援等事業証明書</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DataBee</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4F8"/>
                    </a:solidFill>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TOKYO創業ステーション等で取得</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取得手続き確認済</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現場実績資料</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サンライズ</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4F8"/>
                    </a:solidFill>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福祉事業の実績・現場課題の証言</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素材あり</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502920">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見積書（開発委託）</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DataBee</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4F8"/>
                    </a:solidFill>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補助金申請用の正式見積書</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200" dirty="0">
                          <a:solidFill>
                            <a:srgbClr val="4A4A45"/>
                          </a:solidFill>
                          <a:latin typeface="Hiragino Sans W3" pitchFamily="34" charset="0"/>
                          <a:ea typeface="Hiragino Sans W3" pitchFamily="34" charset="-122"/>
                          <a:cs typeface="Hiragino Sans W3" pitchFamily="34" charset="-120"/>
                        </a:rPr>
                        <a:t>作成可能</a:t>
                      </a:r>
                      <a:endParaRPr lang="en-US" sz="1200" dirty="0">
                        <a:latin typeface="Hiragino Sans W3" charset="0"/>
                        <a:ea typeface="Hiragino Sans W3" charset="0"/>
                        <a:cs typeface="Hiragino Sans W3"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731520" y="7132320"/>
            <a:ext cx="13167360" cy="457200"/>
          </a:xfrm>
          <a:prstGeom prst="rect">
            <a:avLst/>
          </a:prstGeom>
          <a:noFill/>
          <a:ln/>
        </p:spPr>
        <p:txBody>
          <a:bodyPr wrap="square" rtlCol="0" anchor="ctr"/>
          <a:lstStyle/>
          <a:p>
            <a:pPr marL="0" indent="0">
              <a:buNone/>
            </a:pPr>
            <a:r>
              <a:rPr lang="en-US" sz="1200" i="1" dirty="0">
                <a:solidFill>
                  <a:srgbClr val="746558"/>
                </a:solidFill>
                <a:latin typeface="Hiragino Sans W3" pitchFamily="34" charset="0"/>
                <a:ea typeface="Hiragino Sans W3" pitchFamily="34" charset="-122"/>
                <a:cs typeface="Hiragino Sans W3" pitchFamily="34" charset="-120"/>
              </a:rPr>
              <a:t>※事業計画書・収支計画書の作成はDataBee（永山）が主導します。サンライズ様には現場実績のヒアリングと最終確認をお願いいたします。</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8DD"/>
        </a:solidFill>
        <a:effectLst/>
      </p:bgPr>
    </p:bg>
    <p:spTree>
      <p:nvGrpSpPr>
        <p:cNvPr id="1" name=""/>
        <p:cNvGrpSpPr/>
        <p:nvPr/>
      </p:nvGrpSpPr>
      <p:grpSpPr>
        <a:xfrm>
          <a:off x="0" y="0"/>
          <a:ext cx="0" cy="0"/>
          <a:chOff x="0" y="0"/>
          <a:chExt cx="0" cy="0"/>
        </a:xfrm>
      </p:grpSpPr>
      <p:sp>
        <p:nvSpPr>
          <p:cNvPr id="2" name="Shape 0"/>
          <p:cNvSpPr/>
          <p:nvPr/>
        </p:nvSpPr>
        <p:spPr>
          <a:xfrm>
            <a:off x="475488" y="256032"/>
            <a:ext cx="13679424" cy="640080"/>
          </a:xfrm>
          <a:prstGeom prst="rect">
            <a:avLst/>
          </a:prstGeom>
          <a:solidFill>
            <a:srgbClr val="484237"/>
          </a:solidFill>
          <a:ln/>
        </p:spPr>
        <p:txBody>
          <a:bodyPr/>
          <a:lstStyle/>
          <a:p>
            <a:endParaRPr lang="ja-JP" altLang="en-US"/>
          </a:p>
        </p:txBody>
      </p:sp>
      <p:sp>
        <p:nvSpPr>
          <p:cNvPr id="3" name="Text 1"/>
          <p:cNvSpPr/>
          <p:nvPr/>
        </p:nvSpPr>
        <p:spPr>
          <a:xfrm>
            <a:off x="658368" y="256032"/>
            <a:ext cx="13313664" cy="640080"/>
          </a:xfrm>
          <a:prstGeom prst="rect">
            <a:avLst/>
          </a:prstGeom>
          <a:noFill/>
          <a:ln/>
        </p:spPr>
        <p:txBody>
          <a:bodyPr wrap="square" rtlCol="0" anchor="ctr"/>
          <a:lstStyle/>
          <a:p>
            <a:pPr marL="0" indent="0">
              <a:buNone/>
            </a:pPr>
            <a:r>
              <a:rPr lang="en-US" sz="2600" b="1" dirty="0">
                <a:solidFill>
                  <a:srgbClr val="FFFFFF"/>
                </a:solidFill>
                <a:latin typeface="Hiragino Sans W6" pitchFamily="34" charset="0"/>
                <a:ea typeface="Hiragino Sans W6" pitchFamily="34" charset="-122"/>
                <a:cs typeface="Hiragino Sans W6" pitchFamily="34" charset="-120"/>
              </a:rPr>
              <a:t>申請ロードマップ（時系列）</a:t>
            </a:r>
            <a:endParaRPr lang="en-US" sz="2600" dirty="0"/>
          </a:p>
        </p:txBody>
      </p:sp>
      <p:sp>
        <p:nvSpPr>
          <p:cNvPr id="4" name="Shape 2"/>
          <p:cNvSpPr/>
          <p:nvPr/>
        </p:nvSpPr>
        <p:spPr>
          <a:xfrm>
            <a:off x="731520" y="1280160"/>
            <a:ext cx="13167360" cy="13716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5" name="Shape 3"/>
          <p:cNvSpPr/>
          <p:nvPr/>
        </p:nvSpPr>
        <p:spPr>
          <a:xfrm>
            <a:off x="731520" y="1280160"/>
            <a:ext cx="109728" cy="1371600"/>
          </a:xfrm>
          <a:prstGeom prst="rect">
            <a:avLst/>
          </a:prstGeom>
          <a:solidFill>
            <a:srgbClr val="8E44AD"/>
          </a:solidFill>
          <a:ln/>
        </p:spPr>
        <p:txBody>
          <a:bodyPr/>
          <a:lstStyle/>
          <a:p>
            <a:endParaRPr lang="ja-JP" altLang="en-US"/>
          </a:p>
        </p:txBody>
      </p:sp>
      <p:sp>
        <p:nvSpPr>
          <p:cNvPr id="6" name="Shape 4"/>
          <p:cNvSpPr/>
          <p:nvPr/>
        </p:nvSpPr>
        <p:spPr>
          <a:xfrm>
            <a:off x="1097280" y="1463040"/>
            <a:ext cx="2743200" cy="411480"/>
          </a:xfrm>
          <a:prstGeom prst="rect">
            <a:avLst/>
          </a:prstGeom>
          <a:solidFill>
            <a:srgbClr val="8E44AD"/>
          </a:solidFill>
          <a:ln/>
        </p:spPr>
        <p:txBody>
          <a:bodyPr/>
          <a:lstStyle/>
          <a:p>
            <a:endParaRPr lang="ja-JP" altLang="en-US"/>
          </a:p>
        </p:txBody>
      </p:sp>
      <p:sp>
        <p:nvSpPr>
          <p:cNvPr id="7" name="Text 5"/>
          <p:cNvSpPr/>
          <p:nvPr/>
        </p:nvSpPr>
        <p:spPr>
          <a:xfrm>
            <a:off x="1097280" y="1463040"/>
            <a:ext cx="2743200" cy="411480"/>
          </a:xfrm>
          <a:prstGeom prst="rect">
            <a:avLst/>
          </a:prstGeom>
          <a:noFill/>
          <a:ln/>
        </p:spPr>
        <p:txBody>
          <a:bodyPr wrap="square" rtlCol="0" anchor="ctr"/>
          <a:lstStyle/>
          <a:p>
            <a:pPr marL="0" indent="0" algn="ctr">
              <a:buNone/>
            </a:pPr>
            <a:r>
              <a:rPr lang="en-US" sz="1300" b="1" dirty="0">
                <a:solidFill>
                  <a:srgbClr val="FFFFFF"/>
                </a:solidFill>
                <a:latin typeface="Hiragino Sans W6" pitchFamily="34" charset="0"/>
                <a:ea typeface="Hiragino Sans W6" pitchFamily="34" charset="-122"/>
                <a:cs typeface="Hiragino Sans W6" pitchFamily="34" charset="-120"/>
              </a:rPr>
              <a:t>JV設立前</a:t>
            </a:r>
            <a:endParaRPr lang="en-US" sz="1300" dirty="0"/>
          </a:p>
        </p:txBody>
      </p:sp>
      <p:sp>
        <p:nvSpPr>
          <p:cNvPr id="8" name="Text 6"/>
          <p:cNvSpPr/>
          <p:nvPr/>
        </p:nvSpPr>
        <p:spPr>
          <a:xfrm>
            <a:off x="1097280" y="1965960"/>
            <a:ext cx="2743200" cy="457200"/>
          </a:xfrm>
          <a:prstGeom prst="rect">
            <a:avLst/>
          </a:prstGeom>
          <a:noFill/>
          <a:ln/>
        </p:spPr>
        <p:txBody>
          <a:bodyPr wrap="square" rtlCol="0" anchor="ctr"/>
          <a:lstStyle/>
          <a:p>
            <a:pPr marL="0" indent="0" algn="ctr">
              <a:buNone/>
            </a:pPr>
            <a:r>
              <a:rPr lang="en-US" sz="2000" b="1" dirty="0">
                <a:solidFill>
                  <a:srgbClr val="8E44AD"/>
                </a:solidFill>
                <a:latin typeface="Hiragino Sans W6" pitchFamily="34" charset="0"/>
                <a:ea typeface="Hiragino Sans W6" pitchFamily="34" charset="-122"/>
                <a:cs typeface="Hiragino Sans W6" pitchFamily="34" charset="-120"/>
              </a:rPr>
              <a:t>準備</a:t>
            </a:r>
            <a:endParaRPr lang="en-US" sz="2000" dirty="0"/>
          </a:p>
        </p:txBody>
      </p:sp>
      <p:sp>
        <p:nvSpPr>
          <p:cNvPr id="9" name="Text 7"/>
          <p:cNvSpPr/>
          <p:nvPr/>
        </p:nvSpPr>
        <p:spPr>
          <a:xfrm>
            <a:off x="4389120" y="1371600"/>
            <a:ext cx="9144000" cy="1188720"/>
          </a:xfrm>
          <a:prstGeom prst="rect">
            <a:avLst/>
          </a:prstGeom>
          <a:noFill/>
          <a:ln/>
        </p:spPr>
        <p:txBody>
          <a:bodyPr wrap="square" rtlCol="0" anchor="ctr"/>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 JV本店所在地を東京都に決定</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 特定創業支援等事業の証明書取得</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 藤井議員に助成金戦略を共有</a:t>
            </a:r>
            <a:endParaRPr lang="en-US" sz="1300" dirty="0"/>
          </a:p>
        </p:txBody>
      </p:sp>
      <p:sp>
        <p:nvSpPr>
          <p:cNvPr id="10" name="Shape 8"/>
          <p:cNvSpPr/>
          <p:nvPr/>
        </p:nvSpPr>
        <p:spPr>
          <a:xfrm>
            <a:off x="731520" y="2880360"/>
            <a:ext cx="13167360" cy="13716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1" name="Shape 9"/>
          <p:cNvSpPr/>
          <p:nvPr/>
        </p:nvSpPr>
        <p:spPr>
          <a:xfrm>
            <a:off x="731520" y="2880360"/>
            <a:ext cx="109728" cy="1371600"/>
          </a:xfrm>
          <a:prstGeom prst="rect">
            <a:avLst/>
          </a:prstGeom>
          <a:solidFill>
            <a:srgbClr val="4A90D9"/>
          </a:solidFill>
          <a:ln/>
        </p:spPr>
        <p:txBody>
          <a:bodyPr/>
          <a:lstStyle/>
          <a:p>
            <a:endParaRPr lang="ja-JP" altLang="en-US"/>
          </a:p>
        </p:txBody>
      </p:sp>
      <p:sp>
        <p:nvSpPr>
          <p:cNvPr id="12" name="Shape 10"/>
          <p:cNvSpPr/>
          <p:nvPr/>
        </p:nvSpPr>
        <p:spPr>
          <a:xfrm>
            <a:off x="1097280" y="3063240"/>
            <a:ext cx="2743200" cy="411480"/>
          </a:xfrm>
          <a:prstGeom prst="rect">
            <a:avLst/>
          </a:prstGeom>
          <a:solidFill>
            <a:srgbClr val="4A90D9"/>
          </a:solidFill>
          <a:ln/>
        </p:spPr>
        <p:txBody>
          <a:bodyPr/>
          <a:lstStyle/>
          <a:p>
            <a:endParaRPr lang="ja-JP" altLang="en-US"/>
          </a:p>
        </p:txBody>
      </p:sp>
      <p:sp>
        <p:nvSpPr>
          <p:cNvPr id="13" name="Text 11"/>
          <p:cNvSpPr/>
          <p:nvPr/>
        </p:nvSpPr>
        <p:spPr>
          <a:xfrm>
            <a:off x="1097280" y="3063240"/>
            <a:ext cx="2743200" cy="411480"/>
          </a:xfrm>
          <a:prstGeom prst="rect">
            <a:avLst/>
          </a:prstGeom>
          <a:noFill/>
          <a:ln/>
        </p:spPr>
        <p:txBody>
          <a:bodyPr wrap="square" rtlCol="0" anchor="ctr"/>
          <a:lstStyle/>
          <a:p>
            <a:pPr marL="0" indent="0" algn="ctr">
              <a:buNone/>
            </a:pPr>
            <a:r>
              <a:rPr lang="en-US" sz="1300" b="1" dirty="0">
                <a:solidFill>
                  <a:srgbClr val="FFFFFF"/>
                </a:solidFill>
                <a:latin typeface="Hiragino Sans W6" pitchFamily="34" charset="0"/>
                <a:ea typeface="Hiragino Sans W6" pitchFamily="34" charset="-122"/>
                <a:cs typeface="Hiragino Sans W6" pitchFamily="34" charset="-120"/>
              </a:rPr>
              <a:t>設立直後（1～3ヶ月）</a:t>
            </a:r>
            <a:endParaRPr lang="en-US" sz="1300" dirty="0"/>
          </a:p>
        </p:txBody>
      </p:sp>
      <p:sp>
        <p:nvSpPr>
          <p:cNvPr id="14" name="Text 12"/>
          <p:cNvSpPr/>
          <p:nvPr/>
        </p:nvSpPr>
        <p:spPr>
          <a:xfrm>
            <a:off x="1097280" y="3566160"/>
            <a:ext cx="2743200" cy="457200"/>
          </a:xfrm>
          <a:prstGeom prst="rect">
            <a:avLst/>
          </a:prstGeom>
          <a:noFill/>
          <a:ln/>
        </p:spPr>
        <p:txBody>
          <a:bodyPr wrap="square" rtlCol="0" anchor="ctr"/>
          <a:lstStyle/>
          <a:p>
            <a:pPr marL="0" indent="0" algn="ctr">
              <a:buNone/>
            </a:pPr>
            <a:r>
              <a:rPr lang="en-US" sz="2000" b="1" dirty="0">
                <a:solidFill>
                  <a:srgbClr val="4A90D9"/>
                </a:solidFill>
                <a:latin typeface="Hiragino Sans W6" pitchFamily="34" charset="0"/>
                <a:ea typeface="Hiragino Sans W6" pitchFamily="34" charset="-122"/>
                <a:cs typeface="Hiragino Sans W6" pitchFamily="34" charset="-120"/>
              </a:rPr>
              <a:t>即座申請</a:t>
            </a:r>
            <a:endParaRPr lang="en-US" sz="2000" dirty="0"/>
          </a:p>
        </p:txBody>
      </p:sp>
      <p:sp>
        <p:nvSpPr>
          <p:cNvPr id="15" name="Text 13"/>
          <p:cNvSpPr/>
          <p:nvPr/>
        </p:nvSpPr>
        <p:spPr>
          <a:xfrm>
            <a:off x="4389120" y="2971800"/>
            <a:ext cx="9144000" cy="1188720"/>
          </a:xfrm>
          <a:prstGeom prst="rect">
            <a:avLst/>
          </a:prstGeom>
          <a:noFill/>
          <a:ln/>
        </p:spPr>
        <p:txBody>
          <a:bodyPr wrap="square" rtlCol="0" anchor="ctr"/>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 東京都創業助成事業に即申請（400万）</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 DX推進助成金のアドバイザー支援開始</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 TCiN第4期に応募</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 障害福祉ICT導入支援でサンライズ施設申請</a:t>
            </a:r>
            <a:endParaRPr lang="en-US" sz="1300" dirty="0"/>
          </a:p>
        </p:txBody>
      </p:sp>
      <p:sp>
        <p:nvSpPr>
          <p:cNvPr id="16" name="Shape 14"/>
          <p:cNvSpPr/>
          <p:nvPr/>
        </p:nvSpPr>
        <p:spPr>
          <a:xfrm>
            <a:off x="731520" y="4480560"/>
            <a:ext cx="13167360" cy="13716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7" name="Shape 15"/>
          <p:cNvSpPr/>
          <p:nvPr/>
        </p:nvSpPr>
        <p:spPr>
          <a:xfrm>
            <a:off x="731520" y="4480560"/>
            <a:ext cx="109728" cy="1371600"/>
          </a:xfrm>
          <a:prstGeom prst="rect">
            <a:avLst/>
          </a:prstGeom>
          <a:solidFill>
            <a:srgbClr val="27AE60"/>
          </a:solidFill>
          <a:ln/>
        </p:spPr>
        <p:txBody>
          <a:bodyPr/>
          <a:lstStyle/>
          <a:p>
            <a:endParaRPr lang="ja-JP" altLang="en-US"/>
          </a:p>
        </p:txBody>
      </p:sp>
      <p:sp>
        <p:nvSpPr>
          <p:cNvPr id="18" name="Shape 16"/>
          <p:cNvSpPr/>
          <p:nvPr/>
        </p:nvSpPr>
        <p:spPr>
          <a:xfrm>
            <a:off x="1097280" y="4663440"/>
            <a:ext cx="2743200" cy="411480"/>
          </a:xfrm>
          <a:prstGeom prst="rect">
            <a:avLst/>
          </a:prstGeom>
          <a:solidFill>
            <a:srgbClr val="27AE60"/>
          </a:solidFill>
          <a:ln/>
        </p:spPr>
        <p:txBody>
          <a:bodyPr/>
          <a:lstStyle/>
          <a:p>
            <a:endParaRPr lang="ja-JP" altLang="en-US"/>
          </a:p>
        </p:txBody>
      </p:sp>
      <p:sp>
        <p:nvSpPr>
          <p:cNvPr id="19" name="Text 17"/>
          <p:cNvSpPr/>
          <p:nvPr/>
        </p:nvSpPr>
        <p:spPr>
          <a:xfrm>
            <a:off x="1097280" y="4663440"/>
            <a:ext cx="2743200" cy="411480"/>
          </a:xfrm>
          <a:prstGeom prst="rect">
            <a:avLst/>
          </a:prstGeom>
          <a:noFill/>
          <a:ln/>
        </p:spPr>
        <p:txBody>
          <a:bodyPr wrap="square" rtlCol="0" anchor="ctr"/>
          <a:lstStyle/>
          <a:p>
            <a:pPr marL="0" indent="0" algn="ctr">
              <a:buNone/>
            </a:pPr>
            <a:r>
              <a:rPr lang="en-US" sz="1300" b="1" dirty="0">
                <a:solidFill>
                  <a:srgbClr val="FFFFFF"/>
                </a:solidFill>
                <a:latin typeface="Hiragino Sans W6" pitchFamily="34" charset="0"/>
                <a:ea typeface="Hiragino Sans W6" pitchFamily="34" charset="-122"/>
                <a:cs typeface="Hiragino Sans W6" pitchFamily="34" charset="-120"/>
              </a:rPr>
              <a:t>設立6ヶ月～</a:t>
            </a:r>
            <a:endParaRPr lang="en-US" sz="1300" dirty="0"/>
          </a:p>
        </p:txBody>
      </p:sp>
      <p:sp>
        <p:nvSpPr>
          <p:cNvPr id="20" name="Text 18"/>
          <p:cNvSpPr/>
          <p:nvPr/>
        </p:nvSpPr>
        <p:spPr>
          <a:xfrm>
            <a:off x="1097280" y="5166360"/>
            <a:ext cx="2743200" cy="457200"/>
          </a:xfrm>
          <a:prstGeom prst="rect">
            <a:avLst/>
          </a:prstGeom>
          <a:noFill/>
          <a:ln/>
        </p:spPr>
        <p:txBody>
          <a:bodyPr wrap="square" rtlCol="0" anchor="ctr"/>
          <a:lstStyle/>
          <a:p>
            <a:pPr marL="0" indent="0" algn="ctr">
              <a:buNone/>
            </a:pPr>
            <a:r>
              <a:rPr lang="en-US" sz="2000" b="1" dirty="0">
                <a:solidFill>
                  <a:srgbClr val="27AE60"/>
                </a:solidFill>
                <a:latin typeface="Hiragino Sans W6" pitchFamily="34" charset="0"/>
                <a:ea typeface="Hiragino Sans W6" pitchFamily="34" charset="-122"/>
                <a:cs typeface="Hiragino Sans W6" pitchFamily="34" charset="-120"/>
              </a:rPr>
              <a:t>拡大</a:t>
            </a:r>
            <a:endParaRPr lang="en-US" sz="2000" dirty="0"/>
          </a:p>
        </p:txBody>
      </p:sp>
      <p:sp>
        <p:nvSpPr>
          <p:cNvPr id="21" name="Text 19"/>
          <p:cNvSpPr/>
          <p:nvPr/>
        </p:nvSpPr>
        <p:spPr>
          <a:xfrm>
            <a:off x="4389120" y="4572000"/>
            <a:ext cx="9144000" cy="1188720"/>
          </a:xfrm>
          <a:prstGeom prst="rect">
            <a:avLst/>
          </a:prstGeom>
          <a:noFill/>
          <a:ln/>
        </p:spPr>
        <p:txBody>
          <a:bodyPr wrap="square" rtlCol="0" anchor="ctr"/>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 DX推進助成金を本申請（3,000万）</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 CareOSをITツール登録</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 持続化補助金（創業枚）申請（250万）</a:t>
            </a:r>
            <a:endParaRPr lang="en-US" sz="1300" dirty="0"/>
          </a:p>
        </p:txBody>
      </p:sp>
      <p:sp>
        <p:nvSpPr>
          <p:cNvPr id="22" name="Shape 20"/>
          <p:cNvSpPr/>
          <p:nvPr/>
        </p:nvSpPr>
        <p:spPr>
          <a:xfrm>
            <a:off x="731520" y="6080760"/>
            <a:ext cx="13167360" cy="13716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23" name="Shape 21"/>
          <p:cNvSpPr/>
          <p:nvPr/>
        </p:nvSpPr>
        <p:spPr>
          <a:xfrm>
            <a:off x="731520" y="6080760"/>
            <a:ext cx="109728" cy="1371600"/>
          </a:xfrm>
          <a:prstGeom prst="rect">
            <a:avLst/>
          </a:prstGeom>
          <a:solidFill>
            <a:srgbClr val="F39C12"/>
          </a:solidFill>
          <a:ln/>
        </p:spPr>
        <p:txBody>
          <a:bodyPr/>
          <a:lstStyle/>
          <a:p>
            <a:endParaRPr lang="ja-JP" altLang="en-US"/>
          </a:p>
        </p:txBody>
      </p:sp>
      <p:sp>
        <p:nvSpPr>
          <p:cNvPr id="24" name="Shape 22"/>
          <p:cNvSpPr/>
          <p:nvPr/>
        </p:nvSpPr>
        <p:spPr>
          <a:xfrm>
            <a:off x="1097280" y="6263640"/>
            <a:ext cx="2743200" cy="411480"/>
          </a:xfrm>
          <a:prstGeom prst="rect">
            <a:avLst/>
          </a:prstGeom>
          <a:solidFill>
            <a:srgbClr val="F39C12"/>
          </a:solidFill>
          <a:ln/>
        </p:spPr>
        <p:txBody>
          <a:bodyPr/>
          <a:lstStyle/>
          <a:p>
            <a:endParaRPr lang="ja-JP" altLang="en-US"/>
          </a:p>
        </p:txBody>
      </p:sp>
      <p:sp>
        <p:nvSpPr>
          <p:cNvPr id="25" name="Text 23"/>
          <p:cNvSpPr/>
          <p:nvPr/>
        </p:nvSpPr>
        <p:spPr>
          <a:xfrm>
            <a:off x="1097280" y="6263640"/>
            <a:ext cx="2743200" cy="411480"/>
          </a:xfrm>
          <a:prstGeom prst="rect">
            <a:avLst/>
          </a:prstGeom>
          <a:noFill/>
          <a:ln/>
        </p:spPr>
        <p:txBody>
          <a:bodyPr wrap="square" rtlCol="0" anchor="ctr"/>
          <a:lstStyle/>
          <a:p>
            <a:pPr marL="0" indent="0" algn="ctr">
              <a:buNone/>
            </a:pPr>
            <a:r>
              <a:rPr lang="en-US" sz="1300" b="1" dirty="0">
                <a:solidFill>
                  <a:srgbClr val="FFFFFF"/>
                </a:solidFill>
                <a:latin typeface="Hiragino Sans W6" pitchFamily="34" charset="0"/>
                <a:ea typeface="Hiragino Sans W6" pitchFamily="34" charset="-122"/>
                <a:cs typeface="Hiragino Sans W6" pitchFamily="34" charset="-120"/>
              </a:rPr>
              <a:t>2年目～</a:t>
            </a:r>
            <a:endParaRPr lang="en-US" sz="1300" dirty="0"/>
          </a:p>
        </p:txBody>
      </p:sp>
      <p:sp>
        <p:nvSpPr>
          <p:cNvPr id="26" name="Text 24"/>
          <p:cNvSpPr/>
          <p:nvPr/>
        </p:nvSpPr>
        <p:spPr>
          <a:xfrm>
            <a:off x="1097280" y="6766560"/>
            <a:ext cx="2743200" cy="457200"/>
          </a:xfrm>
          <a:prstGeom prst="rect">
            <a:avLst/>
          </a:prstGeom>
          <a:noFill/>
          <a:ln/>
        </p:spPr>
        <p:txBody>
          <a:bodyPr wrap="square" rtlCol="0" anchor="ctr"/>
          <a:lstStyle/>
          <a:p>
            <a:pPr marL="0" indent="0" algn="ctr">
              <a:buNone/>
            </a:pPr>
            <a:r>
              <a:rPr lang="en-US" sz="2000" b="1" dirty="0">
                <a:solidFill>
                  <a:srgbClr val="F39C12"/>
                </a:solidFill>
                <a:latin typeface="Hiragino Sans W6" pitchFamily="34" charset="0"/>
                <a:ea typeface="Hiragino Sans W6" pitchFamily="34" charset="-122"/>
                <a:cs typeface="Hiragino Sans W6" pitchFamily="34" charset="-120"/>
              </a:rPr>
              <a:t>大型獲得</a:t>
            </a:r>
            <a:endParaRPr lang="en-US" sz="2000" dirty="0"/>
          </a:p>
        </p:txBody>
      </p:sp>
      <p:sp>
        <p:nvSpPr>
          <p:cNvPr id="27" name="Text 25"/>
          <p:cNvSpPr/>
          <p:nvPr/>
        </p:nvSpPr>
        <p:spPr>
          <a:xfrm>
            <a:off x="4389120" y="6172200"/>
            <a:ext cx="9144000" cy="1188720"/>
          </a:xfrm>
          <a:prstGeom prst="rect">
            <a:avLst/>
          </a:prstGeom>
          <a:noFill/>
          <a:ln/>
        </p:spPr>
        <p:txBody>
          <a:bodyPr wrap="square" rtlCol="0" anchor="ctr"/>
          <a:lstStyle/>
          <a:p>
            <a:pPr marL="0" indent="0">
              <a:buNone/>
            </a:pPr>
            <a:r>
              <a:rPr lang="en-US" sz="1300" dirty="0">
                <a:solidFill>
                  <a:srgbClr val="4A4A45"/>
                </a:solidFill>
                <a:latin typeface="Hiragino Sans W3" pitchFamily="34" charset="0"/>
                <a:ea typeface="Hiragino Sans W3" pitchFamily="34" charset="-122"/>
                <a:cs typeface="Hiragino Sans W3" pitchFamily="34" charset="-120"/>
              </a:rPr>
              <a:t>• ものづくり補助金に大型申請（9,000万）</a:t>
            </a:r>
            <a:endParaRPr lang="en-US" sz="1300" dirty="0"/>
          </a:p>
          <a:p>
            <a:pPr marL="0" indent="0">
              <a:buNone/>
            </a:pPr>
            <a:r>
              <a:rPr lang="en-US" sz="1300" dirty="0">
                <a:solidFill>
                  <a:srgbClr val="4A4A45"/>
                </a:solidFill>
                <a:latin typeface="Hiragino Sans W3" pitchFamily="34" charset="0"/>
                <a:ea typeface="Hiragino Sans W3" pitchFamily="34" charset="-122"/>
                <a:cs typeface="Hiragino Sans W3" pitchFamily="34" charset="-120"/>
              </a:rPr>
              <a:t>• SBIRテーマ探索・研究開発計画策定</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8DD"/>
        </a:solidFill>
        <a:effectLst/>
      </p:bgPr>
    </p:bg>
    <p:spTree>
      <p:nvGrpSpPr>
        <p:cNvPr id="1" name=""/>
        <p:cNvGrpSpPr/>
        <p:nvPr/>
      </p:nvGrpSpPr>
      <p:grpSpPr>
        <a:xfrm>
          <a:off x="0" y="0"/>
          <a:ext cx="0" cy="0"/>
          <a:chOff x="0" y="0"/>
          <a:chExt cx="0" cy="0"/>
        </a:xfrm>
      </p:grpSpPr>
      <p:sp>
        <p:nvSpPr>
          <p:cNvPr id="2" name="Shape 0"/>
          <p:cNvSpPr/>
          <p:nvPr/>
        </p:nvSpPr>
        <p:spPr>
          <a:xfrm>
            <a:off x="475488" y="256032"/>
            <a:ext cx="13679424" cy="640080"/>
          </a:xfrm>
          <a:prstGeom prst="rect">
            <a:avLst/>
          </a:prstGeom>
          <a:solidFill>
            <a:srgbClr val="8E44AD"/>
          </a:solidFill>
          <a:ln/>
        </p:spPr>
        <p:txBody>
          <a:bodyPr/>
          <a:lstStyle/>
          <a:p>
            <a:endParaRPr lang="ja-JP" altLang="en-US"/>
          </a:p>
        </p:txBody>
      </p:sp>
      <p:sp>
        <p:nvSpPr>
          <p:cNvPr id="3" name="Text 1"/>
          <p:cNvSpPr/>
          <p:nvPr/>
        </p:nvSpPr>
        <p:spPr>
          <a:xfrm>
            <a:off x="658368" y="256032"/>
            <a:ext cx="13313664" cy="640080"/>
          </a:xfrm>
          <a:prstGeom prst="rect">
            <a:avLst/>
          </a:prstGeom>
          <a:noFill/>
          <a:ln/>
        </p:spPr>
        <p:txBody>
          <a:bodyPr wrap="square" rtlCol="0" anchor="ctr"/>
          <a:lstStyle/>
          <a:p>
            <a:pPr marL="0" indent="0">
              <a:buNone/>
            </a:pPr>
            <a:r>
              <a:rPr lang="en-US" sz="2600" b="1" dirty="0">
                <a:solidFill>
                  <a:srgbClr val="FFFFFF"/>
                </a:solidFill>
                <a:latin typeface="Hiragino Sans W6" pitchFamily="34" charset="0"/>
                <a:ea typeface="Hiragino Sans W6" pitchFamily="34" charset="-122"/>
                <a:cs typeface="Hiragino Sans W6" pitchFamily="34" charset="-120"/>
              </a:rPr>
              <a:t>藤井あきら議員との連携 — 助成金獲得の加速装置</a:t>
            </a:r>
            <a:endParaRPr lang="en-US" sz="2600" dirty="0"/>
          </a:p>
        </p:txBody>
      </p:sp>
      <p:sp>
        <p:nvSpPr>
          <p:cNvPr id="4" name="Shape 2"/>
          <p:cNvSpPr/>
          <p:nvPr/>
        </p:nvSpPr>
        <p:spPr>
          <a:xfrm>
            <a:off x="731520" y="1371600"/>
            <a:ext cx="1316736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5" name="Shape 3"/>
          <p:cNvSpPr/>
          <p:nvPr/>
        </p:nvSpPr>
        <p:spPr>
          <a:xfrm>
            <a:off x="731520" y="1371600"/>
            <a:ext cx="109728" cy="1828800"/>
          </a:xfrm>
          <a:prstGeom prst="rect">
            <a:avLst/>
          </a:prstGeom>
          <a:solidFill>
            <a:srgbClr val="4A90D9"/>
          </a:solidFill>
          <a:ln/>
        </p:spPr>
        <p:txBody>
          <a:bodyPr/>
          <a:lstStyle/>
          <a:p>
            <a:endParaRPr lang="ja-JP" altLang="en-US"/>
          </a:p>
        </p:txBody>
      </p:sp>
      <p:sp>
        <p:nvSpPr>
          <p:cNvPr id="6" name="Text 4"/>
          <p:cNvSpPr/>
          <p:nvPr/>
        </p:nvSpPr>
        <p:spPr>
          <a:xfrm>
            <a:off x="1188720" y="1508760"/>
            <a:ext cx="12344400" cy="502920"/>
          </a:xfrm>
          <a:prstGeom prst="rect">
            <a:avLst/>
          </a:prstGeom>
          <a:noFill/>
          <a:ln/>
        </p:spPr>
        <p:txBody>
          <a:bodyPr wrap="square" lIns="0" tIns="0" rIns="0" bIns="0" rtlCol="0" anchor="ctr"/>
          <a:lstStyle/>
          <a:p>
            <a:pPr marL="0" indent="0">
              <a:buNone/>
            </a:pPr>
            <a:r>
              <a:rPr lang="en-US" sz="1800" b="1" dirty="0">
                <a:solidFill>
                  <a:srgbClr val="4A90D9"/>
                </a:solidFill>
                <a:latin typeface="Hiragino Sans W6" pitchFamily="34" charset="0"/>
                <a:ea typeface="Hiragino Sans W6" pitchFamily="34" charset="-122"/>
                <a:cs typeface="Hiragino Sans W6" pitchFamily="34" charset="-120"/>
              </a:rPr>
              <a:t>政策実証パートナーとしての推薦</a:t>
            </a:r>
            <a:endParaRPr lang="en-US" sz="1800" dirty="0"/>
          </a:p>
        </p:txBody>
      </p:sp>
      <p:sp>
        <p:nvSpPr>
          <p:cNvPr id="7" name="Text 5"/>
          <p:cNvSpPr/>
          <p:nvPr/>
        </p:nvSpPr>
        <p:spPr>
          <a:xfrm>
            <a:off x="1188720" y="2011680"/>
            <a:ext cx="12344400" cy="1005840"/>
          </a:xfrm>
          <a:prstGeom prst="rect">
            <a:avLst/>
          </a:prstGeom>
          <a:noFill/>
          <a:ln/>
        </p:spPr>
        <p:txBody>
          <a:bodyPr wrap="square"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東京都DX推進助成金（最大3,000万円）等の申請において、都議会議員としての推薦・紹介は審査上のプラスになり得る。藤井議員の重点政策「福祉DX・データ駆動行政」とCareOSの完全合致を活かす。</a:t>
            </a:r>
            <a:endParaRPr lang="en-US" sz="1400" dirty="0"/>
          </a:p>
        </p:txBody>
      </p:sp>
      <p:sp>
        <p:nvSpPr>
          <p:cNvPr id="8" name="Shape 6"/>
          <p:cNvSpPr/>
          <p:nvPr/>
        </p:nvSpPr>
        <p:spPr>
          <a:xfrm>
            <a:off x="731520" y="3474720"/>
            <a:ext cx="1316736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9" name="Shape 7"/>
          <p:cNvSpPr/>
          <p:nvPr/>
        </p:nvSpPr>
        <p:spPr>
          <a:xfrm>
            <a:off x="731520" y="3474720"/>
            <a:ext cx="109728" cy="1828800"/>
          </a:xfrm>
          <a:prstGeom prst="rect">
            <a:avLst/>
          </a:prstGeom>
          <a:solidFill>
            <a:srgbClr val="27AE60"/>
          </a:solidFill>
          <a:ln/>
        </p:spPr>
        <p:txBody>
          <a:bodyPr/>
          <a:lstStyle/>
          <a:p>
            <a:endParaRPr lang="ja-JP" altLang="en-US"/>
          </a:p>
        </p:txBody>
      </p:sp>
      <p:sp>
        <p:nvSpPr>
          <p:cNvPr id="10" name="Text 8"/>
          <p:cNvSpPr/>
          <p:nvPr/>
        </p:nvSpPr>
        <p:spPr>
          <a:xfrm>
            <a:off x="1188720" y="3611880"/>
            <a:ext cx="12344400" cy="502920"/>
          </a:xfrm>
          <a:prstGeom prst="rect">
            <a:avLst/>
          </a:prstGeom>
          <a:noFill/>
          <a:ln/>
        </p:spPr>
        <p:txBody>
          <a:bodyPr wrap="square" lIns="0" tIns="0" rIns="0" bIns="0" rtlCol="0" anchor="ctr"/>
          <a:lstStyle/>
          <a:p>
            <a:pPr marL="0" indent="0">
              <a:buNone/>
            </a:pPr>
            <a:r>
              <a:rPr lang="en-US" sz="1800" b="1" dirty="0">
                <a:solidFill>
                  <a:srgbClr val="27AE60"/>
                </a:solidFill>
                <a:latin typeface="Hiragino Sans W6" pitchFamily="34" charset="0"/>
                <a:ea typeface="Hiragino Sans W6" pitchFamily="34" charset="-122"/>
                <a:cs typeface="Hiragino Sans W6" pitchFamily="34" charset="-120"/>
              </a:rPr>
              <a:t>東京都福祉部局への橋渡し</a:t>
            </a:r>
            <a:endParaRPr lang="en-US" sz="1800" dirty="0"/>
          </a:p>
        </p:txBody>
      </p:sp>
      <p:sp>
        <p:nvSpPr>
          <p:cNvPr id="11" name="Text 9"/>
          <p:cNvSpPr/>
          <p:nvPr/>
        </p:nvSpPr>
        <p:spPr>
          <a:xfrm>
            <a:off x="1188720" y="4114800"/>
            <a:ext cx="12344400" cy="1005840"/>
          </a:xfrm>
          <a:prstGeom prst="rect">
            <a:avLst/>
          </a:prstGeom>
          <a:noFill/>
          <a:ln/>
        </p:spPr>
        <p:txBody>
          <a:bodyPr wrap="square"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障害福祉ICT導入支援事業は都の福祉部局が窓口。議員を通じた事前相談で、申請要件やスケジュールを事前把握できる。サンライズ施設への導入を「政策実証」として位置づける。</a:t>
            </a:r>
            <a:endParaRPr lang="en-US" sz="1400" dirty="0"/>
          </a:p>
        </p:txBody>
      </p:sp>
      <p:sp>
        <p:nvSpPr>
          <p:cNvPr id="12" name="Shape 10"/>
          <p:cNvSpPr/>
          <p:nvPr/>
        </p:nvSpPr>
        <p:spPr>
          <a:xfrm>
            <a:off x="731520" y="5577840"/>
            <a:ext cx="1316736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ja-JP" altLang="en-US"/>
          </a:p>
        </p:txBody>
      </p:sp>
      <p:sp>
        <p:nvSpPr>
          <p:cNvPr id="13" name="Shape 11"/>
          <p:cNvSpPr/>
          <p:nvPr/>
        </p:nvSpPr>
        <p:spPr>
          <a:xfrm>
            <a:off x="731520" y="5577840"/>
            <a:ext cx="109728" cy="1828800"/>
          </a:xfrm>
          <a:prstGeom prst="rect">
            <a:avLst/>
          </a:prstGeom>
          <a:solidFill>
            <a:srgbClr val="F39C12"/>
          </a:solidFill>
          <a:ln/>
        </p:spPr>
        <p:txBody>
          <a:bodyPr/>
          <a:lstStyle/>
          <a:p>
            <a:endParaRPr lang="ja-JP" altLang="en-US"/>
          </a:p>
        </p:txBody>
      </p:sp>
      <p:sp>
        <p:nvSpPr>
          <p:cNvPr id="14" name="Text 12"/>
          <p:cNvSpPr/>
          <p:nvPr/>
        </p:nvSpPr>
        <p:spPr>
          <a:xfrm>
            <a:off x="1188720" y="5715000"/>
            <a:ext cx="12344400" cy="502920"/>
          </a:xfrm>
          <a:prstGeom prst="rect">
            <a:avLst/>
          </a:prstGeom>
          <a:noFill/>
          <a:ln/>
        </p:spPr>
        <p:txBody>
          <a:bodyPr wrap="square" lIns="0" tIns="0" rIns="0" bIns="0" rtlCol="0" anchor="ctr"/>
          <a:lstStyle/>
          <a:p>
            <a:pPr marL="0" indent="0">
              <a:buNone/>
            </a:pPr>
            <a:r>
              <a:rPr lang="en-US" sz="1800" b="1" dirty="0">
                <a:solidFill>
                  <a:srgbClr val="F39C12"/>
                </a:solidFill>
                <a:latin typeface="Hiragino Sans W6" pitchFamily="34" charset="0"/>
                <a:ea typeface="Hiragino Sans W6" pitchFamily="34" charset="-122"/>
                <a:cs typeface="Hiragino Sans W6" pitchFamily="34" charset="-120"/>
              </a:rPr>
              <a:t>TCiNへの推薦・マッチング</a:t>
            </a:r>
            <a:endParaRPr lang="en-US" sz="1800" dirty="0"/>
          </a:p>
        </p:txBody>
      </p:sp>
      <p:sp>
        <p:nvSpPr>
          <p:cNvPr id="15" name="Text 13"/>
          <p:cNvSpPr/>
          <p:nvPr/>
        </p:nvSpPr>
        <p:spPr>
          <a:xfrm>
            <a:off x="1188720" y="6217920"/>
            <a:ext cx="12344400" cy="1005840"/>
          </a:xfrm>
          <a:prstGeom prst="rect">
            <a:avLst/>
          </a:prstGeom>
          <a:noFill/>
          <a:ln/>
        </p:spPr>
        <p:txBody>
          <a:bodyPr wrap="square" rtlCol="0" anchor="ctr"/>
          <a:lstStyle/>
          <a:p>
            <a:pPr marL="0" indent="0">
              <a:buNone/>
            </a:pPr>
            <a:r>
              <a:rPr lang="en-US" sz="1400" dirty="0">
                <a:solidFill>
                  <a:srgbClr val="4A4A45"/>
                </a:solidFill>
                <a:latin typeface="Hiragino Sans W3" pitchFamily="34" charset="0"/>
                <a:ea typeface="Hiragino Sans W3" pitchFamily="34" charset="-122"/>
                <a:cs typeface="Hiragino Sans W3" pitchFamily="34" charset="-120"/>
              </a:rPr>
              <a:t>社会課題解決型スタートアップ支援事業（TCiN）は都が推進する「生きやすさ・働きやすさ」分野。藤井議員の推薦により、大企業とのマッチング支援も期待できる。</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14630400" cy="73152"/>
          </a:xfrm>
          <a:prstGeom prst="rect">
            <a:avLst/>
          </a:prstGeom>
          <a:solidFill>
            <a:srgbClr val="4A90D9"/>
          </a:solidFill>
          <a:ln/>
        </p:spPr>
        <p:txBody>
          <a:bodyPr/>
          <a:lstStyle/>
          <a:p>
            <a:endParaRPr lang="ja-JP" altLang="en-US"/>
          </a:p>
        </p:txBody>
      </p:sp>
      <p:sp>
        <p:nvSpPr>
          <p:cNvPr id="3" name="Text 1"/>
          <p:cNvSpPr/>
          <p:nvPr/>
        </p:nvSpPr>
        <p:spPr>
          <a:xfrm>
            <a:off x="1371600" y="731520"/>
            <a:ext cx="11887200" cy="731520"/>
          </a:xfrm>
          <a:prstGeom prst="rect">
            <a:avLst/>
          </a:prstGeom>
          <a:noFill/>
          <a:ln/>
        </p:spPr>
        <p:txBody>
          <a:bodyPr wrap="square" rtlCol="0" anchor="ctr"/>
          <a:lstStyle/>
          <a:p>
            <a:pPr marL="0" indent="0" algn="ctr">
              <a:buNone/>
            </a:pPr>
            <a:r>
              <a:rPr lang="en-US" sz="3000" b="1" dirty="0">
                <a:solidFill>
                  <a:srgbClr val="FFFFFF"/>
                </a:solidFill>
                <a:latin typeface="Hiragino Sans W6" pitchFamily="34" charset="0"/>
                <a:ea typeface="Hiragino Sans W6" pitchFamily="34" charset="-122"/>
                <a:cs typeface="Hiragino Sans W6" pitchFamily="34" charset="-120"/>
              </a:rPr>
              <a:t>お問い合わせ先・参考リンク</a:t>
            </a:r>
            <a:endParaRPr lang="en-US" sz="3000" dirty="0"/>
          </a:p>
        </p:txBody>
      </p:sp>
      <p:sp>
        <p:nvSpPr>
          <p:cNvPr id="4" name="Text 2"/>
          <p:cNvSpPr/>
          <p:nvPr/>
        </p:nvSpPr>
        <p:spPr>
          <a:xfrm>
            <a:off x="1371600" y="2011680"/>
            <a:ext cx="5029200" cy="457200"/>
          </a:xfrm>
          <a:prstGeom prst="rect">
            <a:avLst/>
          </a:prstGeom>
          <a:noFill/>
          <a:ln/>
        </p:spPr>
        <p:txBody>
          <a:bodyPr wrap="square" rtlCol="0" anchor="ctr"/>
          <a:lstStyle/>
          <a:p>
            <a:pPr marL="0" indent="0">
              <a:buNone/>
            </a:pPr>
            <a:r>
              <a:rPr lang="en-US" sz="1400" dirty="0">
                <a:solidFill>
                  <a:srgbClr val="FFFFFF"/>
                </a:solidFill>
                <a:latin typeface="Hiragino Sans W3" pitchFamily="34" charset="0"/>
                <a:ea typeface="Hiragino Sans W3" pitchFamily="34" charset="-122"/>
                <a:cs typeface="Hiragino Sans W3" pitchFamily="34" charset="-120"/>
              </a:rPr>
              <a:t>東京都 DX推進助成金</a:t>
            </a:r>
            <a:endParaRPr lang="en-US" sz="1400" dirty="0"/>
          </a:p>
        </p:txBody>
      </p:sp>
      <p:sp>
        <p:nvSpPr>
          <p:cNvPr id="5" name="Text 3">
            <a:hlinkClick r:id="rId3"/>
          </p:cNvPr>
          <p:cNvSpPr/>
          <p:nvPr/>
        </p:nvSpPr>
        <p:spPr>
          <a:xfrm>
            <a:off x="6858000" y="2011680"/>
            <a:ext cx="6858000" cy="457200"/>
          </a:xfrm>
          <a:prstGeom prst="rect">
            <a:avLst/>
          </a:prstGeom>
          <a:noFill/>
          <a:ln/>
        </p:spPr>
        <p:txBody>
          <a:bodyPr wrap="square" rtlCol="0" anchor="ctr"/>
          <a:lstStyle/>
          <a:p>
            <a:pPr marL="0" indent="0">
              <a:buNone/>
            </a:pPr>
            <a:r>
              <a:rPr lang="en-US" sz="1200" u="sng" dirty="0">
                <a:solidFill>
                  <a:srgbClr val="4A90D9"/>
                </a:solidFill>
                <a:latin typeface="Hiragino Sans W3" pitchFamily="34" charset="0"/>
                <a:ea typeface="Hiragino Sans W3" pitchFamily="34" charset="-122"/>
                <a:cs typeface="Hiragino Sans W3" pitchFamily="34" charset="-120"/>
                <a:hlinkClick r:id="rId3">
                  <a:extLst>
                    <a:ext uri="{A12FA001-AC4F-418D-AE19-62706E023703}">
                      <ahyp:hlinkClr xmlns:ahyp="http://schemas.microsoft.com/office/drawing/2018/hyperlinkcolor" val="tx"/>
                    </a:ext>
                  </a:extLst>
                </a:hlinkClick>
              </a:rPr>
              <a:t>https://iot-robot.jp/business/dxsubsidy/</a:t>
            </a:r>
            <a:endParaRPr lang="en-US" sz="1200" dirty="0"/>
          </a:p>
        </p:txBody>
      </p:sp>
      <p:sp>
        <p:nvSpPr>
          <p:cNvPr id="6" name="Text 4"/>
          <p:cNvSpPr/>
          <p:nvPr/>
        </p:nvSpPr>
        <p:spPr>
          <a:xfrm>
            <a:off x="1371600" y="2606040"/>
            <a:ext cx="5029200" cy="457200"/>
          </a:xfrm>
          <a:prstGeom prst="rect">
            <a:avLst/>
          </a:prstGeom>
          <a:noFill/>
          <a:ln/>
        </p:spPr>
        <p:txBody>
          <a:bodyPr wrap="square" rtlCol="0" anchor="ctr"/>
          <a:lstStyle/>
          <a:p>
            <a:pPr marL="0" indent="0">
              <a:buNone/>
            </a:pPr>
            <a:r>
              <a:rPr lang="en-US" sz="1400" dirty="0">
                <a:solidFill>
                  <a:srgbClr val="FFFFFF"/>
                </a:solidFill>
                <a:latin typeface="Hiragino Sans W3" pitchFamily="34" charset="0"/>
                <a:ea typeface="Hiragino Sans W3" pitchFamily="34" charset="-122"/>
                <a:cs typeface="Hiragino Sans W3" pitchFamily="34" charset="-120"/>
              </a:rPr>
              <a:t>東京都 創業助成事業</a:t>
            </a:r>
            <a:endParaRPr lang="en-US" sz="1400" dirty="0"/>
          </a:p>
        </p:txBody>
      </p:sp>
      <p:sp>
        <p:nvSpPr>
          <p:cNvPr id="7" name="Text 5">
            <a:hlinkClick r:id="rId4"/>
          </p:cNvPr>
          <p:cNvSpPr/>
          <p:nvPr/>
        </p:nvSpPr>
        <p:spPr>
          <a:xfrm>
            <a:off x="6858000" y="2606040"/>
            <a:ext cx="6858000" cy="457200"/>
          </a:xfrm>
          <a:prstGeom prst="rect">
            <a:avLst/>
          </a:prstGeom>
          <a:noFill/>
          <a:ln/>
        </p:spPr>
        <p:txBody>
          <a:bodyPr wrap="square" rtlCol="0" anchor="ctr"/>
          <a:lstStyle/>
          <a:p>
            <a:pPr marL="0" indent="0">
              <a:buNone/>
            </a:pPr>
            <a:r>
              <a:rPr lang="en-US" sz="1200" u="sng" dirty="0">
                <a:solidFill>
                  <a:srgbClr val="4A90D9"/>
                </a:solidFill>
                <a:latin typeface="Hiragino Sans W3" pitchFamily="34" charset="0"/>
                <a:ea typeface="Hiragino Sans W3" pitchFamily="34" charset="-122"/>
                <a:cs typeface="Hiragino Sans W3" pitchFamily="34" charset="-120"/>
                <a:hlinkClick r:id="rId4">
                  <a:extLst>
                    <a:ext uri="{A12FA001-AC4F-418D-AE19-62706E023703}">
                      <ahyp:hlinkClr xmlns:ahyp="http://schemas.microsoft.com/office/drawing/2018/hyperlinkcolor" val="tx"/>
                    </a:ext>
                  </a:extLst>
                </a:hlinkClick>
              </a:rPr>
              <a:t>https://www.tokyo-sogyo-net.metro.tokyo.lg.jp/finance/sogyo_josei.html</a:t>
            </a:r>
            <a:endParaRPr lang="en-US" sz="1200" dirty="0"/>
          </a:p>
        </p:txBody>
      </p:sp>
      <p:sp>
        <p:nvSpPr>
          <p:cNvPr id="8" name="Text 6"/>
          <p:cNvSpPr/>
          <p:nvPr/>
        </p:nvSpPr>
        <p:spPr>
          <a:xfrm>
            <a:off x="1371600" y="3200400"/>
            <a:ext cx="5029200" cy="457200"/>
          </a:xfrm>
          <a:prstGeom prst="rect">
            <a:avLst/>
          </a:prstGeom>
          <a:noFill/>
          <a:ln/>
        </p:spPr>
        <p:txBody>
          <a:bodyPr wrap="square" rtlCol="0" anchor="ctr"/>
          <a:lstStyle/>
          <a:p>
            <a:pPr marL="0" indent="0">
              <a:buNone/>
            </a:pPr>
            <a:r>
              <a:rPr lang="en-US" sz="1400" dirty="0">
                <a:solidFill>
                  <a:srgbClr val="FFFFFF"/>
                </a:solidFill>
                <a:latin typeface="Hiragino Sans W3" pitchFamily="34" charset="0"/>
                <a:ea typeface="Hiragino Sans W3" pitchFamily="34" charset="-122"/>
                <a:cs typeface="Hiragino Sans W3" pitchFamily="34" charset="-120"/>
              </a:rPr>
              <a:t>社会課題解決型スタートアップ支援 TCiN</a:t>
            </a:r>
            <a:endParaRPr lang="en-US" sz="1400" dirty="0"/>
          </a:p>
        </p:txBody>
      </p:sp>
      <p:sp>
        <p:nvSpPr>
          <p:cNvPr id="9" name="Text 7">
            <a:hlinkClick r:id="rId5"/>
          </p:cNvPr>
          <p:cNvSpPr/>
          <p:nvPr/>
        </p:nvSpPr>
        <p:spPr>
          <a:xfrm>
            <a:off x="6858000" y="3200400"/>
            <a:ext cx="6858000" cy="457200"/>
          </a:xfrm>
          <a:prstGeom prst="rect">
            <a:avLst/>
          </a:prstGeom>
          <a:noFill/>
          <a:ln/>
        </p:spPr>
        <p:txBody>
          <a:bodyPr wrap="square" rtlCol="0" anchor="ctr"/>
          <a:lstStyle/>
          <a:p>
            <a:pPr marL="0" indent="0">
              <a:buNone/>
            </a:pPr>
            <a:r>
              <a:rPr lang="en-US" sz="1200" u="sng" dirty="0">
                <a:solidFill>
                  <a:srgbClr val="4A90D9"/>
                </a:solidFill>
                <a:latin typeface="Hiragino Sans W3" pitchFamily="34" charset="0"/>
                <a:ea typeface="Hiragino Sans W3" pitchFamily="34" charset="-122"/>
                <a:cs typeface="Hiragino Sans W3" pitchFamily="34" charset="-120"/>
                <a:hlinkClick r:id="rId5">
                  <a:extLst>
                    <a:ext uri="{A12FA001-AC4F-418D-AE19-62706E023703}">
                      <ahyp:hlinkClr xmlns:ahyp="http://schemas.microsoft.com/office/drawing/2018/hyperlinkcolor" val="tx"/>
                    </a:ext>
                  </a:extLst>
                </a:hlinkClick>
              </a:rPr>
              <a:t>https://shakaikadai.metro.tokyo.lg.jp/</a:t>
            </a:r>
            <a:endParaRPr lang="en-US" sz="1200" dirty="0"/>
          </a:p>
        </p:txBody>
      </p:sp>
      <p:sp>
        <p:nvSpPr>
          <p:cNvPr id="10" name="Text 8"/>
          <p:cNvSpPr/>
          <p:nvPr/>
        </p:nvSpPr>
        <p:spPr>
          <a:xfrm>
            <a:off x="1371600" y="3794760"/>
            <a:ext cx="5029200" cy="457200"/>
          </a:xfrm>
          <a:prstGeom prst="rect">
            <a:avLst/>
          </a:prstGeom>
          <a:noFill/>
          <a:ln/>
        </p:spPr>
        <p:txBody>
          <a:bodyPr wrap="square" rtlCol="0" anchor="ctr"/>
          <a:lstStyle/>
          <a:p>
            <a:pPr marL="0" indent="0">
              <a:buNone/>
            </a:pPr>
            <a:r>
              <a:rPr lang="en-US" sz="1400" dirty="0">
                <a:solidFill>
                  <a:srgbClr val="FFFFFF"/>
                </a:solidFill>
                <a:latin typeface="Hiragino Sans W3" pitchFamily="34" charset="0"/>
                <a:ea typeface="Hiragino Sans W3" pitchFamily="34" charset="-122"/>
                <a:cs typeface="Hiragino Sans W3" pitchFamily="34" charset="-120"/>
              </a:rPr>
              <a:t>障害福祉分野 介護テクノロジー導入支援</a:t>
            </a:r>
            <a:endParaRPr lang="en-US" sz="1400" dirty="0"/>
          </a:p>
        </p:txBody>
      </p:sp>
      <p:sp>
        <p:nvSpPr>
          <p:cNvPr id="11" name="Text 9">
            <a:hlinkClick r:id="rId6"/>
          </p:cNvPr>
          <p:cNvSpPr/>
          <p:nvPr/>
        </p:nvSpPr>
        <p:spPr>
          <a:xfrm>
            <a:off x="6858000" y="3794760"/>
            <a:ext cx="6858000" cy="457200"/>
          </a:xfrm>
          <a:prstGeom prst="rect">
            <a:avLst/>
          </a:prstGeom>
          <a:noFill/>
          <a:ln/>
        </p:spPr>
        <p:txBody>
          <a:bodyPr wrap="square" rtlCol="0" anchor="ctr"/>
          <a:lstStyle/>
          <a:p>
            <a:pPr marL="0" indent="0">
              <a:buNone/>
            </a:pPr>
            <a:r>
              <a:rPr lang="en-US" sz="1200" u="sng" dirty="0">
                <a:solidFill>
                  <a:srgbClr val="4A90D9"/>
                </a:solidFill>
                <a:latin typeface="Hiragino Sans W3" pitchFamily="34" charset="0"/>
                <a:ea typeface="Hiragino Sans W3" pitchFamily="34" charset="-122"/>
                <a:cs typeface="Hiragino Sans W3" pitchFamily="34" charset="-120"/>
                <a:hlinkClick r:id="rId6">
                  <a:extLst>
                    <a:ext uri="{A12FA001-AC4F-418D-AE19-62706E023703}">
                      <ahyp:hlinkClr xmlns:ahyp="http://schemas.microsoft.com/office/drawing/2018/hyperlinkcolor" val="tx"/>
                    </a:ext>
                  </a:extLst>
                </a:hlinkClick>
              </a:rPr>
              <a:t>https://www.cas.go.jp/jp/seisaku/atarashii_sihonsyugi/shouryokukatousi/10-2.pdf</a:t>
            </a:r>
            <a:endParaRPr lang="en-US" sz="1200" dirty="0"/>
          </a:p>
        </p:txBody>
      </p:sp>
      <p:sp>
        <p:nvSpPr>
          <p:cNvPr id="12" name="Text 10"/>
          <p:cNvSpPr/>
          <p:nvPr/>
        </p:nvSpPr>
        <p:spPr>
          <a:xfrm>
            <a:off x="1371600" y="4389120"/>
            <a:ext cx="5029200" cy="457200"/>
          </a:xfrm>
          <a:prstGeom prst="rect">
            <a:avLst/>
          </a:prstGeom>
          <a:noFill/>
          <a:ln/>
        </p:spPr>
        <p:txBody>
          <a:bodyPr wrap="square" rtlCol="0" anchor="ctr"/>
          <a:lstStyle/>
          <a:p>
            <a:pPr marL="0" indent="0">
              <a:buNone/>
            </a:pPr>
            <a:r>
              <a:rPr lang="en-US" sz="1400" dirty="0">
                <a:solidFill>
                  <a:srgbClr val="FFFFFF"/>
                </a:solidFill>
                <a:latin typeface="Hiragino Sans W3" pitchFamily="34" charset="0"/>
                <a:ea typeface="Hiragino Sans W3" pitchFamily="34" charset="-122"/>
                <a:cs typeface="Hiragino Sans W3" pitchFamily="34" charset="-120"/>
              </a:rPr>
              <a:t>デジタル化・AI導入補助金 2026</a:t>
            </a:r>
            <a:endParaRPr lang="en-US" sz="1400" dirty="0"/>
          </a:p>
        </p:txBody>
      </p:sp>
      <p:sp>
        <p:nvSpPr>
          <p:cNvPr id="13" name="Text 11">
            <a:hlinkClick r:id="rId7"/>
          </p:cNvPr>
          <p:cNvSpPr/>
          <p:nvPr/>
        </p:nvSpPr>
        <p:spPr>
          <a:xfrm>
            <a:off x="6858000" y="4389120"/>
            <a:ext cx="6858000" cy="457200"/>
          </a:xfrm>
          <a:prstGeom prst="rect">
            <a:avLst/>
          </a:prstGeom>
          <a:noFill/>
          <a:ln/>
        </p:spPr>
        <p:txBody>
          <a:bodyPr wrap="square" rtlCol="0" anchor="ctr"/>
          <a:lstStyle/>
          <a:p>
            <a:pPr marL="0" indent="0">
              <a:buNone/>
            </a:pPr>
            <a:r>
              <a:rPr lang="en-US" sz="1200" u="sng" dirty="0">
                <a:solidFill>
                  <a:srgbClr val="4A90D9"/>
                </a:solidFill>
                <a:latin typeface="Hiragino Sans W3" pitchFamily="34" charset="0"/>
                <a:ea typeface="Hiragino Sans W3" pitchFamily="34" charset="-122"/>
                <a:cs typeface="Hiragino Sans W3" pitchFamily="34" charset="-120"/>
                <a:hlinkClick r:id="rId7">
                  <a:extLst>
                    <a:ext uri="{A12FA001-AC4F-418D-AE19-62706E023703}">
                      <ahyp:hlinkClr xmlns:ahyp="http://schemas.microsoft.com/office/drawing/2018/hyperlinkcolor" val="tx"/>
                    </a:ext>
                  </a:extLst>
                </a:hlinkClick>
              </a:rPr>
              <a:t>https://it-shien.smrj.go.jp/</a:t>
            </a:r>
            <a:endParaRPr lang="en-US" sz="1200" dirty="0"/>
          </a:p>
        </p:txBody>
      </p:sp>
      <p:sp>
        <p:nvSpPr>
          <p:cNvPr id="14" name="Text 12"/>
          <p:cNvSpPr/>
          <p:nvPr/>
        </p:nvSpPr>
        <p:spPr>
          <a:xfrm>
            <a:off x="1371600" y="4983480"/>
            <a:ext cx="5029200" cy="457200"/>
          </a:xfrm>
          <a:prstGeom prst="rect">
            <a:avLst/>
          </a:prstGeom>
          <a:noFill/>
          <a:ln/>
        </p:spPr>
        <p:txBody>
          <a:bodyPr wrap="square" rtlCol="0" anchor="ctr"/>
          <a:lstStyle/>
          <a:p>
            <a:pPr marL="0" indent="0">
              <a:buNone/>
            </a:pPr>
            <a:r>
              <a:rPr lang="en-US" sz="1400" dirty="0">
                <a:solidFill>
                  <a:srgbClr val="FFFFFF"/>
                </a:solidFill>
                <a:latin typeface="Hiragino Sans W3" pitchFamily="34" charset="0"/>
                <a:ea typeface="Hiragino Sans W3" pitchFamily="34" charset="-122"/>
                <a:cs typeface="Hiragino Sans W3" pitchFamily="34" charset="-120"/>
              </a:rPr>
              <a:t>小規模事業者持続化補助金</a:t>
            </a:r>
            <a:endParaRPr lang="en-US" sz="1400" dirty="0"/>
          </a:p>
        </p:txBody>
      </p:sp>
      <p:sp>
        <p:nvSpPr>
          <p:cNvPr id="15" name="Text 13">
            <a:hlinkClick r:id="rId8"/>
          </p:cNvPr>
          <p:cNvSpPr/>
          <p:nvPr/>
        </p:nvSpPr>
        <p:spPr>
          <a:xfrm>
            <a:off x="6858000" y="4983480"/>
            <a:ext cx="6858000" cy="457200"/>
          </a:xfrm>
          <a:prstGeom prst="rect">
            <a:avLst/>
          </a:prstGeom>
          <a:noFill/>
          <a:ln/>
        </p:spPr>
        <p:txBody>
          <a:bodyPr wrap="square" rtlCol="0" anchor="ctr"/>
          <a:lstStyle/>
          <a:p>
            <a:pPr marL="0" indent="0">
              <a:buNone/>
            </a:pPr>
            <a:r>
              <a:rPr lang="en-US" sz="1200" u="sng" dirty="0">
                <a:solidFill>
                  <a:srgbClr val="4A90D9"/>
                </a:solidFill>
                <a:latin typeface="Hiragino Sans W3" pitchFamily="34" charset="0"/>
                <a:ea typeface="Hiragino Sans W3" pitchFamily="34" charset="-122"/>
                <a:cs typeface="Hiragino Sans W3" pitchFamily="34" charset="-120"/>
                <a:hlinkClick r:id="rId8">
                  <a:extLst>
                    <a:ext uri="{A12FA001-AC4F-418D-AE19-62706E023703}">
                      <ahyp:hlinkClr xmlns:ahyp="http://schemas.microsoft.com/office/drawing/2018/hyperlinkcolor" val="tx"/>
                    </a:ext>
                  </a:extLst>
                </a:hlinkClick>
              </a:rPr>
              <a:t>https://s23.jizokukahojokin.info/</a:t>
            </a:r>
            <a:endParaRPr lang="en-US" sz="1200" dirty="0"/>
          </a:p>
        </p:txBody>
      </p:sp>
      <p:sp>
        <p:nvSpPr>
          <p:cNvPr id="16" name="Text 14"/>
          <p:cNvSpPr/>
          <p:nvPr/>
        </p:nvSpPr>
        <p:spPr>
          <a:xfrm>
            <a:off x="1371600" y="5577840"/>
            <a:ext cx="5029200" cy="457200"/>
          </a:xfrm>
          <a:prstGeom prst="rect">
            <a:avLst/>
          </a:prstGeom>
          <a:noFill/>
          <a:ln/>
        </p:spPr>
        <p:txBody>
          <a:bodyPr wrap="square" rtlCol="0" anchor="ctr"/>
          <a:lstStyle/>
          <a:p>
            <a:pPr marL="0" indent="0">
              <a:buNone/>
            </a:pPr>
            <a:r>
              <a:rPr lang="en-US" sz="1400" dirty="0">
                <a:solidFill>
                  <a:srgbClr val="FFFFFF"/>
                </a:solidFill>
                <a:latin typeface="Hiragino Sans W3" pitchFamily="34" charset="0"/>
                <a:ea typeface="Hiragino Sans W3" pitchFamily="34" charset="-122"/>
                <a:cs typeface="Hiragino Sans W3" pitchFamily="34" charset="-120"/>
              </a:rPr>
              <a:t>SBIR制度 特設サイト（内閣府）</a:t>
            </a:r>
            <a:endParaRPr lang="en-US" sz="1400" dirty="0"/>
          </a:p>
        </p:txBody>
      </p:sp>
      <p:sp>
        <p:nvSpPr>
          <p:cNvPr id="17" name="Text 15">
            <a:hlinkClick r:id="rId9"/>
          </p:cNvPr>
          <p:cNvSpPr/>
          <p:nvPr/>
        </p:nvSpPr>
        <p:spPr>
          <a:xfrm>
            <a:off x="6858000" y="5577840"/>
            <a:ext cx="6858000" cy="457200"/>
          </a:xfrm>
          <a:prstGeom prst="rect">
            <a:avLst/>
          </a:prstGeom>
          <a:noFill/>
          <a:ln/>
        </p:spPr>
        <p:txBody>
          <a:bodyPr wrap="square" rtlCol="0" anchor="ctr"/>
          <a:lstStyle/>
          <a:p>
            <a:pPr marL="0" indent="0">
              <a:buNone/>
            </a:pPr>
            <a:r>
              <a:rPr lang="en-US" sz="1200" u="sng" dirty="0">
                <a:solidFill>
                  <a:srgbClr val="4A90D9"/>
                </a:solidFill>
                <a:latin typeface="Hiragino Sans W3" pitchFamily="34" charset="0"/>
                <a:ea typeface="Hiragino Sans W3" pitchFamily="34" charset="-122"/>
                <a:cs typeface="Hiragino Sans W3" pitchFamily="34" charset="-120"/>
                <a:hlinkClick r:id="rId9">
                  <a:extLst>
                    <a:ext uri="{A12FA001-AC4F-418D-AE19-62706E023703}">
                      <ahyp:hlinkClr xmlns:ahyp="http://schemas.microsoft.com/office/drawing/2018/hyperlinkcolor" val="tx"/>
                    </a:ext>
                  </a:extLst>
                </a:hlinkClick>
              </a:rPr>
              <a:t>https://sbir.csti-startup-policy.go.jp/</a:t>
            </a:r>
            <a:endParaRPr lang="en-US" sz="1200" dirty="0"/>
          </a:p>
        </p:txBody>
      </p:sp>
      <p:sp>
        <p:nvSpPr>
          <p:cNvPr id="18" name="Text 16"/>
          <p:cNvSpPr/>
          <p:nvPr/>
        </p:nvSpPr>
        <p:spPr>
          <a:xfrm>
            <a:off x="1371600" y="6172200"/>
            <a:ext cx="5029200" cy="457200"/>
          </a:xfrm>
          <a:prstGeom prst="rect">
            <a:avLst/>
          </a:prstGeom>
          <a:noFill/>
          <a:ln/>
        </p:spPr>
        <p:txBody>
          <a:bodyPr wrap="square" rtlCol="0" anchor="ctr"/>
          <a:lstStyle/>
          <a:p>
            <a:pPr marL="0" indent="0">
              <a:buNone/>
            </a:pPr>
            <a:r>
              <a:rPr lang="en-US" sz="1400" dirty="0">
                <a:solidFill>
                  <a:srgbClr val="FFFFFF"/>
                </a:solidFill>
                <a:latin typeface="Hiragino Sans W3" pitchFamily="34" charset="0"/>
                <a:ea typeface="Hiragino Sans W3" pitchFamily="34" charset="-122"/>
                <a:cs typeface="Hiragino Sans W3" pitchFamily="34" charset="-120"/>
              </a:rPr>
              <a:t>神奈川県 ICT補助金</a:t>
            </a:r>
            <a:endParaRPr lang="en-US" sz="1400" dirty="0"/>
          </a:p>
        </p:txBody>
      </p:sp>
      <p:sp>
        <p:nvSpPr>
          <p:cNvPr id="19" name="Text 17">
            <a:hlinkClick r:id="rId10"/>
          </p:cNvPr>
          <p:cNvSpPr/>
          <p:nvPr/>
        </p:nvSpPr>
        <p:spPr>
          <a:xfrm>
            <a:off x="6858000" y="6172200"/>
            <a:ext cx="6858000" cy="457200"/>
          </a:xfrm>
          <a:prstGeom prst="rect">
            <a:avLst/>
          </a:prstGeom>
          <a:noFill/>
          <a:ln/>
        </p:spPr>
        <p:txBody>
          <a:bodyPr wrap="square" rtlCol="0" anchor="ctr"/>
          <a:lstStyle/>
          <a:p>
            <a:pPr marL="0" indent="0">
              <a:buNone/>
            </a:pPr>
            <a:r>
              <a:rPr lang="en-US" sz="1200" u="sng" dirty="0">
                <a:solidFill>
                  <a:srgbClr val="4A90D9"/>
                </a:solidFill>
                <a:latin typeface="Hiragino Sans W3" pitchFamily="34" charset="0"/>
                <a:ea typeface="Hiragino Sans W3" pitchFamily="34" charset="-122"/>
                <a:cs typeface="Hiragino Sans W3" pitchFamily="34" charset="-120"/>
                <a:hlinkClick r:id="rId10">
                  <a:extLst>
                    <a:ext uri="{A12FA001-AC4F-418D-AE19-62706E023703}">
                      <ahyp:hlinkClr xmlns:ahyp="http://schemas.microsoft.com/office/drawing/2018/hyperlinkcolor" val="tx"/>
                    </a:ext>
                  </a:extLst>
                </a:hlinkClick>
              </a:rPr>
              <a:t>https://carerobot.kanafuku.jp/tech/</a:t>
            </a:r>
            <a:endParaRPr lang="en-US" sz="1200" dirty="0"/>
          </a:p>
        </p:txBody>
      </p:sp>
      <p:sp>
        <p:nvSpPr>
          <p:cNvPr id="20" name="Text 18"/>
          <p:cNvSpPr/>
          <p:nvPr/>
        </p:nvSpPr>
        <p:spPr>
          <a:xfrm>
            <a:off x="1828800" y="7315200"/>
            <a:ext cx="10972800" cy="457200"/>
          </a:xfrm>
          <a:prstGeom prst="rect">
            <a:avLst/>
          </a:prstGeom>
          <a:noFill/>
          <a:ln/>
        </p:spPr>
        <p:txBody>
          <a:bodyPr wrap="square" rtlCol="0" anchor="ctr"/>
          <a:lstStyle/>
          <a:p>
            <a:pPr marL="0" indent="0" algn="ctr">
              <a:buNone/>
            </a:pPr>
            <a:r>
              <a:rPr lang="en-US" sz="1200" dirty="0">
                <a:solidFill>
                  <a:srgbClr val="666666"/>
                </a:solidFill>
                <a:latin typeface="Hiragino Sans W3" pitchFamily="34" charset="0"/>
                <a:ea typeface="Hiragino Sans W3" pitchFamily="34" charset="-122"/>
                <a:cs typeface="Hiragino Sans W3" pitchFamily="34" charset="-120"/>
              </a:rPr>
              <a:t>CONFIDENTIAL  |  2026年3月20日  |  DataBee × サンライズ × FDSi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panose="020F0302020204030204"/>
        <a:ea typeface=""/>
        <a:cs typeface=""/>
        <a:font script="Jpan" typeface="Yu Gothic"/>
        <a:font script="Hang" typeface="Yu Gothic"/>
        <a:font script="Hans" typeface="Yu Gothic"/>
        <a:font script="Hant" typeface="Yu Gothi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Yu Gothic"/>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panose="020F0502020204030204"/>
        <a:ea typeface=""/>
        <a:cs typeface=""/>
        <a:font script="Jpan" typeface="Yu Gothic"/>
        <a:font script="Hang" typeface="Yu Gothic"/>
        <a:font script="Hans" typeface="Yu Gothic"/>
        <a:font script="Hant" typeface="Yu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Yu Gothic"/>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Yu Gothic"/>
        <a:font script="Hang" typeface="Yu Gothic"/>
        <a:font script="Hans" typeface="Yu Gothic"/>
        <a:font script="Hant" typeface="Yu Gothi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Yu Gothic"/>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Yu Gothic"/>
        <a:font script="Hang" typeface="Yu Gothic"/>
        <a:font script="Hans" typeface="Yu Gothic"/>
        <a:font script="Hant" typeface="Yu Gothi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Yu Gothic"/>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905</Words>
  <Application>Microsoft Macintosh PowerPoint</Application>
  <PresentationFormat>ユーザー設定</PresentationFormat>
  <Paragraphs>192</Paragraphs>
  <Slides>10</Slides>
  <Notes>10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10</vt:i4>
      </vt:variant>
    </vt:vector>
  </HeadingPairs>
  <TitlesOfParts>
    <vt:vector size="15" baseType="lpstr">
      <vt:lpstr>Hiragino Sans</vt:lpstr>
      <vt:lpstr>Hiragino Sans W3</vt:lpstr>
      <vt:lpstr>Hiragino Sans W6</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Universal Care OS 助成金・補助金ロードマップ</dc:title>
  <dc:subject>PptxGenJS Presentation</dc:subject>
  <dc:creator>DataBee / FDSi</dc:creator>
  <cp:lastModifiedBy>剛 永山</cp:lastModifiedBy>
  <cp:revision>3</cp:revision>
  <dcterms:created xsi:type="dcterms:W3CDTF">2026-03-20T00:27:35Z</dcterms:created>
  <dcterms:modified xsi:type="dcterms:W3CDTF">2026-03-25T01:42:35Z</dcterms:modified>
</cp:coreProperties>
</file>