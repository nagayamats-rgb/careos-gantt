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1828800"/>
            <a:ext cx="13716000" cy="914400"/>
          </a:xfrm>
          <a:prstGeom prst="rect">
            <a:avLst/>
          </a:prstGeom>
          <a:noFill/>
          <a:ln/>
        </p:spPr>
        <p:txBody>
          <a:bodyPr wrap="square" rtlCol="0" anchor="ctr">
            <a:normAutofit/>
          </a:bodyPr>
          <a:lstStyle/>
          <a:p>
            <a:pPr indent="0" marL="0">
              <a:buNone/>
            </a:pPr>
            <a:r>
              <a:rPr lang="en-US" sz="4400" b="1" dirty="0">
                <a:solidFill>
                  <a:srgbClr val="FFFFFF"/>
                </a:solidFill>
                <a:latin typeface="Hiragino Sans" pitchFamily="34" charset="0"/>
                <a:ea typeface="Hiragino Sans" pitchFamily="34" charset="-122"/>
                <a:cs typeface="Hiragino Sans" pitchFamily="34" charset="-120"/>
              </a:rPr>
              <a:t>Universal Care OS</a:t>
            </a:r>
            <a:endParaRPr lang="en-US" sz="4400" dirty="0"/>
          </a:p>
        </p:txBody>
      </p:sp>
      <p:sp>
        <p:nvSpPr>
          <p:cNvPr id="3" name="Text 1"/>
          <p:cNvSpPr/>
          <p:nvPr/>
        </p:nvSpPr>
        <p:spPr>
          <a:xfrm>
            <a:off x="457200" y="2743200"/>
            <a:ext cx="13716000" cy="731520"/>
          </a:xfrm>
          <a:prstGeom prst="rect">
            <a:avLst/>
          </a:prstGeom>
          <a:noFill/>
          <a:ln/>
        </p:spPr>
        <p:txBody>
          <a:bodyPr wrap="square" rtlCol="0" anchor="ctr">
            <a:normAutofit/>
          </a:bodyPr>
          <a:lstStyle/>
          <a:p>
            <a:pPr indent="0" marL="0">
              <a:buNone/>
            </a:pPr>
            <a:r>
              <a:rPr lang="en-US" sz="3600" b="1" dirty="0">
                <a:solidFill>
                  <a:srgbClr val="E67E22"/>
                </a:solidFill>
                <a:latin typeface="Hiragino Sans" pitchFamily="34" charset="0"/>
                <a:ea typeface="Hiragino Sans" pitchFamily="34" charset="-122"/>
                <a:cs typeface="Hiragino Sans" pitchFamily="34" charset="-120"/>
              </a:rPr>
              <a:t>知的財産保護戦略</a:t>
            </a:r>
            <a:endParaRPr lang="en-US" sz="3600" dirty="0"/>
          </a:p>
        </p:txBody>
      </p:sp>
      <p:sp>
        <p:nvSpPr>
          <p:cNvPr id="4" name="Text 2"/>
          <p:cNvSpPr/>
          <p:nvPr/>
        </p:nvSpPr>
        <p:spPr>
          <a:xfrm>
            <a:off x="457200" y="3657600"/>
            <a:ext cx="13716000" cy="457200"/>
          </a:xfrm>
          <a:prstGeom prst="rect">
            <a:avLst/>
          </a:prstGeom>
          <a:noFill/>
          <a:ln/>
        </p:spPr>
        <p:txBody>
          <a:bodyPr wrap="square" rtlCol="0" anchor="ctr">
            <a:normAutofit/>
          </a:bodyPr>
          <a:lstStyle/>
          <a:p>
            <a:pPr indent="0" marL="0">
              <a:buNone/>
            </a:pPr>
            <a:r>
              <a:rPr lang="en-US" sz="1800" dirty="0">
                <a:solidFill>
                  <a:srgbClr val="F9F6F0"/>
                </a:solidFill>
                <a:latin typeface="Hiragino Sans" pitchFamily="34" charset="0"/>
                <a:ea typeface="Hiragino Sans" pitchFamily="34" charset="-122"/>
                <a:cs typeface="Hiragino Sans" pitchFamily="34" charset="-120"/>
              </a:rPr>
              <a:t>-- 特許・意匠・商標・営業秘密による多層防御 --</a:t>
            </a:r>
            <a:endParaRPr lang="en-US" sz="1800" dirty="0"/>
          </a:p>
        </p:txBody>
      </p:sp>
      <p:sp>
        <p:nvSpPr>
          <p:cNvPr id="5" name="Text 3"/>
          <p:cNvSpPr/>
          <p:nvPr/>
        </p:nvSpPr>
        <p:spPr>
          <a:xfrm>
            <a:off x="457200" y="6858000"/>
            <a:ext cx="13716000" cy="365760"/>
          </a:xfrm>
          <a:prstGeom prst="rect">
            <a:avLst/>
          </a:prstGeom>
          <a:noFill/>
          <a:ln/>
        </p:spPr>
        <p:txBody>
          <a:bodyPr wrap="square" rtlCol="0" anchor="ctr">
            <a:normAutofit/>
          </a:bodyPr>
          <a:lstStyle/>
          <a:p>
            <a:pPr indent="0" marL="0">
              <a:buNone/>
            </a:pPr>
            <a:r>
              <a:rPr lang="en-US" sz="1400" dirty="0">
                <a:solidFill>
                  <a:srgbClr val="95A5A6"/>
                </a:solidFill>
                <a:latin typeface="Hiragino Sans" pitchFamily="34" charset="0"/>
                <a:ea typeface="Hiragino Sans" pitchFamily="34" charset="-122"/>
                <a:cs typeface="Hiragino Sans" pitchFamily="34" charset="-120"/>
              </a:rPr>
              <a:t>2026年3月 | 株式会社サンライズ</a:t>
            </a:r>
            <a:endParaRPr lang="en-US" sz="1400" dirty="0"/>
          </a:p>
        </p:txBody>
      </p:sp>
      <p:sp>
        <p:nvSpPr>
          <p:cNvPr id="6" name="Text 4"/>
          <p:cNvSpPr/>
          <p:nvPr/>
        </p:nvSpPr>
        <p:spPr>
          <a:xfrm>
            <a:off x="11887200" y="274320"/>
            <a:ext cx="2286000" cy="274320"/>
          </a:xfrm>
          <a:prstGeom prst="rect">
            <a:avLst/>
          </a:prstGeom>
          <a:noFill/>
          <a:ln/>
        </p:spPr>
        <p:txBody>
          <a:bodyPr wrap="square" rtlCol="0" anchor="ctr">
            <a:normAutofit/>
          </a:bodyPr>
          <a:lstStyle/>
          <a:p>
            <a:pPr algn="r" indent="0" marL="0">
              <a:buNone/>
            </a:pPr>
            <a:r>
              <a:rPr lang="en-US" sz="1400" b="1" dirty="0">
                <a:solidFill>
                  <a:srgbClr val="C0392B"/>
                </a:solidFill>
                <a:latin typeface="Hiragino Sans" pitchFamily="34" charset="0"/>
                <a:ea typeface="Hiragino Sans" pitchFamily="34" charset="-122"/>
                <a:cs typeface="Hiragino Sans" pitchFamily="34" charset="-120"/>
              </a:rPr>
              <a:t>社外秘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知的財産保護の全体像</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6種類のIP手段でCareOSの競争優位を多層的に守る</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なぜIP保護が必要か？ -- 福祉テック市場の競争激化と模倣リスク</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2</a:t>
            </a:r>
            <a:endParaRPr lang="en-US" sz="900" dirty="0"/>
          </a:p>
        </p:txBody>
      </p:sp>
      <p:sp>
        <p:nvSpPr>
          <p:cNvPr id="10" name="Shape 8"/>
          <p:cNvSpPr/>
          <p:nvPr/>
        </p:nvSpPr>
        <p:spPr>
          <a:xfrm>
            <a:off x="457200" y="2103120"/>
            <a:ext cx="4389120" cy="2377440"/>
          </a:xfrm>
          <a:prstGeom prst="rect">
            <a:avLst>
              <a:gd name="adj" fmla="val 3077"/>
            </a:avLst>
          </a:prstGeom>
          <a:solidFill>
            <a:srgbClr val="D6EAF8"/>
          </a:solidFill>
          <a:ln w="12700">
            <a:solidFill>
              <a:srgbClr val="2C6FAC"/>
            </a:solidFill>
            <a:prstDash val="solid"/>
          </a:ln>
        </p:spPr>
      </p:sp>
      <p:sp>
        <p:nvSpPr>
          <p:cNvPr id="11" name="Shape 9"/>
          <p:cNvSpPr/>
          <p:nvPr/>
        </p:nvSpPr>
        <p:spPr>
          <a:xfrm>
            <a:off x="640080" y="2286000"/>
            <a:ext cx="594360" cy="594360"/>
          </a:xfrm>
          <a:prstGeom prst="ellipse">
            <a:avLst/>
          </a:prstGeom>
          <a:solidFill>
            <a:srgbClr val="2C6FAC"/>
          </a:solidFill>
          <a:ln/>
        </p:spPr>
      </p:sp>
      <p:sp>
        <p:nvSpPr>
          <p:cNvPr id="12" name="Text 10"/>
          <p:cNvSpPr/>
          <p:nvPr/>
        </p:nvSpPr>
        <p:spPr>
          <a:xfrm>
            <a:off x="640080" y="2286000"/>
            <a:ext cx="594360" cy="594360"/>
          </a:xfrm>
          <a:prstGeom prst="rect">
            <a:avLst/>
          </a:prstGeom>
          <a:noFill/>
          <a:ln/>
        </p:spPr>
        <p:txBody>
          <a:bodyPr wrap="square" rtlCol="0" anchor="ctr">
            <a:normAutofit/>
          </a:bodyPr>
          <a:lstStyle/>
          <a:p>
            <a:pPr algn="ctr" indent="0" marL="0">
              <a:buNone/>
            </a:pPr>
            <a:r>
              <a:rPr lang="en-US" sz="2000" b="1" dirty="0">
                <a:solidFill>
                  <a:srgbClr val="FFFFFF"/>
                </a:solidFill>
                <a:latin typeface="Hiragino Sans" pitchFamily="34" charset="0"/>
                <a:ea typeface="Hiragino Sans" pitchFamily="34" charset="-122"/>
                <a:cs typeface="Hiragino Sans" pitchFamily="34" charset="-120"/>
              </a:rPr>
              <a:t>P</a:t>
            </a:r>
            <a:endParaRPr lang="en-US" sz="2000" dirty="0"/>
          </a:p>
        </p:txBody>
      </p:sp>
      <p:sp>
        <p:nvSpPr>
          <p:cNvPr id="13" name="Text 11"/>
          <p:cNvSpPr/>
          <p:nvPr/>
        </p:nvSpPr>
        <p:spPr>
          <a:xfrm>
            <a:off x="1371600" y="2240280"/>
            <a:ext cx="2286000" cy="685800"/>
          </a:xfrm>
          <a:prstGeom prst="rect">
            <a:avLst/>
          </a:prstGeom>
          <a:noFill/>
          <a:ln/>
        </p:spPr>
        <p:txBody>
          <a:bodyPr wrap="square" rtlCol="0" anchor="t">
            <a:normAutofit/>
          </a:bodyPr>
          <a:lstStyle/>
          <a:p>
            <a:pPr indent="0" marL="0">
              <a:buNone/>
            </a:pPr>
            <a:r>
              <a:rPr lang="en-US" sz="1500" b="1" dirty="0">
                <a:solidFill>
                  <a:srgbClr val="282824"/>
                </a:solidFill>
                <a:latin typeface="Hiragino Sans" pitchFamily="34" charset="0"/>
                <a:ea typeface="Hiragino Sans" pitchFamily="34" charset="-122"/>
                <a:cs typeface="Hiragino Sans" pitchFamily="34" charset="-120"/>
              </a:rPr>
              <a:t>特許</a:t>
            </a:r>
            <a:endParaRPr lang="en-US" sz="1500" dirty="0"/>
          </a:p>
          <a:p>
            <a:pPr indent="0" marL="0">
              <a:buNone/>
            </a:pPr>
            <a:r>
              <a:rPr lang="en-US" sz="1500" b="1" dirty="0">
                <a:solidFill>
                  <a:srgbClr val="282824"/>
                </a:solidFill>
                <a:latin typeface="Hiragino Sans" pitchFamily="34" charset="0"/>
                <a:ea typeface="Hiragino Sans" pitchFamily="34" charset="-122"/>
                <a:cs typeface="Hiragino Sans" pitchFamily="34" charset="-120"/>
              </a:rPr>
              <a:t>(ビジネスモデル)</a:t>
            </a:r>
            <a:endParaRPr lang="en-US" sz="1500" dirty="0"/>
          </a:p>
        </p:txBody>
      </p:sp>
      <p:sp>
        <p:nvSpPr>
          <p:cNvPr id="14" name="Shape 12"/>
          <p:cNvSpPr/>
          <p:nvPr/>
        </p:nvSpPr>
        <p:spPr>
          <a:xfrm>
            <a:off x="3931920" y="2286000"/>
            <a:ext cx="731520" cy="320040"/>
          </a:xfrm>
          <a:prstGeom prst="rect">
            <a:avLst>
              <a:gd name="adj" fmla="val 28571"/>
            </a:avLst>
          </a:prstGeom>
          <a:solidFill>
            <a:srgbClr val="2C6FAC"/>
          </a:solidFill>
          <a:ln/>
        </p:spPr>
      </p:sp>
      <p:sp>
        <p:nvSpPr>
          <p:cNvPr id="15" name="Text 13"/>
          <p:cNvSpPr/>
          <p:nvPr/>
        </p:nvSpPr>
        <p:spPr>
          <a:xfrm>
            <a:off x="3931920" y="2286000"/>
            <a:ext cx="731520" cy="320040"/>
          </a:xfrm>
          <a:prstGeom prst="rect">
            <a:avLst/>
          </a:prstGeom>
          <a:noFill/>
          <a:ln/>
        </p:spPr>
        <p:txBody>
          <a:bodyPr wrap="square"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3件</a:t>
            </a:r>
            <a:endParaRPr lang="en-US" sz="1200" dirty="0"/>
          </a:p>
        </p:txBody>
      </p:sp>
      <p:sp>
        <p:nvSpPr>
          <p:cNvPr id="16" name="Text 14"/>
          <p:cNvSpPr/>
          <p:nvPr/>
        </p:nvSpPr>
        <p:spPr>
          <a:xfrm>
            <a:off x="640080" y="3063240"/>
            <a:ext cx="4023360" cy="1234440"/>
          </a:xfrm>
          <a:prstGeom prst="rect">
            <a:avLst/>
          </a:prstGeom>
          <a:noFill/>
          <a:ln/>
        </p:spPr>
        <p:txBody>
          <a:bodyPr wrap="square" rtlCol="0" anchor="t">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AI虐待予防</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情報開示x課金</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分岐入力UI</a:t>
            </a:r>
            <a:endParaRPr lang="en-US" sz="1200" dirty="0"/>
          </a:p>
        </p:txBody>
      </p:sp>
      <p:sp>
        <p:nvSpPr>
          <p:cNvPr id="17" name="Shape 15"/>
          <p:cNvSpPr/>
          <p:nvPr/>
        </p:nvSpPr>
        <p:spPr>
          <a:xfrm>
            <a:off x="5120640" y="2103120"/>
            <a:ext cx="4389120" cy="2377440"/>
          </a:xfrm>
          <a:prstGeom prst="rect">
            <a:avLst>
              <a:gd name="adj" fmla="val 3077"/>
            </a:avLst>
          </a:prstGeom>
          <a:solidFill>
            <a:srgbClr val="E8DAEF"/>
          </a:solidFill>
          <a:ln w="12700">
            <a:solidFill>
              <a:srgbClr val="8E44AD"/>
            </a:solidFill>
            <a:prstDash val="solid"/>
          </a:ln>
        </p:spPr>
      </p:sp>
      <p:sp>
        <p:nvSpPr>
          <p:cNvPr id="18" name="Shape 16"/>
          <p:cNvSpPr/>
          <p:nvPr/>
        </p:nvSpPr>
        <p:spPr>
          <a:xfrm>
            <a:off x="5303520" y="2286000"/>
            <a:ext cx="594360" cy="594360"/>
          </a:xfrm>
          <a:prstGeom prst="ellipse">
            <a:avLst/>
          </a:prstGeom>
          <a:solidFill>
            <a:srgbClr val="8E44AD"/>
          </a:solidFill>
          <a:ln/>
        </p:spPr>
      </p:sp>
      <p:sp>
        <p:nvSpPr>
          <p:cNvPr id="19" name="Text 17"/>
          <p:cNvSpPr/>
          <p:nvPr/>
        </p:nvSpPr>
        <p:spPr>
          <a:xfrm>
            <a:off x="5303520" y="2286000"/>
            <a:ext cx="594360" cy="594360"/>
          </a:xfrm>
          <a:prstGeom prst="rect">
            <a:avLst/>
          </a:prstGeom>
          <a:noFill/>
          <a:ln/>
        </p:spPr>
        <p:txBody>
          <a:bodyPr wrap="square" rtlCol="0" anchor="ctr">
            <a:normAutofit/>
          </a:bodyPr>
          <a:lstStyle/>
          <a:p>
            <a:pPr algn="ctr" indent="0" marL="0">
              <a:buNone/>
            </a:pPr>
            <a:r>
              <a:rPr lang="en-US" sz="2000" b="1" dirty="0">
                <a:solidFill>
                  <a:srgbClr val="FFFFFF"/>
                </a:solidFill>
                <a:latin typeface="Hiragino Sans" pitchFamily="34" charset="0"/>
                <a:ea typeface="Hiragino Sans" pitchFamily="34" charset="-122"/>
                <a:cs typeface="Hiragino Sans" pitchFamily="34" charset="-120"/>
              </a:rPr>
              <a:t>D</a:t>
            </a:r>
            <a:endParaRPr lang="en-US" sz="2000" dirty="0"/>
          </a:p>
        </p:txBody>
      </p:sp>
      <p:sp>
        <p:nvSpPr>
          <p:cNvPr id="20" name="Text 18"/>
          <p:cNvSpPr/>
          <p:nvPr/>
        </p:nvSpPr>
        <p:spPr>
          <a:xfrm>
            <a:off x="6035040" y="2240280"/>
            <a:ext cx="2286000" cy="685800"/>
          </a:xfrm>
          <a:prstGeom prst="rect">
            <a:avLst/>
          </a:prstGeom>
          <a:noFill/>
          <a:ln/>
        </p:spPr>
        <p:txBody>
          <a:bodyPr wrap="square" rtlCol="0" anchor="t">
            <a:normAutofit/>
          </a:bodyPr>
          <a:lstStyle/>
          <a:p>
            <a:pPr indent="0" marL="0">
              <a:buNone/>
            </a:pPr>
            <a:r>
              <a:rPr lang="en-US" sz="1500" b="1" dirty="0">
                <a:solidFill>
                  <a:srgbClr val="282824"/>
                </a:solidFill>
                <a:latin typeface="Hiragino Sans" pitchFamily="34" charset="0"/>
                <a:ea typeface="Hiragino Sans" pitchFamily="34" charset="-122"/>
                <a:cs typeface="Hiragino Sans" pitchFamily="34" charset="-120"/>
              </a:rPr>
              <a:t>意匠登録</a:t>
            </a:r>
            <a:endParaRPr lang="en-US" sz="1500" dirty="0"/>
          </a:p>
          <a:p>
            <a:pPr indent="0" marL="0">
              <a:buNone/>
            </a:pPr>
            <a:r>
              <a:rPr lang="en-US" sz="1500" b="1" dirty="0">
                <a:solidFill>
                  <a:srgbClr val="282824"/>
                </a:solidFill>
                <a:latin typeface="Hiragino Sans" pitchFamily="34" charset="0"/>
                <a:ea typeface="Hiragino Sans" pitchFamily="34" charset="-122"/>
                <a:cs typeface="Hiragino Sans" pitchFamily="34" charset="-120"/>
              </a:rPr>
              <a:t>(画面デザイン)</a:t>
            </a:r>
            <a:endParaRPr lang="en-US" sz="1500" dirty="0"/>
          </a:p>
        </p:txBody>
      </p:sp>
      <p:sp>
        <p:nvSpPr>
          <p:cNvPr id="21" name="Shape 19"/>
          <p:cNvSpPr/>
          <p:nvPr/>
        </p:nvSpPr>
        <p:spPr>
          <a:xfrm>
            <a:off x="8595360" y="2286000"/>
            <a:ext cx="731520" cy="320040"/>
          </a:xfrm>
          <a:prstGeom prst="rect">
            <a:avLst>
              <a:gd name="adj" fmla="val 28571"/>
            </a:avLst>
          </a:prstGeom>
          <a:solidFill>
            <a:srgbClr val="8E44AD"/>
          </a:solidFill>
          <a:ln/>
        </p:spPr>
      </p:sp>
      <p:sp>
        <p:nvSpPr>
          <p:cNvPr id="22" name="Text 20"/>
          <p:cNvSpPr/>
          <p:nvPr/>
        </p:nvSpPr>
        <p:spPr>
          <a:xfrm>
            <a:off x="8595360" y="2286000"/>
            <a:ext cx="731520" cy="320040"/>
          </a:xfrm>
          <a:prstGeom prst="rect">
            <a:avLst/>
          </a:prstGeom>
          <a:noFill/>
          <a:ln/>
        </p:spPr>
        <p:txBody>
          <a:bodyPr wrap="square"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3件</a:t>
            </a:r>
            <a:endParaRPr lang="en-US" sz="1200" dirty="0"/>
          </a:p>
        </p:txBody>
      </p:sp>
      <p:sp>
        <p:nvSpPr>
          <p:cNvPr id="23" name="Text 21"/>
          <p:cNvSpPr/>
          <p:nvPr/>
        </p:nvSpPr>
        <p:spPr>
          <a:xfrm>
            <a:off x="5303520" y="3063240"/>
            <a:ext cx="4023360" cy="1234440"/>
          </a:xfrm>
          <a:prstGeom prst="rect">
            <a:avLst/>
          </a:prstGeom>
          <a:noFill/>
          <a:ln/>
        </p:spPr>
        <p:txBody>
          <a:bodyPr wrap="square" rtlCol="0" anchor="t">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利用者ひらがなUI</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分岐入力画面遷移</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タブレット記録画面</a:t>
            </a:r>
            <a:endParaRPr lang="en-US" sz="1200" dirty="0"/>
          </a:p>
        </p:txBody>
      </p:sp>
      <p:sp>
        <p:nvSpPr>
          <p:cNvPr id="24" name="Shape 22"/>
          <p:cNvSpPr/>
          <p:nvPr/>
        </p:nvSpPr>
        <p:spPr>
          <a:xfrm>
            <a:off x="9784080" y="2103120"/>
            <a:ext cx="4389120" cy="2377440"/>
          </a:xfrm>
          <a:prstGeom prst="rect">
            <a:avLst>
              <a:gd name="adj" fmla="val 3077"/>
            </a:avLst>
          </a:prstGeom>
          <a:solidFill>
            <a:srgbClr val="D5F5E3"/>
          </a:solidFill>
          <a:ln w="12700">
            <a:solidFill>
              <a:srgbClr val="27AE60"/>
            </a:solidFill>
            <a:prstDash val="solid"/>
          </a:ln>
        </p:spPr>
      </p:sp>
      <p:sp>
        <p:nvSpPr>
          <p:cNvPr id="25" name="Shape 23"/>
          <p:cNvSpPr/>
          <p:nvPr/>
        </p:nvSpPr>
        <p:spPr>
          <a:xfrm>
            <a:off x="9966960" y="2286000"/>
            <a:ext cx="594360" cy="594360"/>
          </a:xfrm>
          <a:prstGeom prst="ellipse">
            <a:avLst/>
          </a:prstGeom>
          <a:solidFill>
            <a:srgbClr val="27AE60"/>
          </a:solidFill>
          <a:ln/>
        </p:spPr>
      </p:sp>
      <p:sp>
        <p:nvSpPr>
          <p:cNvPr id="26" name="Text 24"/>
          <p:cNvSpPr/>
          <p:nvPr/>
        </p:nvSpPr>
        <p:spPr>
          <a:xfrm>
            <a:off x="9966960" y="2286000"/>
            <a:ext cx="594360" cy="594360"/>
          </a:xfrm>
          <a:prstGeom prst="rect">
            <a:avLst/>
          </a:prstGeom>
          <a:noFill/>
          <a:ln/>
        </p:spPr>
        <p:txBody>
          <a:bodyPr wrap="square" rtlCol="0" anchor="ctr">
            <a:normAutofit/>
          </a:bodyPr>
          <a:lstStyle/>
          <a:p>
            <a:pPr algn="ctr" indent="0" marL="0">
              <a:buNone/>
            </a:pPr>
            <a:r>
              <a:rPr lang="en-US" sz="2000" b="1" dirty="0">
                <a:solidFill>
                  <a:srgbClr val="FFFFFF"/>
                </a:solidFill>
                <a:latin typeface="Hiragino Sans" pitchFamily="34" charset="0"/>
                <a:ea typeface="Hiragino Sans" pitchFamily="34" charset="-122"/>
                <a:cs typeface="Hiragino Sans" pitchFamily="34" charset="-120"/>
              </a:rPr>
              <a:t>T</a:t>
            </a:r>
            <a:endParaRPr lang="en-US" sz="2000" dirty="0"/>
          </a:p>
        </p:txBody>
      </p:sp>
      <p:sp>
        <p:nvSpPr>
          <p:cNvPr id="27" name="Text 25"/>
          <p:cNvSpPr/>
          <p:nvPr/>
        </p:nvSpPr>
        <p:spPr>
          <a:xfrm>
            <a:off x="10698480" y="2240280"/>
            <a:ext cx="2286000" cy="685800"/>
          </a:xfrm>
          <a:prstGeom prst="rect">
            <a:avLst/>
          </a:prstGeom>
          <a:noFill/>
          <a:ln/>
        </p:spPr>
        <p:txBody>
          <a:bodyPr wrap="square" rtlCol="0" anchor="t">
            <a:normAutofit/>
          </a:bodyPr>
          <a:lstStyle/>
          <a:p>
            <a:pPr indent="0" marL="0">
              <a:buNone/>
            </a:pPr>
            <a:r>
              <a:rPr lang="en-US" sz="1500" b="1" dirty="0">
                <a:solidFill>
                  <a:srgbClr val="282824"/>
                </a:solidFill>
                <a:latin typeface="Hiragino Sans" pitchFamily="34" charset="0"/>
                <a:ea typeface="Hiragino Sans" pitchFamily="34" charset="-122"/>
                <a:cs typeface="Hiragino Sans" pitchFamily="34" charset="-120"/>
              </a:rPr>
              <a:t>商標</a:t>
            </a:r>
            <a:endParaRPr lang="en-US" sz="1500" dirty="0"/>
          </a:p>
          <a:p>
            <a:pPr indent="0" marL="0">
              <a:buNone/>
            </a:pPr>
            <a:r>
              <a:rPr lang="en-US" sz="1500" b="1" dirty="0">
                <a:solidFill>
                  <a:srgbClr val="282824"/>
                </a:solidFill>
                <a:latin typeface="Hiragino Sans" pitchFamily="34" charset="0"/>
                <a:ea typeface="Hiragino Sans" pitchFamily="34" charset="-122"/>
                <a:cs typeface="Hiragino Sans" pitchFamily="34" charset="-120"/>
              </a:rPr>
              <a:t>(ブランド保護)</a:t>
            </a:r>
            <a:endParaRPr lang="en-US" sz="1500" dirty="0"/>
          </a:p>
        </p:txBody>
      </p:sp>
      <p:sp>
        <p:nvSpPr>
          <p:cNvPr id="28" name="Shape 26"/>
          <p:cNvSpPr/>
          <p:nvPr/>
        </p:nvSpPr>
        <p:spPr>
          <a:xfrm>
            <a:off x="13258800" y="2286000"/>
            <a:ext cx="731520" cy="320040"/>
          </a:xfrm>
          <a:prstGeom prst="rect">
            <a:avLst>
              <a:gd name="adj" fmla="val 28571"/>
            </a:avLst>
          </a:prstGeom>
          <a:solidFill>
            <a:srgbClr val="27AE60"/>
          </a:solidFill>
          <a:ln/>
        </p:spPr>
      </p:sp>
      <p:sp>
        <p:nvSpPr>
          <p:cNvPr id="29" name="Text 27"/>
          <p:cNvSpPr/>
          <p:nvPr/>
        </p:nvSpPr>
        <p:spPr>
          <a:xfrm>
            <a:off x="13258800" y="2286000"/>
            <a:ext cx="731520" cy="320040"/>
          </a:xfrm>
          <a:prstGeom prst="rect">
            <a:avLst/>
          </a:prstGeom>
          <a:noFill/>
          <a:ln/>
        </p:spPr>
        <p:txBody>
          <a:bodyPr wrap="square"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4件</a:t>
            </a:r>
            <a:endParaRPr lang="en-US" sz="1200" dirty="0"/>
          </a:p>
        </p:txBody>
      </p:sp>
      <p:sp>
        <p:nvSpPr>
          <p:cNvPr id="30" name="Text 28"/>
          <p:cNvSpPr/>
          <p:nvPr/>
        </p:nvSpPr>
        <p:spPr>
          <a:xfrm>
            <a:off x="9966960" y="3063240"/>
            <a:ext cx="4023360" cy="1234440"/>
          </a:xfrm>
          <a:prstGeom prst="rect">
            <a:avLst/>
          </a:prstGeom>
          <a:noFill/>
          <a:ln/>
        </p:spPr>
        <p:txBody>
          <a:bodyPr wrap="square" rtlCol="0" anchor="t">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Universal Care OS</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わかるじゃん</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ユニバーサルID</a:t>
            </a:r>
            <a:endParaRPr lang="en-US" sz="1200" dirty="0"/>
          </a:p>
        </p:txBody>
      </p:sp>
      <p:sp>
        <p:nvSpPr>
          <p:cNvPr id="31" name="Shape 29"/>
          <p:cNvSpPr/>
          <p:nvPr/>
        </p:nvSpPr>
        <p:spPr>
          <a:xfrm>
            <a:off x="457200" y="4709160"/>
            <a:ext cx="4389120" cy="2377440"/>
          </a:xfrm>
          <a:prstGeom prst="rect">
            <a:avLst>
              <a:gd name="adj" fmla="val 3077"/>
            </a:avLst>
          </a:prstGeom>
          <a:solidFill>
            <a:srgbClr val="FDEBD0"/>
          </a:solidFill>
          <a:ln w="12700">
            <a:solidFill>
              <a:srgbClr val="E67E22"/>
            </a:solidFill>
            <a:prstDash val="solid"/>
          </a:ln>
        </p:spPr>
      </p:sp>
      <p:sp>
        <p:nvSpPr>
          <p:cNvPr id="32" name="Shape 30"/>
          <p:cNvSpPr/>
          <p:nvPr/>
        </p:nvSpPr>
        <p:spPr>
          <a:xfrm>
            <a:off x="640080" y="4892040"/>
            <a:ext cx="594360" cy="594360"/>
          </a:xfrm>
          <a:prstGeom prst="ellipse">
            <a:avLst/>
          </a:prstGeom>
          <a:solidFill>
            <a:srgbClr val="E67E22"/>
          </a:solidFill>
          <a:ln/>
        </p:spPr>
      </p:sp>
      <p:sp>
        <p:nvSpPr>
          <p:cNvPr id="33" name="Text 31"/>
          <p:cNvSpPr/>
          <p:nvPr/>
        </p:nvSpPr>
        <p:spPr>
          <a:xfrm>
            <a:off x="640080" y="4892040"/>
            <a:ext cx="594360" cy="594360"/>
          </a:xfrm>
          <a:prstGeom prst="rect">
            <a:avLst/>
          </a:prstGeom>
          <a:noFill/>
          <a:ln/>
        </p:spPr>
        <p:txBody>
          <a:bodyPr wrap="square" rtlCol="0" anchor="ctr">
            <a:normAutofit/>
          </a:bodyPr>
          <a:lstStyle/>
          <a:p>
            <a:pPr algn="ctr" indent="0" marL="0">
              <a:buNone/>
            </a:pPr>
            <a:r>
              <a:rPr lang="en-US" sz="2000" b="1" dirty="0">
                <a:solidFill>
                  <a:srgbClr val="FFFFFF"/>
                </a:solidFill>
                <a:latin typeface="Hiragino Sans" pitchFamily="34" charset="0"/>
                <a:ea typeface="Hiragino Sans" pitchFamily="34" charset="-122"/>
                <a:cs typeface="Hiragino Sans" pitchFamily="34" charset="-120"/>
              </a:rPr>
              <a:t>C</a:t>
            </a:r>
            <a:endParaRPr lang="en-US" sz="2000" dirty="0"/>
          </a:p>
        </p:txBody>
      </p:sp>
      <p:sp>
        <p:nvSpPr>
          <p:cNvPr id="34" name="Text 32"/>
          <p:cNvSpPr/>
          <p:nvPr/>
        </p:nvSpPr>
        <p:spPr>
          <a:xfrm>
            <a:off x="1371600" y="4846320"/>
            <a:ext cx="2286000" cy="685800"/>
          </a:xfrm>
          <a:prstGeom prst="rect">
            <a:avLst/>
          </a:prstGeom>
          <a:noFill/>
          <a:ln/>
        </p:spPr>
        <p:txBody>
          <a:bodyPr wrap="square" rtlCol="0" anchor="t">
            <a:normAutofit/>
          </a:bodyPr>
          <a:lstStyle/>
          <a:p>
            <a:pPr indent="0" marL="0">
              <a:buNone/>
            </a:pPr>
            <a:r>
              <a:rPr lang="en-US" sz="1500" b="1" dirty="0">
                <a:solidFill>
                  <a:srgbClr val="282824"/>
                </a:solidFill>
                <a:latin typeface="Hiragino Sans" pitchFamily="34" charset="0"/>
                <a:ea typeface="Hiragino Sans" pitchFamily="34" charset="-122"/>
                <a:cs typeface="Hiragino Sans" pitchFamily="34" charset="-120"/>
              </a:rPr>
              <a:t>著作権</a:t>
            </a:r>
            <a:endParaRPr lang="en-US" sz="1500" dirty="0"/>
          </a:p>
          <a:p>
            <a:pPr indent="0" marL="0">
              <a:buNone/>
            </a:pPr>
            <a:r>
              <a:rPr lang="en-US" sz="1500" b="1" dirty="0">
                <a:solidFill>
                  <a:srgbClr val="282824"/>
                </a:solidFill>
                <a:latin typeface="Hiragino Sans" pitchFamily="34" charset="0"/>
                <a:ea typeface="Hiragino Sans" pitchFamily="34" charset="-122"/>
                <a:cs typeface="Hiragino Sans" pitchFamily="34" charset="-120"/>
              </a:rPr>
              <a:t>(自動発生)</a:t>
            </a:r>
            <a:endParaRPr lang="en-US" sz="1500" dirty="0"/>
          </a:p>
        </p:txBody>
      </p:sp>
      <p:sp>
        <p:nvSpPr>
          <p:cNvPr id="35" name="Shape 33"/>
          <p:cNvSpPr/>
          <p:nvPr/>
        </p:nvSpPr>
        <p:spPr>
          <a:xfrm>
            <a:off x="3931920" y="4892040"/>
            <a:ext cx="731520" cy="320040"/>
          </a:xfrm>
          <a:prstGeom prst="rect">
            <a:avLst>
              <a:gd name="adj" fmla="val 28571"/>
            </a:avLst>
          </a:prstGeom>
          <a:solidFill>
            <a:srgbClr val="E67E22"/>
          </a:solidFill>
          <a:ln/>
        </p:spPr>
      </p:sp>
      <p:sp>
        <p:nvSpPr>
          <p:cNvPr id="36" name="Text 34"/>
          <p:cNvSpPr/>
          <p:nvPr/>
        </p:nvSpPr>
        <p:spPr>
          <a:xfrm>
            <a:off x="3931920" y="4892040"/>
            <a:ext cx="731520" cy="320040"/>
          </a:xfrm>
          <a:prstGeom prst="rect">
            <a:avLst/>
          </a:prstGeom>
          <a:noFill/>
          <a:ln/>
        </p:spPr>
        <p:txBody>
          <a:bodyPr wrap="square"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自動</a:t>
            </a:r>
            <a:endParaRPr lang="en-US" sz="1200" dirty="0"/>
          </a:p>
        </p:txBody>
      </p:sp>
      <p:sp>
        <p:nvSpPr>
          <p:cNvPr id="37" name="Text 35"/>
          <p:cNvSpPr/>
          <p:nvPr/>
        </p:nvSpPr>
        <p:spPr>
          <a:xfrm>
            <a:off x="640080" y="5669280"/>
            <a:ext cx="4023360" cy="1234440"/>
          </a:xfrm>
          <a:prstGeom prst="rect">
            <a:avLst/>
          </a:prstGeom>
          <a:noFill/>
          <a:ln/>
        </p:spPr>
        <p:txBody>
          <a:bodyPr wrap="square" rtlCol="0" anchor="t">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ソースコード</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DB構造の選択配列</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マトリックス体系表現</a:t>
            </a:r>
            <a:endParaRPr lang="en-US" sz="1200" dirty="0"/>
          </a:p>
        </p:txBody>
      </p:sp>
      <p:sp>
        <p:nvSpPr>
          <p:cNvPr id="38" name="Shape 36"/>
          <p:cNvSpPr/>
          <p:nvPr/>
        </p:nvSpPr>
        <p:spPr>
          <a:xfrm>
            <a:off x="5120640" y="4709160"/>
            <a:ext cx="4389120" cy="2377440"/>
          </a:xfrm>
          <a:prstGeom prst="rect">
            <a:avLst>
              <a:gd name="adj" fmla="val 3077"/>
            </a:avLst>
          </a:prstGeom>
          <a:solidFill>
            <a:srgbClr val="FADBD8"/>
          </a:solidFill>
          <a:ln w="12700">
            <a:solidFill>
              <a:srgbClr val="C0392B"/>
            </a:solidFill>
            <a:prstDash val="solid"/>
          </a:ln>
        </p:spPr>
      </p:sp>
      <p:sp>
        <p:nvSpPr>
          <p:cNvPr id="39" name="Shape 37"/>
          <p:cNvSpPr/>
          <p:nvPr/>
        </p:nvSpPr>
        <p:spPr>
          <a:xfrm>
            <a:off x="5303520" y="4892040"/>
            <a:ext cx="594360" cy="594360"/>
          </a:xfrm>
          <a:prstGeom prst="ellipse">
            <a:avLst/>
          </a:prstGeom>
          <a:solidFill>
            <a:srgbClr val="C0392B"/>
          </a:solidFill>
          <a:ln/>
        </p:spPr>
      </p:sp>
      <p:sp>
        <p:nvSpPr>
          <p:cNvPr id="40" name="Text 38"/>
          <p:cNvSpPr/>
          <p:nvPr/>
        </p:nvSpPr>
        <p:spPr>
          <a:xfrm>
            <a:off x="5303520" y="4892040"/>
            <a:ext cx="594360" cy="594360"/>
          </a:xfrm>
          <a:prstGeom prst="rect">
            <a:avLst/>
          </a:prstGeom>
          <a:noFill/>
          <a:ln/>
        </p:spPr>
        <p:txBody>
          <a:bodyPr wrap="square" rtlCol="0" anchor="ctr">
            <a:normAutofit/>
          </a:bodyPr>
          <a:lstStyle/>
          <a:p>
            <a:pPr algn="ctr" indent="0" marL="0">
              <a:buNone/>
            </a:pPr>
            <a:r>
              <a:rPr lang="en-US" sz="2000" b="1" dirty="0">
                <a:solidFill>
                  <a:srgbClr val="FFFFFF"/>
                </a:solidFill>
                <a:latin typeface="Hiragino Sans" pitchFamily="34" charset="0"/>
                <a:ea typeface="Hiragino Sans" pitchFamily="34" charset="-122"/>
                <a:cs typeface="Hiragino Sans" pitchFamily="34" charset="-120"/>
              </a:rPr>
              <a:t>S</a:t>
            </a:r>
            <a:endParaRPr lang="en-US" sz="2000" dirty="0"/>
          </a:p>
        </p:txBody>
      </p:sp>
      <p:sp>
        <p:nvSpPr>
          <p:cNvPr id="41" name="Text 39"/>
          <p:cNvSpPr/>
          <p:nvPr/>
        </p:nvSpPr>
        <p:spPr>
          <a:xfrm>
            <a:off x="6035040" y="4846320"/>
            <a:ext cx="2286000" cy="685800"/>
          </a:xfrm>
          <a:prstGeom prst="rect">
            <a:avLst/>
          </a:prstGeom>
          <a:noFill/>
          <a:ln/>
        </p:spPr>
        <p:txBody>
          <a:bodyPr wrap="square" rtlCol="0" anchor="t">
            <a:normAutofit/>
          </a:bodyPr>
          <a:lstStyle/>
          <a:p>
            <a:pPr indent="0" marL="0">
              <a:buNone/>
            </a:pPr>
            <a:r>
              <a:rPr lang="en-US" sz="1500" b="1" dirty="0">
                <a:solidFill>
                  <a:srgbClr val="282824"/>
                </a:solidFill>
                <a:latin typeface="Hiragino Sans" pitchFamily="34" charset="0"/>
                <a:ea typeface="Hiragino Sans" pitchFamily="34" charset="-122"/>
                <a:cs typeface="Hiragino Sans" pitchFamily="34" charset="-120"/>
              </a:rPr>
              <a:t>営業秘密</a:t>
            </a:r>
            <a:endParaRPr lang="en-US" sz="1500" dirty="0"/>
          </a:p>
          <a:p>
            <a:pPr indent="0" marL="0">
              <a:buNone/>
            </a:pPr>
            <a:r>
              <a:rPr lang="en-US" sz="1500" b="1" dirty="0">
                <a:solidFill>
                  <a:srgbClr val="282824"/>
                </a:solidFill>
                <a:latin typeface="Hiragino Sans" pitchFamily="34" charset="0"/>
                <a:ea typeface="Hiragino Sans" pitchFamily="34" charset="-122"/>
                <a:cs typeface="Hiragino Sans" pitchFamily="34" charset="-120"/>
              </a:rPr>
              <a:t>(不正競争防止法)</a:t>
            </a:r>
            <a:endParaRPr lang="en-US" sz="1500" dirty="0"/>
          </a:p>
        </p:txBody>
      </p:sp>
      <p:sp>
        <p:nvSpPr>
          <p:cNvPr id="42" name="Shape 40"/>
          <p:cNvSpPr/>
          <p:nvPr/>
        </p:nvSpPr>
        <p:spPr>
          <a:xfrm>
            <a:off x="8595360" y="4892040"/>
            <a:ext cx="731520" cy="320040"/>
          </a:xfrm>
          <a:prstGeom prst="rect">
            <a:avLst>
              <a:gd name="adj" fmla="val 28571"/>
            </a:avLst>
          </a:prstGeom>
          <a:solidFill>
            <a:srgbClr val="C0392B"/>
          </a:solidFill>
          <a:ln/>
        </p:spPr>
      </p:sp>
      <p:sp>
        <p:nvSpPr>
          <p:cNvPr id="43" name="Text 41"/>
          <p:cNvSpPr/>
          <p:nvPr/>
        </p:nvSpPr>
        <p:spPr>
          <a:xfrm>
            <a:off x="8595360" y="4892040"/>
            <a:ext cx="731520" cy="320040"/>
          </a:xfrm>
          <a:prstGeom prst="rect">
            <a:avLst/>
          </a:prstGeom>
          <a:noFill/>
          <a:ln/>
        </p:spPr>
        <p:txBody>
          <a:bodyPr wrap="square"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管理</a:t>
            </a:r>
            <a:endParaRPr lang="en-US" sz="1200" dirty="0"/>
          </a:p>
        </p:txBody>
      </p:sp>
      <p:sp>
        <p:nvSpPr>
          <p:cNvPr id="44" name="Text 42"/>
          <p:cNvSpPr/>
          <p:nvPr/>
        </p:nvSpPr>
        <p:spPr>
          <a:xfrm>
            <a:off x="5303520" y="5669280"/>
            <a:ext cx="4023360" cy="1234440"/>
          </a:xfrm>
          <a:prstGeom prst="rect">
            <a:avLst/>
          </a:prstGeom>
          <a:noFill/>
          <a:ln/>
        </p:spPr>
        <p:txBody>
          <a:bodyPr wrap="square" rtlCol="0" anchor="t">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13段階x4層詳細</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1,507選択肢DB</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支援パターンデータ</a:t>
            </a:r>
            <a:endParaRPr lang="en-US" sz="1200" dirty="0"/>
          </a:p>
        </p:txBody>
      </p:sp>
      <p:sp>
        <p:nvSpPr>
          <p:cNvPr id="45" name="Shape 43"/>
          <p:cNvSpPr/>
          <p:nvPr/>
        </p:nvSpPr>
        <p:spPr>
          <a:xfrm>
            <a:off x="9784080" y="4709160"/>
            <a:ext cx="4389120" cy="2377440"/>
          </a:xfrm>
          <a:prstGeom prst="rect">
            <a:avLst>
              <a:gd name="adj" fmla="val 3077"/>
            </a:avLst>
          </a:prstGeom>
          <a:solidFill>
            <a:srgbClr val="F2F2F2"/>
          </a:solidFill>
          <a:ln w="12700">
            <a:solidFill>
              <a:srgbClr val="95A5A6"/>
            </a:solidFill>
            <a:prstDash val="solid"/>
          </a:ln>
        </p:spPr>
      </p:sp>
      <p:sp>
        <p:nvSpPr>
          <p:cNvPr id="46" name="Shape 44"/>
          <p:cNvSpPr/>
          <p:nvPr/>
        </p:nvSpPr>
        <p:spPr>
          <a:xfrm>
            <a:off x="9966960" y="4892040"/>
            <a:ext cx="594360" cy="594360"/>
          </a:xfrm>
          <a:prstGeom prst="ellipse">
            <a:avLst/>
          </a:prstGeom>
          <a:solidFill>
            <a:srgbClr val="95A5A6"/>
          </a:solidFill>
          <a:ln/>
        </p:spPr>
      </p:sp>
      <p:sp>
        <p:nvSpPr>
          <p:cNvPr id="47" name="Text 45"/>
          <p:cNvSpPr/>
          <p:nvPr/>
        </p:nvSpPr>
        <p:spPr>
          <a:xfrm>
            <a:off x="9966960" y="4892040"/>
            <a:ext cx="594360" cy="594360"/>
          </a:xfrm>
          <a:prstGeom prst="rect">
            <a:avLst/>
          </a:prstGeom>
          <a:noFill/>
          <a:ln/>
        </p:spPr>
        <p:txBody>
          <a:bodyPr wrap="square" rtlCol="0" anchor="ctr">
            <a:normAutofit/>
          </a:bodyPr>
          <a:lstStyle/>
          <a:p>
            <a:pPr algn="ctr" indent="0" marL="0">
              <a:buNone/>
            </a:pPr>
            <a:r>
              <a:rPr lang="en-US" sz="2000" b="1" dirty="0">
                <a:solidFill>
                  <a:srgbClr val="FFFFFF"/>
                </a:solidFill>
                <a:latin typeface="Hiragino Sans" pitchFamily="34" charset="0"/>
                <a:ea typeface="Hiragino Sans" pitchFamily="34" charset="-122"/>
                <a:cs typeface="Hiragino Sans" pitchFamily="34" charset="-120"/>
              </a:rPr>
              <a:t>X</a:t>
            </a:r>
            <a:endParaRPr lang="en-US" sz="2000" dirty="0"/>
          </a:p>
        </p:txBody>
      </p:sp>
      <p:sp>
        <p:nvSpPr>
          <p:cNvPr id="48" name="Text 46"/>
          <p:cNvSpPr/>
          <p:nvPr/>
        </p:nvSpPr>
        <p:spPr>
          <a:xfrm>
            <a:off x="10698480" y="4846320"/>
            <a:ext cx="2286000" cy="685800"/>
          </a:xfrm>
          <a:prstGeom prst="rect">
            <a:avLst/>
          </a:prstGeom>
          <a:noFill/>
          <a:ln/>
        </p:spPr>
        <p:txBody>
          <a:bodyPr wrap="square" rtlCol="0" anchor="t">
            <a:normAutofit/>
          </a:bodyPr>
          <a:lstStyle/>
          <a:p>
            <a:pPr indent="0" marL="0">
              <a:buNone/>
            </a:pPr>
            <a:r>
              <a:rPr lang="en-US" sz="1500" b="1" dirty="0">
                <a:solidFill>
                  <a:srgbClr val="282824"/>
                </a:solidFill>
                <a:latin typeface="Hiragino Sans" pitchFamily="34" charset="0"/>
                <a:ea typeface="Hiragino Sans" pitchFamily="34" charset="-122"/>
                <a:cs typeface="Hiragino Sans" pitchFamily="34" charset="-120"/>
              </a:rPr>
              <a:t>実用新案</a:t>
            </a:r>
            <a:endParaRPr lang="en-US" sz="1500" dirty="0"/>
          </a:p>
          <a:p>
            <a:pPr indent="0" marL="0">
              <a:buNone/>
            </a:pPr>
            <a:r>
              <a:rPr lang="en-US" sz="1500" b="1" dirty="0">
                <a:solidFill>
                  <a:srgbClr val="282824"/>
                </a:solidFill>
                <a:latin typeface="Hiragino Sans" pitchFamily="34" charset="0"/>
                <a:ea typeface="Hiragino Sans" pitchFamily="34" charset="-122"/>
                <a:cs typeface="Hiragino Sans" pitchFamily="34" charset="-120"/>
              </a:rPr>
              <a:t>(対象外)</a:t>
            </a:r>
            <a:endParaRPr lang="en-US" sz="1500" dirty="0"/>
          </a:p>
        </p:txBody>
      </p:sp>
      <p:sp>
        <p:nvSpPr>
          <p:cNvPr id="49" name="Shape 47"/>
          <p:cNvSpPr/>
          <p:nvPr/>
        </p:nvSpPr>
        <p:spPr>
          <a:xfrm>
            <a:off x="13258800" y="4892040"/>
            <a:ext cx="731520" cy="320040"/>
          </a:xfrm>
          <a:prstGeom prst="rect">
            <a:avLst>
              <a:gd name="adj" fmla="val 28571"/>
            </a:avLst>
          </a:prstGeom>
          <a:solidFill>
            <a:srgbClr val="95A5A6"/>
          </a:solidFill>
          <a:ln/>
        </p:spPr>
      </p:sp>
      <p:sp>
        <p:nvSpPr>
          <p:cNvPr id="50" name="Text 48"/>
          <p:cNvSpPr/>
          <p:nvPr/>
        </p:nvSpPr>
        <p:spPr>
          <a:xfrm>
            <a:off x="13258800" y="4892040"/>
            <a:ext cx="731520" cy="320040"/>
          </a:xfrm>
          <a:prstGeom prst="rect">
            <a:avLst/>
          </a:prstGeom>
          <a:noFill/>
          <a:ln/>
        </p:spPr>
        <p:txBody>
          <a:bodyPr wrap="square"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a:t>
            </a:r>
            <a:endParaRPr lang="en-US" sz="1200" dirty="0"/>
          </a:p>
        </p:txBody>
      </p:sp>
      <p:sp>
        <p:nvSpPr>
          <p:cNvPr id="51" name="Text 49"/>
          <p:cNvSpPr/>
          <p:nvPr/>
        </p:nvSpPr>
        <p:spPr>
          <a:xfrm>
            <a:off x="9966960" y="5669280"/>
            <a:ext cx="4023360" cy="1234440"/>
          </a:xfrm>
          <a:prstGeom prst="rect">
            <a:avLst/>
          </a:prstGeom>
          <a:noFill/>
          <a:ln/>
        </p:spPr>
        <p:txBody>
          <a:bodyPr wrap="square" rtlCol="0" anchor="t">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ソフトウェアは</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「物品の形状・構造」</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に該当しない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特許候補(1) AI危険ループ検知システム</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福祉施設における虐待予防をAIで実現</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特許性評価: 非常に高い -- 簡易先行技術調査済・類似4件は異分野</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3</a:t>
            </a:r>
            <a:endParaRPr lang="en-US" sz="900" dirty="0"/>
          </a:p>
        </p:txBody>
      </p:sp>
      <p:sp>
        <p:nvSpPr>
          <p:cNvPr id="10" name="Shape 8"/>
          <p:cNvSpPr/>
          <p:nvPr/>
        </p:nvSpPr>
        <p:spPr>
          <a:xfrm>
            <a:off x="457200" y="2103120"/>
            <a:ext cx="6583680" cy="5577840"/>
          </a:xfrm>
          <a:prstGeom prst="rect">
            <a:avLst>
              <a:gd name="adj" fmla="val 1311"/>
            </a:avLst>
          </a:prstGeom>
          <a:solidFill>
            <a:srgbClr val="FFFFFF"/>
          </a:solidFill>
          <a:ln w="12700">
            <a:solidFill>
              <a:srgbClr val="2C6FAC"/>
            </a:solidFill>
            <a:prstDash val="solid"/>
          </a:ln>
        </p:spPr>
      </p:sp>
      <p:sp>
        <p:nvSpPr>
          <p:cNvPr id="11" name="Text 9"/>
          <p:cNvSpPr/>
          <p:nvPr/>
        </p:nvSpPr>
        <p:spPr>
          <a:xfrm>
            <a:off x="640080" y="2148840"/>
            <a:ext cx="6217920" cy="365760"/>
          </a:xfrm>
          <a:prstGeom prst="rect">
            <a:avLst/>
          </a:prstGeom>
          <a:noFill/>
          <a:ln/>
        </p:spPr>
        <p:txBody>
          <a:bodyPr wrap="square" rtlCol="0" anchor="ctr">
            <a:normAutofit/>
          </a:bodyPr>
          <a:lstStyle/>
          <a:p>
            <a:pPr indent="0" marL="0">
              <a:buNone/>
            </a:pPr>
            <a:r>
              <a:rPr lang="en-US" sz="1500" b="1" dirty="0">
                <a:solidFill>
                  <a:srgbClr val="2C6FAC"/>
                </a:solidFill>
                <a:latin typeface="Hiragino Sans" pitchFamily="34" charset="0"/>
                <a:ea typeface="Hiragino Sans" pitchFamily="34" charset="-122"/>
                <a:cs typeface="Hiragino Sans" pitchFamily="34" charset="-120"/>
              </a:rPr>
              <a:t>発明の概要</a:t>
            </a:r>
            <a:endParaRPr lang="en-US" sz="1500" dirty="0"/>
          </a:p>
        </p:txBody>
      </p:sp>
      <p:sp>
        <p:nvSpPr>
          <p:cNvPr id="12" name="Text 10"/>
          <p:cNvSpPr/>
          <p:nvPr/>
        </p:nvSpPr>
        <p:spPr>
          <a:xfrm>
            <a:off x="640080" y="2606040"/>
            <a:ext cx="6217920" cy="4937760"/>
          </a:xfrm>
          <a:prstGeom prst="rect">
            <a:avLst/>
          </a:prstGeom>
          <a:noFill/>
          <a:ln/>
        </p:spPr>
        <p:txBody>
          <a:bodyPr wrap="square" rtlCol="0" anchor="t">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[課題] </a:t>
            </a:r>
            <a:pPr indent="0" marL="0">
              <a:buNone/>
            </a:pPr>
            <a:r>
              <a:rPr lang="en-US" sz="1200" dirty="0">
                <a:solidFill>
                  <a:srgbClr val="4A4A45"/>
                </a:solidFill>
                <a:latin typeface="Hiragino Sans" pitchFamily="34" charset="0"/>
                <a:ea typeface="Hiragino Sans" pitchFamily="34" charset="-122"/>
                <a:cs typeface="Hiragino Sans" pitchFamily="34" charset="-120"/>
              </a:rPr>
              <a:t>知的障害者福祉施設で、支援者の行動が虐待に至る「危険ループ」を早期検知する手段がない。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[解決手段] </a:t>
            </a:r>
            <a:pPr indent="0" marL="0">
              <a:buNone/>
            </a:pPr>
            <a:r>
              <a:rPr lang="en-US" sz="1200" dirty="0">
                <a:solidFill>
                  <a:srgbClr val="4A4A45"/>
                </a:solidFill>
                <a:latin typeface="Hiragino Sans" pitchFamily="34" charset="0"/>
                <a:ea typeface="Hiragino Sans" pitchFamily="34" charset="-122"/>
                <a:cs typeface="Hiragino Sans" pitchFamily="34" charset="-120"/>
              </a:rPr>
              <a:t>13段階x4層の自立支援マトリックスをデジタル化し、日々の支援記録からL3→L4への遷移パターンをAIが学習・検知。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[特徴的構成]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1. 魔の支援ループ: 偏見→抑圧→強引→強要→虐待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2. 作業増量ループ: 自立支援量→作業量→7つのムダ→品質低下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3. 推測支援サイクル: 推測→記録しない→だろう支援→事故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4. 虐待5類型のリスクスコア算出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[先行技術との差異]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産総研AiCAN: 児童虐待（被害者側）。本発明は支援者行動の検知で根本が異なる</a:t>
            </a:r>
            <a:endParaRPr lang="en-US" sz="1200" dirty="0"/>
          </a:p>
        </p:txBody>
      </p:sp>
      <p:sp>
        <p:nvSpPr>
          <p:cNvPr id="13" name="Shape 11"/>
          <p:cNvSpPr/>
          <p:nvPr/>
        </p:nvSpPr>
        <p:spPr>
          <a:xfrm>
            <a:off x="7223760" y="2103120"/>
            <a:ext cx="6949440" cy="2103120"/>
          </a:xfrm>
          <a:prstGeom prst="rect">
            <a:avLst>
              <a:gd name="adj" fmla="val 3478"/>
            </a:avLst>
          </a:prstGeom>
          <a:solidFill>
            <a:srgbClr val="D6EAF8"/>
          </a:solidFill>
          <a:ln w="12700">
            <a:solidFill>
              <a:srgbClr val="2C6FAC"/>
            </a:solidFill>
            <a:prstDash val="solid"/>
          </a:ln>
        </p:spPr>
      </p:sp>
      <p:sp>
        <p:nvSpPr>
          <p:cNvPr id="14" name="Text 12"/>
          <p:cNvSpPr/>
          <p:nvPr/>
        </p:nvSpPr>
        <p:spPr>
          <a:xfrm>
            <a:off x="7406640" y="2148840"/>
            <a:ext cx="6583680" cy="365760"/>
          </a:xfrm>
          <a:prstGeom prst="rect">
            <a:avLst/>
          </a:prstGeom>
          <a:noFill/>
          <a:ln/>
        </p:spPr>
        <p:txBody>
          <a:bodyPr wrap="square" rtlCol="0" anchor="ctr">
            <a:normAutofit/>
          </a:bodyPr>
          <a:lstStyle/>
          <a:p>
            <a:pPr indent="0" marL="0">
              <a:buNone/>
            </a:pPr>
            <a:r>
              <a:rPr lang="en-US" sz="1500" b="1" dirty="0">
                <a:solidFill>
                  <a:srgbClr val="2C6FAC"/>
                </a:solidFill>
                <a:latin typeface="Hiragino Sans" pitchFamily="34" charset="0"/>
                <a:ea typeface="Hiragino Sans" pitchFamily="34" charset="-122"/>
                <a:cs typeface="Hiragino Sans" pitchFamily="34" charset="-120"/>
              </a:rPr>
              <a:t>特許性の評価</a:t>
            </a:r>
            <a:endParaRPr lang="en-US" sz="1500" dirty="0"/>
          </a:p>
        </p:txBody>
      </p:sp>
      <p:sp>
        <p:nvSpPr>
          <p:cNvPr id="15" name="Text 13"/>
          <p:cNvSpPr/>
          <p:nvPr/>
        </p:nvSpPr>
        <p:spPr>
          <a:xfrm>
            <a:off x="7406640" y="2651760"/>
            <a:ext cx="1280160" cy="365760"/>
          </a:xfrm>
          <a:prstGeom prst="rect">
            <a:avLst/>
          </a:prstGeom>
          <a:noFill/>
          <a:ln/>
        </p:spPr>
        <p:txBody>
          <a:bodyPr wrap="square" rtlCol="0" anchor="ctr">
            <a:normAutofit/>
          </a:bodyPr>
          <a:lstStyle/>
          <a:p>
            <a:pPr indent="0" marL="0">
              <a:buNone/>
            </a:pPr>
            <a:r>
              <a:rPr lang="en-US" sz="1000" b="1" dirty="0">
                <a:solidFill>
                  <a:srgbClr val="282824"/>
                </a:solidFill>
                <a:latin typeface="Hiragino Sans" pitchFamily="34" charset="0"/>
                <a:ea typeface="Hiragino Sans" pitchFamily="34" charset="-122"/>
                <a:cs typeface="Hiragino Sans" pitchFamily="34" charset="-120"/>
              </a:rPr>
              <a:t>新規性</a:t>
            </a:r>
            <a:endParaRPr lang="en-US" sz="1000" dirty="0"/>
          </a:p>
        </p:txBody>
      </p:sp>
      <p:sp>
        <p:nvSpPr>
          <p:cNvPr id="16" name="Text 14"/>
          <p:cNvSpPr/>
          <p:nvPr/>
        </p:nvSpPr>
        <p:spPr>
          <a:xfrm>
            <a:off x="8686800" y="2651760"/>
            <a:ext cx="1097280" cy="365760"/>
          </a:xfrm>
          <a:prstGeom prst="rect">
            <a:avLst/>
          </a:prstGeom>
          <a:noFill/>
          <a:ln/>
        </p:spPr>
        <p:txBody>
          <a:bodyPr wrap="square" rtlCol="0" anchor="ctr">
            <a:normAutofit/>
          </a:bodyPr>
          <a:lstStyle/>
          <a:p>
            <a:pPr indent="0" marL="0">
              <a:buNone/>
            </a:pPr>
            <a:r>
              <a:rPr lang="en-US" sz="1000" dirty="0">
                <a:solidFill>
                  <a:srgbClr val="E67E22"/>
                </a:solidFill>
                <a:latin typeface="Hiragino Sans" pitchFamily="34" charset="0"/>
                <a:ea typeface="Hiragino Sans" pitchFamily="34" charset="-122"/>
                <a:cs typeface="Hiragino Sans" pitchFamily="34" charset="-120"/>
              </a:rPr>
              <a:t>★★★★★</a:t>
            </a:r>
            <a:endParaRPr lang="en-US" sz="1000" dirty="0"/>
          </a:p>
        </p:txBody>
      </p:sp>
      <p:sp>
        <p:nvSpPr>
          <p:cNvPr id="17" name="Text 15"/>
          <p:cNvSpPr/>
          <p:nvPr/>
        </p:nvSpPr>
        <p:spPr>
          <a:xfrm>
            <a:off x="9784080" y="2651760"/>
            <a:ext cx="4206240" cy="36576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調査済: 産総研AiCAN等4件は異分野</a:t>
            </a:r>
            <a:endParaRPr lang="en-US" sz="1000" dirty="0"/>
          </a:p>
        </p:txBody>
      </p:sp>
      <p:sp>
        <p:nvSpPr>
          <p:cNvPr id="18" name="Text 16"/>
          <p:cNvSpPr/>
          <p:nvPr/>
        </p:nvSpPr>
        <p:spPr>
          <a:xfrm>
            <a:off x="7406640" y="3017520"/>
            <a:ext cx="1280160" cy="365760"/>
          </a:xfrm>
          <a:prstGeom prst="rect">
            <a:avLst/>
          </a:prstGeom>
          <a:noFill/>
          <a:ln/>
        </p:spPr>
        <p:txBody>
          <a:bodyPr wrap="square" rtlCol="0" anchor="ctr">
            <a:normAutofit/>
          </a:bodyPr>
          <a:lstStyle/>
          <a:p>
            <a:pPr indent="0" marL="0">
              <a:buNone/>
            </a:pPr>
            <a:r>
              <a:rPr lang="en-US" sz="1000" b="1" dirty="0">
                <a:solidFill>
                  <a:srgbClr val="282824"/>
                </a:solidFill>
                <a:latin typeface="Hiragino Sans" pitchFamily="34" charset="0"/>
                <a:ea typeface="Hiragino Sans" pitchFamily="34" charset="-122"/>
                <a:cs typeface="Hiragino Sans" pitchFamily="34" charset="-120"/>
              </a:rPr>
              <a:t>進歩性</a:t>
            </a:r>
            <a:endParaRPr lang="en-US" sz="1000" dirty="0"/>
          </a:p>
        </p:txBody>
      </p:sp>
      <p:sp>
        <p:nvSpPr>
          <p:cNvPr id="19" name="Text 17"/>
          <p:cNvSpPr/>
          <p:nvPr/>
        </p:nvSpPr>
        <p:spPr>
          <a:xfrm>
            <a:off x="8686800" y="3017520"/>
            <a:ext cx="1097280" cy="365760"/>
          </a:xfrm>
          <a:prstGeom prst="rect">
            <a:avLst/>
          </a:prstGeom>
          <a:noFill/>
          <a:ln/>
        </p:spPr>
        <p:txBody>
          <a:bodyPr wrap="square" rtlCol="0" anchor="ctr">
            <a:normAutofit/>
          </a:bodyPr>
          <a:lstStyle/>
          <a:p>
            <a:pPr indent="0" marL="0">
              <a:buNone/>
            </a:pPr>
            <a:r>
              <a:rPr lang="en-US" sz="1000" dirty="0">
                <a:solidFill>
                  <a:srgbClr val="E67E22"/>
                </a:solidFill>
                <a:latin typeface="Hiragino Sans" pitchFamily="34" charset="0"/>
                <a:ea typeface="Hiragino Sans" pitchFamily="34" charset="-122"/>
                <a:cs typeface="Hiragino Sans" pitchFamily="34" charset="-120"/>
              </a:rPr>
              <a:t>★★★★☆</a:t>
            </a:r>
            <a:endParaRPr lang="en-US" sz="1000" dirty="0"/>
          </a:p>
        </p:txBody>
      </p:sp>
      <p:sp>
        <p:nvSpPr>
          <p:cNvPr id="20" name="Text 18"/>
          <p:cNvSpPr/>
          <p:nvPr/>
        </p:nvSpPr>
        <p:spPr>
          <a:xfrm>
            <a:off x="9784080" y="3017520"/>
            <a:ext cx="4206240" cy="36576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マトリックスxAIx時系列の組合せ</a:t>
            </a:r>
            <a:endParaRPr lang="en-US" sz="1000" dirty="0"/>
          </a:p>
        </p:txBody>
      </p:sp>
      <p:sp>
        <p:nvSpPr>
          <p:cNvPr id="21" name="Text 19"/>
          <p:cNvSpPr/>
          <p:nvPr/>
        </p:nvSpPr>
        <p:spPr>
          <a:xfrm>
            <a:off x="7406640" y="3383280"/>
            <a:ext cx="1280160" cy="365760"/>
          </a:xfrm>
          <a:prstGeom prst="rect">
            <a:avLst/>
          </a:prstGeom>
          <a:noFill/>
          <a:ln/>
        </p:spPr>
        <p:txBody>
          <a:bodyPr wrap="square" rtlCol="0" anchor="ctr">
            <a:normAutofit/>
          </a:bodyPr>
          <a:lstStyle/>
          <a:p>
            <a:pPr indent="0" marL="0">
              <a:buNone/>
            </a:pPr>
            <a:r>
              <a:rPr lang="en-US" sz="1000" b="1" dirty="0">
                <a:solidFill>
                  <a:srgbClr val="282824"/>
                </a:solidFill>
                <a:latin typeface="Hiragino Sans" pitchFamily="34" charset="0"/>
                <a:ea typeface="Hiragino Sans" pitchFamily="34" charset="-122"/>
                <a:cs typeface="Hiragino Sans" pitchFamily="34" charset="-120"/>
              </a:rPr>
              <a:t>産業利用性</a:t>
            </a:r>
            <a:endParaRPr lang="en-US" sz="1000" dirty="0"/>
          </a:p>
        </p:txBody>
      </p:sp>
      <p:sp>
        <p:nvSpPr>
          <p:cNvPr id="22" name="Text 20"/>
          <p:cNvSpPr/>
          <p:nvPr/>
        </p:nvSpPr>
        <p:spPr>
          <a:xfrm>
            <a:off x="8686800" y="3383280"/>
            <a:ext cx="1097280" cy="365760"/>
          </a:xfrm>
          <a:prstGeom prst="rect">
            <a:avLst/>
          </a:prstGeom>
          <a:noFill/>
          <a:ln/>
        </p:spPr>
        <p:txBody>
          <a:bodyPr wrap="square" rtlCol="0" anchor="ctr">
            <a:normAutofit/>
          </a:bodyPr>
          <a:lstStyle/>
          <a:p>
            <a:pPr indent="0" marL="0">
              <a:buNone/>
            </a:pPr>
            <a:r>
              <a:rPr lang="en-US" sz="1000" dirty="0">
                <a:solidFill>
                  <a:srgbClr val="E67E22"/>
                </a:solidFill>
                <a:latin typeface="Hiragino Sans" pitchFamily="34" charset="0"/>
                <a:ea typeface="Hiragino Sans" pitchFamily="34" charset="-122"/>
                <a:cs typeface="Hiragino Sans" pitchFamily="34" charset="-120"/>
              </a:rPr>
              <a:t>★★★★★</a:t>
            </a:r>
            <a:endParaRPr lang="en-US" sz="1000" dirty="0"/>
          </a:p>
        </p:txBody>
      </p:sp>
      <p:sp>
        <p:nvSpPr>
          <p:cNvPr id="23" name="Text 21"/>
          <p:cNvSpPr/>
          <p:nvPr/>
        </p:nvSpPr>
        <p:spPr>
          <a:xfrm>
            <a:off x="9784080" y="3383280"/>
            <a:ext cx="4206240" cy="36576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全国8,000+施設に適用可能</a:t>
            </a:r>
            <a:endParaRPr lang="en-US" sz="1000" dirty="0"/>
          </a:p>
        </p:txBody>
      </p:sp>
      <p:sp>
        <p:nvSpPr>
          <p:cNvPr id="24" name="Text 22"/>
          <p:cNvSpPr/>
          <p:nvPr/>
        </p:nvSpPr>
        <p:spPr>
          <a:xfrm>
            <a:off x="7406640" y="3749040"/>
            <a:ext cx="1280160" cy="365760"/>
          </a:xfrm>
          <a:prstGeom prst="rect">
            <a:avLst/>
          </a:prstGeom>
          <a:noFill/>
          <a:ln/>
        </p:spPr>
        <p:txBody>
          <a:bodyPr wrap="square" rtlCol="0" anchor="ctr">
            <a:normAutofit/>
          </a:bodyPr>
          <a:lstStyle/>
          <a:p>
            <a:pPr indent="0" marL="0">
              <a:buNone/>
            </a:pPr>
            <a:r>
              <a:rPr lang="en-US" sz="1000" b="1" dirty="0">
                <a:solidFill>
                  <a:srgbClr val="282824"/>
                </a:solidFill>
                <a:latin typeface="Hiragino Sans" pitchFamily="34" charset="0"/>
                <a:ea typeface="Hiragino Sans" pitchFamily="34" charset="-122"/>
                <a:cs typeface="Hiragino Sans" pitchFamily="34" charset="-120"/>
              </a:rPr>
              <a:t>社会的価値</a:t>
            </a:r>
            <a:endParaRPr lang="en-US" sz="1000" dirty="0"/>
          </a:p>
        </p:txBody>
      </p:sp>
      <p:sp>
        <p:nvSpPr>
          <p:cNvPr id="25" name="Text 23"/>
          <p:cNvSpPr/>
          <p:nvPr/>
        </p:nvSpPr>
        <p:spPr>
          <a:xfrm>
            <a:off x="8686800" y="3749040"/>
            <a:ext cx="1097280" cy="365760"/>
          </a:xfrm>
          <a:prstGeom prst="rect">
            <a:avLst/>
          </a:prstGeom>
          <a:noFill/>
          <a:ln/>
        </p:spPr>
        <p:txBody>
          <a:bodyPr wrap="square" rtlCol="0" anchor="ctr">
            <a:normAutofit/>
          </a:bodyPr>
          <a:lstStyle/>
          <a:p>
            <a:pPr indent="0" marL="0">
              <a:buNone/>
            </a:pPr>
            <a:r>
              <a:rPr lang="en-US" sz="1000" dirty="0">
                <a:solidFill>
                  <a:srgbClr val="E67E22"/>
                </a:solidFill>
                <a:latin typeface="Hiragino Sans" pitchFamily="34" charset="0"/>
                <a:ea typeface="Hiragino Sans" pitchFamily="34" charset="-122"/>
                <a:cs typeface="Hiragino Sans" pitchFamily="34" charset="-120"/>
              </a:rPr>
              <a:t>★★★★★</a:t>
            </a:r>
            <a:endParaRPr lang="en-US" sz="1000" dirty="0"/>
          </a:p>
        </p:txBody>
      </p:sp>
      <p:sp>
        <p:nvSpPr>
          <p:cNvPr id="26" name="Text 24"/>
          <p:cNvSpPr/>
          <p:nvPr/>
        </p:nvSpPr>
        <p:spPr>
          <a:xfrm>
            <a:off x="9784080" y="3749040"/>
            <a:ext cx="4206240" cy="36576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虐待防止法との整合性大</a:t>
            </a:r>
            <a:endParaRPr lang="en-US" sz="1000" dirty="0"/>
          </a:p>
        </p:txBody>
      </p:sp>
      <p:sp>
        <p:nvSpPr>
          <p:cNvPr id="27" name="Shape 25"/>
          <p:cNvSpPr/>
          <p:nvPr/>
        </p:nvSpPr>
        <p:spPr>
          <a:xfrm>
            <a:off x="7223760" y="4297680"/>
            <a:ext cx="6949440" cy="3383280"/>
          </a:xfrm>
          <a:prstGeom prst="rect">
            <a:avLst>
              <a:gd name="adj" fmla="val 2162"/>
            </a:avLst>
          </a:prstGeom>
          <a:solidFill>
            <a:srgbClr val="FFFFFF"/>
          </a:solidFill>
          <a:ln w="12700">
            <a:solidFill>
              <a:srgbClr val="2C6FAC"/>
            </a:solidFill>
            <a:prstDash val="solid"/>
          </a:ln>
        </p:spPr>
      </p:sp>
      <p:sp>
        <p:nvSpPr>
          <p:cNvPr id="28" name="Text 26"/>
          <p:cNvSpPr/>
          <p:nvPr/>
        </p:nvSpPr>
        <p:spPr>
          <a:xfrm>
            <a:off x="7406640" y="4343400"/>
            <a:ext cx="6583680" cy="365760"/>
          </a:xfrm>
          <a:prstGeom prst="rect">
            <a:avLst/>
          </a:prstGeom>
          <a:noFill/>
          <a:ln/>
        </p:spPr>
        <p:txBody>
          <a:bodyPr wrap="square" rtlCol="0" anchor="ctr">
            <a:normAutofit/>
          </a:bodyPr>
          <a:lstStyle/>
          <a:p>
            <a:pPr indent="0" marL="0">
              <a:buNone/>
            </a:pPr>
            <a:r>
              <a:rPr lang="en-US" sz="1500" b="1" dirty="0">
                <a:solidFill>
                  <a:srgbClr val="2C6FAC"/>
                </a:solidFill>
                <a:latin typeface="Hiragino Sans" pitchFamily="34" charset="0"/>
                <a:ea typeface="Hiragino Sans" pitchFamily="34" charset="-122"/>
                <a:cs typeface="Hiragino Sans" pitchFamily="34" charset="-120"/>
              </a:rPr>
              <a:t>出願計画</a:t>
            </a:r>
            <a:endParaRPr lang="en-US" sz="1500" dirty="0"/>
          </a:p>
        </p:txBody>
      </p:sp>
      <p:sp>
        <p:nvSpPr>
          <p:cNvPr id="29" name="Text 27"/>
          <p:cNvSpPr/>
          <p:nvPr/>
        </p:nvSpPr>
        <p:spPr>
          <a:xfrm>
            <a:off x="7406640" y="4754880"/>
            <a:ext cx="6583680" cy="2834640"/>
          </a:xfrm>
          <a:prstGeom prst="rect">
            <a:avLst/>
          </a:prstGeom>
          <a:noFill/>
          <a:ln/>
        </p:spPr>
        <p:txBody>
          <a:bodyPr wrap="square" rtlCol="0" anchor="t">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出願時期: </a:t>
            </a:r>
            <a:pPr indent="0" marL="0">
              <a:buNone/>
            </a:pPr>
            <a:r>
              <a:rPr lang="en-US" sz="1200" dirty="0">
                <a:solidFill>
                  <a:srgbClr val="4A4A45"/>
                </a:solidFill>
                <a:latin typeface="Hiragino Sans" pitchFamily="34" charset="0"/>
                <a:ea typeface="Hiragino Sans" pitchFamily="34" charset="-122"/>
                <a:cs typeface="Hiragino Sans" pitchFamily="34" charset="-120"/>
              </a:rPr>
              <a:t>2026年Q3（Phase 1開発中。公開前が鉄則）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費用概算: </a:t>
            </a:r>
            <a:pPr indent="0" marL="0">
              <a:buNone/>
            </a:pPr>
            <a:r>
              <a:rPr lang="en-US" sz="1200" dirty="0">
                <a:solidFill>
                  <a:srgbClr val="4A4A45"/>
                </a:solidFill>
                <a:latin typeface="Hiragino Sans" pitchFamily="34" charset="0"/>
                <a:ea typeface="Hiragino Sans" pitchFamily="34" charset="-122"/>
                <a:cs typeface="Hiragino Sans" pitchFamily="34" charset="-120"/>
              </a:rPr>
              <a:t>弁理士60~80万 + 印紙1.4万 + 審査請求13~17万
</a:t>
            </a:r>
            <a:endParaRPr lang="en-US" sz="1200" dirty="0"/>
          </a:p>
          <a:p>
            <a:pPr indent="0" marL="0">
              <a:buNone/>
            </a:pPr>
            <a:r>
              <a:rPr lang="en-US" sz="1200" b="1" dirty="0">
                <a:solidFill>
                  <a:srgbClr val="E67E22"/>
                </a:solidFill>
                <a:latin typeface="Hiragino Sans" pitchFamily="34" charset="0"/>
                <a:ea typeface="Hiragino Sans" pitchFamily="34" charset="-122"/>
                <a:cs typeface="Hiragino Sans" pitchFamily="34" charset="-120"/>
              </a:rPr>
              <a:t>合計: 約80~100万円
</a:t>
            </a:r>
            <a:endParaRPr lang="en-US" sz="1200" dirty="0"/>
          </a:p>
          <a:p>
            <a:pPr indent="0" marL="0">
              <a:buNone/>
            </a:pPr>
            <a:r>
              <a:rPr lang="en-US" sz="1100" dirty="0">
                <a:solidFill>
                  <a:srgbClr val="27AE60"/>
                </a:solidFill>
                <a:latin typeface="Hiragino Sans" pitchFamily="34" charset="0"/>
                <a:ea typeface="Hiragino Sans" pitchFamily="34" charset="-122"/>
                <a:cs typeface="Hiragino Sans" pitchFamily="34" charset="-120"/>
              </a:rPr>
              <a:t>（中小企業減免適用で審査請求料1/2~1/3）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請求項案: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「支援記録データから危険パターンを検知し、虐待リスクスコアを算出して管理者にアラートする情報処理システム」</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特許候補(2) 4段階情報開示x段階的課金</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開示するほど安くなる革新的料金体系</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特許性: 高い -- 類似先行特許なし。ビジネスモデル特許の成立性が主リスク</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4</a:t>
            </a:r>
            <a:endParaRPr lang="en-US" sz="900" dirty="0"/>
          </a:p>
        </p:txBody>
      </p:sp>
      <p:sp>
        <p:nvSpPr>
          <p:cNvPr id="10" name="Shape 8"/>
          <p:cNvSpPr/>
          <p:nvPr/>
        </p:nvSpPr>
        <p:spPr>
          <a:xfrm>
            <a:off x="457200" y="2103120"/>
            <a:ext cx="7772400" cy="5029200"/>
          </a:xfrm>
          <a:prstGeom prst="rect">
            <a:avLst>
              <a:gd name="adj" fmla="val 1455"/>
            </a:avLst>
          </a:prstGeom>
          <a:solidFill>
            <a:srgbClr val="FFFFFF"/>
          </a:solidFill>
          <a:ln w="12700">
            <a:solidFill>
              <a:srgbClr val="8E44AD"/>
            </a:solidFill>
            <a:prstDash val="solid"/>
          </a:ln>
        </p:spPr>
      </p:sp>
      <p:sp>
        <p:nvSpPr>
          <p:cNvPr id="11" name="Text 9"/>
          <p:cNvSpPr/>
          <p:nvPr/>
        </p:nvSpPr>
        <p:spPr>
          <a:xfrm>
            <a:off x="640080" y="2148840"/>
            <a:ext cx="7406640" cy="365760"/>
          </a:xfrm>
          <a:prstGeom prst="rect">
            <a:avLst/>
          </a:prstGeom>
          <a:noFill/>
          <a:ln/>
        </p:spPr>
        <p:txBody>
          <a:bodyPr wrap="square" rtlCol="0" anchor="ctr">
            <a:normAutofit/>
          </a:bodyPr>
          <a:lstStyle/>
          <a:p>
            <a:pPr indent="0" marL="0">
              <a:buNone/>
            </a:pPr>
            <a:r>
              <a:rPr lang="en-US" sz="1500" b="1" dirty="0">
                <a:solidFill>
                  <a:srgbClr val="8E44AD"/>
                </a:solidFill>
                <a:latin typeface="Hiragino Sans" pitchFamily="34" charset="0"/>
                <a:ea typeface="Hiragino Sans" pitchFamily="34" charset="-122"/>
                <a:cs typeface="Hiragino Sans" pitchFamily="34" charset="-120"/>
              </a:rPr>
              <a:t>4段階情報開示モデル</a:t>
            </a:r>
            <a:endParaRPr lang="en-US" sz="1500" dirty="0"/>
          </a:p>
        </p:txBody>
      </p:sp>
      <p:sp>
        <p:nvSpPr>
          <p:cNvPr id="12" name="Shape 10"/>
          <p:cNvSpPr/>
          <p:nvPr/>
        </p:nvSpPr>
        <p:spPr>
          <a:xfrm>
            <a:off x="640080" y="2697480"/>
            <a:ext cx="7406640" cy="868680"/>
          </a:xfrm>
          <a:prstGeom prst="rect">
            <a:avLst>
              <a:gd name="adj" fmla="val 8421"/>
            </a:avLst>
          </a:prstGeom>
          <a:solidFill>
            <a:srgbClr val="FADBD8"/>
          </a:solidFill>
          <a:ln w="12700">
            <a:solidFill>
              <a:srgbClr val="C0392B"/>
            </a:solidFill>
            <a:prstDash val="solid"/>
          </a:ln>
        </p:spPr>
      </p:sp>
      <p:sp>
        <p:nvSpPr>
          <p:cNvPr id="13" name="Shape 11"/>
          <p:cNvSpPr/>
          <p:nvPr/>
        </p:nvSpPr>
        <p:spPr>
          <a:xfrm>
            <a:off x="822960" y="2834640"/>
            <a:ext cx="548640" cy="548640"/>
          </a:xfrm>
          <a:prstGeom prst="rect">
            <a:avLst>
              <a:gd name="adj" fmla="val 16667"/>
            </a:avLst>
          </a:prstGeom>
          <a:solidFill>
            <a:srgbClr val="C0392B"/>
          </a:solidFill>
          <a:ln/>
        </p:spPr>
      </p:sp>
      <p:sp>
        <p:nvSpPr>
          <p:cNvPr id="14" name="Text 12"/>
          <p:cNvSpPr/>
          <p:nvPr/>
        </p:nvSpPr>
        <p:spPr>
          <a:xfrm>
            <a:off x="822960" y="2834640"/>
            <a:ext cx="54864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L1</a:t>
            </a:r>
            <a:endParaRPr lang="en-US" sz="1600" dirty="0"/>
          </a:p>
        </p:txBody>
      </p:sp>
      <p:sp>
        <p:nvSpPr>
          <p:cNvPr id="15" name="Text 13"/>
          <p:cNvSpPr/>
          <p:nvPr/>
        </p:nvSpPr>
        <p:spPr>
          <a:xfrm>
            <a:off x="1554480" y="2788920"/>
            <a:ext cx="1463040" cy="731520"/>
          </a:xfrm>
          <a:prstGeom prst="rect">
            <a:avLst/>
          </a:prstGeom>
          <a:noFill/>
          <a:ln/>
        </p:spPr>
        <p:txBody>
          <a:bodyPr wrap="square" rtlCol="0" anchor="ctr">
            <a:normAutofit/>
          </a:bodyPr>
          <a:lstStyle/>
          <a:p>
            <a:pPr indent="0" marL="0">
              <a:buNone/>
            </a:pPr>
            <a:r>
              <a:rPr lang="en-US" sz="1300" b="1" dirty="0">
                <a:solidFill>
                  <a:srgbClr val="282824"/>
                </a:solidFill>
                <a:latin typeface="Hiragino Sans" pitchFamily="34" charset="0"/>
                <a:ea typeface="Hiragino Sans" pitchFamily="34" charset="-122"/>
                <a:cs typeface="Hiragino Sans" pitchFamily="34" charset="-120"/>
              </a:rPr>
              <a:t>必須共有</a:t>
            </a:r>
            <a:endParaRPr lang="en-US" sz="1300" dirty="0"/>
          </a:p>
        </p:txBody>
      </p:sp>
      <p:sp>
        <p:nvSpPr>
          <p:cNvPr id="16" name="Text 14"/>
          <p:cNvSpPr/>
          <p:nvPr/>
        </p:nvSpPr>
        <p:spPr>
          <a:xfrm>
            <a:off x="3017520" y="2788920"/>
            <a:ext cx="1645920" cy="731520"/>
          </a:xfrm>
          <a:prstGeom prst="rect">
            <a:avLst/>
          </a:prstGeom>
          <a:noFill/>
          <a:ln/>
        </p:spPr>
        <p:txBody>
          <a:bodyPr wrap="square" rtlCol="0" anchor="ctr">
            <a:normAutofit/>
          </a:bodyPr>
          <a:lstStyle/>
          <a:p>
            <a:pPr indent="0" marL="0">
              <a:buNone/>
            </a:pPr>
            <a:r>
              <a:rPr lang="en-US" sz="1400" b="1" dirty="0">
                <a:solidFill>
                  <a:srgbClr val="C0392B"/>
                </a:solidFill>
                <a:latin typeface="Hiragino Sans" pitchFamily="34" charset="0"/>
                <a:ea typeface="Hiragino Sans" pitchFamily="34" charset="-122"/>
                <a:cs typeface="Hiragino Sans" pitchFamily="34" charset="-120"/>
              </a:rPr>
              <a:t>500円/人/日</a:t>
            </a:r>
            <a:endParaRPr lang="en-US" sz="1400" dirty="0"/>
          </a:p>
        </p:txBody>
      </p:sp>
      <p:sp>
        <p:nvSpPr>
          <p:cNvPr id="17" name="Text 15"/>
          <p:cNvSpPr/>
          <p:nvPr/>
        </p:nvSpPr>
        <p:spPr>
          <a:xfrm>
            <a:off x="4754880" y="2788920"/>
            <a:ext cx="3108960" cy="731520"/>
          </a:xfrm>
          <a:prstGeom prst="rect">
            <a:avLst/>
          </a:prstGeom>
          <a:noFill/>
          <a:ln/>
        </p:spPr>
        <p:txBody>
          <a:bodyPr wrap="square" rtlCol="0" anchor="ctr">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基本情報・緊急連絡先</a:t>
            </a:r>
            <a:endParaRPr lang="en-US" sz="1200" dirty="0"/>
          </a:p>
        </p:txBody>
      </p:sp>
      <p:sp>
        <p:nvSpPr>
          <p:cNvPr id="18" name="Shape 16"/>
          <p:cNvSpPr/>
          <p:nvPr/>
        </p:nvSpPr>
        <p:spPr>
          <a:xfrm>
            <a:off x="640080" y="3703320"/>
            <a:ext cx="7406640" cy="868680"/>
          </a:xfrm>
          <a:prstGeom prst="rect">
            <a:avLst>
              <a:gd name="adj" fmla="val 8421"/>
            </a:avLst>
          </a:prstGeom>
          <a:solidFill>
            <a:srgbClr val="FDEBD0"/>
          </a:solidFill>
          <a:ln w="12700">
            <a:solidFill>
              <a:srgbClr val="E67E22"/>
            </a:solidFill>
            <a:prstDash val="solid"/>
          </a:ln>
        </p:spPr>
      </p:sp>
      <p:sp>
        <p:nvSpPr>
          <p:cNvPr id="19" name="Shape 17"/>
          <p:cNvSpPr/>
          <p:nvPr/>
        </p:nvSpPr>
        <p:spPr>
          <a:xfrm>
            <a:off x="822960" y="3840480"/>
            <a:ext cx="548640" cy="548640"/>
          </a:xfrm>
          <a:prstGeom prst="rect">
            <a:avLst>
              <a:gd name="adj" fmla="val 16667"/>
            </a:avLst>
          </a:prstGeom>
          <a:solidFill>
            <a:srgbClr val="E67E22"/>
          </a:solidFill>
          <a:ln/>
        </p:spPr>
      </p:sp>
      <p:sp>
        <p:nvSpPr>
          <p:cNvPr id="20" name="Text 18"/>
          <p:cNvSpPr/>
          <p:nvPr/>
        </p:nvSpPr>
        <p:spPr>
          <a:xfrm>
            <a:off x="822960" y="3840480"/>
            <a:ext cx="54864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L2</a:t>
            </a:r>
            <a:endParaRPr lang="en-US" sz="1600" dirty="0"/>
          </a:p>
        </p:txBody>
      </p:sp>
      <p:sp>
        <p:nvSpPr>
          <p:cNvPr id="21" name="Text 19"/>
          <p:cNvSpPr/>
          <p:nvPr/>
        </p:nvSpPr>
        <p:spPr>
          <a:xfrm>
            <a:off x="1554480" y="3794760"/>
            <a:ext cx="1463040" cy="731520"/>
          </a:xfrm>
          <a:prstGeom prst="rect">
            <a:avLst/>
          </a:prstGeom>
          <a:noFill/>
          <a:ln/>
        </p:spPr>
        <p:txBody>
          <a:bodyPr wrap="square" rtlCol="0" anchor="ctr">
            <a:normAutofit/>
          </a:bodyPr>
          <a:lstStyle/>
          <a:p>
            <a:pPr indent="0" marL="0">
              <a:buNone/>
            </a:pPr>
            <a:r>
              <a:rPr lang="en-US" sz="1300" b="1" dirty="0">
                <a:solidFill>
                  <a:srgbClr val="282824"/>
                </a:solidFill>
                <a:latin typeface="Hiragino Sans" pitchFamily="34" charset="0"/>
                <a:ea typeface="Hiragino Sans" pitchFamily="34" charset="-122"/>
                <a:cs typeface="Hiragino Sans" pitchFamily="34" charset="-120"/>
              </a:rPr>
              <a:t>医療情報</a:t>
            </a:r>
            <a:endParaRPr lang="en-US" sz="1300" dirty="0"/>
          </a:p>
        </p:txBody>
      </p:sp>
      <p:sp>
        <p:nvSpPr>
          <p:cNvPr id="22" name="Text 20"/>
          <p:cNvSpPr/>
          <p:nvPr/>
        </p:nvSpPr>
        <p:spPr>
          <a:xfrm>
            <a:off x="3017520" y="3794760"/>
            <a:ext cx="1645920" cy="731520"/>
          </a:xfrm>
          <a:prstGeom prst="rect">
            <a:avLst/>
          </a:prstGeom>
          <a:noFill/>
          <a:ln/>
        </p:spPr>
        <p:txBody>
          <a:bodyPr wrap="square" rtlCol="0" anchor="ctr">
            <a:normAutofit/>
          </a:bodyPr>
          <a:lstStyle/>
          <a:p>
            <a:pPr indent="0" marL="0">
              <a:buNone/>
            </a:pPr>
            <a:r>
              <a:rPr lang="en-US" sz="1400" b="1" dirty="0">
                <a:solidFill>
                  <a:srgbClr val="E67E22"/>
                </a:solidFill>
                <a:latin typeface="Hiragino Sans" pitchFamily="34" charset="0"/>
                <a:ea typeface="Hiragino Sans" pitchFamily="34" charset="-122"/>
                <a:cs typeface="Hiragino Sans" pitchFamily="34" charset="-120"/>
              </a:rPr>
              <a:t>400円/人/日</a:t>
            </a:r>
            <a:endParaRPr lang="en-US" sz="1400" dirty="0"/>
          </a:p>
        </p:txBody>
      </p:sp>
      <p:sp>
        <p:nvSpPr>
          <p:cNvPr id="23" name="Text 21"/>
          <p:cNvSpPr/>
          <p:nvPr/>
        </p:nvSpPr>
        <p:spPr>
          <a:xfrm>
            <a:off x="4754880" y="3794760"/>
            <a:ext cx="3108960" cy="731520"/>
          </a:xfrm>
          <a:prstGeom prst="rect">
            <a:avLst/>
          </a:prstGeom>
          <a:noFill/>
          <a:ln/>
        </p:spPr>
        <p:txBody>
          <a:bodyPr wrap="square" rtlCol="0" anchor="ctr">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服薬・アレルギー・通院歴</a:t>
            </a:r>
            <a:endParaRPr lang="en-US" sz="1200" dirty="0"/>
          </a:p>
        </p:txBody>
      </p:sp>
      <p:sp>
        <p:nvSpPr>
          <p:cNvPr id="24" name="Shape 22"/>
          <p:cNvSpPr/>
          <p:nvPr/>
        </p:nvSpPr>
        <p:spPr>
          <a:xfrm>
            <a:off x="640080" y="4709160"/>
            <a:ext cx="7406640" cy="868680"/>
          </a:xfrm>
          <a:prstGeom prst="rect">
            <a:avLst>
              <a:gd name="adj" fmla="val 8421"/>
            </a:avLst>
          </a:prstGeom>
          <a:solidFill>
            <a:srgbClr val="D6EAF8"/>
          </a:solidFill>
          <a:ln w="12700">
            <a:solidFill>
              <a:srgbClr val="2C6FAC"/>
            </a:solidFill>
            <a:prstDash val="solid"/>
          </a:ln>
        </p:spPr>
      </p:sp>
      <p:sp>
        <p:nvSpPr>
          <p:cNvPr id="25" name="Shape 23"/>
          <p:cNvSpPr/>
          <p:nvPr/>
        </p:nvSpPr>
        <p:spPr>
          <a:xfrm>
            <a:off x="822960" y="4846320"/>
            <a:ext cx="548640" cy="548640"/>
          </a:xfrm>
          <a:prstGeom prst="rect">
            <a:avLst>
              <a:gd name="adj" fmla="val 16667"/>
            </a:avLst>
          </a:prstGeom>
          <a:solidFill>
            <a:srgbClr val="2C6FAC"/>
          </a:solidFill>
          <a:ln/>
        </p:spPr>
      </p:sp>
      <p:sp>
        <p:nvSpPr>
          <p:cNvPr id="26" name="Text 24"/>
          <p:cNvSpPr/>
          <p:nvPr/>
        </p:nvSpPr>
        <p:spPr>
          <a:xfrm>
            <a:off x="822960" y="4846320"/>
            <a:ext cx="54864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L3</a:t>
            </a:r>
            <a:endParaRPr lang="en-US" sz="1600" dirty="0"/>
          </a:p>
        </p:txBody>
      </p:sp>
      <p:sp>
        <p:nvSpPr>
          <p:cNvPr id="27" name="Text 25"/>
          <p:cNvSpPr/>
          <p:nvPr/>
        </p:nvSpPr>
        <p:spPr>
          <a:xfrm>
            <a:off x="1554480" y="4800600"/>
            <a:ext cx="1463040" cy="731520"/>
          </a:xfrm>
          <a:prstGeom prst="rect">
            <a:avLst/>
          </a:prstGeom>
          <a:noFill/>
          <a:ln/>
        </p:spPr>
        <p:txBody>
          <a:bodyPr wrap="square" rtlCol="0" anchor="ctr">
            <a:normAutofit/>
          </a:bodyPr>
          <a:lstStyle/>
          <a:p>
            <a:pPr indent="0" marL="0">
              <a:buNone/>
            </a:pPr>
            <a:r>
              <a:rPr lang="en-US" sz="1300" b="1" dirty="0">
                <a:solidFill>
                  <a:srgbClr val="282824"/>
                </a:solidFill>
                <a:latin typeface="Hiragino Sans" pitchFamily="34" charset="0"/>
                <a:ea typeface="Hiragino Sans" pitchFamily="34" charset="-122"/>
                <a:cs typeface="Hiragino Sans" pitchFamily="34" charset="-120"/>
              </a:rPr>
              <a:t>支援記録</a:t>
            </a:r>
            <a:endParaRPr lang="en-US" sz="1300" dirty="0"/>
          </a:p>
        </p:txBody>
      </p:sp>
      <p:sp>
        <p:nvSpPr>
          <p:cNvPr id="28" name="Text 26"/>
          <p:cNvSpPr/>
          <p:nvPr/>
        </p:nvSpPr>
        <p:spPr>
          <a:xfrm>
            <a:off x="3017520" y="4800600"/>
            <a:ext cx="1645920" cy="731520"/>
          </a:xfrm>
          <a:prstGeom prst="rect">
            <a:avLst/>
          </a:prstGeom>
          <a:noFill/>
          <a:ln/>
        </p:spPr>
        <p:txBody>
          <a:bodyPr wrap="square" rtlCol="0" anchor="ctr">
            <a:normAutofit/>
          </a:bodyPr>
          <a:lstStyle/>
          <a:p>
            <a:pPr indent="0" marL="0">
              <a:buNone/>
            </a:pPr>
            <a:r>
              <a:rPr lang="en-US" sz="1400" b="1" dirty="0">
                <a:solidFill>
                  <a:srgbClr val="2C6FAC"/>
                </a:solidFill>
                <a:latin typeface="Hiragino Sans" pitchFamily="34" charset="0"/>
                <a:ea typeface="Hiragino Sans" pitchFamily="34" charset="-122"/>
                <a:cs typeface="Hiragino Sans" pitchFamily="34" charset="-120"/>
              </a:rPr>
              <a:t>350円/人/日</a:t>
            </a:r>
            <a:endParaRPr lang="en-US" sz="1400" dirty="0"/>
          </a:p>
        </p:txBody>
      </p:sp>
      <p:sp>
        <p:nvSpPr>
          <p:cNvPr id="29" name="Text 27"/>
          <p:cNvSpPr/>
          <p:nvPr/>
        </p:nvSpPr>
        <p:spPr>
          <a:xfrm>
            <a:off x="4754880" y="4800600"/>
            <a:ext cx="3108960" cy="731520"/>
          </a:xfrm>
          <a:prstGeom prst="rect">
            <a:avLst/>
          </a:prstGeom>
          <a:noFill/>
          <a:ln/>
        </p:spPr>
        <p:txBody>
          <a:bodyPr wrap="square" rtlCol="0" anchor="ctr">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日々の記録・行動特性</a:t>
            </a:r>
            <a:endParaRPr lang="en-US" sz="1200" dirty="0"/>
          </a:p>
        </p:txBody>
      </p:sp>
      <p:sp>
        <p:nvSpPr>
          <p:cNvPr id="30" name="Shape 28"/>
          <p:cNvSpPr/>
          <p:nvPr/>
        </p:nvSpPr>
        <p:spPr>
          <a:xfrm>
            <a:off x="640080" y="5715000"/>
            <a:ext cx="7406640" cy="868680"/>
          </a:xfrm>
          <a:prstGeom prst="rect">
            <a:avLst>
              <a:gd name="adj" fmla="val 8421"/>
            </a:avLst>
          </a:prstGeom>
          <a:solidFill>
            <a:srgbClr val="D5F5E3"/>
          </a:solidFill>
          <a:ln w="12700">
            <a:solidFill>
              <a:srgbClr val="27AE60"/>
            </a:solidFill>
            <a:prstDash val="solid"/>
          </a:ln>
        </p:spPr>
      </p:sp>
      <p:sp>
        <p:nvSpPr>
          <p:cNvPr id="31" name="Shape 29"/>
          <p:cNvSpPr/>
          <p:nvPr/>
        </p:nvSpPr>
        <p:spPr>
          <a:xfrm>
            <a:off x="822960" y="5852160"/>
            <a:ext cx="548640" cy="548640"/>
          </a:xfrm>
          <a:prstGeom prst="rect">
            <a:avLst>
              <a:gd name="adj" fmla="val 16667"/>
            </a:avLst>
          </a:prstGeom>
          <a:solidFill>
            <a:srgbClr val="27AE60"/>
          </a:solidFill>
          <a:ln/>
        </p:spPr>
      </p:sp>
      <p:sp>
        <p:nvSpPr>
          <p:cNvPr id="32" name="Text 30"/>
          <p:cNvSpPr/>
          <p:nvPr/>
        </p:nvSpPr>
        <p:spPr>
          <a:xfrm>
            <a:off x="822960" y="5852160"/>
            <a:ext cx="548640" cy="54864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L4</a:t>
            </a:r>
            <a:endParaRPr lang="en-US" sz="1600" dirty="0"/>
          </a:p>
        </p:txBody>
      </p:sp>
      <p:sp>
        <p:nvSpPr>
          <p:cNvPr id="33" name="Text 31"/>
          <p:cNvSpPr/>
          <p:nvPr/>
        </p:nvSpPr>
        <p:spPr>
          <a:xfrm>
            <a:off x="1554480" y="5806440"/>
            <a:ext cx="1463040" cy="731520"/>
          </a:xfrm>
          <a:prstGeom prst="rect">
            <a:avLst/>
          </a:prstGeom>
          <a:noFill/>
          <a:ln/>
        </p:spPr>
        <p:txBody>
          <a:bodyPr wrap="square" rtlCol="0" anchor="ctr">
            <a:normAutofit/>
          </a:bodyPr>
          <a:lstStyle/>
          <a:p>
            <a:pPr indent="0" marL="0">
              <a:buNone/>
            </a:pPr>
            <a:r>
              <a:rPr lang="en-US" sz="1300" b="1" dirty="0">
                <a:solidFill>
                  <a:srgbClr val="282824"/>
                </a:solidFill>
                <a:latin typeface="Hiragino Sans" pitchFamily="34" charset="0"/>
                <a:ea typeface="Hiragino Sans" pitchFamily="34" charset="-122"/>
                <a:cs typeface="Hiragino Sans" pitchFamily="34" charset="-120"/>
              </a:rPr>
              <a:t>完全開示</a:t>
            </a:r>
            <a:endParaRPr lang="en-US" sz="1300" dirty="0"/>
          </a:p>
        </p:txBody>
      </p:sp>
      <p:sp>
        <p:nvSpPr>
          <p:cNvPr id="34" name="Text 32"/>
          <p:cNvSpPr/>
          <p:nvPr/>
        </p:nvSpPr>
        <p:spPr>
          <a:xfrm>
            <a:off x="3017520" y="5806440"/>
            <a:ext cx="1645920" cy="731520"/>
          </a:xfrm>
          <a:prstGeom prst="rect">
            <a:avLst/>
          </a:prstGeom>
          <a:noFill/>
          <a:ln/>
        </p:spPr>
        <p:txBody>
          <a:bodyPr wrap="square" rtlCol="0" anchor="ctr">
            <a:normAutofit/>
          </a:bodyPr>
          <a:lstStyle/>
          <a:p>
            <a:pPr indent="0" marL="0">
              <a:buNone/>
            </a:pPr>
            <a:r>
              <a:rPr lang="en-US" sz="1400" b="1" dirty="0">
                <a:solidFill>
                  <a:srgbClr val="27AE60"/>
                </a:solidFill>
                <a:latin typeface="Hiragino Sans" pitchFamily="34" charset="0"/>
                <a:ea typeface="Hiragino Sans" pitchFamily="34" charset="-122"/>
                <a:cs typeface="Hiragino Sans" pitchFamily="34" charset="-120"/>
              </a:rPr>
              <a:t>300円/人/日</a:t>
            </a:r>
            <a:endParaRPr lang="en-US" sz="1400" dirty="0"/>
          </a:p>
        </p:txBody>
      </p:sp>
      <p:sp>
        <p:nvSpPr>
          <p:cNvPr id="35" name="Text 33"/>
          <p:cNvSpPr/>
          <p:nvPr/>
        </p:nvSpPr>
        <p:spPr>
          <a:xfrm>
            <a:off x="4754880" y="5806440"/>
            <a:ext cx="3108960" cy="731520"/>
          </a:xfrm>
          <a:prstGeom prst="rect">
            <a:avLst/>
          </a:prstGeom>
          <a:noFill/>
          <a:ln/>
        </p:spPr>
        <p:txBody>
          <a:bodyPr wrap="square" rtlCol="0" anchor="ctr">
            <a:normAutofit/>
          </a:bodyPr>
          <a:lstStyle/>
          <a:p>
            <a:pPr indent="0" marL="0">
              <a:buNone/>
            </a:pPr>
            <a:r>
              <a:rPr lang="en-US" sz="1200" dirty="0">
                <a:solidFill>
                  <a:srgbClr val="4A4A45"/>
                </a:solidFill>
                <a:latin typeface="Hiragino Sans" pitchFamily="34" charset="0"/>
                <a:ea typeface="Hiragino Sans" pitchFamily="34" charset="-122"/>
                <a:cs typeface="Hiragino Sans" pitchFamily="34" charset="-120"/>
              </a:rPr>
              <a:t>全情報アクセス(AI分析)</a:t>
            </a:r>
            <a:endParaRPr lang="en-US" sz="1200" dirty="0"/>
          </a:p>
        </p:txBody>
      </p:sp>
      <p:sp>
        <p:nvSpPr>
          <p:cNvPr id="36" name="Text 34"/>
          <p:cNvSpPr/>
          <p:nvPr/>
        </p:nvSpPr>
        <p:spPr>
          <a:xfrm>
            <a:off x="640080" y="6858000"/>
            <a:ext cx="7406640" cy="274320"/>
          </a:xfrm>
          <a:prstGeom prst="rect">
            <a:avLst/>
          </a:prstGeom>
          <a:noFill/>
          <a:ln/>
        </p:spPr>
        <p:txBody>
          <a:bodyPr wrap="square" rtlCol="0" anchor="ctr">
            <a:normAutofit/>
          </a:bodyPr>
          <a:lstStyle/>
          <a:p>
            <a:pPr indent="0" marL="0">
              <a:buNone/>
            </a:pPr>
            <a:r>
              <a:rPr lang="en-US" sz="1200" b="1" dirty="0">
                <a:solidFill>
                  <a:srgbClr val="8E44AD"/>
                </a:solidFill>
                <a:latin typeface="Hiragino Sans" pitchFamily="34" charset="0"/>
                <a:ea typeface="Hiragino Sans" pitchFamily="34" charset="-122"/>
                <a:cs typeface="Hiragino Sans" pitchFamily="34" charset="-120"/>
              </a:rPr>
              <a:t>開示 UP = 料金 DOWN → データ共有を促進する経済的インセンティブ</a:t>
            </a:r>
            <a:endParaRPr lang="en-US" sz="1200" dirty="0"/>
          </a:p>
        </p:txBody>
      </p:sp>
      <p:sp>
        <p:nvSpPr>
          <p:cNvPr id="37" name="Shape 35"/>
          <p:cNvSpPr/>
          <p:nvPr/>
        </p:nvSpPr>
        <p:spPr>
          <a:xfrm>
            <a:off x="8412480" y="2103120"/>
            <a:ext cx="5760720" cy="5029200"/>
          </a:xfrm>
          <a:prstGeom prst="rect">
            <a:avLst>
              <a:gd name="adj" fmla="val 1455"/>
            </a:avLst>
          </a:prstGeom>
          <a:solidFill>
            <a:srgbClr val="E8DAEF"/>
          </a:solidFill>
          <a:ln w="12700">
            <a:solidFill>
              <a:srgbClr val="8E44AD"/>
            </a:solidFill>
            <a:prstDash val="solid"/>
          </a:ln>
        </p:spPr>
      </p:sp>
      <p:sp>
        <p:nvSpPr>
          <p:cNvPr id="38" name="Text 36"/>
          <p:cNvSpPr/>
          <p:nvPr/>
        </p:nvSpPr>
        <p:spPr>
          <a:xfrm>
            <a:off x="8595360" y="2148840"/>
            <a:ext cx="5394960" cy="365760"/>
          </a:xfrm>
          <a:prstGeom prst="rect">
            <a:avLst/>
          </a:prstGeom>
          <a:noFill/>
          <a:ln/>
        </p:spPr>
        <p:txBody>
          <a:bodyPr wrap="square" rtlCol="0" anchor="ctr">
            <a:normAutofit/>
          </a:bodyPr>
          <a:lstStyle/>
          <a:p>
            <a:pPr indent="0" marL="0">
              <a:buNone/>
            </a:pPr>
            <a:r>
              <a:rPr lang="en-US" sz="1500" b="1" dirty="0">
                <a:solidFill>
                  <a:srgbClr val="8E44AD"/>
                </a:solidFill>
                <a:latin typeface="Hiragino Sans" pitchFamily="34" charset="0"/>
                <a:ea typeface="Hiragino Sans" pitchFamily="34" charset="-122"/>
                <a:cs typeface="Hiragino Sans" pitchFamily="34" charset="-120"/>
              </a:rPr>
              <a:t>特許構成のポイント</a:t>
            </a:r>
            <a:endParaRPr lang="en-US" sz="1500" dirty="0"/>
          </a:p>
        </p:txBody>
      </p:sp>
      <p:sp>
        <p:nvSpPr>
          <p:cNvPr id="39" name="Text 37"/>
          <p:cNvSpPr/>
          <p:nvPr/>
        </p:nvSpPr>
        <p:spPr>
          <a:xfrm>
            <a:off x="8595360" y="2606040"/>
            <a:ext cx="5394960" cy="4389120"/>
          </a:xfrm>
          <a:prstGeom prst="rect">
            <a:avLst/>
          </a:prstGeom>
          <a:noFill/>
          <a:ln/>
        </p:spPr>
        <p:txBody>
          <a:bodyPr wrap="square" rtlCol="0" anchor="t">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[技術的特徴]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・開示レベルに応じた暗号化・アクセス制御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・施設間データ連携のプライバシー保護と利用料自動計算の連動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・保護者同意管理(consent_levels)との統合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[ビジネスモデル特許の要件]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・「開示するほど安くなる」仕組みをICTで実現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・単なる料金設定ではなくデータ連携基盤と一体化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・AI好循環を経済設計で加速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[費用概算]
</a:t>
            </a:r>
            <a:endParaRPr lang="en-US" sz="1200" dirty="0"/>
          </a:p>
          <a:p>
            <a:pPr indent="0" marL="0">
              <a:buNone/>
            </a:pPr>
            <a:r>
              <a:rPr lang="en-US" sz="1200" dirty="0">
                <a:solidFill>
                  <a:srgbClr val="E67E22"/>
                </a:solidFill>
                <a:latin typeface="Hiragino Sans" pitchFamily="34" charset="0"/>
                <a:ea typeface="Hiragino Sans" pitchFamily="34" charset="-122"/>
                <a:cs typeface="Hiragino Sans" pitchFamily="34" charset="-120"/>
              </a:rPr>
              <a:t>出願~登録: 約80~100万円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出願時期: 2026年Q4（Phase 1.5開始時）</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特許候補(3) 分岐入力UIパイプライン</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音声入力→STT→AI分類→7UIパターン振分の統合システム</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特許性: 高い -- 最近接DrChrono(US特許)にOCR/形態素解析なし</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5</a:t>
            </a:r>
            <a:endParaRPr lang="en-US" sz="900" dirty="0"/>
          </a:p>
        </p:txBody>
      </p:sp>
      <p:sp>
        <p:nvSpPr>
          <p:cNvPr id="10" name="Shape 8"/>
          <p:cNvSpPr/>
          <p:nvPr/>
        </p:nvSpPr>
        <p:spPr>
          <a:xfrm>
            <a:off x="457200" y="2103120"/>
            <a:ext cx="13716000" cy="1691640"/>
          </a:xfrm>
          <a:prstGeom prst="rect">
            <a:avLst>
              <a:gd name="adj" fmla="val 4324"/>
            </a:avLst>
          </a:prstGeom>
          <a:solidFill>
            <a:srgbClr val="FFFFFF"/>
          </a:solidFill>
          <a:ln w="12700">
            <a:solidFill>
              <a:srgbClr val="16A085"/>
            </a:solidFill>
            <a:prstDash val="solid"/>
          </a:ln>
        </p:spPr>
      </p:sp>
      <p:sp>
        <p:nvSpPr>
          <p:cNvPr id="11" name="Text 9"/>
          <p:cNvSpPr/>
          <p:nvPr/>
        </p:nvSpPr>
        <p:spPr>
          <a:xfrm>
            <a:off x="640080" y="2148840"/>
            <a:ext cx="13350240" cy="320040"/>
          </a:xfrm>
          <a:prstGeom prst="rect">
            <a:avLst/>
          </a:prstGeom>
          <a:noFill/>
          <a:ln/>
        </p:spPr>
        <p:txBody>
          <a:bodyPr wrap="square" rtlCol="0" anchor="ctr">
            <a:normAutofit/>
          </a:bodyPr>
          <a:lstStyle/>
          <a:p>
            <a:pPr indent="0" marL="0">
              <a:buNone/>
            </a:pPr>
            <a:r>
              <a:rPr lang="en-US" sz="1400" b="1" dirty="0">
                <a:solidFill>
                  <a:srgbClr val="16A085"/>
                </a:solidFill>
                <a:latin typeface="Hiragino Sans" pitchFamily="34" charset="0"/>
                <a:ea typeface="Hiragino Sans" pitchFamily="34" charset="-122"/>
                <a:cs typeface="Hiragino Sans" pitchFamily="34" charset="-120"/>
              </a:rPr>
              <a:t>入力パイプライン</a:t>
            </a:r>
            <a:endParaRPr lang="en-US" sz="1400" dirty="0"/>
          </a:p>
        </p:txBody>
      </p:sp>
      <p:sp>
        <p:nvSpPr>
          <p:cNvPr id="12" name="Shape 10"/>
          <p:cNvSpPr/>
          <p:nvPr/>
        </p:nvSpPr>
        <p:spPr>
          <a:xfrm>
            <a:off x="1325880" y="2606040"/>
            <a:ext cx="2103120" cy="914400"/>
          </a:xfrm>
          <a:prstGeom prst="rect">
            <a:avLst>
              <a:gd name="adj" fmla="val 8000"/>
            </a:avLst>
          </a:prstGeom>
          <a:solidFill>
            <a:srgbClr val="D6EAF8"/>
          </a:solidFill>
          <a:ln w="12700">
            <a:solidFill>
              <a:srgbClr val="E2D9CF"/>
            </a:solidFill>
            <a:prstDash val="solid"/>
          </a:ln>
        </p:spPr>
      </p:sp>
      <p:sp>
        <p:nvSpPr>
          <p:cNvPr id="13" name="Text 11"/>
          <p:cNvSpPr/>
          <p:nvPr/>
        </p:nvSpPr>
        <p:spPr>
          <a:xfrm>
            <a:off x="1325880" y="2651760"/>
            <a:ext cx="2103120" cy="320040"/>
          </a:xfrm>
          <a:prstGeom prst="rect">
            <a:avLst/>
          </a:prstGeom>
          <a:noFill/>
          <a:ln/>
        </p:spPr>
        <p:txBody>
          <a:bodyPr wrap="square" rtlCol="0" anchor="ctr">
            <a:normAutofit/>
          </a:bodyPr>
          <a:lstStyle/>
          <a:p>
            <a:pPr algn="ctr" indent="0" marL="0">
              <a:buNone/>
            </a:pPr>
            <a:r>
              <a:rPr lang="en-US" sz="1200" b="1" dirty="0">
                <a:solidFill>
                  <a:srgbClr val="282824"/>
                </a:solidFill>
                <a:latin typeface="Hiragino Sans" pitchFamily="34" charset="0"/>
                <a:ea typeface="Hiragino Sans" pitchFamily="34" charset="-122"/>
                <a:cs typeface="Hiragino Sans" pitchFamily="34" charset="-120"/>
              </a:rPr>
              <a:t>音声入力</a:t>
            </a:r>
            <a:endParaRPr lang="en-US" sz="1200" dirty="0"/>
          </a:p>
        </p:txBody>
      </p:sp>
      <p:sp>
        <p:nvSpPr>
          <p:cNvPr id="14" name="Text 12"/>
          <p:cNvSpPr/>
          <p:nvPr/>
        </p:nvSpPr>
        <p:spPr>
          <a:xfrm>
            <a:off x="1325880" y="2971800"/>
            <a:ext cx="2103120" cy="502920"/>
          </a:xfrm>
          <a:prstGeom prst="rect">
            <a:avLst/>
          </a:prstGeom>
          <a:noFill/>
          <a:ln/>
        </p:spPr>
        <p:txBody>
          <a:bodyPr wrap="square" rtlCol="0" anchor="t">
            <a:normAutofit/>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Web Speech</a:t>
            </a:r>
            <a:endParaRPr lang="en-US" sz="1000" dirty="0"/>
          </a:p>
          <a:p>
            <a:pPr algn="ctr" indent="0" marL="0">
              <a:buNone/>
            </a:pPr>
            <a:r>
              <a:rPr lang="en-US" sz="1000" dirty="0">
                <a:solidFill>
                  <a:srgbClr val="4A4A45"/>
                </a:solidFill>
                <a:latin typeface="Hiragino Sans" pitchFamily="34" charset="0"/>
                <a:ea typeface="Hiragino Sans" pitchFamily="34" charset="-122"/>
                <a:cs typeface="Hiragino Sans" pitchFamily="34" charset="-120"/>
              </a:rPr>
              <a:t>API/Whisper</a:t>
            </a:r>
            <a:endParaRPr lang="en-US" sz="1000" dirty="0"/>
          </a:p>
        </p:txBody>
      </p:sp>
      <p:sp>
        <p:nvSpPr>
          <p:cNvPr id="15" name="Text 13"/>
          <p:cNvSpPr/>
          <p:nvPr/>
        </p:nvSpPr>
        <p:spPr>
          <a:xfrm>
            <a:off x="3429000" y="2606040"/>
            <a:ext cx="365760" cy="914400"/>
          </a:xfrm>
          <a:prstGeom prst="rect">
            <a:avLst/>
          </a:prstGeom>
          <a:noFill/>
          <a:ln/>
        </p:spPr>
        <p:txBody>
          <a:bodyPr wrap="square" rtlCol="0" anchor="ctr">
            <a:normAutofit/>
          </a:bodyPr>
          <a:lstStyle/>
          <a:p>
            <a:pPr algn="ctr" indent="0" marL="0">
              <a:buNone/>
            </a:pPr>
            <a:r>
              <a:rPr lang="en-US" sz="2000" dirty="0">
                <a:solidFill>
                  <a:srgbClr val="95A5A6"/>
                </a:solidFill>
                <a:latin typeface="Hiragino Sans" pitchFamily="34" charset="0"/>
                <a:ea typeface="Hiragino Sans" pitchFamily="34" charset="-122"/>
                <a:cs typeface="Hiragino Sans" pitchFamily="34" charset="-120"/>
              </a:rPr>
              <a:t>→</a:t>
            </a:r>
            <a:endParaRPr lang="en-US" sz="2000" dirty="0"/>
          </a:p>
        </p:txBody>
      </p:sp>
      <p:sp>
        <p:nvSpPr>
          <p:cNvPr id="16" name="Shape 14"/>
          <p:cNvSpPr/>
          <p:nvPr/>
        </p:nvSpPr>
        <p:spPr>
          <a:xfrm>
            <a:off x="3794760" y="2606040"/>
            <a:ext cx="2103120" cy="914400"/>
          </a:xfrm>
          <a:prstGeom prst="rect">
            <a:avLst>
              <a:gd name="adj" fmla="val 8000"/>
            </a:avLst>
          </a:prstGeom>
          <a:solidFill>
            <a:srgbClr val="D5F5E3"/>
          </a:solidFill>
          <a:ln w="12700">
            <a:solidFill>
              <a:srgbClr val="E2D9CF"/>
            </a:solidFill>
            <a:prstDash val="solid"/>
          </a:ln>
        </p:spPr>
      </p:sp>
      <p:sp>
        <p:nvSpPr>
          <p:cNvPr id="17" name="Text 15"/>
          <p:cNvSpPr/>
          <p:nvPr/>
        </p:nvSpPr>
        <p:spPr>
          <a:xfrm>
            <a:off x="3794760" y="2651760"/>
            <a:ext cx="2103120" cy="320040"/>
          </a:xfrm>
          <a:prstGeom prst="rect">
            <a:avLst/>
          </a:prstGeom>
          <a:noFill/>
          <a:ln/>
        </p:spPr>
        <p:txBody>
          <a:bodyPr wrap="square" rtlCol="0" anchor="ctr">
            <a:normAutofit/>
          </a:bodyPr>
          <a:lstStyle/>
          <a:p>
            <a:pPr algn="ctr" indent="0" marL="0">
              <a:buNone/>
            </a:pPr>
            <a:r>
              <a:rPr lang="en-US" sz="1200" b="1" dirty="0">
                <a:solidFill>
                  <a:srgbClr val="282824"/>
                </a:solidFill>
                <a:latin typeface="Hiragino Sans" pitchFamily="34" charset="0"/>
                <a:ea typeface="Hiragino Sans" pitchFamily="34" charset="-122"/>
                <a:cs typeface="Hiragino Sans" pitchFamily="34" charset="-120"/>
              </a:rPr>
              <a:t>STT変換</a:t>
            </a:r>
            <a:endParaRPr lang="en-US" sz="1200" dirty="0"/>
          </a:p>
        </p:txBody>
      </p:sp>
      <p:sp>
        <p:nvSpPr>
          <p:cNvPr id="18" name="Text 16"/>
          <p:cNvSpPr/>
          <p:nvPr/>
        </p:nvSpPr>
        <p:spPr>
          <a:xfrm>
            <a:off x="3794760" y="2971800"/>
            <a:ext cx="2103120" cy="502920"/>
          </a:xfrm>
          <a:prstGeom prst="rect">
            <a:avLst/>
          </a:prstGeom>
          <a:noFill/>
          <a:ln/>
        </p:spPr>
        <p:txBody>
          <a:bodyPr wrap="square" rtlCol="0" anchor="t">
            <a:normAutofit/>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テキスト化</a:t>
            </a:r>
            <a:endParaRPr lang="en-US" sz="1000" dirty="0"/>
          </a:p>
          <a:p>
            <a:pPr algn="ctr" indent="0" marL="0">
              <a:buNone/>
            </a:pPr>
            <a:r>
              <a:rPr lang="en-US" sz="1000" dirty="0">
                <a:solidFill>
                  <a:srgbClr val="4A4A45"/>
                </a:solidFill>
                <a:latin typeface="Hiragino Sans" pitchFamily="34" charset="0"/>
                <a:ea typeface="Hiragino Sans" pitchFamily="34" charset="-122"/>
                <a:cs typeface="Hiragino Sans" pitchFamily="34" charset="-120"/>
              </a:rPr>
              <a:t>手動修正</a:t>
            </a:r>
            <a:endParaRPr lang="en-US" sz="1000" dirty="0"/>
          </a:p>
        </p:txBody>
      </p:sp>
      <p:sp>
        <p:nvSpPr>
          <p:cNvPr id="19" name="Text 17"/>
          <p:cNvSpPr/>
          <p:nvPr/>
        </p:nvSpPr>
        <p:spPr>
          <a:xfrm>
            <a:off x="5897880" y="2606040"/>
            <a:ext cx="365760" cy="914400"/>
          </a:xfrm>
          <a:prstGeom prst="rect">
            <a:avLst/>
          </a:prstGeom>
          <a:noFill/>
          <a:ln/>
        </p:spPr>
        <p:txBody>
          <a:bodyPr wrap="square" rtlCol="0" anchor="ctr">
            <a:normAutofit/>
          </a:bodyPr>
          <a:lstStyle/>
          <a:p>
            <a:pPr algn="ctr" indent="0" marL="0">
              <a:buNone/>
            </a:pPr>
            <a:r>
              <a:rPr lang="en-US" sz="2000" dirty="0">
                <a:solidFill>
                  <a:srgbClr val="95A5A6"/>
                </a:solidFill>
                <a:latin typeface="Hiragino Sans" pitchFamily="34" charset="0"/>
                <a:ea typeface="Hiragino Sans" pitchFamily="34" charset="-122"/>
                <a:cs typeface="Hiragino Sans" pitchFamily="34" charset="-120"/>
              </a:rPr>
              <a:t>→</a:t>
            </a:r>
            <a:endParaRPr lang="en-US" sz="2000" dirty="0"/>
          </a:p>
        </p:txBody>
      </p:sp>
      <p:sp>
        <p:nvSpPr>
          <p:cNvPr id="20" name="Shape 18"/>
          <p:cNvSpPr/>
          <p:nvPr/>
        </p:nvSpPr>
        <p:spPr>
          <a:xfrm>
            <a:off x="6263640" y="2606040"/>
            <a:ext cx="2103120" cy="914400"/>
          </a:xfrm>
          <a:prstGeom prst="rect">
            <a:avLst>
              <a:gd name="adj" fmla="val 8000"/>
            </a:avLst>
          </a:prstGeom>
          <a:solidFill>
            <a:srgbClr val="E8DAEF"/>
          </a:solidFill>
          <a:ln w="12700">
            <a:solidFill>
              <a:srgbClr val="E2D9CF"/>
            </a:solidFill>
            <a:prstDash val="solid"/>
          </a:ln>
        </p:spPr>
      </p:sp>
      <p:sp>
        <p:nvSpPr>
          <p:cNvPr id="21" name="Text 19"/>
          <p:cNvSpPr/>
          <p:nvPr/>
        </p:nvSpPr>
        <p:spPr>
          <a:xfrm>
            <a:off x="6263640" y="2651760"/>
            <a:ext cx="2103120" cy="320040"/>
          </a:xfrm>
          <a:prstGeom prst="rect">
            <a:avLst/>
          </a:prstGeom>
          <a:noFill/>
          <a:ln/>
        </p:spPr>
        <p:txBody>
          <a:bodyPr wrap="square" rtlCol="0" anchor="ctr">
            <a:normAutofit/>
          </a:bodyPr>
          <a:lstStyle/>
          <a:p>
            <a:pPr algn="ctr" indent="0" marL="0">
              <a:buNone/>
            </a:pPr>
            <a:r>
              <a:rPr lang="en-US" sz="1200" b="1" dirty="0">
                <a:solidFill>
                  <a:srgbClr val="282824"/>
                </a:solidFill>
                <a:latin typeface="Hiragino Sans" pitchFamily="34" charset="0"/>
                <a:ea typeface="Hiragino Sans" pitchFamily="34" charset="-122"/>
                <a:cs typeface="Hiragino Sans" pitchFamily="34" charset="-120"/>
              </a:rPr>
              <a:t>AI分類</a:t>
            </a:r>
            <a:endParaRPr lang="en-US" sz="1200" dirty="0"/>
          </a:p>
        </p:txBody>
      </p:sp>
      <p:sp>
        <p:nvSpPr>
          <p:cNvPr id="22" name="Text 20"/>
          <p:cNvSpPr/>
          <p:nvPr/>
        </p:nvSpPr>
        <p:spPr>
          <a:xfrm>
            <a:off x="6263640" y="2971800"/>
            <a:ext cx="2103120" cy="502920"/>
          </a:xfrm>
          <a:prstGeom prst="rect">
            <a:avLst/>
          </a:prstGeom>
          <a:noFill/>
          <a:ln/>
        </p:spPr>
        <p:txBody>
          <a:bodyPr wrap="square" rtlCol="0" anchor="t">
            <a:normAutofit/>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内容/AS分離</a:t>
            </a:r>
            <a:endParaRPr lang="en-US" sz="1000" dirty="0"/>
          </a:p>
          <a:p>
            <a:pPr algn="ctr" indent="0" marL="0">
              <a:buNone/>
            </a:pPr>
            <a:r>
              <a:rPr lang="en-US" sz="1000" dirty="0">
                <a:solidFill>
                  <a:srgbClr val="4A4A45"/>
                </a:solidFill>
                <a:latin typeface="Hiragino Sans" pitchFamily="34" charset="0"/>
                <a:ea typeface="Hiragino Sans" pitchFamily="34" charset="-122"/>
                <a:cs typeface="Hiragino Sans" pitchFamily="34" charset="-120"/>
              </a:rPr>
              <a:t>フィールド振分</a:t>
            </a:r>
            <a:endParaRPr lang="en-US" sz="1000" dirty="0"/>
          </a:p>
        </p:txBody>
      </p:sp>
      <p:sp>
        <p:nvSpPr>
          <p:cNvPr id="23" name="Text 21"/>
          <p:cNvSpPr/>
          <p:nvPr/>
        </p:nvSpPr>
        <p:spPr>
          <a:xfrm>
            <a:off x="8366760" y="2606040"/>
            <a:ext cx="365760" cy="914400"/>
          </a:xfrm>
          <a:prstGeom prst="rect">
            <a:avLst/>
          </a:prstGeom>
          <a:noFill/>
          <a:ln/>
        </p:spPr>
        <p:txBody>
          <a:bodyPr wrap="square" rtlCol="0" anchor="ctr">
            <a:normAutofit/>
          </a:bodyPr>
          <a:lstStyle/>
          <a:p>
            <a:pPr algn="ctr" indent="0" marL="0">
              <a:buNone/>
            </a:pPr>
            <a:r>
              <a:rPr lang="en-US" sz="2000" dirty="0">
                <a:solidFill>
                  <a:srgbClr val="95A5A6"/>
                </a:solidFill>
                <a:latin typeface="Hiragino Sans" pitchFamily="34" charset="0"/>
                <a:ea typeface="Hiragino Sans" pitchFamily="34" charset="-122"/>
                <a:cs typeface="Hiragino Sans" pitchFamily="34" charset="-120"/>
              </a:rPr>
              <a:t>→</a:t>
            </a:r>
            <a:endParaRPr lang="en-US" sz="2000" dirty="0"/>
          </a:p>
        </p:txBody>
      </p:sp>
      <p:sp>
        <p:nvSpPr>
          <p:cNvPr id="24" name="Shape 22"/>
          <p:cNvSpPr/>
          <p:nvPr/>
        </p:nvSpPr>
        <p:spPr>
          <a:xfrm>
            <a:off x="8732520" y="2606040"/>
            <a:ext cx="2103120" cy="914400"/>
          </a:xfrm>
          <a:prstGeom prst="rect">
            <a:avLst>
              <a:gd name="adj" fmla="val 8000"/>
            </a:avLst>
          </a:prstGeom>
          <a:solidFill>
            <a:srgbClr val="FDEBD0"/>
          </a:solidFill>
          <a:ln w="12700">
            <a:solidFill>
              <a:srgbClr val="E2D9CF"/>
            </a:solidFill>
            <a:prstDash val="solid"/>
          </a:ln>
        </p:spPr>
      </p:sp>
      <p:sp>
        <p:nvSpPr>
          <p:cNvPr id="25" name="Text 23"/>
          <p:cNvSpPr/>
          <p:nvPr/>
        </p:nvSpPr>
        <p:spPr>
          <a:xfrm>
            <a:off x="8732520" y="2651760"/>
            <a:ext cx="2103120" cy="320040"/>
          </a:xfrm>
          <a:prstGeom prst="rect">
            <a:avLst/>
          </a:prstGeom>
          <a:noFill/>
          <a:ln/>
        </p:spPr>
        <p:txBody>
          <a:bodyPr wrap="square" rtlCol="0" anchor="ctr">
            <a:normAutofit/>
          </a:bodyPr>
          <a:lstStyle/>
          <a:p>
            <a:pPr algn="ctr" indent="0" marL="0">
              <a:buNone/>
            </a:pPr>
            <a:r>
              <a:rPr lang="en-US" sz="1200" b="1" dirty="0">
                <a:solidFill>
                  <a:srgbClr val="282824"/>
                </a:solidFill>
                <a:latin typeface="Hiragino Sans" pitchFamily="34" charset="0"/>
                <a:ea typeface="Hiragino Sans" pitchFamily="34" charset="-122"/>
                <a:cs typeface="Hiragino Sans" pitchFamily="34" charset="-120"/>
              </a:rPr>
              <a:t>7UIパターン</a:t>
            </a:r>
            <a:endParaRPr lang="en-US" sz="1200" dirty="0"/>
          </a:p>
        </p:txBody>
      </p:sp>
      <p:sp>
        <p:nvSpPr>
          <p:cNvPr id="26" name="Text 24"/>
          <p:cNvSpPr/>
          <p:nvPr/>
        </p:nvSpPr>
        <p:spPr>
          <a:xfrm>
            <a:off x="8732520" y="2971800"/>
            <a:ext cx="2103120" cy="502920"/>
          </a:xfrm>
          <a:prstGeom prst="rect">
            <a:avLst/>
          </a:prstGeom>
          <a:noFill/>
          <a:ln/>
        </p:spPr>
        <p:txBody>
          <a:bodyPr wrap="square" rtlCol="0" anchor="t">
            <a:normAutofit/>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タップ入力</a:t>
            </a:r>
            <a:endParaRPr lang="en-US" sz="1000" dirty="0"/>
          </a:p>
          <a:p>
            <a:pPr algn="ctr" indent="0" marL="0">
              <a:buNone/>
            </a:pPr>
            <a:r>
              <a:rPr lang="en-US" sz="1000" dirty="0">
                <a:solidFill>
                  <a:srgbClr val="4A4A45"/>
                </a:solidFill>
                <a:latin typeface="Hiragino Sans" pitchFamily="34" charset="0"/>
                <a:ea typeface="Hiragino Sans" pitchFamily="34" charset="-122"/>
                <a:cs typeface="Hiragino Sans" pitchFamily="34" charset="-120"/>
              </a:rPr>
              <a:t>95%カバー</a:t>
            </a:r>
            <a:endParaRPr lang="en-US" sz="1000" dirty="0"/>
          </a:p>
        </p:txBody>
      </p:sp>
      <p:sp>
        <p:nvSpPr>
          <p:cNvPr id="27" name="Text 25"/>
          <p:cNvSpPr/>
          <p:nvPr/>
        </p:nvSpPr>
        <p:spPr>
          <a:xfrm>
            <a:off x="10835640" y="2606040"/>
            <a:ext cx="365760" cy="914400"/>
          </a:xfrm>
          <a:prstGeom prst="rect">
            <a:avLst/>
          </a:prstGeom>
          <a:noFill/>
          <a:ln/>
        </p:spPr>
        <p:txBody>
          <a:bodyPr wrap="square" rtlCol="0" anchor="ctr">
            <a:normAutofit/>
          </a:bodyPr>
          <a:lstStyle/>
          <a:p>
            <a:pPr algn="ctr" indent="0" marL="0">
              <a:buNone/>
            </a:pPr>
            <a:r>
              <a:rPr lang="en-US" sz="2000" dirty="0">
                <a:solidFill>
                  <a:srgbClr val="95A5A6"/>
                </a:solidFill>
                <a:latin typeface="Hiragino Sans" pitchFamily="34" charset="0"/>
                <a:ea typeface="Hiragino Sans" pitchFamily="34" charset="-122"/>
                <a:cs typeface="Hiragino Sans" pitchFamily="34" charset="-120"/>
              </a:rPr>
              <a:t>→</a:t>
            </a:r>
            <a:endParaRPr lang="en-US" sz="2000" dirty="0"/>
          </a:p>
        </p:txBody>
      </p:sp>
      <p:sp>
        <p:nvSpPr>
          <p:cNvPr id="28" name="Shape 26"/>
          <p:cNvSpPr/>
          <p:nvPr/>
        </p:nvSpPr>
        <p:spPr>
          <a:xfrm>
            <a:off x="11201400" y="2606040"/>
            <a:ext cx="2103120" cy="914400"/>
          </a:xfrm>
          <a:prstGeom prst="rect">
            <a:avLst>
              <a:gd name="adj" fmla="val 8000"/>
            </a:avLst>
          </a:prstGeom>
          <a:solidFill>
            <a:srgbClr val="D1F2EB"/>
          </a:solidFill>
          <a:ln w="12700">
            <a:solidFill>
              <a:srgbClr val="E2D9CF"/>
            </a:solidFill>
            <a:prstDash val="solid"/>
          </a:ln>
        </p:spPr>
      </p:sp>
      <p:sp>
        <p:nvSpPr>
          <p:cNvPr id="29" name="Text 27"/>
          <p:cNvSpPr/>
          <p:nvPr/>
        </p:nvSpPr>
        <p:spPr>
          <a:xfrm>
            <a:off x="11201400" y="2651760"/>
            <a:ext cx="2103120" cy="320040"/>
          </a:xfrm>
          <a:prstGeom prst="rect">
            <a:avLst/>
          </a:prstGeom>
          <a:noFill/>
          <a:ln/>
        </p:spPr>
        <p:txBody>
          <a:bodyPr wrap="square" rtlCol="0" anchor="ctr">
            <a:normAutofit/>
          </a:bodyPr>
          <a:lstStyle/>
          <a:p>
            <a:pPr algn="ctr" indent="0" marL="0">
              <a:buNone/>
            </a:pPr>
            <a:r>
              <a:rPr lang="en-US" sz="1200" b="1" dirty="0">
                <a:solidFill>
                  <a:srgbClr val="282824"/>
                </a:solidFill>
                <a:latin typeface="Hiragino Sans" pitchFamily="34" charset="0"/>
                <a:ea typeface="Hiragino Sans" pitchFamily="34" charset="-122"/>
                <a:cs typeface="Hiragino Sans" pitchFamily="34" charset="-120"/>
              </a:rPr>
              <a:t>DB保存</a:t>
            </a:r>
            <a:endParaRPr lang="en-US" sz="1200" dirty="0"/>
          </a:p>
        </p:txBody>
      </p:sp>
      <p:sp>
        <p:nvSpPr>
          <p:cNvPr id="30" name="Text 28"/>
          <p:cNvSpPr/>
          <p:nvPr/>
        </p:nvSpPr>
        <p:spPr>
          <a:xfrm>
            <a:off x="11201400" y="2971800"/>
            <a:ext cx="2103120" cy="502920"/>
          </a:xfrm>
          <a:prstGeom prst="rect">
            <a:avLst/>
          </a:prstGeom>
          <a:noFill/>
          <a:ln/>
        </p:spPr>
        <p:txBody>
          <a:bodyPr wrap="square" rtlCol="0" anchor="t">
            <a:normAutofit/>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38テーブル</a:t>
            </a:r>
            <a:endParaRPr lang="en-US" sz="1000" dirty="0"/>
          </a:p>
          <a:p>
            <a:pPr algn="ctr" indent="0" marL="0">
              <a:buNone/>
            </a:pPr>
            <a:r>
              <a:rPr lang="en-US" sz="1000" dirty="0">
                <a:solidFill>
                  <a:srgbClr val="4A4A45"/>
                </a:solidFill>
                <a:latin typeface="Hiragino Sans" pitchFamily="34" charset="0"/>
                <a:ea typeface="Hiragino Sans" pitchFamily="34" charset="-122"/>
                <a:cs typeface="Hiragino Sans" pitchFamily="34" charset="-120"/>
              </a:rPr>
              <a:t>181フィールド</a:t>
            </a:r>
            <a:endParaRPr lang="en-US" sz="1000" dirty="0"/>
          </a:p>
        </p:txBody>
      </p:sp>
      <p:sp>
        <p:nvSpPr>
          <p:cNvPr id="31" name="Shape 29"/>
          <p:cNvSpPr/>
          <p:nvPr/>
        </p:nvSpPr>
        <p:spPr>
          <a:xfrm>
            <a:off x="457200" y="3931920"/>
            <a:ext cx="6583680" cy="3063240"/>
          </a:xfrm>
          <a:prstGeom prst="rect">
            <a:avLst>
              <a:gd name="adj" fmla="val 2388"/>
            </a:avLst>
          </a:prstGeom>
          <a:solidFill>
            <a:srgbClr val="FFFFFF"/>
          </a:solidFill>
          <a:ln w="12700">
            <a:solidFill>
              <a:srgbClr val="16A085"/>
            </a:solidFill>
            <a:prstDash val="solid"/>
          </a:ln>
        </p:spPr>
      </p:sp>
      <p:sp>
        <p:nvSpPr>
          <p:cNvPr id="32" name="Text 30"/>
          <p:cNvSpPr/>
          <p:nvPr/>
        </p:nvSpPr>
        <p:spPr>
          <a:xfrm>
            <a:off x="640080" y="3977640"/>
            <a:ext cx="6217920" cy="320040"/>
          </a:xfrm>
          <a:prstGeom prst="rect">
            <a:avLst/>
          </a:prstGeom>
          <a:noFill/>
          <a:ln/>
        </p:spPr>
        <p:txBody>
          <a:bodyPr wrap="square" rtlCol="0" anchor="ctr">
            <a:normAutofit/>
          </a:bodyPr>
          <a:lstStyle/>
          <a:p>
            <a:pPr indent="0" marL="0">
              <a:buNone/>
            </a:pPr>
            <a:r>
              <a:rPr lang="en-US" sz="1500" b="1" dirty="0">
                <a:solidFill>
                  <a:srgbClr val="16A085"/>
                </a:solidFill>
                <a:latin typeface="Hiragino Sans" pitchFamily="34" charset="0"/>
                <a:ea typeface="Hiragino Sans" pitchFamily="34" charset="-122"/>
                <a:cs typeface="Hiragino Sans" pitchFamily="34" charset="-120"/>
              </a:rPr>
              <a:t>7つのUIパターン（発明の核心）</a:t>
            </a:r>
            <a:endParaRPr lang="en-US" sz="1500" dirty="0"/>
          </a:p>
        </p:txBody>
      </p:sp>
      <p:sp>
        <p:nvSpPr>
          <p:cNvPr id="33" name="Text 31"/>
          <p:cNvSpPr/>
          <p:nvPr/>
        </p:nvSpPr>
        <p:spPr>
          <a:xfrm>
            <a:off x="640080" y="4389120"/>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single_select_plus</a:t>
            </a:r>
            <a:endParaRPr lang="en-US" sz="1000" dirty="0"/>
          </a:p>
        </p:txBody>
      </p:sp>
      <p:sp>
        <p:nvSpPr>
          <p:cNvPr id="34" name="Text 32"/>
          <p:cNvSpPr/>
          <p:nvPr/>
        </p:nvSpPr>
        <p:spPr>
          <a:xfrm>
            <a:off x="3200400" y="4389120"/>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21F</a:t>
            </a:r>
            <a:endParaRPr lang="en-US" sz="1000" dirty="0"/>
          </a:p>
        </p:txBody>
      </p:sp>
      <p:sp>
        <p:nvSpPr>
          <p:cNvPr id="35" name="Text 33"/>
          <p:cNvSpPr/>
          <p:nvPr/>
        </p:nvSpPr>
        <p:spPr>
          <a:xfrm>
            <a:off x="3840480" y="4389120"/>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選択肢タップ+自由記述</a:t>
            </a:r>
            <a:endParaRPr lang="en-US" sz="1000" dirty="0"/>
          </a:p>
        </p:txBody>
      </p:sp>
      <p:sp>
        <p:nvSpPr>
          <p:cNvPr id="36" name="Text 34"/>
          <p:cNvSpPr/>
          <p:nvPr/>
        </p:nvSpPr>
        <p:spPr>
          <a:xfrm>
            <a:off x="640080" y="4736592"/>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quantity_input</a:t>
            </a:r>
            <a:endParaRPr lang="en-US" sz="1000" dirty="0"/>
          </a:p>
        </p:txBody>
      </p:sp>
      <p:sp>
        <p:nvSpPr>
          <p:cNvPr id="37" name="Text 35"/>
          <p:cNvSpPr/>
          <p:nvPr/>
        </p:nvSpPr>
        <p:spPr>
          <a:xfrm>
            <a:off x="3200400" y="4736592"/>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14F</a:t>
            </a:r>
            <a:endParaRPr lang="en-US" sz="1000" dirty="0"/>
          </a:p>
        </p:txBody>
      </p:sp>
      <p:sp>
        <p:nvSpPr>
          <p:cNvPr id="38" name="Text 36"/>
          <p:cNvSpPr/>
          <p:nvPr/>
        </p:nvSpPr>
        <p:spPr>
          <a:xfrm>
            <a:off x="3840480" y="4736592"/>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数値入力+単位選択</a:t>
            </a:r>
            <a:endParaRPr lang="en-US" sz="1000" dirty="0"/>
          </a:p>
        </p:txBody>
      </p:sp>
      <p:sp>
        <p:nvSpPr>
          <p:cNvPr id="39" name="Text 37"/>
          <p:cNvSpPr/>
          <p:nvPr/>
        </p:nvSpPr>
        <p:spPr>
          <a:xfrm>
            <a:off x="640080" y="5084064"/>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tag_select</a:t>
            </a:r>
            <a:endParaRPr lang="en-US" sz="1000" dirty="0"/>
          </a:p>
        </p:txBody>
      </p:sp>
      <p:sp>
        <p:nvSpPr>
          <p:cNvPr id="40" name="Text 38"/>
          <p:cNvSpPr/>
          <p:nvPr/>
        </p:nvSpPr>
        <p:spPr>
          <a:xfrm>
            <a:off x="3200400" y="5084064"/>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4F</a:t>
            </a:r>
            <a:endParaRPr lang="en-US" sz="1000" dirty="0"/>
          </a:p>
        </p:txBody>
      </p:sp>
      <p:sp>
        <p:nvSpPr>
          <p:cNvPr id="41" name="Text 39"/>
          <p:cNvSpPr/>
          <p:nvPr/>
        </p:nvSpPr>
        <p:spPr>
          <a:xfrm>
            <a:off x="3840480" y="5084064"/>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タグ複数選択+自由入力</a:t>
            </a:r>
            <a:endParaRPr lang="en-US" sz="1000" dirty="0"/>
          </a:p>
        </p:txBody>
      </p:sp>
      <p:sp>
        <p:nvSpPr>
          <p:cNvPr id="42" name="Text 40"/>
          <p:cNvSpPr/>
          <p:nvPr/>
        </p:nvSpPr>
        <p:spPr>
          <a:xfrm>
            <a:off x="640080" y="5431536"/>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time_schedule</a:t>
            </a:r>
            <a:endParaRPr lang="en-US" sz="1000" dirty="0"/>
          </a:p>
        </p:txBody>
      </p:sp>
      <p:sp>
        <p:nvSpPr>
          <p:cNvPr id="43" name="Text 41"/>
          <p:cNvSpPr/>
          <p:nvPr/>
        </p:nvSpPr>
        <p:spPr>
          <a:xfrm>
            <a:off x="3200400" y="5431536"/>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3F</a:t>
            </a:r>
            <a:endParaRPr lang="en-US" sz="1000" dirty="0"/>
          </a:p>
        </p:txBody>
      </p:sp>
      <p:sp>
        <p:nvSpPr>
          <p:cNvPr id="44" name="Text 42"/>
          <p:cNvSpPr/>
          <p:nvPr/>
        </p:nvSpPr>
        <p:spPr>
          <a:xfrm>
            <a:off x="3840480" y="5431536"/>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タイムライン形式</a:t>
            </a:r>
            <a:endParaRPr lang="en-US" sz="1000" dirty="0"/>
          </a:p>
        </p:txBody>
      </p:sp>
      <p:sp>
        <p:nvSpPr>
          <p:cNvPr id="45" name="Text 43"/>
          <p:cNvSpPr/>
          <p:nvPr/>
        </p:nvSpPr>
        <p:spPr>
          <a:xfrm>
            <a:off x="640080" y="5779008"/>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two_stage</a:t>
            </a:r>
            <a:endParaRPr lang="en-US" sz="1000" dirty="0"/>
          </a:p>
        </p:txBody>
      </p:sp>
      <p:sp>
        <p:nvSpPr>
          <p:cNvPr id="46" name="Text 44"/>
          <p:cNvSpPr/>
          <p:nvPr/>
        </p:nvSpPr>
        <p:spPr>
          <a:xfrm>
            <a:off x="3200400" y="5779008"/>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2F</a:t>
            </a:r>
            <a:endParaRPr lang="en-US" sz="1000" dirty="0"/>
          </a:p>
        </p:txBody>
      </p:sp>
      <p:sp>
        <p:nvSpPr>
          <p:cNvPr id="47" name="Text 45"/>
          <p:cNvSpPr/>
          <p:nvPr/>
        </p:nvSpPr>
        <p:spPr>
          <a:xfrm>
            <a:off x="3840480" y="5779008"/>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行動パターン→対応方法</a:t>
            </a:r>
            <a:endParaRPr lang="en-US" sz="1000" dirty="0"/>
          </a:p>
        </p:txBody>
      </p:sp>
      <p:sp>
        <p:nvSpPr>
          <p:cNvPr id="48" name="Text 46"/>
          <p:cNvSpPr/>
          <p:nvPr/>
        </p:nvSpPr>
        <p:spPr>
          <a:xfrm>
            <a:off x="640080" y="6126480"/>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grid_freetext</a:t>
            </a:r>
            <a:endParaRPr lang="en-US" sz="1000" dirty="0"/>
          </a:p>
        </p:txBody>
      </p:sp>
      <p:sp>
        <p:nvSpPr>
          <p:cNvPr id="49" name="Text 47"/>
          <p:cNvSpPr/>
          <p:nvPr/>
        </p:nvSpPr>
        <p:spPr>
          <a:xfrm>
            <a:off x="3200400" y="6126480"/>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2F</a:t>
            </a:r>
            <a:endParaRPr lang="en-US" sz="1000" dirty="0"/>
          </a:p>
        </p:txBody>
      </p:sp>
      <p:sp>
        <p:nvSpPr>
          <p:cNvPr id="50" name="Text 48"/>
          <p:cNvSpPr/>
          <p:nvPr/>
        </p:nvSpPr>
        <p:spPr>
          <a:xfrm>
            <a:off x="3840480" y="6126480"/>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グリッドxカテゴリ+テキスト</a:t>
            </a:r>
            <a:endParaRPr lang="en-US" sz="1000" dirty="0"/>
          </a:p>
        </p:txBody>
      </p:sp>
      <p:sp>
        <p:nvSpPr>
          <p:cNvPr id="51" name="Text 49"/>
          <p:cNvSpPr/>
          <p:nvPr/>
        </p:nvSpPr>
        <p:spPr>
          <a:xfrm>
            <a:off x="640080" y="6473952"/>
            <a:ext cx="2560320" cy="320040"/>
          </a:xfrm>
          <a:prstGeom prst="rect">
            <a:avLst/>
          </a:prstGeom>
          <a:noFill/>
          <a:ln/>
        </p:spPr>
        <p:txBody>
          <a:bodyPr wrap="square" rtlCol="0" anchor="ctr">
            <a:normAutofit/>
          </a:bodyPr>
          <a:lstStyle/>
          <a:p>
            <a:pPr indent="0" marL="0">
              <a:buNone/>
            </a:pPr>
            <a:r>
              <a:rPr lang="en-US" sz="1000" b="1" dirty="0">
                <a:solidFill>
                  <a:srgbClr val="16A085"/>
                </a:solidFill>
                <a:latin typeface="Hiragino Sans" pitchFamily="34" charset="0"/>
                <a:ea typeface="Hiragino Sans" pitchFamily="34" charset="-122"/>
                <a:cs typeface="Hiragino Sans" pitchFamily="34" charset="-120"/>
              </a:rPr>
              <a:t>branching_freetext</a:t>
            </a:r>
            <a:endParaRPr lang="en-US" sz="1000" dirty="0"/>
          </a:p>
        </p:txBody>
      </p:sp>
      <p:sp>
        <p:nvSpPr>
          <p:cNvPr id="52" name="Text 50"/>
          <p:cNvSpPr/>
          <p:nvPr/>
        </p:nvSpPr>
        <p:spPr>
          <a:xfrm>
            <a:off x="3200400" y="6473952"/>
            <a:ext cx="548640" cy="320040"/>
          </a:xfrm>
          <a:prstGeom prst="rect">
            <a:avLst/>
          </a:prstGeom>
          <a:noFill/>
          <a:ln/>
        </p:spPr>
        <p:txBody>
          <a:bodyPr wrap="square" rtlCol="0" anchor="ctr">
            <a:normAutofit/>
          </a:bodyPr>
          <a:lstStyle/>
          <a:p>
            <a:pPr algn="ctr" indent="0" marL="0">
              <a:buNone/>
            </a:pPr>
            <a:r>
              <a:rPr lang="en-US" sz="1000" b="1" dirty="0">
                <a:solidFill>
                  <a:srgbClr val="E67E22"/>
                </a:solidFill>
                <a:latin typeface="Hiragino Sans" pitchFamily="34" charset="0"/>
                <a:ea typeface="Hiragino Sans" pitchFamily="34" charset="-122"/>
                <a:cs typeface="Hiragino Sans" pitchFamily="34" charset="-120"/>
              </a:rPr>
              <a:t>1F</a:t>
            </a:r>
            <a:endParaRPr lang="en-US" sz="1000" dirty="0"/>
          </a:p>
        </p:txBody>
      </p:sp>
      <p:sp>
        <p:nvSpPr>
          <p:cNvPr id="53" name="Text 51"/>
          <p:cNvSpPr/>
          <p:nvPr/>
        </p:nvSpPr>
        <p:spPr>
          <a:xfrm>
            <a:off x="3840480" y="6473952"/>
            <a:ext cx="3017520" cy="32004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L1→L2→L3の3段階分岐</a:t>
            </a:r>
            <a:endParaRPr lang="en-US" sz="1000" dirty="0"/>
          </a:p>
        </p:txBody>
      </p:sp>
      <p:sp>
        <p:nvSpPr>
          <p:cNvPr id="54" name="Shape 52"/>
          <p:cNvSpPr/>
          <p:nvPr/>
        </p:nvSpPr>
        <p:spPr>
          <a:xfrm>
            <a:off x="7223760" y="3931920"/>
            <a:ext cx="6949440" cy="3063240"/>
          </a:xfrm>
          <a:prstGeom prst="rect">
            <a:avLst>
              <a:gd name="adj" fmla="val 2388"/>
            </a:avLst>
          </a:prstGeom>
          <a:solidFill>
            <a:srgbClr val="D1F2EB"/>
          </a:solidFill>
          <a:ln w="12700">
            <a:solidFill>
              <a:srgbClr val="16A085"/>
            </a:solidFill>
            <a:prstDash val="solid"/>
          </a:ln>
        </p:spPr>
      </p:sp>
      <p:sp>
        <p:nvSpPr>
          <p:cNvPr id="55" name="Text 53"/>
          <p:cNvSpPr/>
          <p:nvPr/>
        </p:nvSpPr>
        <p:spPr>
          <a:xfrm>
            <a:off x="7406640" y="3977640"/>
            <a:ext cx="6583680" cy="320040"/>
          </a:xfrm>
          <a:prstGeom prst="rect">
            <a:avLst/>
          </a:prstGeom>
          <a:noFill/>
          <a:ln/>
        </p:spPr>
        <p:txBody>
          <a:bodyPr wrap="square" rtlCol="0" anchor="ctr">
            <a:normAutofit/>
          </a:bodyPr>
          <a:lstStyle/>
          <a:p>
            <a:pPr indent="0" marL="0">
              <a:buNone/>
            </a:pPr>
            <a:r>
              <a:rPr lang="en-US" sz="1500" b="1" dirty="0">
                <a:solidFill>
                  <a:srgbClr val="16A085"/>
                </a:solidFill>
                <a:latin typeface="Hiragino Sans" pitchFamily="34" charset="0"/>
                <a:ea typeface="Hiragino Sans" pitchFamily="34" charset="-122"/>
                <a:cs typeface="Hiragino Sans" pitchFamily="34" charset="-120"/>
              </a:rPr>
              <a:t>特許構成・費用</a:t>
            </a:r>
            <a:endParaRPr lang="en-US" sz="1500" dirty="0"/>
          </a:p>
        </p:txBody>
      </p:sp>
      <p:sp>
        <p:nvSpPr>
          <p:cNvPr id="56" name="Text 54"/>
          <p:cNvSpPr/>
          <p:nvPr/>
        </p:nvSpPr>
        <p:spPr>
          <a:xfrm>
            <a:off x="7406640" y="4389120"/>
            <a:ext cx="6583680" cy="2514600"/>
          </a:xfrm>
          <a:prstGeom prst="rect">
            <a:avLst/>
          </a:prstGeom>
          <a:noFill/>
          <a:ln/>
        </p:spPr>
        <p:txBody>
          <a:bodyPr wrap="square" rtlCol="0" anchor="t">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[統合数値]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印刷選択肢: 134F/940opt + OCR: 47F/567opt
</a:t>
            </a:r>
            <a:endParaRPr lang="en-US" sz="1200" dirty="0"/>
          </a:p>
          <a:p>
            <a:pPr indent="0" marL="0">
              <a:buNone/>
            </a:pPr>
            <a:r>
              <a:rPr lang="en-US" sz="1200" b="1" dirty="0">
                <a:solidFill>
                  <a:srgbClr val="E67E22"/>
                </a:solidFill>
                <a:latin typeface="Hiragino Sans" pitchFamily="34" charset="0"/>
                <a:ea typeface="Hiragino Sans" pitchFamily="34" charset="-122"/>
                <a:cs typeface="Hiragino Sans" pitchFamily="34" charset="-120"/>
              </a:rPr>
              <a:t>統合: 181F / 1,507選択肢 / タップ率95%+
</a:t>
            </a:r>
            <a:endParaRPr lang="en-US" sz="1200" dirty="0"/>
          </a:p>
          <a:p>
            <a:pPr indent="0" marL="0">
              <a:buNone/>
            </a:pPr>
            <a:r>
              <a:rPr lang="en-US" sz="1200" b="1" dirty="0">
                <a:solidFill>
                  <a:srgbClr val="282824"/>
                </a:solidFill>
                <a:latin typeface="Hiragino Sans" pitchFamily="34" charset="0"/>
                <a:ea typeface="Hiragino Sans" pitchFamily="34" charset="-122"/>
                <a:cs typeface="Hiragino Sans" pitchFamily="34" charset="-120"/>
              </a:rPr>
              <a:t>[x行自動判定（独自技術）]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手書き記録の「x」（継続マーク）をAIが自動認識し、前日記録との連結を判定
</a:t>
            </a:r>
            <a:endParaRPr lang="en-US" sz="1200" dirty="0"/>
          </a:p>
          <a:p>
            <a:pPr indent="0" marL="0">
              <a:buNone/>
            </a:pPr>
            <a:r>
              <a:rPr lang="en-US" sz="1200" dirty="0">
                <a:solidFill>
                  <a:srgbClr val="E67E22"/>
                </a:solidFill>
                <a:latin typeface="Hiragino Sans" pitchFamily="34" charset="0"/>
                <a:ea typeface="Hiragino Sans" pitchFamily="34" charset="-122"/>
                <a:cs typeface="Hiragino Sans" pitchFamily="34" charset="-120"/>
              </a:rPr>
              <a:t>費用概算: 約80~100万円
</a:t>
            </a:r>
            <a:endParaRPr lang="en-US" sz="1200" dirty="0"/>
          </a:p>
          <a:p>
            <a:pPr indent="0" marL="0">
              <a:buNone/>
            </a:pPr>
            <a:r>
              <a:rPr lang="en-US" sz="1200" dirty="0">
                <a:solidFill>
                  <a:srgbClr val="4A4A45"/>
                </a:solidFill>
                <a:latin typeface="Hiragino Sans" pitchFamily="34" charset="0"/>
                <a:ea typeface="Hiragino Sans" pitchFamily="34" charset="-122"/>
                <a:cs typeface="Hiragino Sans" pitchFamily="34" charset="-120"/>
              </a:rPr>
              <a:t>出願時期: 2027年Q1（Phase 1完成後）</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意匠登録・商標出願の詳細計画</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画面デザインとブランドを法的に保護</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意匠: 2020年法改正でSaaS/クラウドGUIも登録可能に</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6</a:t>
            </a:r>
            <a:endParaRPr lang="en-US" sz="900" dirty="0"/>
          </a:p>
        </p:txBody>
      </p:sp>
      <p:sp>
        <p:nvSpPr>
          <p:cNvPr id="10" name="Shape 8"/>
          <p:cNvSpPr/>
          <p:nvPr/>
        </p:nvSpPr>
        <p:spPr>
          <a:xfrm>
            <a:off x="457200" y="2103120"/>
            <a:ext cx="6583680" cy="4937760"/>
          </a:xfrm>
          <a:prstGeom prst="rect">
            <a:avLst>
              <a:gd name="adj" fmla="val 1481"/>
            </a:avLst>
          </a:prstGeom>
          <a:solidFill>
            <a:srgbClr val="FFFFFF"/>
          </a:solidFill>
          <a:ln w="12700">
            <a:solidFill>
              <a:srgbClr val="8E44AD"/>
            </a:solidFill>
            <a:prstDash val="solid"/>
          </a:ln>
        </p:spPr>
      </p:sp>
      <p:sp>
        <p:nvSpPr>
          <p:cNvPr id="11" name="Text 9"/>
          <p:cNvSpPr/>
          <p:nvPr/>
        </p:nvSpPr>
        <p:spPr>
          <a:xfrm>
            <a:off x="640080" y="2148840"/>
            <a:ext cx="6217920" cy="365760"/>
          </a:xfrm>
          <a:prstGeom prst="rect">
            <a:avLst/>
          </a:prstGeom>
          <a:noFill/>
          <a:ln/>
        </p:spPr>
        <p:txBody>
          <a:bodyPr wrap="square" rtlCol="0" anchor="ctr">
            <a:normAutofit/>
          </a:bodyPr>
          <a:lstStyle/>
          <a:p>
            <a:pPr indent="0" marL="0">
              <a:buNone/>
            </a:pPr>
            <a:r>
              <a:rPr lang="en-US" sz="1500" b="1" dirty="0">
                <a:solidFill>
                  <a:srgbClr val="8E44AD"/>
                </a:solidFill>
                <a:latin typeface="Hiragino Sans" pitchFamily="34" charset="0"/>
                <a:ea typeface="Hiragino Sans" pitchFamily="34" charset="-122"/>
                <a:cs typeface="Hiragino Sans" pitchFamily="34" charset="-120"/>
              </a:rPr>
              <a:t>意匠登録候補（3件）</a:t>
            </a:r>
            <a:endParaRPr lang="en-US" sz="1500" dirty="0"/>
          </a:p>
        </p:txBody>
      </p:sp>
      <p:sp>
        <p:nvSpPr>
          <p:cNvPr id="12" name="Shape 10"/>
          <p:cNvSpPr/>
          <p:nvPr/>
        </p:nvSpPr>
        <p:spPr>
          <a:xfrm>
            <a:off x="640080" y="2697480"/>
            <a:ext cx="6217920" cy="1280160"/>
          </a:xfrm>
          <a:prstGeom prst="rect">
            <a:avLst>
              <a:gd name="adj" fmla="val 5714"/>
            </a:avLst>
          </a:prstGeom>
          <a:solidFill>
            <a:srgbClr val="E8DAEF"/>
          </a:solidFill>
          <a:ln w="12700">
            <a:solidFill>
              <a:srgbClr val="8E44AD"/>
            </a:solidFill>
            <a:prstDash val="solid"/>
          </a:ln>
        </p:spPr>
      </p:sp>
      <p:sp>
        <p:nvSpPr>
          <p:cNvPr id="13" name="Text 11"/>
          <p:cNvSpPr/>
          <p:nvPr/>
        </p:nvSpPr>
        <p:spPr>
          <a:xfrm>
            <a:off x="822960" y="2788920"/>
            <a:ext cx="41148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利用者ポータル（ひらがなUI）</a:t>
            </a:r>
            <a:endParaRPr lang="en-US" sz="1200" dirty="0"/>
          </a:p>
        </p:txBody>
      </p:sp>
      <p:sp>
        <p:nvSpPr>
          <p:cNvPr id="14" name="Text 12"/>
          <p:cNvSpPr/>
          <p:nvPr/>
        </p:nvSpPr>
        <p:spPr>
          <a:xfrm>
            <a:off x="5029200" y="2788920"/>
            <a:ext cx="1645920" cy="274320"/>
          </a:xfrm>
          <a:prstGeom prst="rect">
            <a:avLst/>
          </a:prstGeom>
          <a:noFill/>
          <a:ln/>
        </p:spPr>
        <p:txBody>
          <a:bodyPr wrap="square" rtlCol="0" anchor="ctr">
            <a:normAutofit/>
          </a:bodyPr>
          <a:lstStyle/>
          <a:p>
            <a:pPr algn="r" indent="0" marL="0">
              <a:buNone/>
            </a:pPr>
            <a:r>
              <a:rPr lang="en-US" sz="1000" dirty="0">
                <a:solidFill>
                  <a:srgbClr val="E67E22"/>
                </a:solidFill>
                <a:latin typeface="Hiragino Sans" pitchFamily="34" charset="0"/>
                <a:ea typeface="Hiragino Sans" pitchFamily="34" charset="-122"/>
                <a:cs typeface="Hiragino Sans" pitchFamily="34" charset="-120"/>
              </a:rPr>
              <a:t>費用: 10~15万</a:t>
            </a:r>
            <a:endParaRPr lang="en-US" sz="1000" dirty="0"/>
          </a:p>
        </p:txBody>
      </p:sp>
      <p:sp>
        <p:nvSpPr>
          <p:cNvPr id="15" name="Text 13"/>
          <p:cNvSpPr/>
          <p:nvPr/>
        </p:nvSpPr>
        <p:spPr>
          <a:xfrm>
            <a:off x="822960" y="3081528"/>
            <a:ext cx="5852160" cy="50292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知的障害者向け大きなボタン・ひらがなUI。福祉分野で前例なく新規性高い</a:t>
            </a:r>
            <a:endParaRPr lang="en-US" sz="1000" dirty="0"/>
          </a:p>
        </p:txBody>
      </p:sp>
      <p:sp>
        <p:nvSpPr>
          <p:cNvPr id="16" name="Text 14"/>
          <p:cNvSpPr/>
          <p:nvPr/>
        </p:nvSpPr>
        <p:spPr>
          <a:xfrm>
            <a:off x="822960" y="3593592"/>
            <a:ext cx="2743200" cy="228600"/>
          </a:xfrm>
          <a:prstGeom prst="rect">
            <a:avLst/>
          </a:prstGeom>
          <a:noFill/>
          <a:ln/>
        </p:spPr>
        <p:txBody>
          <a:bodyPr wrap="square" rtlCol="0" anchor="ctr">
            <a:normAutofit/>
          </a:bodyPr>
          <a:lstStyle/>
          <a:p>
            <a:pPr indent="0" marL="0">
              <a:buNone/>
            </a:pPr>
            <a:r>
              <a:rPr lang="en-US" sz="1000" b="1" dirty="0">
                <a:solidFill>
                  <a:srgbClr val="8E44AD"/>
                </a:solidFill>
                <a:latin typeface="Hiragino Sans" pitchFamily="34" charset="0"/>
                <a:ea typeface="Hiragino Sans" pitchFamily="34" charset="-122"/>
                <a:cs typeface="Hiragino Sans" pitchFamily="34" charset="-120"/>
              </a:rPr>
              <a:t>出願: 2026 Q4</a:t>
            </a:r>
            <a:endParaRPr lang="en-US" sz="1000" dirty="0"/>
          </a:p>
        </p:txBody>
      </p:sp>
      <p:sp>
        <p:nvSpPr>
          <p:cNvPr id="17" name="Shape 15"/>
          <p:cNvSpPr/>
          <p:nvPr/>
        </p:nvSpPr>
        <p:spPr>
          <a:xfrm>
            <a:off x="640080" y="4114800"/>
            <a:ext cx="6217920" cy="1280160"/>
          </a:xfrm>
          <a:prstGeom prst="rect">
            <a:avLst>
              <a:gd name="adj" fmla="val 5714"/>
            </a:avLst>
          </a:prstGeom>
          <a:solidFill>
            <a:srgbClr val="E8DAEF"/>
          </a:solidFill>
          <a:ln w="12700">
            <a:solidFill>
              <a:srgbClr val="8E44AD"/>
            </a:solidFill>
            <a:prstDash val="solid"/>
          </a:ln>
        </p:spPr>
      </p:sp>
      <p:sp>
        <p:nvSpPr>
          <p:cNvPr id="18" name="Text 16"/>
          <p:cNvSpPr/>
          <p:nvPr/>
        </p:nvSpPr>
        <p:spPr>
          <a:xfrm>
            <a:off x="822960" y="4206240"/>
            <a:ext cx="41148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分岐入力UI画面遷移</a:t>
            </a:r>
            <a:endParaRPr lang="en-US" sz="1200" dirty="0"/>
          </a:p>
        </p:txBody>
      </p:sp>
      <p:sp>
        <p:nvSpPr>
          <p:cNvPr id="19" name="Text 17"/>
          <p:cNvSpPr/>
          <p:nvPr/>
        </p:nvSpPr>
        <p:spPr>
          <a:xfrm>
            <a:off x="5029200" y="4206240"/>
            <a:ext cx="1645920" cy="274320"/>
          </a:xfrm>
          <a:prstGeom prst="rect">
            <a:avLst/>
          </a:prstGeom>
          <a:noFill/>
          <a:ln/>
        </p:spPr>
        <p:txBody>
          <a:bodyPr wrap="square" rtlCol="0" anchor="ctr">
            <a:normAutofit/>
          </a:bodyPr>
          <a:lstStyle/>
          <a:p>
            <a:pPr algn="r" indent="0" marL="0">
              <a:buNone/>
            </a:pPr>
            <a:r>
              <a:rPr lang="en-US" sz="1000" dirty="0">
                <a:solidFill>
                  <a:srgbClr val="E67E22"/>
                </a:solidFill>
                <a:latin typeface="Hiragino Sans" pitchFamily="34" charset="0"/>
                <a:ea typeface="Hiragino Sans" pitchFamily="34" charset="-122"/>
                <a:cs typeface="Hiragino Sans" pitchFamily="34" charset="-120"/>
              </a:rPr>
              <a:t>費用: 10~15万</a:t>
            </a:r>
            <a:endParaRPr lang="en-US" sz="1000" dirty="0"/>
          </a:p>
        </p:txBody>
      </p:sp>
      <p:sp>
        <p:nvSpPr>
          <p:cNvPr id="20" name="Text 18"/>
          <p:cNvSpPr/>
          <p:nvPr/>
        </p:nvSpPr>
        <p:spPr>
          <a:xfrm>
            <a:off x="822960" y="4498848"/>
            <a:ext cx="5852160" cy="50292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7UIパターンの画面遷移デザイン。タップ入力95%を実現する革新的UI</a:t>
            </a:r>
            <a:endParaRPr lang="en-US" sz="1000" dirty="0"/>
          </a:p>
        </p:txBody>
      </p:sp>
      <p:sp>
        <p:nvSpPr>
          <p:cNvPr id="21" name="Text 19"/>
          <p:cNvSpPr/>
          <p:nvPr/>
        </p:nvSpPr>
        <p:spPr>
          <a:xfrm>
            <a:off x="822960" y="5010912"/>
            <a:ext cx="2743200" cy="228600"/>
          </a:xfrm>
          <a:prstGeom prst="rect">
            <a:avLst/>
          </a:prstGeom>
          <a:noFill/>
          <a:ln/>
        </p:spPr>
        <p:txBody>
          <a:bodyPr wrap="square" rtlCol="0" anchor="ctr">
            <a:normAutofit/>
          </a:bodyPr>
          <a:lstStyle/>
          <a:p>
            <a:pPr indent="0" marL="0">
              <a:buNone/>
            </a:pPr>
            <a:r>
              <a:rPr lang="en-US" sz="1000" b="1" dirty="0">
                <a:solidFill>
                  <a:srgbClr val="8E44AD"/>
                </a:solidFill>
                <a:latin typeface="Hiragino Sans" pitchFamily="34" charset="0"/>
                <a:ea typeface="Hiragino Sans" pitchFamily="34" charset="-122"/>
                <a:cs typeface="Hiragino Sans" pitchFamily="34" charset="-120"/>
              </a:rPr>
              <a:t>出願: 2027 Q1</a:t>
            </a:r>
            <a:endParaRPr lang="en-US" sz="1000" dirty="0"/>
          </a:p>
        </p:txBody>
      </p:sp>
      <p:sp>
        <p:nvSpPr>
          <p:cNvPr id="22" name="Shape 20"/>
          <p:cNvSpPr/>
          <p:nvPr/>
        </p:nvSpPr>
        <p:spPr>
          <a:xfrm>
            <a:off x="640080" y="5532120"/>
            <a:ext cx="6217920" cy="1280160"/>
          </a:xfrm>
          <a:prstGeom prst="rect">
            <a:avLst>
              <a:gd name="adj" fmla="val 5714"/>
            </a:avLst>
          </a:prstGeom>
          <a:solidFill>
            <a:srgbClr val="E8DAEF"/>
          </a:solidFill>
          <a:ln w="12700">
            <a:solidFill>
              <a:srgbClr val="8E44AD"/>
            </a:solidFill>
            <a:prstDash val="solid"/>
          </a:ln>
        </p:spPr>
      </p:sp>
      <p:sp>
        <p:nvSpPr>
          <p:cNvPr id="23" name="Text 21"/>
          <p:cNvSpPr/>
          <p:nvPr/>
        </p:nvSpPr>
        <p:spPr>
          <a:xfrm>
            <a:off x="822960" y="5623560"/>
            <a:ext cx="41148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タブレット記録画面</a:t>
            </a:r>
            <a:endParaRPr lang="en-US" sz="1200" dirty="0"/>
          </a:p>
        </p:txBody>
      </p:sp>
      <p:sp>
        <p:nvSpPr>
          <p:cNvPr id="24" name="Text 22"/>
          <p:cNvSpPr/>
          <p:nvPr/>
        </p:nvSpPr>
        <p:spPr>
          <a:xfrm>
            <a:off x="5029200" y="5623560"/>
            <a:ext cx="1645920" cy="274320"/>
          </a:xfrm>
          <a:prstGeom prst="rect">
            <a:avLst/>
          </a:prstGeom>
          <a:noFill/>
          <a:ln/>
        </p:spPr>
        <p:txBody>
          <a:bodyPr wrap="square" rtlCol="0" anchor="ctr">
            <a:normAutofit/>
          </a:bodyPr>
          <a:lstStyle/>
          <a:p>
            <a:pPr algn="r" indent="0" marL="0">
              <a:buNone/>
            </a:pPr>
            <a:r>
              <a:rPr lang="en-US" sz="1000" dirty="0">
                <a:solidFill>
                  <a:srgbClr val="E67E22"/>
                </a:solidFill>
                <a:latin typeface="Hiragino Sans" pitchFamily="34" charset="0"/>
                <a:ea typeface="Hiragino Sans" pitchFamily="34" charset="-122"/>
                <a:cs typeface="Hiragino Sans" pitchFamily="34" charset="-120"/>
              </a:rPr>
              <a:t>費用: 10~15万</a:t>
            </a:r>
            <a:endParaRPr lang="en-US" sz="1000" dirty="0"/>
          </a:p>
        </p:txBody>
      </p:sp>
      <p:sp>
        <p:nvSpPr>
          <p:cNvPr id="25" name="Text 23"/>
          <p:cNvSpPr/>
          <p:nvPr/>
        </p:nvSpPr>
        <p:spPr>
          <a:xfrm>
            <a:off x="822960" y="5916168"/>
            <a:ext cx="5852160" cy="502920"/>
          </a:xfrm>
          <a:prstGeom prst="rect">
            <a:avLst/>
          </a:prstGeom>
          <a:noFill/>
          <a:ln/>
        </p:spPr>
        <p:txBody>
          <a:bodyPr wrap="square" rtlCol="0" anchor="ctr">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食事・排泄・バイタル等の現場入力画面。12画面の統一デザインシステム</a:t>
            </a:r>
            <a:endParaRPr lang="en-US" sz="1000" dirty="0"/>
          </a:p>
        </p:txBody>
      </p:sp>
      <p:sp>
        <p:nvSpPr>
          <p:cNvPr id="26" name="Text 24"/>
          <p:cNvSpPr/>
          <p:nvPr/>
        </p:nvSpPr>
        <p:spPr>
          <a:xfrm>
            <a:off x="822960" y="6428232"/>
            <a:ext cx="2743200" cy="228600"/>
          </a:xfrm>
          <a:prstGeom prst="rect">
            <a:avLst/>
          </a:prstGeom>
          <a:noFill/>
          <a:ln/>
        </p:spPr>
        <p:txBody>
          <a:bodyPr wrap="square" rtlCol="0" anchor="ctr">
            <a:normAutofit/>
          </a:bodyPr>
          <a:lstStyle/>
          <a:p>
            <a:pPr indent="0" marL="0">
              <a:buNone/>
            </a:pPr>
            <a:r>
              <a:rPr lang="en-US" sz="1000" b="1" dirty="0">
                <a:solidFill>
                  <a:srgbClr val="8E44AD"/>
                </a:solidFill>
                <a:latin typeface="Hiragino Sans" pitchFamily="34" charset="0"/>
                <a:ea typeface="Hiragino Sans" pitchFamily="34" charset="-122"/>
                <a:cs typeface="Hiragino Sans" pitchFamily="34" charset="-120"/>
              </a:rPr>
              <a:t>出願: 2027 Q1</a:t>
            </a:r>
            <a:endParaRPr lang="en-US" sz="1000" dirty="0"/>
          </a:p>
        </p:txBody>
      </p:sp>
      <p:sp>
        <p:nvSpPr>
          <p:cNvPr id="27" name="Shape 25"/>
          <p:cNvSpPr/>
          <p:nvPr/>
        </p:nvSpPr>
        <p:spPr>
          <a:xfrm>
            <a:off x="7223760" y="2103120"/>
            <a:ext cx="6949440" cy="4937760"/>
          </a:xfrm>
          <a:prstGeom prst="rect">
            <a:avLst>
              <a:gd name="adj" fmla="val 1481"/>
            </a:avLst>
          </a:prstGeom>
          <a:solidFill>
            <a:srgbClr val="FFFFFF"/>
          </a:solidFill>
          <a:ln w="12700">
            <a:solidFill>
              <a:srgbClr val="27AE60"/>
            </a:solidFill>
            <a:prstDash val="solid"/>
          </a:ln>
        </p:spPr>
      </p:sp>
      <p:sp>
        <p:nvSpPr>
          <p:cNvPr id="28" name="Text 26"/>
          <p:cNvSpPr/>
          <p:nvPr/>
        </p:nvSpPr>
        <p:spPr>
          <a:xfrm>
            <a:off x="7406640" y="2148840"/>
            <a:ext cx="6583680" cy="365760"/>
          </a:xfrm>
          <a:prstGeom prst="rect">
            <a:avLst/>
          </a:prstGeom>
          <a:noFill/>
          <a:ln/>
        </p:spPr>
        <p:txBody>
          <a:bodyPr wrap="square" rtlCol="0" anchor="ctr">
            <a:normAutofit/>
          </a:bodyPr>
          <a:lstStyle/>
          <a:p>
            <a:pPr indent="0" marL="0">
              <a:buNone/>
            </a:pPr>
            <a:r>
              <a:rPr lang="en-US" sz="1500" b="1" dirty="0">
                <a:solidFill>
                  <a:srgbClr val="27AE60"/>
                </a:solidFill>
                <a:latin typeface="Hiragino Sans" pitchFamily="34" charset="0"/>
                <a:ea typeface="Hiragino Sans" pitchFamily="34" charset="-122"/>
                <a:cs typeface="Hiragino Sans" pitchFamily="34" charset="-120"/>
              </a:rPr>
              <a:t>商標出願候補（4件）-- 最優先</a:t>
            </a:r>
            <a:endParaRPr lang="en-US" sz="1500" dirty="0"/>
          </a:p>
        </p:txBody>
      </p:sp>
      <p:sp>
        <p:nvSpPr>
          <p:cNvPr id="29" name="Shape 27"/>
          <p:cNvSpPr/>
          <p:nvPr/>
        </p:nvSpPr>
        <p:spPr>
          <a:xfrm>
            <a:off x="7406640" y="2651760"/>
            <a:ext cx="6583680" cy="594360"/>
          </a:xfrm>
          <a:prstGeom prst="rect">
            <a:avLst>
              <a:gd name="adj" fmla="val 12308"/>
            </a:avLst>
          </a:prstGeom>
          <a:solidFill>
            <a:srgbClr val="FADBD8"/>
          </a:solidFill>
          <a:ln w="12700">
            <a:solidFill>
              <a:srgbClr val="C0392B"/>
            </a:solidFill>
            <a:prstDash val="solid"/>
          </a:ln>
        </p:spPr>
      </p:sp>
      <p:sp>
        <p:nvSpPr>
          <p:cNvPr id="30" name="Text 28"/>
          <p:cNvSpPr/>
          <p:nvPr/>
        </p:nvSpPr>
        <p:spPr>
          <a:xfrm>
            <a:off x="7589520" y="2697480"/>
            <a:ext cx="6217920" cy="457200"/>
          </a:xfrm>
          <a:prstGeom prst="rect">
            <a:avLst/>
          </a:prstGeom>
          <a:noFill/>
          <a:ln/>
        </p:spPr>
        <p:txBody>
          <a:bodyPr wrap="square" rtlCol="0" anchor="ctr">
            <a:normAutofit/>
          </a:bodyPr>
          <a:lstStyle/>
          <a:p>
            <a:pPr indent="0" marL="0">
              <a:buNone/>
            </a:pPr>
            <a:r>
              <a:rPr lang="en-US" sz="1000" b="1" dirty="0">
                <a:solidFill>
                  <a:srgbClr val="C0392B"/>
                </a:solidFill>
                <a:latin typeface="Hiragino Sans" pitchFamily="34" charset="0"/>
                <a:ea typeface="Hiragino Sans" pitchFamily="34" charset="-122"/>
                <a:cs typeface="Hiragino Sans" pitchFamily="34" charset="-120"/>
              </a:rPr>
              <a:t>! 先願主義: </a:t>
            </a:r>
            <a:pPr indent="0" marL="0">
              <a:buNone/>
            </a:pPr>
            <a:r>
              <a:rPr lang="en-US" sz="1000" dirty="0">
                <a:solidFill>
                  <a:srgbClr val="C0392B"/>
                </a:solidFill>
                <a:latin typeface="Hiragino Sans" pitchFamily="34" charset="0"/>
                <a:ea typeface="Hiragino Sans" pitchFamily="34" charset="-122"/>
                <a:cs typeface="Hiragino Sans" pitchFamily="34" charset="-120"/>
              </a:rPr>
              <a:t>商標は早い者勝ち。名称が広まる前に出願すべき。</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06640" y="3383280"/>
          <a:ext cx="6583680" cy="914400"/>
        </p:xfrm>
        <a:graphic>
          <a:graphicData uri="http://schemas.openxmlformats.org/drawingml/2006/table">
            <a:tbl>
              <a:tblPr/>
              <a:tblGrid>
                <a:gridCol w="2011680"/>
                <a:gridCol w="1828800"/>
                <a:gridCol w="731520"/>
                <a:gridCol w="1280160"/>
              </a:tblGrid>
              <a:tr h="0">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名称</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7AE60"/>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区分</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7AE60"/>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優先</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7AE60"/>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費用</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7AE60"/>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Universal Care OS</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第9類・第42類</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最優先</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12~20万</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わかるじゃん</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第9類・第41類</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最優先</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12~20万</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ユニバーサルID</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第9類・第42類</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高</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12~20万</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5F5E3"/>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ユニバーサルケアOS</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第9類・第42類</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高</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12~20万</a:t>
                      </a:r>
                      <a:endParaRPr lang="en-US" sz="1000" dirty="0">
                        <a:latin typeface="Hiragino Sans" charset="0"/>
                        <a:ea typeface="Hiragino Sans" charset="0"/>
                        <a:cs typeface="Hiragino Sans" charset="0"/>
                      </a:endParaRPr>
                    </a:p>
                  </a:txBody>
                  <a:tcPr marL="38100" marR="38100" marT="50800" marB="508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r>
            </a:tbl>
          </a:graphicData>
        </a:graphic>
      </p:graphicFrame>
      <p:sp>
        <p:nvSpPr>
          <p:cNvPr id="32" name="Text 29"/>
          <p:cNvSpPr/>
          <p:nvPr/>
        </p:nvSpPr>
        <p:spPr>
          <a:xfrm>
            <a:off x="7406640" y="5212080"/>
            <a:ext cx="6583680" cy="1371600"/>
          </a:xfrm>
          <a:prstGeom prst="rect">
            <a:avLst/>
          </a:prstGeom>
          <a:noFill/>
          <a:ln/>
        </p:spPr>
        <p:txBody>
          <a:bodyPr wrap="square" rtlCol="0" anchor="t">
            <a:normAutofit/>
          </a:bodyPr>
          <a:lstStyle/>
          <a:p>
            <a:pPr indent="0" marL="0">
              <a:buNone/>
            </a:pPr>
            <a:r>
              <a:rPr lang="en-US" sz="1200" b="1" dirty="0">
                <a:solidFill>
                  <a:srgbClr val="27AE60"/>
                </a:solidFill>
                <a:latin typeface="Hiragino Sans" pitchFamily="34" charset="0"/>
                <a:ea typeface="Hiragino Sans" pitchFamily="34" charset="-122"/>
                <a:cs typeface="Hiragino Sans" pitchFamily="34" charset="-120"/>
              </a:rPr>
              <a:t>商標合計: 約48~80万円
</a:t>
            </a:r>
            <a:endParaRPr lang="en-US" sz="1200" dirty="0"/>
          </a:p>
          <a:p>
            <a:pPr indent="0" marL="0">
              <a:buNone/>
            </a:pPr>
            <a:r>
              <a:rPr lang="en-US" sz="1000" dirty="0">
                <a:solidFill>
                  <a:srgbClr val="4A4A45"/>
                </a:solidFill>
                <a:latin typeface="Hiragino Sans" pitchFamily="34" charset="0"/>
                <a:ea typeface="Hiragino Sans" pitchFamily="34" charset="-122"/>
                <a:cs typeface="Hiragino Sans" pitchFamily="34" charset="-120"/>
              </a:rPr>
              <a:t>出願時期: 即時（2026年4月中）
</a:t>
            </a:r>
            <a:endParaRPr lang="en-US" sz="1200" dirty="0"/>
          </a:p>
          <a:p>
            <a:pPr indent="0" marL="0">
              <a:buNone/>
            </a:pPr>
            <a:r>
              <a:rPr lang="en-US" sz="1000" dirty="0">
                <a:solidFill>
                  <a:srgbClr val="4A4A45"/>
                </a:solidFill>
                <a:latin typeface="Hiragino Sans" pitchFamily="34" charset="0"/>
                <a:ea typeface="Hiragino Sans" pitchFamily="34" charset="-122"/>
                <a:cs typeface="Hiragino Sans" pitchFamily="34" charset="-120"/>
              </a:rPr>
              <a:t>印紙代: 1区分12,000円 + 弁理士5~10万/件
</a:t>
            </a:r>
            <a:endParaRPr lang="en-US" sz="1200" dirty="0"/>
          </a:p>
          <a:p>
            <a:pPr indent="0" marL="0">
              <a:buNone/>
            </a:pPr>
            <a:r>
              <a:rPr lang="en-US" sz="1000" dirty="0">
                <a:solidFill>
                  <a:srgbClr val="4A4A45"/>
                </a:solidFill>
                <a:latin typeface="Hiragino Sans" pitchFamily="34" charset="0"/>
                <a:ea typeface="Hiragino Sans" pitchFamily="34" charset="-122"/>
                <a:cs typeface="Hiragino Sans" pitchFamily="34" charset="-120"/>
              </a:rPr>
              <a:t>登録査定後: 1区分16,400円x10年</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営業秘密・著作権による保護</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特許出願しないものは営業秘密として管理</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不正競争防止法による保護 -- 秘密管理性の維持が鍵</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7</a:t>
            </a:r>
            <a:endParaRPr lang="en-US" sz="900" dirty="0"/>
          </a:p>
        </p:txBody>
      </p:sp>
      <p:sp>
        <p:nvSpPr>
          <p:cNvPr id="10" name="Shape 8"/>
          <p:cNvSpPr/>
          <p:nvPr/>
        </p:nvSpPr>
        <p:spPr>
          <a:xfrm>
            <a:off x="457200" y="2103120"/>
            <a:ext cx="6583680" cy="5577840"/>
          </a:xfrm>
          <a:prstGeom prst="rect">
            <a:avLst>
              <a:gd name="adj" fmla="val 1311"/>
            </a:avLst>
          </a:prstGeom>
          <a:solidFill>
            <a:srgbClr val="FFFFFF"/>
          </a:solidFill>
          <a:ln w="12700">
            <a:solidFill>
              <a:srgbClr val="C0392B"/>
            </a:solidFill>
            <a:prstDash val="solid"/>
          </a:ln>
        </p:spPr>
      </p:sp>
      <p:sp>
        <p:nvSpPr>
          <p:cNvPr id="11" name="Text 9"/>
          <p:cNvSpPr/>
          <p:nvPr/>
        </p:nvSpPr>
        <p:spPr>
          <a:xfrm>
            <a:off x="640080" y="2148840"/>
            <a:ext cx="6217920" cy="365760"/>
          </a:xfrm>
          <a:prstGeom prst="rect">
            <a:avLst/>
          </a:prstGeom>
          <a:noFill/>
          <a:ln/>
        </p:spPr>
        <p:txBody>
          <a:bodyPr wrap="square" rtlCol="0" anchor="ctr">
            <a:normAutofit/>
          </a:bodyPr>
          <a:lstStyle/>
          <a:p>
            <a:pPr indent="0" marL="0">
              <a:buNone/>
            </a:pPr>
            <a:r>
              <a:rPr lang="en-US" sz="1400" b="1" dirty="0">
                <a:solidFill>
                  <a:srgbClr val="C0392B"/>
                </a:solidFill>
                <a:latin typeface="Hiragino Sans" pitchFamily="34" charset="0"/>
                <a:ea typeface="Hiragino Sans" pitchFamily="34" charset="-122"/>
                <a:cs typeface="Hiragino Sans" pitchFamily="34" charset="-120"/>
              </a:rPr>
              <a:t>営業秘密として保護すべき情報</a:t>
            </a:r>
            <a:endParaRPr lang="en-US" sz="1400" dirty="0"/>
          </a:p>
        </p:txBody>
      </p:sp>
      <p:sp>
        <p:nvSpPr>
          <p:cNvPr id="12" name="Text 10"/>
          <p:cNvSpPr/>
          <p:nvPr/>
        </p:nvSpPr>
        <p:spPr>
          <a:xfrm>
            <a:off x="640080" y="2697480"/>
            <a:ext cx="45720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自立支援マトリックス詳細体系</a:t>
            </a:r>
            <a:endParaRPr lang="en-US" sz="1200" dirty="0"/>
          </a:p>
        </p:txBody>
      </p:sp>
      <p:sp>
        <p:nvSpPr>
          <p:cNvPr id="13" name="Shape 11"/>
          <p:cNvSpPr/>
          <p:nvPr/>
        </p:nvSpPr>
        <p:spPr>
          <a:xfrm>
            <a:off x="5303520" y="2715768"/>
            <a:ext cx="594360" cy="228600"/>
          </a:xfrm>
          <a:prstGeom prst="rect">
            <a:avLst>
              <a:gd name="adj" fmla="val 20000"/>
            </a:avLst>
          </a:prstGeom>
          <a:solidFill>
            <a:srgbClr val="C0392B"/>
          </a:solidFill>
          <a:ln/>
        </p:spPr>
      </p:sp>
      <p:sp>
        <p:nvSpPr>
          <p:cNvPr id="14" name="Text 12"/>
          <p:cNvSpPr/>
          <p:nvPr/>
        </p:nvSpPr>
        <p:spPr>
          <a:xfrm>
            <a:off x="5303520" y="2715768"/>
            <a:ext cx="594360" cy="228600"/>
          </a:xfrm>
          <a:prstGeom prst="rect">
            <a:avLst/>
          </a:prstGeom>
          <a:noFill/>
          <a:ln/>
        </p:spPr>
        <p:txBody>
          <a:bodyPr wrap="square" rtlCol="0" anchor="ctr">
            <a:normAutofit/>
          </a:bodyPr>
          <a:lstStyle/>
          <a:p>
            <a:pPr algn="ctr" indent="0" marL="0">
              <a:buNone/>
            </a:pPr>
            <a:r>
              <a:rPr lang="en-US" sz="800" b="1" dirty="0">
                <a:solidFill>
                  <a:srgbClr val="FFFFFF"/>
                </a:solidFill>
                <a:latin typeface="Hiragino Sans" pitchFamily="34" charset="0"/>
                <a:ea typeface="Hiragino Sans" pitchFamily="34" charset="-122"/>
                <a:cs typeface="Hiragino Sans" pitchFamily="34" charset="-120"/>
              </a:rPr>
              <a:t>最高</a:t>
            </a:r>
            <a:endParaRPr lang="en-US" sz="800" dirty="0"/>
          </a:p>
        </p:txBody>
      </p:sp>
      <p:sp>
        <p:nvSpPr>
          <p:cNvPr id="15" name="Text 13"/>
          <p:cNvSpPr/>
          <p:nvPr/>
        </p:nvSpPr>
        <p:spPr>
          <a:xfrm>
            <a:off x="640080" y="3017520"/>
            <a:ext cx="5303520" cy="411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13段階x4層の判定基準・閾値・パターン定義</a:t>
            </a:r>
            <a:endParaRPr lang="en-US" sz="1100" dirty="0"/>
          </a:p>
        </p:txBody>
      </p:sp>
      <p:sp>
        <p:nvSpPr>
          <p:cNvPr id="16" name="Text 14"/>
          <p:cNvSpPr/>
          <p:nvPr/>
        </p:nvSpPr>
        <p:spPr>
          <a:xfrm>
            <a:off x="640080" y="3447288"/>
            <a:ext cx="2743200" cy="22860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管理: サンライズ</a:t>
            </a:r>
            <a:endParaRPr lang="en-US" sz="1000" dirty="0"/>
          </a:p>
        </p:txBody>
      </p:sp>
      <p:sp>
        <p:nvSpPr>
          <p:cNvPr id="17" name="Text 15"/>
          <p:cNvSpPr/>
          <p:nvPr/>
        </p:nvSpPr>
        <p:spPr>
          <a:xfrm>
            <a:off x="640080" y="3886200"/>
            <a:ext cx="45720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1,507選択肢データベース</a:t>
            </a:r>
            <a:endParaRPr lang="en-US" sz="1200" dirty="0"/>
          </a:p>
        </p:txBody>
      </p:sp>
      <p:sp>
        <p:nvSpPr>
          <p:cNvPr id="18" name="Shape 16"/>
          <p:cNvSpPr/>
          <p:nvPr/>
        </p:nvSpPr>
        <p:spPr>
          <a:xfrm>
            <a:off x="5303520" y="3904488"/>
            <a:ext cx="594360" cy="228600"/>
          </a:xfrm>
          <a:prstGeom prst="rect">
            <a:avLst>
              <a:gd name="adj" fmla="val 20000"/>
            </a:avLst>
          </a:prstGeom>
          <a:solidFill>
            <a:srgbClr val="E67E22"/>
          </a:solidFill>
          <a:ln/>
        </p:spPr>
      </p:sp>
      <p:sp>
        <p:nvSpPr>
          <p:cNvPr id="19" name="Text 17"/>
          <p:cNvSpPr/>
          <p:nvPr/>
        </p:nvSpPr>
        <p:spPr>
          <a:xfrm>
            <a:off x="5303520" y="3904488"/>
            <a:ext cx="594360" cy="228600"/>
          </a:xfrm>
          <a:prstGeom prst="rect">
            <a:avLst/>
          </a:prstGeom>
          <a:noFill/>
          <a:ln/>
        </p:spPr>
        <p:txBody>
          <a:bodyPr wrap="square" rtlCol="0" anchor="ctr">
            <a:normAutofit/>
          </a:bodyPr>
          <a:lstStyle/>
          <a:p>
            <a:pPr algn="ctr" indent="0" marL="0">
              <a:buNone/>
            </a:pPr>
            <a:r>
              <a:rPr lang="en-US" sz="800" b="1" dirty="0">
                <a:solidFill>
                  <a:srgbClr val="FFFFFF"/>
                </a:solidFill>
                <a:latin typeface="Hiragino Sans" pitchFamily="34" charset="0"/>
                <a:ea typeface="Hiragino Sans" pitchFamily="34" charset="-122"/>
                <a:cs typeface="Hiragino Sans" pitchFamily="34" charset="-120"/>
              </a:rPr>
              <a:t>高</a:t>
            </a:r>
            <a:endParaRPr lang="en-US" sz="800" dirty="0"/>
          </a:p>
        </p:txBody>
      </p:sp>
      <p:sp>
        <p:nvSpPr>
          <p:cNvPr id="20" name="Text 18"/>
          <p:cNvSpPr/>
          <p:nvPr/>
        </p:nvSpPr>
        <p:spPr>
          <a:xfrm>
            <a:off x="640080" y="4206240"/>
            <a:ext cx="5303520" cy="411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OCR分析で構築した全選択肢マスタ（192人分）</a:t>
            </a:r>
            <a:endParaRPr lang="en-US" sz="1100" dirty="0"/>
          </a:p>
        </p:txBody>
      </p:sp>
      <p:sp>
        <p:nvSpPr>
          <p:cNvPr id="21" name="Text 19"/>
          <p:cNvSpPr/>
          <p:nvPr/>
        </p:nvSpPr>
        <p:spPr>
          <a:xfrm>
            <a:off x="640080" y="4636008"/>
            <a:ext cx="2743200" cy="22860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管理: JV共有</a:t>
            </a:r>
            <a:endParaRPr lang="en-US" sz="1000" dirty="0"/>
          </a:p>
        </p:txBody>
      </p:sp>
      <p:sp>
        <p:nvSpPr>
          <p:cNvPr id="22" name="Text 20"/>
          <p:cNvSpPr/>
          <p:nvPr/>
        </p:nvSpPr>
        <p:spPr>
          <a:xfrm>
            <a:off x="640080" y="5074920"/>
            <a:ext cx="45720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支援パターン分析データ</a:t>
            </a:r>
            <a:endParaRPr lang="en-US" sz="1200" dirty="0"/>
          </a:p>
        </p:txBody>
      </p:sp>
      <p:sp>
        <p:nvSpPr>
          <p:cNvPr id="23" name="Shape 21"/>
          <p:cNvSpPr/>
          <p:nvPr/>
        </p:nvSpPr>
        <p:spPr>
          <a:xfrm>
            <a:off x="5303520" y="5093208"/>
            <a:ext cx="594360" cy="228600"/>
          </a:xfrm>
          <a:prstGeom prst="rect">
            <a:avLst>
              <a:gd name="adj" fmla="val 20000"/>
            </a:avLst>
          </a:prstGeom>
          <a:solidFill>
            <a:srgbClr val="E67E22"/>
          </a:solidFill>
          <a:ln/>
        </p:spPr>
      </p:sp>
      <p:sp>
        <p:nvSpPr>
          <p:cNvPr id="24" name="Text 22"/>
          <p:cNvSpPr/>
          <p:nvPr/>
        </p:nvSpPr>
        <p:spPr>
          <a:xfrm>
            <a:off x="5303520" y="5093208"/>
            <a:ext cx="594360" cy="228600"/>
          </a:xfrm>
          <a:prstGeom prst="rect">
            <a:avLst/>
          </a:prstGeom>
          <a:noFill/>
          <a:ln/>
        </p:spPr>
        <p:txBody>
          <a:bodyPr wrap="square" rtlCol="0" anchor="ctr">
            <a:normAutofit/>
          </a:bodyPr>
          <a:lstStyle/>
          <a:p>
            <a:pPr algn="ctr" indent="0" marL="0">
              <a:buNone/>
            </a:pPr>
            <a:r>
              <a:rPr lang="en-US" sz="800" b="1" dirty="0">
                <a:solidFill>
                  <a:srgbClr val="FFFFFF"/>
                </a:solidFill>
                <a:latin typeface="Hiragino Sans" pitchFamily="34" charset="0"/>
                <a:ea typeface="Hiragino Sans" pitchFamily="34" charset="-122"/>
                <a:cs typeface="Hiragino Sans" pitchFamily="34" charset="-120"/>
              </a:rPr>
              <a:t>高</a:t>
            </a:r>
            <a:endParaRPr lang="en-US" sz="800" dirty="0"/>
          </a:p>
        </p:txBody>
      </p:sp>
      <p:sp>
        <p:nvSpPr>
          <p:cNvPr id="25" name="Text 23"/>
          <p:cNvSpPr/>
          <p:nvPr/>
        </p:nvSpPr>
        <p:spPr>
          <a:xfrm>
            <a:off x="640080" y="5394960"/>
            <a:ext cx="5303520" cy="411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2,897ページから抽出した支援パターン</a:t>
            </a:r>
            <a:endParaRPr lang="en-US" sz="1100" dirty="0"/>
          </a:p>
        </p:txBody>
      </p:sp>
      <p:sp>
        <p:nvSpPr>
          <p:cNvPr id="26" name="Text 24"/>
          <p:cNvSpPr/>
          <p:nvPr/>
        </p:nvSpPr>
        <p:spPr>
          <a:xfrm>
            <a:off x="640080" y="5824728"/>
            <a:ext cx="2743200" cy="22860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管理: JV共有</a:t>
            </a:r>
            <a:endParaRPr lang="en-US" sz="1000" dirty="0"/>
          </a:p>
        </p:txBody>
      </p:sp>
      <p:sp>
        <p:nvSpPr>
          <p:cNvPr id="27" name="Text 25"/>
          <p:cNvSpPr/>
          <p:nvPr/>
        </p:nvSpPr>
        <p:spPr>
          <a:xfrm>
            <a:off x="640080" y="6263640"/>
            <a:ext cx="45720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AIモデル学習データ</a:t>
            </a:r>
            <a:endParaRPr lang="en-US" sz="1200" dirty="0"/>
          </a:p>
        </p:txBody>
      </p:sp>
      <p:sp>
        <p:nvSpPr>
          <p:cNvPr id="28" name="Shape 26"/>
          <p:cNvSpPr/>
          <p:nvPr/>
        </p:nvSpPr>
        <p:spPr>
          <a:xfrm>
            <a:off x="5303520" y="6281928"/>
            <a:ext cx="594360" cy="228600"/>
          </a:xfrm>
          <a:prstGeom prst="rect">
            <a:avLst>
              <a:gd name="adj" fmla="val 20000"/>
            </a:avLst>
          </a:prstGeom>
          <a:solidFill>
            <a:srgbClr val="C0392B"/>
          </a:solidFill>
          <a:ln/>
        </p:spPr>
      </p:sp>
      <p:sp>
        <p:nvSpPr>
          <p:cNvPr id="29" name="Text 27"/>
          <p:cNvSpPr/>
          <p:nvPr/>
        </p:nvSpPr>
        <p:spPr>
          <a:xfrm>
            <a:off x="5303520" y="6281928"/>
            <a:ext cx="594360" cy="228600"/>
          </a:xfrm>
          <a:prstGeom prst="rect">
            <a:avLst/>
          </a:prstGeom>
          <a:noFill/>
          <a:ln/>
        </p:spPr>
        <p:txBody>
          <a:bodyPr wrap="square" rtlCol="0" anchor="ctr">
            <a:normAutofit/>
          </a:bodyPr>
          <a:lstStyle/>
          <a:p>
            <a:pPr algn="ctr" indent="0" marL="0">
              <a:buNone/>
            </a:pPr>
            <a:r>
              <a:rPr lang="en-US" sz="800" b="1" dirty="0">
                <a:solidFill>
                  <a:srgbClr val="FFFFFF"/>
                </a:solidFill>
                <a:latin typeface="Hiragino Sans" pitchFamily="34" charset="0"/>
                <a:ea typeface="Hiragino Sans" pitchFamily="34" charset="-122"/>
                <a:cs typeface="Hiragino Sans" pitchFamily="34" charset="-120"/>
              </a:rPr>
              <a:t>最高</a:t>
            </a:r>
            <a:endParaRPr lang="en-US" sz="800" dirty="0"/>
          </a:p>
        </p:txBody>
      </p:sp>
      <p:sp>
        <p:nvSpPr>
          <p:cNvPr id="30" name="Text 28"/>
          <p:cNvSpPr/>
          <p:nvPr/>
        </p:nvSpPr>
        <p:spPr>
          <a:xfrm>
            <a:off x="640080" y="6583680"/>
            <a:ext cx="5303520" cy="411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Phase 3で蓄積する危険パターン検知の教師データ</a:t>
            </a:r>
            <a:endParaRPr lang="en-US" sz="1100" dirty="0"/>
          </a:p>
        </p:txBody>
      </p:sp>
      <p:sp>
        <p:nvSpPr>
          <p:cNvPr id="31" name="Text 29"/>
          <p:cNvSpPr/>
          <p:nvPr/>
        </p:nvSpPr>
        <p:spPr>
          <a:xfrm>
            <a:off x="640080" y="7013448"/>
            <a:ext cx="2743200" cy="22860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管理: JV共有</a:t>
            </a:r>
            <a:endParaRPr lang="en-US" sz="1000" dirty="0"/>
          </a:p>
        </p:txBody>
      </p:sp>
      <p:sp>
        <p:nvSpPr>
          <p:cNvPr id="32" name="Shape 30"/>
          <p:cNvSpPr/>
          <p:nvPr/>
        </p:nvSpPr>
        <p:spPr>
          <a:xfrm>
            <a:off x="7223760" y="2103120"/>
            <a:ext cx="6949440" cy="2926080"/>
          </a:xfrm>
          <a:prstGeom prst="rect">
            <a:avLst>
              <a:gd name="adj" fmla="val 2500"/>
            </a:avLst>
          </a:prstGeom>
          <a:solidFill>
            <a:srgbClr val="FADBD8"/>
          </a:solidFill>
          <a:ln w="12700">
            <a:solidFill>
              <a:srgbClr val="C0392B"/>
            </a:solidFill>
            <a:prstDash val="solid"/>
          </a:ln>
        </p:spPr>
      </p:sp>
      <p:sp>
        <p:nvSpPr>
          <p:cNvPr id="33" name="Text 31"/>
          <p:cNvSpPr/>
          <p:nvPr/>
        </p:nvSpPr>
        <p:spPr>
          <a:xfrm>
            <a:off x="7406640" y="2148840"/>
            <a:ext cx="6583680" cy="365760"/>
          </a:xfrm>
          <a:prstGeom prst="rect">
            <a:avLst/>
          </a:prstGeom>
          <a:noFill/>
          <a:ln/>
        </p:spPr>
        <p:txBody>
          <a:bodyPr wrap="square" rtlCol="0" anchor="ctr">
            <a:normAutofit/>
          </a:bodyPr>
          <a:lstStyle/>
          <a:p>
            <a:pPr indent="0" marL="0">
              <a:buNone/>
            </a:pPr>
            <a:r>
              <a:rPr lang="en-US" sz="1500" b="1" dirty="0">
                <a:solidFill>
                  <a:srgbClr val="C0392B"/>
                </a:solidFill>
                <a:latin typeface="Hiragino Sans" pitchFamily="34" charset="0"/>
                <a:ea typeface="Hiragino Sans" pitchFamily="34" charset="-122"/>
                <a:cs typeface="Hiragino Sans" pitchFamily="34" charset="-120"/>
              </a:rPr>
              <a:t>秘密管理の3要件（不正競争防止法）</a:t>
            </a:r>
            <a:endParaRPr lang="en-US" sz="1500" dirty="0"/>
          </a:p>
        </p:txBody>
      </p:sp>
      <p:sp>
        <p:nvSpPr>
          <p:cNvPr id="34" name="Text 32"/>
          <p:cNvSpPr/>
          <p:nvPr/>
        </p:nvSpPr>
        <p:spPr>
          <a:xfrm>
            <a:off x="7406640" y="2606040"/>
            <a:ext cx="6583680" cy="2423160"/>
          </a:xfrm>
          <a:prstGeom prst="rect">
            <a:avLst/>
          </a:prstGeom>
          <a:noFill/>
          <a:ln/>
        </p:spPr>
        <p:txBody>
          <a:bodyPr wrap="square" rtlCol="0" anchor="t">
            <a:normAutofit/>
          </a:bodyPr>
          <a:lstStyle/>
          <a:p>
            <a:pPr indent="0" marL="0">
              <a:buNone/>
            </a:pPr>
            <a:r>
              <a:rPr lang="en-US" sz="1100" b="1" dirty="0">
                <a:solidFill>
                  <a:srgbClr val="282824"/>
                </a:solidFill>
                <a:latin typeface="Hiragino Sans" pitchFamily="34" charset="0"/>
                <a:ea typeface="Hiragino Sans" pitchFamily="34" charset="-122"/>
                <a:cs typeface="Hiragino Sans" pitchFamily="34" charset="-120"/>
              </a:rPr>
              <a:t>1. 秘密管理性: </a:t>
            </a:r>
            <a:pPr indent="0" marL="0">
              <a:buNone/>
            </a:pPr>
            <a:r>
              <a:rPr lang="en-US" sz="1100" dirty="0">
                <a:solidFill>
                  <a:srgbClr val="4A4A45"/>
                </a:solidFill>
                <a:latin typeface="Hiragino Sans" pitchFamily="34" charset="0"/>
                <a:ea typeface="Hiragino Sans" pitchFamily="34" charset="-122"/>
                <a:cs typeface="Hiragino Sans" pitchFamily="34" charset="-120"/>
              </a:rPr>
              <a:t>「社外秘」表示、アクセス権限管理、NDA
→マトリックス資料に表記あり。管理規程の整備が追加必要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2. 有用性: </a:t>
            </a:r>
            <a:pPr indent="0" marL="0">
              <a:buNone/>
            </a:pPr>
            <a:r>
              <a:rPr lang="en-US" sz="1100" dirty="0">
                <a:solidFill>
                  <a:srgbClr val="4A4A45"/>
                </a:solidFill>
                <a:latin typeface="Hiragino Sans" pitchFamily="34" charset="0"/>
                <a:ea typeface="Hiragino Sans" pitchFamily="34" charset="-122"/>
                <a:cs typeface="Hiragino Sans" pitchFamily="34" charset="-120"/>
              </a:rPr>
              <a:t>事業活動に有用 → 全データが事業の中核。問題なし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3. 非公知性: </a:t>
            </a:r>
            <a:pPr indent="0" marL="0">
              <a:buNone/>
            </a:pPr>
            <a:r>
              <a:rPr lang="en-US" sz="1100" dirty="0">
                <a:solidFill>
                  <a:srgbClr val="4A4A45"/>
                </a:solidFill>
                <a:latin typeface="Hiragino Sans" pitchFamily="34" charset="0"/>
                <a:ea typeface="Hiragino Sans" pitchFamily="34" charset="-122"/>
                <a:cs typeface="Hiragino Sans" pitchFamily="34" charset="-120"/>
              </a:rPr>
              <a:t>公然と知られていないこと → 詳細は未公開。特許出願で公開される情報と営業秘密にする情報の切り分けが重要</a:t>
            </a:r>
            <a:endParaRPr lang="en-US" sz="1100" dirty="0"/>
          </a:p>
        </p:txBody>
      </p:sp>
      <p:sp>
        <p:nvSpPr>
          <p:cNvPr id="35" name="Shape 33"/>
          <p:cNvSpPr/>
          <p:nvPr/>
        </p:nvSpPr>
        <p:spPr>
          <a:xfrm>
            <a:off x="7223760" y="5120640"/>
            <a:ext cx="6949440" cy="2560320"/>
          </a:xfrm>
          <a:prstGeom prst="rect">
            <a:avLst>
              <a:gd name="adj" fmla="val 2857"/>
            </a:avLst>
          </a:prstGeom>
          <a:solidFill>
            <a:srgbClr val="FFFFFF"/>
          </a:solidFill>
          <a:ln w="12700">
            <a:solidFill>
              <a:srgbClr val="E67E22"/>
            </a:solidFill>
            <a:prstDash val="solid"/>
          </a:ln>
        </p:spPr>
      </p:sp>
      <p:sp>
        <p:nvSpPr>
          <p:cNvPr id="36" name="Text 34"/>
          <p:cNvSpPr/>
          <p:nvPr/>
        </p:nvSpPr>
        <p:spPr>
          <a:xfrm>
            <a:off x="7406640" y="5166360"/>
            <a:ext cx="6583680" cy="320040"/>
          </a:xfrm>
          <a:prstGeom prst="rect">
            <a:avLst/>
          </a:prstGeom>
          <a:noFill/>
          <a:ln/>
        </p:spPr>
        <p:txBody>
          <a:bodyPr wrap="square" rtlCol="0" anchor="ctr">
            <a:normAutofit/>
          </a:bodyPr>
          <a:lstStyle/>
          <a:p>
            <a:pPr indent="0" marL="0">
              <a:buNone/>
            </a:pPr>
            <a:r>
              <a:rPr lang="en-US" sz="1500" b="1" dirty="0">
                <a:solidFill>
                  <a:srgbClr val="E67E22"/>
                </a:solidFill>
                <a:latin typeface="Hiragino Sans" pitchFamily="34" charset="0"/>
                <a:ea typeface="Hiragino Sans" pitchFamily="34" charset="-122"/>
                <a:cs typeface="Hiragino Sans" pitchFamily="34" charset="-120"/>
              </a:rPr>
              <a:t>著作権（自動発生・登録不要）</a:t>
            </a:r>
            <a:endParaRPr lang="en-US" sz="1500" dirty="0"/>
          </a:p>
        </p:txBody>
      </p:sp>
      <p:sp>
        <p:nvSpPr>
          <p:cNvPr id="37" name="Text 35"/>
          <p:cNvSpPr/>
          <p:nvPr/>
        </p:nvSpPr>
        <p:spPr>
          <a:xfrm>
            <a:off x="7406640" y="5577840"/>
            <a:ext cx="6583680" cy="2011680"/>
          </a:xfrm>
          <a:prstGeom prst="rect">
            <a:avLst/>
          </a:prstGeom>
          <a:noFill/>
          <a:ln/>
        </p:spPr>
        <p:txBody>
          <a:bodyPr wrap="square" rtlCol="0" anchor="t">
            <a:normAutofit/>
          </a:bodyPr>
          <a:lstStyle/>
          <a:p>
            <a:pPr indent="0" marL="0">
              <a:buNone/>
            </a:pPr>
            <a:r>
              <a:rPr lang="en-US" sz="1100" b="1" dirty="0">
                <a:solidFill>
                  <a:srgbClr val="282824"/>
                </a:solidFill>
                <a:latin typeface="Hiragino Sans" pitchFamily="34" charset="0"/>
                <a:ea typeface="Hiragino Sans" pitchFamily="34" charset="-122"/>
                <a:cs typeface="Hiragino Sans" pitchFamily="34" charset="-120"/>
              </a:rPr>
              <a:t>自動的に保護されるもの:
</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・ソースコード（Swift/PHP/HTML/JS）
・データベース構造の選択・配列
・マトリックスの体系的表現
・研修コンテンツ（わかるじゃんトレーニング）
</a:t>
            </a:r>
            <a:endParaRPr lang="en-US" sz="1100" dirty="0"/>
          </a:p>
          <a:p>
            <a:pPr indent="0" marL="0">
              <a:buNone/>
            </a:pPr>
            <a:r>
              <a:rPr lang="en-US" sz="1100" b="1" dirty="0">
                <a:solidFill>
                  <a:srgbClr val="E67E22"/>
                </a:solidFill>
                <a:latin typeface="Hiragino Sans" pitchFamily="34" charset="0"/>
                <a:ea typeface="Hiragino Sans" pitchFamily="34" charset="-122"/>
                <a:cs typeface="Hiragino Sans" pitchFamily="34" charset="-120"/>
              </a:rPr>
              <a:t>注意: </a:t>
            </a:r>
            <a:pPr indent="0" marL="0">
              <a:buNone/>
            </a:pPr>
            <a:r>
              <a:rPr lang="en-US" sz="1100" dirty="0">
                <a:solidFill>
                  <a:srgbClr val="4A4A45"/>
                </a:solidFill>
                <a:latin typeface="Hiragino Sans" pitchFamily="34" charset="0"/>
                <a:ea typeface="Hiragino Sans" pitchFamily="34" charset="-122"/>
                <a:cs typeface="Hiragino Sans" pitchFamily="34" charset="-120"/>
              </a:rPr>
              <a:t>「アイデア」は著作権で保護されない → 特許でカバー</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IP保護の費用総括と補助金活用</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知財関連補助金で最大半額カバー可能</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IP投資は事業の「防壁」-- 競合参入障壁と事業価値の両方を高める</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3716000" cy="914400"/>
        </p:xfrm>
        <a:graphic>
          <a:graphicData uri="http://schemas.openxmlformats.org/drawingml/2006/table">
            <a:tbl>
              <a:tblPr/>
              <a:tblGrid>
                <a:gridCol w="3200400"/>
                <a:gridCol w="914400"/>
                <a:gridCol w="2286000"/>
                <a:gridCol w="3200400"/>
                <a:gridCol w="1371600"/>
              </a:tblGrid>
              <a:tr h="0">
                <a:tc>
                  <a:txBody>
                    <a:bodyPr/>
                    <a:lstStyle/>
                    <a:p>
                      <a:pPr algn="l" indent="0" marL="0">
                        <a:buNone/>
                      </a:pPr>
                      <a:r>
                        <a:rPr lang="en-US" sz="1100" b="1" dirty="0">
                          <a:solidFill>
                            <a:srgbClr val="FFFFFF"/>
                          </a:solidFill>
                          <a:latin typeface="Hiragino Sans" pitchFamily="34" charset="0"/>
                          <a:ea typeface="Hiragino Sans" pitchFamily="34" charset="-122"/>
                          <a:cs typeface="Hiragino Sans" pitchFamily="34" charset="-120"/>
                        </a:rPr>
                        <a:t>施策</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484237"/>
                    </a:solidFill>
                  </a:tcPr>
                </a:tc>
                <a:tc>
                  <a:txBody>
                    <a:bodyPr/>
                    <a:lstStyle/>
                    <a:p>
                      <a:pPr algn="l" indent="0" marL="0">
                        <a:buNone/>
                      </a:pPr>
                      <a:r>
                        <a:rPr lang="en-US" sz="1100" b="1" dirty="0">
                          <a:solidFill>
                            <a:srgbClr val="FFFFFF"/>
                          </a:solidFill>
                          <a:latin typeface="Hiragino Sans" pitchFamily="34" charset="0"/>
                          <a:ea typeface="Hiragino Sans" pitchFamily="34" charset="-122"/>
                          <a:cs typeface="Hiragino Sans" pitchFamily="34" charset="-120"/>
                        </a:rPr>
                        <a:t>件数</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484237"/>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費用概算</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484237"/>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出願時期</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484237"/>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補助金</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484237"/>
                    </a:solidFill>
                  </a:tcPr>
                </a:tc>
              </a:tr>
              <a:tr h="0">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商標出願</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4件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48~80万円</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即時(2026年4月)</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特許(1) AI虐待予防</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1件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80~100万円</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2026年Q3</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r>
              <a:tr h="0">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特許(2) 情報開示x課金</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1件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80~100万円</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2026年Q4</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特許(3) 分岐入力UI</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1件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80~100万円</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2027年Q1</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r>
              <a:tr h="0">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意匠登録</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3件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30~50万円</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2026Q4~2027Q1</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営業秘密管理体制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l"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20~30万円</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即時</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c>
                  <a:txBody>
                    <a:bodyPr/>
                    <a:lstStyle/>
                    <a:p>
                      <a:pPr algn="ctr" indent="0" marL="0">
                        <a:buNone/>
                      </a:pPr>
                      <a:r>
                        <a:rPr lang="en-US" sz="1000" dirty="0">
                          <a:solidFill>
                            <a:srgbClr val="4A4A45"/>
                          </a:solidFill>
                          <a:latin typeface="Hiragino Sans" pitchFamily="34" charset="0"/>
                          <a:ea typeface="Hiragino Sans" pitchFamily="34" charset="-122"/>
                          <a:cs typeface="Hiragino Sans" pitchFamily="34" charset="-120"/>
                        </a:rPr>
                        <a:t>--</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9F6F0"/>
                    </a:solidFill>
                  </a:tcPr>
                </a:tc>
              </a:tr>
              <a:tr h="0">
                <a:tc>
                  <a:txBody>
                    <a:bodyPr/>
                    <a:lstStyle/>
                    <a:p>
                      <a:pPr algn="l" indent="0" marL="0">
                        <a:buNone/>
                      </a:pPr>
                      <a:r>
                        <a:rPr lang="en-US" sz="1100" b="1" dirty="0">
                          <a:solidFill>
                            <a:srgbClr val="FFFFFF"/>
                          </a:solidFill>
                          <a:latin typeface="Hiragino Sans" pitchFamily="34" charset="0"/>
                          <a:ea typeface="Hiragino Sans" pitchFamily="34" charset="-122"/>
                          <a:cs typeface="Hiragino Sans" pitchFamily="34" charset="-120"/>
                        </a:rPr>
                        <a:t>合計（初年度）</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algn="l" indent="0" marL="0">
                        <a:buNone/>
                      </a:pPr>
                      <a:r>
                        <a:rPr lang="en-US" sz="1100" b="1" dirty="0">
                          <a:solidFill>
                            <a:srgbClr val="FFFFFF"/>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338~460万円</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r>
            </a:tbl>
          </a:graphicData>
        </a:graphic>
      </p:graphicFrame>
      <p:sp>
        <p:nvSpPr>
          <p:cNvPr id="11" name="Shape 8"/>
          <p:cNvSpPr/>
          <p:nvPr/>
        </p:nvSpPr>
        <p:spPr>
          <a:xfrm>
            <a:off x="457200" y="5212080"/>
            <a:ext cx="6583680" cy="2560320"/>
          </a:xfrm>
          <a:prstGeom prst="rect">
            <a:avLst>
              <a:gd name="adj" fmla="val 2857"/>
            </a:avLst>
          </a:prstGeom>
          <a:solidFill>
            <a:srgbClr val="D5F5E3"/>
          </a:solidFill>
          <a:ln w="12700">
            <a:solidFill>
              <a:srgbClr val="27AE60"/>
            </a:solidFill>
            <a:prstDash val="solid"/>
          </a:ln>
        </p:spPr>
      </p:sp>
      <p:sp>
        <p:nvSpPr>
          <p:cNvPr id="12" name="Text 9"/>
          <p:cNvSpPr/>
          <p:nvPr/>
        </p:nvSpPr>
        <p:spPr>
          <a:xfrm>
            <a:off x="640080" y="5257800"/>
            <a:ext cx="6217920" cy="320040"/>
          </a:xfrm>
          <a:prstGeom prst="rect">
            <a:avLst/>
          </a:prstGeom>
          <a:noFill/>
          <a:ln/>
        </p:spPr>
        <p:txBody>
          <a:bodyPr wrap="square" rtlCol="0" anchor="ctr">
            <a:normAutofit/>
          </a:bodyPr>
          <a:lstStyle/>
          <a:p>
            <a:pPr indent="0" marL="0">
              <a:buNone/>
            </a:pPr>
            <a:r>
              <a:rPr lang="en-US" sz="1400" b="1" dirty="0">
                <a:solidFill>
                  <a:srgbClr val="27AE60"/>
                </a:solidFill>
                <a:latin typeface="Hiragino Sans" pitchFamily="34" charset="0"/>
                <a:ea typeface="Hiragino Sans" pitchFamily="34" charset="-122"/>
                <a:cs typeface="Hiragino Sans" pitchFamily="34" charset="-120"/>
              </a:rPr>
              <a:t>活用可能な知財関連補助金</a:t>
            </a:r>
            <a:endParaRPr lang="en-US" sz="1400" dirty="0"/>
          </a:p>
        </p:txBody>
      </p:sp>
      <p:sp>
        <p:nvSpPr>
          <p:cNvPr id="13" name="Text 10"/>
          <p:cNvSpPr/>
          <p:nvPr/>
        </p:nvSpPr>
        <p:spPr>
          <a:xfrm>
            <a:off x="640080" y="5623560"/>
            <a:ext cx="6217920" cy="2011680"/>
          </a:xfrm>
          <a:prstGeom prst="rect">
            <a:avLst/>
          </a:prstGeom>
          <a:noFill/>
          <a:ln/>
        </p:spPr>
        <p:txBody>
          <a:bodyPr wrap="square" rtlCol="0" anchor="t">
            <a:normAutofit/>
          </a:bodyPr>
          <a:lstStyle/>
          <a:p>
            <a:pPr indent="0" marL="0">
              <a:buNone/>
            </a:pPr>
            <a:r>
              <a:rPr lang="en-US" sz="1100" b="1" dirty="0">
                <a:solidFill>
                  <a:srgbClr val="282824"/>
                </a:solidFill>
                <a:latin typeface="Hiragino Sans" pitchFamily="34" charset="0"/>
                <a:ea typeface="Hiragino Sans" pitchFamily="34" charset="-122"/>
                <a:cs typeface="Hiragino Sans" pitchFamily="34" charset="-120"/>
              </a:rPr>
              <a:t>1. 特許調査費用助成: </a:t>
            </a:r>
            <a:pPr indent="0" marL="0">
              <a:buNone/>
            </a:pPr>
            <a:r>
              <a:rPr lang="en-US" sz="1100" dirty="0">
                <a:solidFill>
                  <a:srgbClr val="4A4A45"/>
                </a:solidFill>
                <a:latin typeface="Hiragino Sans" pitchFamily="34" charset="0"/>
                <a:ea typeface="Hiragino Sans" pitchFamily="34" charset="-122"/>
                <a:cs typeface="Hiragino Sans" pitchFamily="34" charset="-120"/>
              </a:rPr>
              <a:t>上限100万（1/2）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2. 知財活用製品化支援: </a:t>
            </a:r>
            <a:pPr indent="0" marL="0">
              <a:buNone/>
            </a:pPr>
            <a:r>
              <a:rPr lang="en-US" sz="1100" dirty="0">
                <a:solidFill>
                  <a:srgbClr val="4A4A45"/>
                </a:solidFill>
                <a:latin typeface="Hiragino Sans" pitchFamily="34" charset="0"/>
                <a:ea typeface="Hiragino Sans" pitchFamily="34" charset="-122"/>
                <a:cs typeface="Hiragino Sans" pitchFamily="34" charset="-120"/>
              </a:rPr>
              <a:t>上限500万（1/2）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3. ハンズオン伴走支援: </a:t>
            </a:r>
            <a:pPr indent="0" marL="0">
              <a:buNone/>
            </a:pPr>
            <a:r>
              <a:rPr lang="en-US" sz="1100" dirty="0">
                <a:solidFill>
                  <a:srgbClr val="4A4A45"/>
                </a:solidFill>
                <a:latin typeface="Hiragino Sans" pitchFamily="34" charset="0"/>
                <a:ea typeface="Hiragino Sans" pitchFamily="34" charset="-122"/>
                <a:cs typeface="Hiragino Sans" pitchFamily="34" charset="-120"/>
              </a:rPr>
              <a:t>上限1,500万（1/2）x3年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4. INPIT知財総合支援窓口: </a:t>
            </a:r>
            <a:pPr indent="0" marL="0">
              <a:buNone/>
            </a:pPr>
            <a:r>
              <a:rPr lang="en-US" sz="1100" dirty="0">
                <a:solidFill>
                  <a:srgbClr val="4A4A45"/>
                </a:solidFill>
                <a:latin typeface="Hiragino Sans" pitchFamily="34" charset="0"/>
                <a:ea typeface="Hiragino Sans" pitchFamily="34" charset="-122"/>
                <a:cs typeface="Hiragino Sans" pitchFamily="34" charset="-120"/>
              </a:rPr>
              <a:t>先行技術調査の無料支援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5. 外国出願費用助成: </a:t>
            </a:r>
            <a:pPr indent="0" marL="0">
              <a:buNone/>
            </a:pPr>
            <a:r>
              <a:rPr lang="en-US" sz="1100" dirty="0">
                <a:solidFill>
                  <a:srgbClr val="4A4A45"/>
                </a:solidFill>
                <a:latin typeface="Hiragino Sans" pitchFamily="34" charset="0"/>
                <a:ea typeface="Hiragino Sans" pitchFamily="34" charset="-122"/>
                <a:cs typeface="Hiragino Sans" pitchFamily="34" charset="-120"/>
              </a:rPr>
              <a:t>上限400万（特許）+ 60万（商標）</a:t>
            </a:r>
            <a:endParaRPr lang="en-US" sz="1100" dirty="0"/>
          </a:p>
        </p:txBody>
      </p:sp>
      <p:sp>
        <p:nvSpPr>
          <p:cNvPr id="14" name="Shape 11"/>
          <p:cNvSpPr/>
          <p:nvPr/>
        </p:nvSpPr>
        <p:spPr>
          <a:xfrm>
            <a:off x="7223760" y="5212080"/>
            <a:ext cx="6949440" cy="2560320"/>
          </a:xfrm>
          <a:prstGeom prst="rect">
            <a:avLst>
              <a:gd name="adj" fmla="val 2857"/>
            </a:avLst>
          </a:prstGeom>
          <a:solidFill>
            <a:srgbClr val="D6EAF8"/>
          </a:solidFill>
          <a:ln w="12700">
            <a:solidFill>
              <a:srgbClr val="2C6FAC"/>
            </a:solidFill>
            <a:prstDash val="solid"/>
          </a:ln>
        </p:spPr>
      </p:sp>
      <p:sp>
        <p:nvSpPr>
          <p:cNvPr id="15" name="Text 12"/>
          <p:cNvSpPr/>
          <p:nvPr/>
        </p:nvSpPr>
        <p:spPr>
          <a:xfrm>
            <a:off x="7406640" y="5257800"/>
            <a:ext cx="6583680" cy="320040"/>
          </a:xfrm>
          <a:prstGeom prst="rect">
            <a:avLst/>
          </a:prstGeom>
          <a:noFill/>
          <a:ln/>
        </p:spPr>
        <p:txBody>
          <a:bodyPr wrap="square" rtlCol="0" anchor="ctr">
            <a:normAutofit/>
          </a:bodyPr>
          <a:lstStyle/>
          <a:p>
            <a:pPr indent="0" marL="0">
              <a:buNone/>
            </a:pPr>
            <a:r>
              <a:rPr lang="en-US" sz="1400" b="1" dirty="0">
                <a:solidFill>
                  <a:srgbClr val="2C6FAC"/>
                </a:solidFill>
                <a:latin typeface="Hiragino Sans" pitchFamily="34" charset="0"/>
                <a:ea typeface="Hiragino Sans" pitchFamily="34" charset="-122"/>
                <a:cs typeface="Hiragino Sans" pitchFamily="34" charset="-120"/>
              </a:rPr>
              <a:t>IP投資のROI</a:t>
            </a:r>
            <a:endParaRPr lang="en-US" sz="1400" dirty="0"/>
          </a:p>
        </p:txBody>
      </p:sp>
      <p:sp>
        <p:nvSpPr>
          <p:cNvPr id="16" name="Text 13"/>
          <p:cNvSpPr/>
          <p:nvPr/>
        </p:nvSpPr>
        <p:spPr>
          <a:xfrm>
            <a:off x="7406640" y="5623560"/>
            <a:ext cx="6583680" cy="2011680"/>
          </a:xfrm>
          <a:prstGeom prst="rect">
            <a:avLst/>
          </a:prstGeom>
          <a:noFill/>
          <a:ln/>
        </p:spPr>
        <p:txBody>
          <a:bodyPr wrap="square" rtlCol="0" anchor="t">
            <a:normAutofit/>
          </a:bodyPr>
          <a:lstStyle/>
          <a:p>
            <a:pPr indent="0" marL="0">
              <a:buNone/>
            </a:pPr>
            <a:r>
              <a:rPr lang="en-US" sz="1100" b="1" dirty="0">
                <a:solidFill>
                  <a:srgbClr val="4A4A45"/>
                </a:solidFill>
                <a:latin typeface="Hiragino Sans" pitchFamily="34" charset="0"/>
                <a:ea typeface="Hiragino Sans" pitchFamily="34" charset="-122"/>
                <a:cs typeface="Hiragino Sans" pitchFamily="34" charset="-120"/>
              </a:rPr>
              <a:t>IP投資: 約340~460万円（初年度）
</a:t>
            </a:r>
            <a:endParaRPr lang="en-US" sz="1100" dirty="0"/>
          </a:p>
          <a:p>
            <a:pPr indent="0" marL="0">
              <a:buNone/>
            </a:pPr>
            <a:r>
              <a:rPr lang="en-US" sz="1100" b="1" dirty="0">
                <a:solidFill>
                  <a:srgbClr val="27AE60"/>
                </a:solidFill>
                <a:latin typeface="Hiragino Sans" pitchFamily="34" charset="0"/>
                <a:ea typeface="Hiragino Sans" pitchFamily="34" charset="-122"/>
                <a:cs typeface="Hiragino Sans" pitchFamily="34" charset="-120"/>
              </a:rPr>
              <a:t>助成金活用後: 約180~280万円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防御効果:
</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・競合の模倣を法的に排除（差止請求権）
・M&amp;A時の企業価値を大幅向上
・ライセンス収入の可能性
</a:t>
            </a:r>
            <a:endParaRPr lang="en-US" sz="1100" dirty="0"/>
          </a:p>
          <a:p>
            <a:pPr indent="0" marL="0">
              <a:buNone/>
            </a:pPr>
            <a:r>
              <a:rPr lang="en-US" sz="1100" b="1" dirty="0">
                <a:solidFill>
                  <a:srgbClr val="282824"/>
                </a:solidFill>
                <a:latin typeface="Hiragino Sans" pitchFamily="34" charset="0"/>
                <a:ea typeface="Hiragino Sans" pitchFamily="34" charset="-122"/>
                <a:cs typeface="Hiragino Sans" pitchFamily="34" charset="-120"/>
              </a:rPr>
              <a:t>攻撃効果:
</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・「特許出願中」表示で競合牽制</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・助成金審査で「知財戦略あり」は加点</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・投資家・パートナーへの信頼性向上</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特許庁 中小企業向け料金減免制度</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審査請求料・特許料が1/2~1/3に -- 申請だけで自動適用</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国の制度（特許庁）-- 出願時に申請するだけで減免される</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9</a:t>
            </a:r>
            <a:endParaRPr lang="en-US" sz="900" dirty="0"/>
          </a:p>
        </p:txBody>
      </p:sp>
      <p:sp>
        <p:nvSpPr>
          <p:cNvPr id="10" name="Shape 8"/>
          <p:cNvSpPr/>
          <p:nvPr/>
        </p:nvSpPr>
        <p:spPr>
          <a:xfrm>
            <a:off x="457200" y="2103120"/>
            <a:ext cx="8229600" cy="2743200"/>
          </a:xfrm>
          <a:prstGeom prst="rect">
            <a:avLst>
              <a:gd name="adj" fmla="val 2667"/>
            </a:avLst>
          </a:prstGeom>
          <a:solidFill>
            <a:srgbClr val="FFFFFF"/>
          </a:solidFill>
          <a:ln w="12700">
            <a:solidFill>
              <a:srgbClr val="2C6FAC"/>
            </a:solidFill>
            <a:prstDash val="solid"/>
          </a:ln>
        </p:spPr>
      </p:sp>
      <p:sp>
        <p:nvSpPr>
          <p:cNvPr id="11" name="Text 9"/>
          <p:cNvSpPr/>
          <p:nvPr/>
        </p:nvSpPr>
        <p:spPr>
          <a:xfrm>
            <a:off x="640080" y="2148840"/>
            <a:ext cx="7863840" cy="320040"/>
          </a:xfrm>
          <a:prstGeom prst="rect">
            <a:avLst/>
          </a:prstGeom>
          <a:noFill/>
          <a:ln/>
        </p:spPr>
        <p:txBody>
          <a:bodyPr wrap="square" rtlCol="0" anchor="ctr">
            <a:normAutofit/>
          </a:bodyPr>
          <a:lstStyle/>
          <a:p>
            <a:pPr indent="0" marL="0">
              <a:buNone/>
            </a:pPr>
            <a:r>
              <a:rPr lang="en-US" sz="1400" b="1" dirty="0">
                <a:solidFill>
                  <a:srgbClr val="2C6FAC"/>
                </a:solidFill>
                <a:latin typeface="Hiragino Sans" pitchFamily="34" charset="0"/>
                <a:ea typeface="Hiragino Sans" pitchFamily="34" charset="-122"/>
                <a:cs typeface="Hiragino Sans" pitchFamily="34" charset="-120"/>
              </a:rPr>
              <a:t>特許料等の減免制度</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7863840" cy="914400"/>
        </p:xfrm>
        <a:graphic>
          <a:graphicData uri="http://schemas.openxmlformats.org/drawingml/2006/table">
            <a:tbl>
              <a:tblPr/>
              <a:tblGrid>
                <a:gridCol w="2011680"/>
                <a:gridCol w="1645920"/>
                <a:gridCol w="1645920"/>
                <a:gridCol w="2560320"/>
              </a:tblGrid>
              <a:tr h="0">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対象者</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審査請求料</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特許料(1~10年)</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条件</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2C6FAC"/>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中小企業（会社）</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1/2に軽減</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1/2に軽減</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中小企業基本法の中小企業</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中小スタートアップ</a:t>
                      </a:r>
                      <a:endParaRPr lang="en-US" sz="1000" dirty="0">
                        <a:latin typeface="Hiragino Sans" charset="0"/>
                        <a:ea typeface="Hiragino Sans" charset="0"/>
                        <a:cs typeface="Hiragino Sans" charset="0"/>
                      </a:endParaRPr>
                    </a:p>
                    <a:p>
                      <a:pPr indent="0" marL="0">
                        <a:buNone/>
                      </a:pPr>
                      <a:r>
                        <a:rPr lang="en-US" sz="1000" dirty="0">
                          <a:solidFill>
                            <a:srgbClr val="4A4A45"/>
                          </a:solidFill>
                          <a:latin typeface="Hiragino Sans" pitchFamily="34" charset="0"/>
                          <a:ea typeface="Hiragino Sans" pitchFamily="34" charset="-122"/>
                          <a:cs typeface="Hiragino Sans" pitchFamily="34" charset="-120"/>
                        </a:rPr>
                        <a:t>（設立10年未満）</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1/3に軽減</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1/3に軽減</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設立10年未満</a:t>
                      </a:r>
                      <a:endParaRPr lang="en-US" sz="1000" dirty="0">
                        <a:latin typeface="Hiragino Sans" charset="0"/>
                        <a:ea typeface="Hiragino Sans" charset="0"/>
                        <a:cs typeface="Hiragino Sans" charset="0"/>
                      </a:endParaRPr>
                    </a:p>
                    <a:p>
                      <a:pPr indent="0" marL="0">
                        <a:buNone/>
                      </a:pPr>
                      <a:r>
                        <a:rPr lang="en-US" sz="1000" dirty="0">
                          <a:solidFill>
                            <a:srgbClr val="4A4A45"/>
                          </a:solidFill>
                          <a:latin typeface="Hiragino Sans" pitchFamily="34" charset="0"/>
                          <a:ea typeface="Hiragino Sans" pitchFamily="34" charset="-122"/>
                          <a:cs typeface="Hiragino Sans" pitchFamily="34" charset="-120"/>
                        </a:rPr>
                        <a:t>資本金3億以下</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小規模企業</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1/2に軽減</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1/2に軽減</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従業員20人以下</a:t>
                      </a:r>
                      <a:endParaRPr lang="en-US" sz="1000" dirty="0">
                        <a:latin typeface="Hiragino Sans" charset="0"/>
                        <a:ea typeface="Hiragino Sans" charset="0"/>
                        <a:cs typeface="Hiragino Sans" charset="0"/>
                      </a:endParaRPr>
                    </a:p>
                  </a:txBody>
                  <a:tcPr marL="38100" marR="38100" marT="63500" marB="63500" anchor="ctr">
                    <a:lnL w="6350" cap="flat" cmpd="sng" algn="ctr">
                      <a:solidFill>
                        <a:srgbClr val="E2D9CF"/>
                      </a:solidFill>
                      <a:prstDash val="solid"/>
                      <a:round/>
                      <a:headEnd type="none" w="med" len="med"/>
                      <a:tailEnd type="none" w="med" len="med"/>
                    </a:lnL>
                    <a:lnR w="6350" cap="flat" cmpd="sng" algn="ctr">
                      <a:solidFill>
                        <a:srgbClr val="E2D9CF"/>
                      </a:solidFill>
                      <a:prstDash val="solid"/>
                      <a:round/>
                      <a:headEnd type="none" w="med" len="med"/>
                      <a:tailEnd type="none" w="med" len="med"/>
                    </a:lnR>
                    <a:lnT w="6350" cap="flat" cmpd="sng" algn="ctr">
                      <a:solidFill>
                        <a:srgbClr val="E2D9CF"/>
                      </a:solidFill>
                      <a:prstDash val="solid"/>
                      <a:round/>
                      <a:headEnd type="none" w="med" len="med"/>
                      <a:tailEnd type="none" w="med" len="med"/>
                    </a:lnT>
                    <a:lnB w="6350" cap="flat" cmpd="sng" algn="ctr">
                      <a:solidFill>
                        <a:srgbClr val="E2D9CF"/>
                      </a:solidFill>
                      <a:prstDash val="solid"/>
                      <a:round/>
                      <a:headEnd type="none" w="med" len="med"/>
                      <a:tailEnd type="none" w="med" len="med"/>
                    </a:lnB>
                    <a:solidFill>
                      <a:srgbClr val="D6EAF8"/>
                    </a:solidFill>
                  </a:tcPr>
                </a:tc>
              </a:tr>
            </a:tbl>
          </a:graphicData>
        </a:graphic>
      </p:graphicFrame>
      <p:sp>
        <p:nvSpPr>
          <p:cNvPr id="13" name="Shape 10"/>
          <p:cNvSpPr/>
          <p:nvPr/>
        </p:nvSpPr>
        <p:spPr>
          <a:xfrm>
            <a:off x="457200" y="4983480"/>
            <a:ext cx="8229600" cy="2834640"/>
          </a:xfrm>
          <a:prstGeom prst="rect">
            <a:avLst>
              <a:gd name="adj" fmla="val 2581"/>
            </a:avLst>
          </a:prstGeom>
          <a:solidFill>
            <a:srgbClr val="D5F5E3"/>
          </a:solidFill>
          <a:ln w="12700">
            <a:solidFill>
              <a:srgbClr val="27AE60"/>
            </a:solidFill>
            <a:prstDash val="solid"/>
          </a:ln>
        </p:spPr>
      </p:sp>
      <p:sp>
        <p:nvSpPr>
          <p:cNvPr id="14" name="Text 11"/>
          <p:cNvSpPr/>
          <p:nvPr/>
        </p:nvSpPr>
        <p:spPr>
          <a:xfrm>
            <a:off x="640080" y="5029200"/>
            <a:ext cx="7863840" cy="320040"/>
          </a:xfrm>
          <a:prstGeom prst="rect">
            <a:avLst/>
          </a:prstGeom>
          <a:noFill/>
          <a:ln/>
        </p:spPr>
        <p:txBody>
          <a:bodyPr wrap="square" rtlCol="0" anchor="ctr">
            <a:normAutofit/>
          </a:bodyPr>
          <a:lstStyle/>
          <a:p>
            <a:pPr indent="0" marL="0">
              <a:buNone/>
            </a:pPr>
            <a:r>
              <a:rPr lang="en-US" sz="1500" b="1" dirty="0">
                <a:solidFill>
                  <a:srgbClr val="27AE60"/>
                </a:solidFill>
                <a:latin typeface="Hiragino Sans" pitchFamily="34" charset="0"/>
                <a:ea typeface="Hiragino Sans" pitchFamily="34" charset="-122"/>
                <a:cs typeface="Hiragino Sans" pitchFamily="34" charset="-120"/>
              </a:rPr>
              <a:t>CareOSへの適用効果（3件出願）</a:t>
            </a:r>
            <a:endParaRPr lang="en-US" sz="1500" dirty="0"/>
          </a:p>
        </p:txBody>
      </p:sp>
      <p:sp>
        <p:nvSpPr>
          <p:cNvPr id="15" name="Text 12"/>
          <p:cNvSpPr/>
          <p:nvPr/>
        </p:nvSpPr>
        <p:spPr>
          <a:xfrm>
            <a:off x="640080" y="5440680"/>
            <a:ext cx="7863840" cy="2286000"/>
          </a:xfrm>
          <a:prstGeom prst="rect">
            <a:avLst/>
          </a:prstGeom>
          <a:noFill/>
          <a:ln/>
        </p:spPr>
        <p:txBody>
          <a:bodyPr wrap="square" rtlCol="0" anchor="t">
            <a:normAutofit/>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通常の審査請求料: 約17万/件
</a:t>
            </a:r>
            <a:endParaRPr lang="en-US" sz="1000" dirty="0"/>
          </a:p>
          <a:p>
            <a:pPr indent="0" marL="0">
              <a:buNone/>
            </a:pPr>
            <a:r>
              <a:rPr lang="en-US" sz="1000" b="1" dirty="0">
                <a:solidFill>
                  <a:srgbClr val="27AE60"/>
                </a:solidFill>
                <a:latin typeface="Hiragino Sans" pitchFamily="34" charset="0"/>
                <a:ea typeface="Hiragino Sans" pitchFamily="34" charset="-122"/>
                <a:cs typeface="Hiragino Sans" pitchFamily="34" charset="-120"/>
              </a:rPr>
              <a:t>中小企業減免後: 約8.5万/件（1/2）
</a:t>
            </a:r>
            <a:endParaRPr lang="en-US" sz="1000" dirty="0"/>
          </a:p>
          <a:p>
            <a:pPr indent="0" marL="0">
              <a:buNone/>
            </a:pPr>
            <a:r>
              <a:rPr lang="en-US" sz="1000" b="1" dirty="0">
                <a:solidFill>
                  <a:srgbClr val="16A085"/>
                </a:solidFill>
                <a:latin typeface="Hiragino Sans" pitchFamily="34" charset="0"/>
                <a:ea typeface="Hiragino Sans" pitchFamily="34" charset="-122"/>
                <a:cs typeface="Hiragino Sans" pitchFamily="34" charset="-120"/>
              </a:rPr>
              <a:t>JV法人（設立10年未満）なら: 約5.7万/件（1/3）
</a:t>
            </a:r>
            <a:endParaRPr lang="en-US" sz="1000" dirty="0"/>
          </a:p>
          <a:p>
            <a:pPr indent="0" marL="0">
              <a:buNone/>
            </a:pPr>
            <a:r>
              <a:rPr lang="en-US" sz="1100" b="1" dirty="0">
                <a:solidFill>
                  <a:srgbClr val="27AE60"/>
                </a:solidFill>
                <a:latin typeface="Hiragino Sans" pitchFamily="34" charset="0"/>
                <a:ea typeface="Hiragino Sans" pitchFamily="34" charset="-122"/>
                <a:cs typeface="Hiragino Sans" pitchFamily="34" charset="-120"/>
              </a:rPr>
              <a:t>3件合計の節約額: 約25~34万円</a:t>
            </a:r>
            <a:endParaRPr lang="en-US" sz="1000" dirty="0"/>
          </a:p>
        </p:txBody>
      </p:sp>
      <p:sp>
        <p:nvSpPr>
          <p:cNvPr id="16" name="Shape 13"/>
          <p:cNvSpPr/>
          <p:nvPr/>
        </p:nvSpPr>
        <p:spPr>
          <a:xfrm>
            <a:off x="8869680" y="2103120"/>
            <a:ext cx="5303520" cy="5440680"/>
          </a:xfrm>
          <a:prstGeom prst="rect">
            <a:avLst>
              <a:gd name="adj" fmla="val 1379"/>
            </a:avLst>
          </a:prstGeom>
          <a:solidFill>
            <a:srgbClr val="FFFFFF"/>
          </a:solidFill>
          <a:ln w="12700">
            <a:solidFill>
              <a:srgbClr val="E67E22"/>
            </a:solidFill>
            <a:prstDash val="solid"/>
          </a:ln>
        </p:spPr>
      </p:sp>
      <p:sp>
        <p:nvSpPr>
          <p:cNvPr id="17" name="Text 14"/>
          <p:cNvSpPr/>
          <p:nvPr/>
        </p:nvSpPr>
        <p:spPr>
          <a:xfrm>
            <a:off x="9052560" y="2148840"/>
            <a:ext cx="4937760" cy="320040"/>
          </a:xfrm>
          <a:prstGeom prst="rect">
            <a:avLst/>
          </a:prstGeom>
          <a:noFill/>
          <a:ln/>
        </p:spPr>
        <p:txBody>
          <a:bodyPr wrap="square" rtlCol="0" anchor="ctr">
            <a:normAutofit/>
          </a:bodyPr>
          <a:lstStyle/>
          <a:p>
            <a:pPr indent="0" marL="0">
              <a:buNone/>
            </a:pPr>
            <a:r>
              <a:rPr lang="en-US" sz="1400" b="1" dirty="0">
                <a:solidFill>
                  <a:srgbClr val="E67E22"/>
                </a:solidFill>
                <a:latin typeface="Hiragino Sans" pitchFamily="34" charset="0"/>
                <a:ea typeface="Hiragino Sans" pitchFamily="34" charset="-122"/>
                <a:cs typeface="Hiragino Sans" pitchFamily="34" charset="-120"/>
              </a:rPr>
              <a:t>申請方法と注意点</a:t>
            </a:r>
            <a:endParaRPr lang="en-US" sz="1400" dirty="0"/>
          </a:p>
        </p:txBody>
      </p:sp>
      <p:sp>
        <p:nvSpPr>
          <p:cNvPr id="18" name="Text 15"/>
          <p:cNvSpPr/>
          <p:nvPr/>
        </p:nvSpPr>
        <p:spPr>
          <a:xfrm>
            <a:off x="9052560" y="2606040"/>
            <a:ext cx="4937760" cy="4892040"/>
          </a:xfrm>
          <a:prstGeom prst="rect">
            <a:avLst/>
          </a:prstGeom>
          <a:noFill/>
          <a:ln/>
        </p:spPr>
        <p:txBody>
          <a:bodyPr wrap="square" rtlCol="0" anchor="t">
            <a:normAutofit/>
          </a:bodyPr>
          <a:lstStyle/>
          <a:p>
            <a:pPr indent="0" marL="0">
              <a:buNone/>
            </a:pPr>
            <a:r>
              <a:rPr lang="en-US" sz="1000" b="1" dirty="0">
                <a:solidFill>
                  <a:srgbClr val="282824"/>
                </a:solidFill>
                <a:latin typeface="Hiragino Sans" pitchFamily="34" charset="0"/>
                <a:ea typeface="Hiragino Sans" pitchFamily="34" charset="-122"/>
                <a:cs typeface="Hiragino Sans" pitchFamily="34" charset="-120"/>
              </a:rPr>
              <a:t>[申請方法]
</a:t>
            </a:r>
            <a:endParaRPr lang="en-US" sz="1000" dirty="0"/>
          </a:p>
          <a:p>
            <a:pPr indent="0" marL="0">
              <a:buNone/>
            </a:pPr>
            <a:r>
              <a:rPr lang="en-US" sz="1000" dirty="0">
                <a:solidFill>
                  <a:srgbClr val="4A4A45"/>
                </a:solidFill>
                <a:latin typeface="Hiragino Sans" pitchFamily="34" charset="0"/>
                <a:ea typeface="Hiragino Sans" pitchFamily="34" charset="-122"/>
                <a:cs typeface="Hiragino Sans" pitchFamily="34" charset="-120"/>
              </a:rPr>
              <a:t>・審査請求時に「減免申請書」を同時提出
・必要書類: 確定申告書の写し等
・電子出願ならオンラインで完結
</a:t>
            </a:r>
            <a:endParaRPr lang="en-US" sz="1000" dirty="0"/>
          </a:p>
          <a:p>
            <a:pPr indent="0" marL="0">
              <a:buNone/>
            </a:pPr>
            <a:r>
              <a:rPr lang="en-US" sz="1000" b="1" dirty="0">
                <a:solidFill>
                  <a:srgbClr val="282824"/>
                </a:solidFill>
                <a:latin typeface="Hiragino Sans" pitchFamily="34" charset="0"/>
                <a:ea typeface="Hiragino Sans" pitchFamily="34" charset="-122"/>
                <a:cs typeface="Hiragino Sans" pitchFamily="34" charset="-120"/>
              </a:rPr>
              <a:t>[対象外の費用]
</a:t>
            </a:r>
            <a:endParaRPr lang="en-US" sz="1000" dirty="0"/>
          </a:p>
          <a:p>
            <a:pPr indent="0" marL="0">
              <a:buNone/>
            </a:pPr>
            <a:r>
              <a:rPr lang="en-US" sz="1000" dirty="0">
                <a:solidFill>
                  <a:srgbClr val="4A4A45"/>
                </a:solidFill>
                <a:latin typeface="Hiragino Sans" pitchFamily="34" charset="0"/>
                <a:ea typeface="Hiragino Sans" pitchFamily="34" charset="-122"/>
                <a:cs typeface="Hiragino Sans" pitchFamily="34" charset="-120"/>
              </a:rPr>
              <a:t>・出願料（14,000円）は対象外
・第11年以降の特許料は対象外
・弁理士費用は対象外
</a:t>
            </a:r>
            <a:endParaRPr lang="en-US" sz="1000" dirty="0"/>
          </a:p>
          <a:p>
            <a:pPr indent="0" marL="0">
              <a:buNone/>
            </a:pPr>
            <a:r>
              <a:rPr lang="en-US" sz="1000" b="1" dirty="0">
                <a:solidFill>
                  <a:srgbClr val="282824"/>
                </a:solidFill>
                <a:latin typeface="Hiragino Sans" pitchFamily="34" charset="0"/>
                <a:ea typeface="Hiragino Sans" pitchFamily="34" charset="-122"/>
                <a:cs typeface="Hiragino Sans" pitchFamily="34" charset="-120"/>
              </a:rPr>
              <a:t>[年間上限]
</a:t>
            </a:r>
            <a:endParaRPr lang="en-US" sz="1000" dirty="0"/>
          </a:p>
          <a:p>
            <a:pPr indent="0" marL="0">
              <a:buNone/>
            </a:pPr>
            <a:r>
              <a:rPr lang="en-US" sz="1000" dirty="0">
                <a:solidFill>
                  <a:srgbClr val="4A4A45"/>
                </a:solidFill>
                <a:latin typeface="Hiragino Sans" pitchFamily="34" charset="0"/>
                <a:ea typeface="Hiragino Sans" pitchFamily="34" charset="-122"/>
                <a:cs typeface="Hiragino Sans" pitchFamily="34" charset="-120"/>
              </a:rPr>
              <a:t>・1社あたり年間180件まで
（CareOSは3件で問題なし）
</a:t>
            </a:r>
            <a:endParaRPr lang="en-US" sz="1000" dirty="0"/>
          </a:p>
          <a:p>
            <a:pPr indent="0" marL="0">
              <a:buNone/>
            </a:pPr>
            <a:r>
              <a:rPr lang="en-US" sz="1000" b="1" dirty="0">
                <a:solidFill>
                  <a:srgbClr val="282824"/>
                </a:solidFill>
                <a:latin typeface="Hiragino Sans" pitchFamily="34" charset="0"/>
                <a:ea typeface="Hiragino Sans" pitchFamily="34" charset="-122"/>
                <a:cs typeface="Hiragino Sans" pitchFamily="34" charset="-120"/>
              </a:rPr>
              <a:t>[JV法人による特別軽減]
</a:t>
            </a:r>
            <a:endParaRPr lang="en-US" sz="1000" dirty="0"/>
          </a:p>
          <a:p>
            <a:pPr indent="0" marL="0">
              <a:buNone/>
            </a:pPr>
            <a:r>
              <a:rPr lang="en-US" sz="1000" b="1" dirty="0">
                <a:solidFill>
                  <a:srgbClr val="27AE60"/>
                </a:solidFill>
                <a:latin typeface="Hiragino Sans" pitchFamily="34" charset="0"/>
                <a:ea typeface="Hiragino Sans" pitchFamily="34" charset="-122"/>
                <a:cs typeface="Hiragino Sans" pitchFamily="34" charset="-120"/>
              </a:rPr>
              <a:t>→ JV法人（設立10年未満）が出願人なら1/3適用可</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知財助成制度 2トラック戦略</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申請主体・時期・適格性を制度別に精査</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Track A: JV法人（1/3減免）  |  Track B: サンライズ（ハンズオン対象）</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10</a:t>
            </a:r>
            <a:endParaRPr lang="en-US" sz="900" dirty="0"/>
          </a:p>
        </p:txBody>
      </p:sp>
      <p:sp>
        <p:nvSpPr>
          <p:cNvPr id="10" name="Shape 8"/>
          <p:cNvSpPr/>
          <p:nvPr/>
        </p:nvSpPr>
        <p:spPr>
          <a:xfrm>
            <a:off x="457200" y="2103120"/>
            <a:ext cx="13716000" cy="914400"/>
          </a:xfrm>
          <a:prstGeom prst="rect">
            <a:avLst>
              <a:gd name="adj" fmla="val 8000"/>
            </a:avLst>
          </a:prstGeom>
          <a:solidFill>
            <a:srgbClr val="FFF3CD"/>
          </a:solidFill>
          <a:ln w="12700">
            <a:solidFill>
              <a:srgbClr val="E67E22"/>
            </a:solidFill>
            <a:prstDash val="solid"/>
          </a:ln>
        </p:spPr>
      </p:sp>
      <p:sp>
        <p:nvSpPr>
          <p:cNvPr id="11" name="Text 9"/>
          <p:cNvSpPr/>
          <p:nvPr/>
        </p:nvSpPr>
        <p:spPr>
          <a:xfrm>
            <a:off x="640080" y="2130552"/>
            <a:ext cx="12801600" cy="27432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サンライズの知財助成適格性</a:t>
            </a:r>
            <a:endParaRPr lang="en-US" sz="1200" dirty="0"/>
          </a:p>
        </p:txBody>
      </p:sp>
      <p:sp>
        <p:nvSpPr>
          <p:cNvPr id="12" name="Text 10"/>
          <p:cNvSpPr/>
          <p:nvPr/>
        </p:nvSpPr>
        <p:spPr>
          <a:xfrm>
            <a:off x="640080" y="2423160"/>
            <a:ext cx="13350240" cy="502920"/>
          </a:xfrm>
          <a:prstGeom prst="rect">
            <a:avLst/>
          </a:prstGeom>
          <a:noFill/>
          <a:ln/>
        </p:spPr>
        <p:txBody>
          <a:bodyPr wrap="square" rtlCol="0" anchor="t">
            <a:normAutofit/>
          </a:bodyPr>
          <a:lstStyle/>
          <a:p>
            <a:pPr indent="0" marL="0">
              <a:buNone/>
            </a:pPr>
            <a:r>
              <a:rPr lang="en-US" sz="900" dirty="0">
                <a:solidFill>
                  <a:srgbClr val="4A4A45"/>
                </a:solidFill>
                <a:latin typeface="Hiragino Sans" pitchFamily="34" charset="0"/>
                <a:ea typeface="Hiragino Sans" pitchFamily="34" charset="-122"/>
                <a:cs typeface="Hiragino Sans" pitchFamily="34" charset="-120"/>
              </a:rPr>
              <a:t>本店: 東京都多摩市(都内◎)  法人形態: 株式会社  中小企業: 確定  </a:t>
            </a:r>
            <a:pPr indent="0" marL="0">
              <a:buNone/>
            </a:pPr>
            <a:r>
              <a:rPr lang="en-US" sz="900" b="1" dirty="0">
                <a:solidFill>
                  <a:srgbClr val="C0392B"/>
                </a:solidFill>
                <a:latin typeface="Hiragino Sans" pitchFamily="34" charset="0"/>
                <a:ea typeface="Hiragino Sans" pitchFamily="34" charset="-122"/>
                <a:cs typeface="Hiragino Sans" pitchFamily="34" charset="-120"/>
              </a:rPr>
              <a:t>⚠ 主収入が公金。振興公社の知財助成は要確認。JV(Track A)優先推奨</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13716000" cy="914400"/>
        </p:xfrm>
        <a:graphic>
          <a:graphicData uri="http://schemas.openxmlformats.org/drawingml/2006/table">
            <a:tbl>
              <a:tblPr/>
              <a:tblGrid>
                <a:gridCol w="1828800"/>
                <a:gridCol w="1280160"/>
                <a:gridCol w="548640"/>
                <a:gridCol w="2286000"/>
                <a:gridCol w="1828800"/>
                <a:gridCol w="5943600"/>
              </a:tblGrid>
              <a:tr h="0">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助成制度</a:t>
                      </a:r>
                      <a:endParaRPr lang="en-US" sz="1000" dirty="0">
                        <a:latin typeface="Hiragino Sans" charset="0"/>
                        <a:ea typeface="Hiragino Sans" charset="0"/>
                        <a:cs typeface="Hiragino Sans" charset="0"/>
                      </a:endParaRPr>
                    </a:p>
                  </a:txBody>
                  <a:tcPr marL="25400" marR="25400" marT="38100" marB="38100" anchor="ctr">
                    <a:lnL w="0" cap="flat" cmpd="sng" algn="ctr">
                      <a:noFill/>
                    </a:lnL>
                    <a:lnR w="0" cap="flat" cmpd="sng" algn="ctr">
                      <a:noFill/>
                    </a:lnR>
                    <a:lnT w="0" cap="flat" cmpd="sng" algn="ctr">
                      <a:noFill/>
                    </a:lnT>
                    <a:lnB w="0" cap="flat" cmpd="sng" algn="ctr">
                      <a:noFill/>
                    </a:lnB>
                    <a:solidFill>
                      <a:srgbClr val="484237"/>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上限額</a:t>
                      </a:r>
                      <a:endParaRPr lang="en-US" sz="1000" dirty="0">
                        <a:latin typeface="Hiragino Sans" charset="0"/>
                        <a:ea typeface="Hiragino Sans" charset="0"/>
                        <a:cs typeface="Hiragino Sans" charset="0"/>
                      </a:endParaRPr>
                    </a:p>
                  </a:txBody>
                  <a:tcPr marL="25400" marR="25400" marT="38100" marB="38100" anchor="ctr">
                    <a:lnL w="0" cap="flat" cmpd="sng" algn="ctr">
                      <a:noFill/>
                    </a:lnL>
                    <a:lnR w="0" cap="flat" cmpd="sng" algn="ctr">
                      <a:noFill/>
                    </a:lnR>
                    <a:lnT w="0" cap="flat" cmpd="sng" algn="ctr">
                      <a:noFill/>
                    </a:lnT>
                    <a:lnB w="0" cap="flat" cmpd="sng" algn="ctr">
                      <a:noFill/>
                    </a:lnB>
                    <a:solidFill>
                      <a:srgbClr val="484237"/>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率</a:t>
                      </a:r>
                      <a:endParaRPr lang="en-US" sz="1000" dirty="0">
                        <a:latin typeface="Hiragino Sans" charset="0"/>
                        <a:ea typeface="Hiragino Sans" charset="0"/>
                        <a:cs typeface="Hiragino Sans" charset="0"/>
                      </a:endParaRPr>
                    </a:p>
                  </a:txBody>
                  <a:tcPr marL="25400" marR="25400" marT="38100" marB="38100" anchor="ctr">
                    <a:lnL w="0" cap="flat" cmpd="sng" algn="ctr">
                      <a:noFill/>
                    </a:lnL>
                    <a:lnR w="0" cap="flat" cmpd="sng" algn="ctr">
                      <a:noFill/>
                    </a:lnR>
                    <a:lnT w="0" cap="flat" cmpd="sng" algn="ctr">
                      <a:noFill/>
                    </a:lnT>
                    <a:lnB w="0" cap="flat" cmpd="sng" algn="ctr">
                      <a:noFill/>
                    </a:lnB>
                    <a:solidFill>
                      <a:srgbClr val="484237"/>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最適申請主体</a:t>
                      </a:r>
                      <a:endParaRPr lang="en-US" sz="1000" dirty="0">
                        <a:latin typeface="Hiragino Sans" charset="0"/>
                        <a:ea typeface="Hiragino Sans" charset="0"/>
                        <a:cs typeface="Hiragino Sans" charset="0"/>
                      </a:endParaRPr>
                    </a:p>
                  </a:txBody>
                  <a:tcPr marL="25400" marR="25400" marT="38100" marB="38100" anchor="ctr">
                    <a:lnL w="0" cap="flat" cmpd="sng" algn="ctr">
                      <a:noFill/>
                    </a:lnL>
                    <a:lnR w="0" cap="flat" cmpd="sng" algn="ctr">
                      <a:noFill/>
                    </a:lnR>
                    <a:lnT w="0" cap="flat" cmpd="sng" algn="ctr">
                      <a:noFill/>
                    </a:lnT>
                    <a:lnB w="0" cap="flat" cmpd="sng" algn="ctr">
                      <a:noFill/>
                    </a:lnB>
                    <a:solidFill>
                      <a:srgbClr val="484237"/>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申請時期</a:t>
                      </a:r>
                      <a:endParaRPr lang="en-US" sz="1000" dirty="0">
                        <a:latin typeface="Hiragino Sans" charset="0"/>
                        <a:ea typeface="Hiragino Sans" charset="0"/>
                        <a:cs typeface="Hiragino Sans" charset="0"/>
                      </a:endParaRPr>
                    </a:p>
                  </a:txBody>
                  <a:tcPr marL="25400" marR="25400" marT="38100" marB="38100" anchor="ctr">
                    <a:lnL w="0" cap="flat" cmpd="sng" algn="ctr">
                      <a:noFill/>
                    </a:lnL>
                    <a:lnR w="0" cap="flat" cmpd="sng" algn="ctr">
                      <a:noFill/>
                    </a:lnR>
                    <a:lnT w="0" cap="flat" cmpd="sng" algn="ctr">
                      <a:noFill/>
                    </a:lnT>
                    <a:lnB w="0" cap="flat" cmpd="sng" algn="ctr">
                      <a:noFill/>
                    </a:lnB>
                    <a:solidFill>
                      <a:srgbClr val="484237"/>
                    </a:solidFill>
                  </a:tcPr>
                </a:tc>
                <a:tc>
                  <a:txBody>
                    <a:bodyPr/>
                    <a:lstStyle/>
                    <a:p>
                      <a:pPr indent="0" marL="0">
                        <a:buNone/>
                      </a:pPr>
                      <a:r>
                        <a:rPr lang="en-US" sz="1000" b="1" dirty="0">
                          <a:solidFill>
                            <a:srgbClr val="FFFFFF"/>
                          </a:solidFill>
                          <a:latin typeface="Hiragino Sans" pitchFamily="34" charset="0"/>
                          <a:ea typeface="Hiragino Sans" pitchFamily="34" charset="-122"/>
                          <a:cs typeface="Hiragino Sans" pitchFamily="34" charset="-120"/>
                        </a:rPr>
                        <a:t>前提条件</a:t>
                      </a:r>
                      <a:endParaRPr lang="en-US" sz="1000" dirty="0">
                        <a:latin typeface="Hiragino Sans" charset="0"/>
                        <a:ea typeface="Hiragino Sans" charset="0"/>
                        <a:cs typeface="Hiragino Sans" charset="0"/>
                      </a:endParaRPr>
                    </a:p>
                  </a:txBody>
                  <a:tcPr marL="25400" marR="25400" marT="38100" marB="38100" anchor="ctr">
                    <a:lnL w="0" cap="flat" cmpd="sng" algn="ctr">
                      <a:noFill/>
                    </a:lnL>
                    <a:lnR w="0" cap="flat" cmpd="sng" algn="ctr">
                      <a:noFill/>
                    </a:lnR>
                    <a:lnT w="0" cap="flat" cmpd="sng" algn="ctr">
                      <a:noFill/>
                    </a:lnT>
                    <a:lnB w="0" cap="flat" cmpd="sng" algn="ctr">
                      <a:noFill/>
                    </a:lnB>
                    <a:solidFill>
                      <a:srgbClr val="484237"/>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特許庁減免</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1/3</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定額</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JV法人(10年未満)</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JV設立後即時</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法人登記のみ</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特許庁減免</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定額</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b="1" dirty="0">
                          <a:solidFill>
                            <a:srgbClr val="27AE60"/>
                          </a:solidFill>
                          <a:latin typeface="Hiragino Sans" pitchFamily="34" charset="0"/>
                          <a:ea typeface="Hiragino Sans" pitchFamily="34" charset="-122"/>
                          <a:cs typeface="Hiragino Sans" pitchFamily="34" charset="-120"/>
                        </a:rPr>
                        <a:t>サンライズ(B)</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即時可能</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法人登記のみ</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特許調査助成</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100万</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JV推奨 ※B要確認</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5月・10月公募</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公社知財相談が前提</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製品化支援</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500万</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JV法人(A)</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2026 Q3〜</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公社支援選定必要</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ハンズオン</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上限1,500万(3年間)</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JV推奨 ※B要確認</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2026 Q2公募</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年10社</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外国特許出願</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400万</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JV法人(A)</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Phase 3</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国内出願済</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外国商標出願</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60万</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1/2</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JV法人(A)</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Phase 3</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c>
                  <a:txBody>
                    <a:bodyPr/>
                    <a:lstStyle/>
                    <a:p>
                      <a:pPr indent="0" marL="0">
                        <a:buNone/>
                      </a:pPr>
                      <a:r>
                        <a:rPr lang="en-US" sz="1000" dirty="0">
                          <a:solidFill>
                            <a:srgbClr val="4A4A45"/>
                          </a:solidFill>
                          <a:latin typeface="Hiragino Sans" pitchFamily="34" charset="0"/>
                          <a:ea typeface="Hiragino Sans" pitchFamily="34" charset="-122"/>
                          <a:cs typeface="Hiragino Sans" pitchFamily="34" charset="-120"/>
                        </a:rPr>
                        <a:t>国内商標登録済</a:t>
                      </a:r>
                      <a:endParaRPr lang="en-US" sz="1000" dirty="0">
                        <a:latin typeface="Hiragino Sans" charset="0"/>
                        <a:ea typeface="Hiragino Sans" charset="0"/>
                        <a:cs typeface="Hiragino Sans" charset="0"/>
                      </a:endParaRPr>
                    </a:p>
                  </a:txBody>
                  <a:tcPr marL="25400" marR="25400" marT="38100" marB="38100" anchor="ctr">
                    <a:lnL w="3810" cap="flat" cmpd="sng" algn="ctr">
                      <a:solidFill>
                        <a:srgbClr val="E2D9CF"/>
                      </a:solidFill>
                      <a:prstDash val="solid"/>
                      <a:round/>
                      <a:headEnd type="none" w="med" len="med"/>
                      <a:tailEnd type="none" w="med" len="med"/>
                    </a:lnL>
                    <a:lnR w="3810" cap="flat" cmpd="sng" algn="ctr">
                      <a:solidFill>
                        <a:srgbClr val="E2D9CF"/>
                      </a:solidFill>
                      <a:prstDash val="solid"/>
                      <a:round/>
                      <a:headEnd type="none" w="med" len="med"/>
                      <a:tailEnd type="none" w="med" len="med"/>
                    </a:lnR>
                    <a:lnT w="3810" cap="flat" cmpd="sng" algn="ctr">
                      <a:solidFill>
                        <a:srgbClr val="E2D9CF"/>
                      </a:solidFill>
                      <a:prstDash val="solid"/>
                      <a:round/>
                      <a:headEnd type="none" w="med" len="med"/>
                      <a:tailEnd type="none" w="med" len="med"/>
                    </a:lnT>
                    <a:lnB w="3810" cap="flat" cmpd="sng" algn="ctr">
                      <a:solidFill>
                        <a:srgbClr val="E2D9CF"/>
                      </a:solidFill>
                      <a:prstDash val="solid"/>
                      <a:round/>
                      <a:headEnd type="none" w="med" len="med"/>
                      <a:tailEnd type="none" w="med" len="med"/>
                    </a:lnB>
                    <a:solidFill>
                      <a:srgbClr val="F9F6F0"/>
                    </a:solidFill>
                  </a:tcPr>
                </a:tc>
              </a:tr>
            </a:tbl>
          </a:graphicData>
        </a:graphic>
      </p:graphicFrame>
      <p:sp>
        <p:nvSpPr>
          <p:cNvPr id="14" name="Shape 11"/>
          <p:cNvSpPr/>
          <p:nvPr/>
        </p:nvSpPr>
        <p:spPr>
          <a:xfrm>
            <a:off x="457200" y="5394960"/>
            <a:ext cx="4389120" cy="2331720"/>
          </a:xfrm>
          <a:prstGeom prst="rect">
            <a:avLst>
              <a:gd name="adj" fmla="val 3137"/>
            </a:avLst>
          </a:prstGeom>
          <a:solidFill>
            <a:srgbClr val="D6EAF8"/>
          </a:solidFill>
          <a:ln w="12700">
            <a:solidFill>
              <a:srgbClr val="2C6FAC"/>
            </a:solidFill>
            <a:prstDash val="solid"/>
          </a:ln>
        </p:spPr>
      </p:sp>
      <p:sp>
        <p:nvSpPr>
          <p:cNvPr id="15" name="Text 12"/>
          <p:cNvSpPr/>
          <p:nvPr/>
        </p:nvSpPr>
        <p:spPr>
          <a:xfrm>
            <a:off x="640080" y="5468112"/>
            <a:ext cx="4023360" cy="320040"/>
          </a:xfrm>
          <a:prstGeom prst="rect">
            <a:avLst/>
          </a:prstGeom>
          <a:noFill/>
          <a:ln/>
        </p:spPr>
        <p:txBody>
          <a:bodyPr wrap="square" rtlCol="0" anchor="ctr">
            <a:normAutofit/>
          </a:bodyPr>
          <a:lstStyle/>
          <a:p>
            <a:pPr indent="0" marL="0">
              <a:buNone/>
            </a:pPr>
            <a:r>
              <a:rPr lang="en-US" sz="1500" b="1" dirty="0">
                <a:solidFill>
                  <a:srgbClr val="2C6FAC"/>
                </a:solidFill>
                <a:latin typeface="Hiragino Sans" pitchFamily="34" charset="0"/>
                <a:ea typeface="Hiragino Sans" pitchFamily="34" charset="-122"/>
                <a:cs typeface="Hiragino Sans" pitchFamily="34" charset="-120"/>
              </a:rPr>
              <a:t>第1層: 無料相談</a:t>
            </a:r>
            <a:endParaRPr lang="en-US" sz="1500" dirty="0"/>
          </a:p>
        </p:txBody>
      </p:sp>
      <p:sp>
        <p:nvSpPr>
          <p:cNvPr id="16" name="Text 13"/>
          <p:cNvSpPr/>
          <p:nvPr/>
        </p:nvSpPr>
        <p:spPr>
          <a:xfrm>
            <a:off x="640080" y="5852160"/>
            <a:ext cx="4023360" cy="1554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INPIT窓口+都知財センター</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弁理士・弁護士に無料で相談可能</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出願前の先行技術調査も対応</a:t>
            </a:r>
            <a:endParaRPr lang="en-US" sz="1100" dirty="0"/>
          </a:p>
        </p:txBody>
      </p:sp>
      <p:sp>
        <p:nvSpPr>
          <p:cNvPr id="17" name="Shape 14"/>
          <p:cNvSpPr/>
          <p:nvPr/>
        </p:nvSpPr>
        <p:spPr>
          <a:xfrm>
            <a:off x="5120640" y="5394960"/>
            <a:ext cx="4389120" cy="2331720"/>
          </a:xfrm>
          <a:prstGeom prst="rect">
            <a:avLst>
              <a:gd name="adj" fmla="val 3137"/>
            </a:avLst>
          </a:prstGeom>
          <a:solidFill>
            <a:srgbClr val="D5F5E3"/>
          </a:solidFill>
          <a:ln w="12700">
            <a:solidFill>
              <a:srgbClr val="27AE60"/>
            </a:solidFill>
            <a:prstDash val="solid"/>
          </a:ln>
        </p:spPr>
      </p:sp>
      <p:sp>
        <p:nvSpPr>
          <p:cNvPr id="18" name="Text 15"/>
          <p:cNvSpPr/>
          <p:nvPr/>
        </p:nvSpPr>
        <p:spPr>
          <a:xfrm>
            <a:off x="5303520" y="5468112"/>
            <a:ext cx="4023360" cy="320040"/>
          </a:xfrm>
          <a:prstGeom prst="rect">
            <a:avLst/>
          </a:prstGeom>
          <a:noFill/>
          <a:ln/>
        </p:spPr>
        <p:txBody>
          <a:bodyPr wrap="square" rtlCol="0" anchor="ctr">
            <a:normAutofit/>
          </a:bodyPr>
          <a:lstStyle/>
          <a:p>
            <a:pPr indent="0" marL="0">
              <a:buNone/>
            </a:pPr>
            <a:r>
              <a:rPr lang="en-US" sz="1500" b="1" dirty="0">
                <a:solidFill>
                  <a:srgbClr val="27AE60"/>
                </a:solidFill>
                <a:latin typeface="Hiragino Sans" pitchFamily="34" charset="0"/>
                <a:ea typeface="Hiragino Sans" pitchFamily="34" charset="-122"/>
                <a:cs typeface="Hiragino Sans" pitchFamily="34" charset="-120"/>
              </a:rPr>
              <a:t>第2層: 費用助成</a:t>
            </a:r>
            <a:endParaRPr lang="en-US" sz="1500" dirty="0"/>
          </a:p>
        </p:txBody>
      </p:sp>
      <p:sp>
        <p:nvSpPr>
          <p:cNvPr id="19" name="Text 16"/>
          <p:cNvSpPr/>
          <p:nvPr/>
        </p:nvSpPr>
        <p:spPr>
          <a:xfrm>
            <a:off x="5303520" y="5852160"/>
            <a:ext cx="4023360" cy="1554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振興公社4制度</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合計上限1,060万/年</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特許調査~外国出願までカバー</a:t>
            </a:r>
            <a:endParaRPr lang="en-US" sz="1100" dirty="0"/>
          </a:p>
        </p:txBody>
      </p:sp>
      <p:sp>
        <p:nvSpPr>
          <p:cNvPr id="20" name="Shape 17"/>
          <p:cNvSpPr/>
          <p:nvPr/>
        </p:nvSpPr>
        <p:spPr>
          <a:xfrm>
            <a:off x="9765792" y="5394960"/>
            <a:ext cx="4389120" cy="2331720"/>
          </a:xfrm>
          <a:prstGeom prst="rect">
            <a:avLst>
              <a:gd name="adj" fmla="val 3137"/>
            </a:avLst>
          </a:prstGeom>
          <a:solidFill>
            <a:srgbClr val="E8DAEF"/>
          </a:solidFill>
          <a:ln w="12700">
            <a:solidFill>
              <a:srgbClr val="8E44AD"/>
            </a:solidFill>
            <a:prstDash val="solid"/>
          </a:ln>
        </p:spPr>
      </p:sp>
      <p:sp>
        <p:nvSpPr>
          <p:cNvPr id="21" name="Text 18"/>
          <p:cNvSpPr/>
          <p:nvPr/>
        </p:nvSpPr>
        <p:spPr>
          <a:xfrm>
            <a:off x="9948672" y="5468112"/>
            <a:ext cx="4023360" cy="320040"/>
          </a:xfrm>
          <a:prstGeom prst="rect">
            <a:avLst/>
          </a:prstGeom>
          <a:noFill/>
          <a:ln/>
        </p:spPr>
        <p:txBody>
          <a:bodyPr wrap="square" rtlCol="0" anchor="ctr">
            <a:normAutofit/>
          </a:bodyPr>
          <a:lstStyle/>
          <a:p>
            <a:pPr indent="0" marL="0">
              <a:buNone/>
            </a:pPr>
            <a:r>
              <a:rPr lang="en-US" sz="1500" b="1" dirty="0">
                <a:solidFill>
                  <a:srgbClr val="8E44AD"/>
                </a:solidFill>
                <a:latin typeface="Hiragino Sans" pitchFamily="34" charset="0"/>
                <a:ea typeface="Hiragino Sans" pitchFamily="34" charset="-122"/>
                <a:cs typeface="Hiragino Sans" pitchFamily="34" charset="-120"/>
              </a:rPr>
              <a:t>第3層: ハンズオン伴走</a:t>
            </a:r>
            <a:endParaRPr lang="en-US" sz="1500" dirty="0"/>
          </a:p>
        </p:txBody>
      </p:sp>
      <p:sp>
        <p:nvSpPr>
          <p:cNvPr id="22" name="Text 19"/>
          <p:cNvSpPr/>
          <p:nvPr/>
        </p:nvSpPr>
        <p:spPr>
          <a:xfrm>
            <a:off x="9948672" y="5852160"/>
            <a:ext cx="4023360" cy="1554480"/>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助成上限1,500万(3年間合計)</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①無償伴走支援(専門家チーム・最大3年)</a:t>
            </a:r>
            <a:endParaRPr lang="en-US" sz="1100" dirty="0"/>
          </a:p>
          <a:p>
            <a:pPr indent="0" marL="0">
              <a:buNone/>
            </a:pPr>
            <a:r>
              <a:rPr lang="en-US" sz="1100" dirty="0">
                <a:solidFill>
                  <a:srgbClr val="4A4A45"/>
                </a:solidFill>
                <a:latin typeface="Hiragino Sans" pitchFamily="34" charset="0"/>
                <a:ea typeface="Hiragino Sans" pitchFamily="34" charset="-122"/>
                <a:cs typeface="Hiragino Sans" pitchFamily="34" charset="-120"/>
              </a:rPr>
              <a:t>②助成金(1/2・別途審査)　年10社</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IP保護スケジュール</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2026年4月~2028年3月の知的財産出願タイムライン</a:t>
            </a:r>
            <a:endParaRPr lang="en-US" sz="1400" dirty="0"/>
          </a:p>
        </p:txBody>
      </p:sp>
      <p:sp>
        <p:nvSpPr>
          <p:cNvPr id="5" name="Text 3"/>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6" name="Text 4"/>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7" name="Text 5"/>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11</a:t>
            </a:r>
            <a:endParaRPr lang="en-US" sz="900" dirty="0"/>
          </a:p>
        </p:txBody>
      </p:sp>
      <p:sp>
        <p:nvSpPr>
          <p:cNvPr id="8" name="Shape 6"/>
          <p:cNvSpPr/>
          <p:nvPr/>
        </p:nvSpPr>
        <p:spPr>
          <a:xfrm>
            <a:off x="3200400" y="1463040"/>
            <a:ext cx="4114800" cy="256032"/>
          </a:xfrm>
          <a:prstGeom prst="rect">
            <a:avLst/>
          </a:prstGeom>
          <a:solidFill>
            <a:srgbClr val="2C6FAC"/>
          </a:solidFill>
          <a:ln/>
        </p:spPr>
      </p:sp>
      <p:sp>
        <p:nvSpPr>
          <p:cNvPr id="9" name="Text 7"/>
          <p:cNvSpPr/>
          <p:nvPr/>
        </p:nvSpPr>
        <p:spPr>
          <a:xfrm>
            <a:off x="3200400" y="1463040"/>
            <a:ext cx="41148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2026年</a:t>
            </a:r>
            <a:endParaRPr lang="en-US" sz="900" dirty="0"/>
          </a:p>
        </p:txBody>
      </p:sp>
      <p:sp>
        <p:nvSpPr>
          <p:cNvPr id="10" name="Shape 8"/>
          <p:cNvSpPr/>
          <p:nvPr/>
        </p:nvSpPr>
        <p:spPr>
          <a:xfrm>
            <a:off x="7315200" y="1463040"/>
            <a:ext cx="5486400" cy="256032"/>
          </a:xfrm>
          <a:prstGeom prst="rect">
            <a:avLst/>
          </a:prstGeom>
          <a:solidFill>
            <a:srgbClr val="16A085"/>
          </a:solidFill>
          <a:ln/>
        </p:spPr>
      </p:sp>
      <p:sp>
        <p:nvSpPr>
          <p:cNvPr id="11" name="Text 9"/>
          <p:cNvSpPr/>
          <p:nvPr/>
        </p:nvSpPr>
        <p:spPr>
          <a:xfrm>
            <a:off x="7315200" y="1463040"/>
            <a:ext cx="54864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2027年</a:t>
            </a:r>
            <a:endParaRPr lang="en-US" sz="900" dirty="0"/>
          </a:p>
        </p:txBody>
      </p:sp>
      <p:sp>
        <p:nvSpPr>
          <p:cNvPr id="12" name="Shape 10"/>
          <p:cNvSpPr/>
          <p:nvPr/>
        </p:nvSpPr>
        <p:spPr>
          <a:xfrm>
            <a:off x="12801600" y="1463040"/>
            <a:ext cx="1371600" cy="256032"/>
          </a:xfrm>
          <a:prstGeom prst="rect">
            <a:avLst/>
          </a:prstGeom>
          <a:solidFill>
            <a:srgbClr val="8E44AD"/>
          </a:solidFill>
          <a:ln/>
        </p:spPr>
      </p:sp>
      <p:sp>
        <p:nvSpPr>
          <p:cNvPr id="13" name="Text 11"/>
          <p:cNvSpPr/>
          <p:nvPr/>
        </p:nvSpPr>
        <p:spPr>
          <a:xfrm>
            <a:off x="12801600" y="1463040"/>
            <a:ext cx="13716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2028年</a:t>
            </a:r>
            <a:endParaRPr lang="en-US" sz="900" dirty="0"/>
          </a:p>
        </p:txBody>
      </p:sp>
      <p:sp>
        <p:nvSpPr>
          <p:cNvPr id="14" name="Shape 12"/>
          <p:cNvSpPr/>
          <p:nvPr/>
        </p:nvSpPr>
        <p:spPr>
          <a:xfrm>
            <a:off x="3200400" y="1719072"/>
            <a:ext cx="457200" cy="201168"/>
          </a:xfrm>
          <a:prstGeom prst="rect">
            <a:avLst/>
          </a:prstGeom>
          <a:solidFill>
            <a:srgbClr val="F2F2F2"/>
          </a:solidFill>
          <a:ln w="3810">
            <a:solidFill>
              <a:srgbClr val="E2D9CF"/>
            </a:solidFill>
            <a:prstDash val="solid"/>
          </a:ln>
        </p:spPr>
      </p:sp>
      <p:sp>
        <p:nvSpPr>
          <p:cNvPr id="15" name="Text 13"/>
          <p:cNvSpPr/>
          <p:nvPr/>
        </p:nvSpPr>
        <p:spPr>
          <a:xfrm>
            <a:off x="32004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4</a:t>
            </a:r>
            <a:endParaRPr lang="en-US" sz="700" dirty="0"/>
          </a:p>
        </p:txBody>
      </p:sp>
      <p:sp>
        <p:nvSpPr>
          <p:cNvPr id="16" name="Shape 14"/>
          <p:cNvSpPr/>
          <p:nvPr/>
        </p:nvSpPr>
        <p:spPr>
          <a:xfrm>
            <a:off x="3657600" y="1719072"/>
            <a:ext cx="457200" cy="201168"/>
          </a:xfrm>
          <a:prstGeom prst="rect">
            <a:avLst/>
          </a:prstGeom>
          <a:solidFill>
            <a:srgbClr val="FFFFFF"/>
          </a:solidFill>
          <a:ln w="3810">
            <a:solidFill>
              <a:srgbClr val="E2D9CF"/>
            </a:solidFill>
            <a:prstDash val="solid"/>
          </a:ln>
        </p:spPr>
      </p:sp>
      <p:sp>
        <p:nvSpPr>
          <p:cNvPr id="17" name="Text 15"/>
          <p:cNvSpPr/>
          <p:nvPr/>
        </p:nvSpPr>
        <p:spPr>
          <a:xfrm>
            <a:off x="36576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5</a:t>
            </a:r>
            <a:endParaRPr lang="en-US" sz="700" dirty="0"/>
          </a:p>
        </p:txBody>
      </p:sp>
      <p:sp>
        <p:nvSpPr>
          <p:cNvPr id="18" name="Shape 16"/>
          <p:cNvSpPr/>
          <p:nvPr/>
        </p:nvSpPr>
        <p:spPr>
          <a:xfrm>
            <a:off x="4114800" y="1719072"/>
            <a:ext cx="457200" cy="201168"/>
          </a:xfrm>
          <a:prstGeom prst="rect">
            <a:avLst/>
          </a:prstGeom>
          <a:solidFill>
            <a:srgbClr val="F2F2F2"/>
          </a:solidFill>
          <a:ln w="3810">
            <a:solidFill>
              <a:srgbClr val="E2D9CF"/>
            </a:solidFill>
            <a:prstDash val="solid"/>
          </a:ln>
        </p:spPr>
      </p:sp>
      <p:sp>
        <p:nvSpPr>
          <p:cNvPr id="19" name="Text 17"/>
          <p:cNvSpPr/>
          <p:nvPr/>
        </p:nvSpPr>
        <p:spPr>
          <a:xfrm>
            <a:off x="41148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6</a:t>
            </a:r>
            <a:endParaRPr lang="en-US" sz="700" dirty="0"/>
          </a:p>
        </p:txBody>
      </p:sp>
      <p:sp>
        <p:nvSpPr>
          <p:cNvPr id="20" name="Shape 18"/>
          <p:cNvSpPr/>
          <p:nvPr/>
        </p:nvSpPr>
        <p:spPr>
          <a:xfrm>
            <a:off x="4572000" y="1719072"/>
            <a:ext cx="457200" cy="201168"/>
          </a:xfrm>
          <a:prstGeom prst="rect">
            <a:avLst/>
          </a:prstGeom>
          <a:solidFill>
            <a:srgbClr val="FFFFFF"/>
          </a:solidFill>
          <a:ln w="3810">
            <a:solidFill>
              <a:srgbClr val="E2D9CF"/>
            </a:solidFill>
            <a:prstDash val="solid"/>
          </a:ln>
        </p:spPr>
      </p:sp>
      <p:sp>
        <p:nvSpPr>
          <p:cNvPr id="21" name="Text 19"/>
          <p:cNvSpPr/>
          <p:nvPr/>
        </p:nvSpPr>
        <p:spPr>
          <a:xfrm>
            <a:off x="45720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7</a:t>
            </a:r>
            <a:endParaRPr lang="en-US" sz="700" dirty="0"/>
          </a:p>
        </p:txBody>
      </p:sp>
      <p:sp>
        <p:nvSpPr>
          <p:cNvPr id="22" name="Shape 20"/>
          <p:cNvSpPr/>
          <p:nvPr/>
        </p:nvSpPr>
        <p:spPr>
          <a:xfrm>
            <a:off x="5029200" y="1719072"/>
            <a:ext cx="457200" cy="201168"/>
          </a:xfrm>
          <a:prstGeom prst="rect">
            <a:avLst/>
          </a:prstGeom>
          <a:solidFill>
            <a:srgbClr val="F2F2F2"/>
          </a:solidFill>
          <a:ln w="3810">
            <a:solidFill>
              <a:srgbClr val="E2D9CF"/>
            </a:solidFill>
            <a:prstDash val="solid"/>
          </a:ln>
        </p:spPr>
      </p:sp>
      <p:sp>
        <p:nvSpPr>
          <p:cNvPr id="23" name="Text 21"/>
          <p:cNvSpPr/>
          <p:nvPr/>
        </p:nvSpPr>
        <p:spPr>
          <a:xfrm>
            <a:off x="50292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8</a:t>
            </a:r>
            <a:endParaRPr lang="en-US" sz="700" dirty="0"/>
          </a:p>
        </p:txBody>
      </p:sp>
      <p:sp>
        <p:nvSpPr>
          <p:cNvPr id="24" name="Shape 22"/>
          <p:cNvSpPr/>
          <p:nvPr/>
        </p:nvSpPr>
        <p:spPr>
          <a:xfrm>
            <a:off x="5486400" y="1719072"/>
            <a:ext cx="457200" cy="201168"/>
          </a:xfrm>
          <a:prstGeom prst="rect">
            <a:avLst/>
          </a:prstGeom>
          <a:solidFill>
            <a:srgbClr val="FFFFFF"/>
          </a:solidFill>
          <a:ln w="3810">
            <a:solidFill>
              <a:srgbClr val="E2D9CF"/>
            </a:solidFill>
            <a:prstDash val="solid"/>
          </a:ln>
        </p:spPr>
      </p:sp>
      <p:sp>
        <p:nvSpPr>
          <p:cNvPr id="25" name="Text 23"/>
          <p:cNvSpPr/>
          <p:nvPr/>
        </p:nvSpPr>
        <p:spPr>
          <a:xfrm>
            <a:off x="54864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9</a:t>
            </a:r>
            <a:endParaRPr lang="en-US" sz="700" dirty="0"/>
          </a:p>
        </p:txBody>
      </p:sp>
      <p:sp>
        <p:nvSpPr>
          <p:cNvPr id="26" name="Shape 24"/>
          <p:cNvSpPr/>
          <p:nvPr/>
        </p:nvSpPr>
        <p:spPr>
          <a:xfrm>
            <a:off x="5943600" y="1719072"/>
            <a:ext cx="457200" cy="201168"/>
          </a:xfrm>
          <a:prstGeom prst="rect">
            <a:avLst/>
          </a:prstGeom>
          <a:solidFill>
            <a:srgbClr val="F2F2F2"/>
          </a:solidFill>
          <a:ln w="3810">
            <a:solidFill>
              <a:srgbClr val="E2D9CF"/>
            </a:solidFill>
            <a:prstDash val="solid"/>
          </a:ln>
        </p:spPr>
      </p:sp>
      <p:sp>
        <p:nvSpPr>
          <p:cNvPr id="27" name="Text 25"/>
          <p:cNvSpPr/>
          <p:nvPr/>
        </p:nvSpPr>
        <p:spPr>
          <a:xfrm>
            <a:off x="59436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10</a:t>
            </a:r>
            <a:endParaRPr lang="en-US" sz="700" dirty="0"/>
          </a:p>
        </p:txBody>
      </p:sp>
      <p:sp>
        <p:nvSpPr>
          <p:cNvPr id="28" name="Shape 26"/>
          <p:cNvSpPr/>
          <p:nvPr/>
        </p:nvSpPr>
        <p:spPr>
          <a:xfrm>
            <a:off x="6400800" y="1719072"/>
            <a:ext cx="457200" cy="201168"/>
          </a:xfrm>
          <a:prstGeom prst="rect">
            <a:avLst/>
          </a:prstGeom>
          <a:solidFill>
            <a:srgbClr val="FFFFFF"/>
          </a:solidFill>
          <a:ln w="3810">
            <a:solidFill>
              <a:srgbClr val="E2D9CF"/>
            </a:solidFill>
            <a:prstDash val="solid"/>
          </a:ln>
        </p:spPr>
      </p:sp>
      <p:sp>
        <p:nvSpPr>
          <p:cNvPr id="29" name="Text 27"/>
          <p:cNvSpPr/>
          <p:nvPr/>
        </p:nvSpPr>
        <p:spPr>
          <a:xfrm>
            <a:off x="64008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11</a:t>
            </a:r>
            <a:endParaRPr lang="en-US" sz="700" dirty="0"/>
          </a:p>
        </p:txBody>
      </p:sp>
      <p:sp>
        <p:nvSpPr>
          <p:cNvPr id="30" name="Shape 28"/>
          <p:cNvSpPr/>
          <p:nvPr/>
        </p:nvSpPr>
        <p:spPr>
          <a:xfrm>
            <a:off x="6858000" y="1719072"/>
            <a:ext cx="457200" cy="201168"/>
          </a:xfrm>
          <a:prstGeom prst="rect">
            <a:avLst/>
          </a:prstGeom>
          <a:solidFill>
            <a:srgbClr val="F2F2F2"/>
          </a:solidFill>
          <a:ln w="3810">
            <a:solidFill>
              <a:srgbClr val="E2D9CF"/>
            </a:solidFill>
            <a:prstDash val="solid"/>
          </a:ln>
        </p:spPr>
      </p:sp>
      <p:sp>
        <p:nvSpPr>
          <p:cNvPr id="31" name="Text 29"/>
          <p:cNvSpPr/>
          <p:nvPr/>
        </p:nvSpPr>
        <p:spPr>
          <a:xfrm>
            <a:off x="68580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12</a:t>
            </a:r>
            <a:endParaRPr lang="en-US" sz="700" dirty="0"/>
          </a:p>
        </p:txBody>
      </p:sp>
      <p:sp>
        <p:nvSpPr>
          <p:cNvPr id="32" name="Shape 30"/>
          <p:cNvSpPr/>
          <p:nvPr/>
        </p:nvSpPr>
        <p:spPr>
          <a:xfrm>
            <a:off x="7315200" y="1719072"/>
            <a:ext cx="457200" cy="201168"/>
          </a:xfrm>
          <a:prstGeom prst="rect">
            <a:avLst/>
          </a:prstGeom>
          <a:solidFill>
            <a:srgbClr val="FFFFFF"/>
          </a:solidFill>
          <a:ln w="3810">
            <a:solidFill>
              <a:srgbClr val="E2D9CF"/>
            </a:solidFill>
            <a:prstDash val="solid"/>
          </a:ln>
        </p:spPr>
      </p:sp>
      <p:sp>
        <p:nvSpPr>
          <p:cNvPr id="33" name="Text 31"/>
          <p:cNvSpPr/>
          <p:nvPr/>
        </p:nvSpPr>
        <p:spPr>
          <a:xfrm>
            <a:off x="73152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a:t>
            </a:r>
            <a:endParaRPr lang="en-US" sz="700" dirty="0"/>
          </a:p>
        </p:txBody>
      </p:sp>
      <p:sp>
        <p:nvSpPr>
          <p:cNvPr id="34" name="Shape 32"/>
          <p:cNvSpPr/>
          <p:nvPr/>
        </p:nvSpPr>
        <p:spPr>
          <a:xfrm>
            <a:off x="7772400" y="1719072"/>
            <a:ext cx="457200" cy="201168"/>
          </a:xfrm>
          <a:prstGeom prst="rect">
            <a:avLst/>
          </a:prstGeom>
          <a:solidFill>
            <a:srgbClr val="F2F2F2"/>
          </a:solidFill>
          <a:ln w="3810">
            <a:solidFill>
              <a:srgbClr val="E2D9CF"/>
            </a:solidFill>
            <a:prstDash val="solid"/>
          </a:ln>
        </p:spPr>
      </p:sp>
      <p:sp>
        <p:nvSpPr>
          <p:cNvPr id="35" name="Text 33"/>
          <p:cNvSpPr/>
          <p:nvPr/>
        </p:nvSpPr>
        <p:spPr>
          <a:xfrm>
            <a:off x="77724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2</a:t>
            </a:r>
            <a:endParaRPr lang="en-US" sz="700" dirty="0"/>
          </a:p>
        </p:txBody>
      </p:sp>
      <p:sp>
        <p:nvSpPr>
          <p:cNvPr id="36" name="Shape 34"/>
          <p:cNvSpPr/>
          <p:nvPr/>
        </p:nvSpPr>
        <p:spPr>
          <a:xfrm>
            <a:off x="8229600" y="1719072"/>
            <a:ext cx="457200" cy="201168"/>
          </a:xfrm>
          <a:prstGeom prst="rect">
            <a:avLst/>
          </a:prstGeom>
          <a:solidFill>
            <a:srgbClr val="FFFFFF"/>
          </a:solidFill>
          <a:ln w="3810">
            <a:solidFill>
              <a:srgbClr val="E2D9CF"/>
            </a:solidFill>
            <a:prstDash val="solid"/>
          </a:ln>
        </p:spPr>
      </p:sp>
      <p:sp>
        <p:nvSpPr>
          <p:cNvPr id="37" name="Text 35"/>
          <p:cNvSpPr/>
          <p:nvPr/>
        </p:nvSpPr>
        <p:spPr>
          <a:xfrm>
            <a:off x="82296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3</a:t>
            </a:r>
            <a:endParaRPr lang="en-US" sz="700" dirty="0"/>
          </a:p>
        </p:txBody>
      </p:sp>
      <p:sp>
        <p:nvSpPr>
          <p:cNvPr id="38" name="Shape 36"/>
          <p:cNvSpPr/>
          <p:nvPr/>
        </p:nvSpPr>
        <p:spPr>
          <a:xfrm>
            <a:off x="8686800" y="1719072"/>
            <a:ext cx="457200" cy="201168"/>
          </a:xfrm>
          <a:prstGeom prst="rect">
            <a:avLst/>
          </a:prstGeom>
          <a:solidFill>
            <a:srgbClr val="F2F2F2"/>
          </a:solidFill>
          <a:ln w="3810">
            <a:solidFill>
              <a:srgbClr val="E2D9CF"/>
            </a:solidFill>
            <a:prstDash val="solid"/>
          </a:ln>
        </p:spPr>
      </p:sp>
      <p:sp>
        <p:nvSpPr>
          <p:cNvPr id="39" name="Text 37"/>
          <p:cNvSpPr/>
          <p:nvPr/>
        </p:nvSpPr>
        <p:spPr>
          <a:xfrm>
            <a:off x="86868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4</a:t>
            </a:r>
            <a:endParaRPr lang="en-US" sz="700" dirty="0"/>
          </a:p>
        </p:txBody>
      </p:sp>
      <p:sp>
        <p:nvSpPr>
          <p:cNvPr id="40" name="Shape 38"/>
          <p:cNvSpPr/>
          <p:nvPr/>
        </p:nvSpPr>
        <p:spPr>
          <a:xfrm>
            <a:off x="9144000" y="1719072"/>
            <a:ext cx="457200" cy="201168"/>
          </a:xfrm>
          <a:prstGeom prst="rect">
            <a:avLst/>
          </a:prstGeom>
          <a:solidFill>
            <a:srgbClr val="FFFFFF"/>
          </a:solidFill>
          <a:ln w="3810">
            <a:solidFill>
              <a:srgbClr val="E2D9CF"/>
            </a:solidFill>
            <a:prstDash val="solid"/>
          </a:ln>
        </p:spPr>
      </p:sp>
      <p:sp>
        <p:nvSpPr>
          <p:cNvPr id="41" name="Text 39"/>
          <p:cNvSpPr/>
          <p:nvPr/>
        </p:nvSpPr>
        <p:spPr>
          <a:xfrm>
            <a:off x="91440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5</a:t>
            </a:r>
            <a:endParaRPr lang="en-US" sz="700" dirty="0"/>
          </a:p>
        </p:txBody>
      </p:sp>
      <p:sp>
        <p:nvSpPr>
          <p:cNvPr id="42" name="Shape 40"/>
          <p:cNvSpPr/>
          <p:nvPr/>
        </p:nvSpPr>
        <p:spPr>
          <a:xfrm>
            <a:off x="9601200" y="1719072"/>
            <a:ext cx="457200" cy="201168"/>
          </a:xfrm>
          <a:prstGeom prst="rect">
            <a:avLst/>
          </a:prstGeom>
          <a:solidFill>
            <a:srgbClr val="F2F2F2"/>
          </a:solidFill>
          <a:ln w="3810">
            <a:solidFill>
              <a:srgbClr val="E2D9CF"/>
            </a:solidFill>
            <a:prstDash val="solid"/>
          </a:ln>
        </p:spPr>
      </p:sp>
      <p:sp>
        <p:nvSpPr>
          <p:cNvPr id="43" name="Text 41"/>
          <p:cNvSpPr/>
          <p:nvPr/>
        </p:nvSpPr>
        <p:spPr>
          <a:xfrm>
            <a:off x="96012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6</a:t>
            </a:r>
            <a:endParaRPr lang="en-US" sz="700" dirty="0"/>
          </a:p>
        </p:txBody>
      </p:sp>
      <p:sp>
        <p:nvSpPr>
          <p:cNvPr id="44" name="Shape 42"/>
          <p:cNvSpPr/>
          <p:nvPr/>
        </p:nvSpPr>
        <p:spPr>
          <a:xfrm>
            <a:off x="10058400" y="1719072"/>
            <a:ext cx="457200" cy="201168"/>
          </a:xfrm>
          <a:prstGeom prst="rect">
            <a:avLst/>
          </a:prstGeom>
          <a:solidFill>
            <a:srgbClr val="FFFFFF"/>
          </a:solidFill>
          <a:ln w="3810">
            <a:solidFill>
              <a:srgbClr val="E2D9CF"/>
            </a:solidFill>
            <a:prstDash val="solid"/>
          </a:ln>
        </p:spPr>
      </p:sp>
      <p:sp>
        <p:nvSpPr>
          <p:cNvPr id="45" name="Text 43"/>
          <p:cNvSpPr/>
          <p:nvPr/>
        </p:nvSpPr>
        <p:spPr>
          <a:xfrm>
            <a:off x="100584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7</a:t>
            </a:r>
            <a:endParaRPr lang="en-US" sz="700" dirty="0"/>
          </a:p>
        </p:txBody>
      </p:sp>
      <p:sp>
        <p:nvSpPr>
          <p:cNvPr id="46" name="Shape 44"/>
          <p:cNvSpPr/>
          <p:nvPr/>
        </p:nvSpPr>
        <p:spPr>
          <a:xfrm>
            <a:off x="10515600" y="1719072"/>
            <a:ext cx="457200" cy="201168"/>
          </a:xfrm>
          <a:prstGeom prst="rect">
            <a:avLst/>
          </a:prstGeom>
          <a:solidFill>
            <a:srgbClr val="F2F2F2"/>
          </a:solidFill>
          <a:ln w="3810">
            <a:solidFill>
              <a:srgbClr val="E2D9CF"/>
            </a:solidFill>
            <a:prstDash val="solid"/>
          </a:ln>
        </p:spPr>
      </p:sp>
      <p:sp>
        <p:nvSpPr>
          <p:cNvPr id="47" name="Text 45"/>
          <p:cNvSpPr/>
          <p:nvPr/>
        </p:nvSpPr>
        <p:spPr>
          <a:xfrm>
            <a:off x="105156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8</a:t>
            </a:r>
            <a:endParaRPr lang="en-US" sz="700" dirty="0"/>
          </a:p>
        </p:txBody>
      </p:sp>
      <p:sp>
        <p:nvSpPr>
          <p:cNvPr id="48" name="Shape 46"/>
          <p:cNvSpPr/>
          <p:nvPr/>
        </p:nvSpPr>
        <p:spPr>
          <a:xfrm>
            <a:off x="10972800" y="1719072"/>
            <a:ext cx="457200" cy="201168"/>
          </a:xfrm>
          <a:prstGeom prst="rect">
            <a:avLst/>
          </a:prstGeom>
          <a:solidFill>
            <a:srgbClr val="FFFFFF"/>
          </a:solidFill>
          <a:ln w="3810">
            <a:solidFill>
              <a:srgbClr val="E2D9CF"/>
            </a:solidFill>
            <a:prstDash val="solid"/>
          </a:ln>
        </p:spPr>
      </p:sp>
      <p:sp>
        <p:nvSpPr>
          <p:cNvPr id="49" name="Text 47"/>
          <p:cNvSpPr/>
          <p:nvPr/>
        </p:nvSpPr>
        <p:spPr>
          <a:xfrm>
            <a:off x="109728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9</a:t>
            </a:r>
            <a:endParaRPr lang="en-US" sz="700" dirty="0"/>
          </a:p>
        </p:txBody>
      </p:sp>
      <p:sp>
        <p:nvSpPr>
          <p:cNvPr id="50" name="Shape 48"/>
          <p:cNvSpPr/>
          <p:nvPr/>
        </p:nvSpPr>
        <p:spPr>
          <a:xfrm>
            <a:off x="11430000" y="1719072"/>
            <a:ext cx="457200" cy="201168"/>
          </a:xfrm>
          <a:prstGeom prst="rect">
            <a:avLst/>
          </a:prstGeom>
          <a:solidFill>
            <a:srgbClr val="F2F2F2"/>
          </a:solidFill>
          <a:ln w="3810">
            <a:solidFill>
              <a:srgbClr val="E2D9CF"/>
            </a:solidFill>
            <a:prstDash val="solid"/>
          </a:ln>
        </p:spPr>
      </p:sp>
      <p:sp>
        <p:nvSpPr>
          <p:cNvPr id="51" name="Text 49"/>
          <p:cNvSpPr/>
          <p:nvPr/>
        </p:nvSpPr>
        <p:spPr>
          <a:xfrm>
            <a:off x="114300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10</a:t>
            </a:r>
            <a:endParaRPr lang="en-US" sz="700" dirty="0"/>
          </a:p>
        </p:txBody>
      </p:sp>
      <p:sp>
        <p:nvSpPr>
          <p:cNvPr id="52" name="Shape 50"/>
          <p:cNvSpPr/>
          <p:nvPr/>
        </p:nvSpPr>
        <p:spPr>
          <a:xfrm>
            <a:off x="11887200" y="1719072"/>
            <a:ext cx="457200" cy="201168"/>
          </a:xfrm>
          <a:prstGeom prst="rect">
            <a:avLst/>
          </a:prstGeom>
          <a:solidFill>
            <a:srgbClr val="FFFFFF"/>
          </a:solidFill>
          <a:ln w="3810">
            <a:solidFill>
              <a:srgbClr val="E2D9CF"/>
            </a:solidFill>
            <a:prstDash val="solid"/>
          </a:ln>
        </p:spPr>
      </p:sp>
      <p:sp>
        <p:nvSpPr>
          <p:cNvPr id="53" name="Text 51"/>
          <p:cNvSpPr/>
          <p:nvPr/>
        </p:nvSpPr>
        <p:spPr>
          <a:xfrm>
            <a:off x="118872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11</a:t>
            </a:r>
            <a:endParaRPr lang="en-US" sz="700" dirty="0"/>
          </a:p>
        </p:txBody>
      </p:sp>
      <p:sp>
        <p:nvSpPr>
          <p:cNvPr id="54" name="Shape 52"/>
          <p:cNvSpPr/>
          <p:nvPr/>
        </p:nvSpPr>
        <p:spPr>
          <a:xfrm>
            <a:off x="12344400" y="1719072"/>
            <a:ext cx="457200" cy="201168"/>
          </a:xfrm>
          <a:prstGeom prst="rect">
            <a:avLst/>
          </a:prstGeom>
          <a:solidFill>
            <a:srgbClr val="F2F2F2"/>
          </a:solidFill>
          <a:ln w="3810">
            <a:solidFill>
              <a:srgbClr val="E2D9CF"/>
            </a:solidFill>
            <a:prstDash val="solid"/>
          </a:ln>
        </p:spPr>
      </p:sp>
      <p:sp>
        <p:nvSpPr>
          <p:cNvPr id="55" name="Text 53"/>
          <p:cNvSpPr/>
          <p:nvPr/>
        </p:nvSpPr>
        <p:spPr>
          <a:xfrm>
            <a:off x="123444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12</a:t>
            </a:r>
            <a:endParaRPr lang="en-US" sz="700" dirty="0"/>
          </a:p>
        </p:txBody>
      </p:sp>
      <p:sp>
        <p:nvSpPr>
          <p:cNvPr id="56" name="Shape 54"/>
          <p:cNvSpPr/>
          <p:nvPr/>
        </p:nvSpPr>
        <p:spPr>
          <a:xfrm>
            <a:off x="12801600" y="1719072"/>
            <a:ext cx="457200" cy="201168"/>
          </a:xfrm>
          <a:prstGeom prst="rect">
            <a:avLst/>
          </a:prstGeom>
          <a:solidFill>
            <a:srgbClr val="FFFFFF"/>
          </a:solidFill>
          <a:ln w="3810">
            <a:solidFill>
              <a:srgbClr val="E2D9CF"/>
            </a:solidFill>
            <a:prstDash val="solid"/>
          </a:ln>
        </p:spPr>
      </p:sp>
      <p:sp>
        <p:nvSpPr>
          <p:cNvPr id="57" name="Text 55"/>
          <p:cNvSpPr/>
          <p:nvPr/>
        </p:nvSpPr>
        <p:spPr>
          <a:xfrm>
            <a:off x="128016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1</a:t>
            </a:r>
            <a:endParaRPr lang="en-US" sz="700" dirty="0"/>
          </a:p>
        </p:txBody>
      </p:sp>
      <p:sp>
        <p:nvSpPr>
          <p:cNvPr id="58" name="Shape 56"/>
          <p:cNvSpPr/>
          <p:nvPr/>
        </p:nvSpPr>
        <p:spPr>
          <a:xfrm>
            <a:off x="13258800" y="1719072"/>
            <a:ext cx="457200" cy="201168"/>
          </a:xfrm>
          <a:prstGeom prst="rect">
            <a:avLst/>
          </a:prstGeom>
          <a:solidFill>
            <a:srgbClr val="F2F2F2"/>
          </a:solidFill>
          <a:ln w="3810">
            <a:solidFill>
              <a:srgbClr val="E2D9CF"/>
            </a:solidFill>
            <a:prstDash val="solid"/>
          </a:ln>
        </p:spPr>
      </p:sp>
      <p:sp>
        <p:nvSpPr>
          <p:cNvPr id="59" name="Text 57"/>
          <p:cNvSpPr/>
          <p:nvPr/>
        </p:nvSpPr>
        <p:spPr>
          <a:xfrm>
            <a:off x="132588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2</a:t>
            </a:r>
            <a:endParaRPr lang="en-US" sz="700" dirty="0"/>
          </a:p>
        </p:txBody>
      </p:sp>
      <p:sp>
        <p:nvSpPr>
          <p:cNvPr id="60" name="Shape 58"/>
          <p:cNvSpPr/>
          <p:nvPr/>
        </p:nvSpPr>
        <p:spPr>
          <a:xfrm>
            <a:off x="13716000" y="1719072"/>
            <a:ext cx="457200" cy="201168"/>
          </a:xfrm>
          <a:prstGeom prst="rect">
            <a:avLst/>
          </a:prstGeom>
          <a:solidFill>
            <a:srgbClr val="FFFFFF"/>
          </a:solidFill>
          <a:ln w="3810">
            <a:solidFill>
              <a:srgbClr val="E2D9CF"/>
            </a:solidFill>
            <a:prstDash val="solid"/>
          </a:ln>
        </p:spPr>
      </p:sp>
      <p:sp>
        <p:nvSpPr>
          <p:cNvPr id="61" name="Text 59"/>
          <p:cNvSpPr/>
          <p:nvPr/>
        </p:nvSpPr>
        <p:spPr>
          <a:xfrm>
            <a:off x="13716000" y="1719072"/>
            <a:ext cx="457200" cy="201168"/>
          </a:xfrm>
          <a:prstGeom prst="rect">
            <a:avLst/>
          </a:prstGeom>
          <a:noFill/>
          <a:ln/>
        </p:spPr>
        <p:txBody>
          <a:bodyPr wrap="square" rtlCol="0" anchor="ctr">
            <a:normAutofit/>
          </a:bodyPr>
          <a:lstStyle/>
          <a:p>
            <a:pPr algn="ctr" indent="0" marL="0">
              <a:buNone/>
            </a:pPr>
            <a:r>
              <a:rPr lang="en-US" sz="700" dirty="0">
                <a:solidFill>
                  <a:srgbClr val="4A4A45"/>
                </a:solidFill>
                <a:latin typeface="Hiragino Sans" pitchFamily="34" charset="0"/>
                <a:ea typeface="Hiragino Sans" pitchFamily="34" charset="-122"/>
                <a:cs typeface="Hiragino Sans" pitchFamily="34" charset="-120"/>
              </a:rPr>
              <a:t>3</a:t>
            </a:r>
            <a:endParaRPr lang="en-US" sz="700" dirty="0"/>
          </a:p>
        </p:txBody>
      </p:sp>
      <p:sp>
        <p:nvSpPr>
          <p:cNvPr id="62" name="Shape 60"/>
          <p:cNvSpPr/>
          <p:nvPr/>
        </p:nvSpPr>
        <p:spPr>
          <a:xfrm>
            <a:off x="457200" y="1920240"/>
            <a:ext cx="13716000" cy="365760"/>
          </a:xfrm>
          <a:prstGeom prst="rect">
            <a:avLst/>
          </a:prstGeom>
          <a:solidFill>
            <a:srgbClr val="FFFFFF"/>
          </a:solidFill>
          <a:ln w="3810">
            <a:solidFill>
              <a:srgbClr val="E2D9CF"/>
            </a:solidFill>
            <a:prstDash val="solid"/>
          </a:ln>
        </p:spPr>
      </p:sp>
      <p:sp>
        <p:nvSpPr>
          <p:cNvPr id="63" name="Text 61"/>
          <p:cNvSpPr/>
          <p:nvPr/>
        </p:nvSpPr>
        <p:spPr>
          <a:xfrm>
            <a:off x="502920" y="1920240"/>
            <a:ext cx="502920" cy="365760"/>
          </a:xfrm>
          <a:prstGeom prst="rect">
            <a:avLst/>
          </a:prstGeom>
          <a:noFill/>
          <a:ln/>
        </p:spPr>
        <p:txBody>
          <a:bodyPr wrap="square" rtlCol="0" anchor="ctr">
            <a:normAutofit/>
          </a:bodyPr>
          <a:lstStyle/>
          <a:p>
            <a:pPr indent="0" marL="0">
              <a:buNone/>
            </a:pPr>
            <a:r>
              <a:rPr lang="en-US" sz="800" b="1" dirty="0">
                <a:solidFill>
                  <a:srgbClr val="746558"/>
                </a:solidFill>
                <a:latin typeface="Hiragino Sans" pitchFamily="34" charset="0"/>
                <a:ea typeface="Hiragino Sans" pitchFamily="34" charset="-122"/>
                <a:cs typeface="Hiragino Sans" pitchFamily="34" charset="-120"/>
              </a:rPr>
              <a:t>開発</a:t>
            </a:r>
            <a:endParaRPr lang="en-US" sz="800" dirty="0"/>
          </a:p>
        </p:txBody>
      </p:sp>
      <p:sp>
        <p:nvSpPr>
          <p:cNvPr id="64" name="Text 62"/>
          <p:cNvSpPr/>
          <p:nvPr/>
        </p:nvSpPr>
        <p:spPr>
          <a:xfrm>
            <a:off x="1005840" y="192024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Phase 1 MVP開発</a:t>
            </a:r>
            <a:endParaRPr lang="en-US" sz="800" dirty="0"/>
          </a:p>
        </p:txBody>
      </p:sp>
      <p:sp>
        <p:nvSpPr>
          <p:cNvPr id="65" name="Shape 63"/>
          <p:cNvSpPr/>
          <p:nvPr/>
        </p:nvSpPr>
        <p:spPr>
          <a:xfrm>
            <a:off x="3227832" y="1965960"/>
            <a:ext cx="4059936" cy="274320"/>
          </a:xfrm>
          <a:prstGeom prst="rect">
            <a:avLst>
              <a:gd name="adj" fmla="val 16667"/>
            </a:avLst>
          </a:prstGeom>
          <a:solidFill>
            <a:srgbClr val="2C6FAC"/>
          </a:solidFill>
          <a:ln/>
        </p:spPr>
      </p:sp>
      <p:sp>
        <p:nvSpPr>
          <p:cNvPr id="66" name="Shape 64"/>
          <p:cNvSpPr/>
          <p:nvPr/>
        </p:nvSpPr>
        <p:spPr>
          <a:xfrm>
            <a:off x="457200" y="2286000"/>
            <a:ext cx="13716000" cy="365760"/>
          </a:xfrm>
          <a:prstGeom prst="rect">
            <a:avLst/>
          </a:prstGeom>
          <a:solidFill>
            <a:srgbClr val="F9F6F0"/>
          </a:solidFill>
          <a:ln w="3810">
            <a:solidFill>
              <a:srgbClr val="E2D9CF"/>
            </a:solidFill>
            <a:prstDash val="solid"/>
          </a:ln>
        </p:spPr>
      </p:sp>
      <p:sp>
        <p:nvSpPr>
          <p:cNvPr id="67" name="Text 65"/>
          <p:cNvSpPr/>
          <p:nvPr/>
        </p:nvSpPr>
        <p:spPr>
          <a:xfrm>
            <a:off x="1005840" y="228600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Phase 1.5 情報開示</a:t>
            </a:r>
            <a:endParaRPr lang="en-US" sz="800" dirty="0"/>
          </a:p>
        </p:txBody>
      </p:sp>
      <p:sp>
        <p:nvSpPr>
          <p:cNvPr id="68" name="Shape 66"/>
          <p:cNvSpPr/>
          <p:nvPr/>
        </p:nvSpPr>
        <p:spPr>
          <a:xfrm>
            <a:off x="5971032" y="2331720"/>
            <a:ext cx="2688336" cy="274320"/>
          </a:xfrm>
          <a:prstGeom prst="rect">
            <a:avLst>
              <a:gd name="adj" fmla="val 16667"/>
            </a:avLst>
          </a:prstGeom>
          <a:solidFill>
            <a:srgbClr val="2C6FAC"/>
          </a:solidFill>
          <a:ln/>
        </p:spPr>
      </p:sp>
      <p:sp>
        <p:nvSpPr>
          <p:cNvPr id="69" name="Shape 67"/>
          <p:cNvSpPr/>
          <p:nvPr/>
        </p:nvSpPr>
        <p:spPr>
          <a:xfrm>
            <a:off x="457200" y="2651760"/>
            <a:ext cx="13716000" cy="365760"/>
          </a:xfrm>
          <a:prstGeom prst="rect">
            <a:avLst/>
          </a:prstGeom>
          <a:solidFill>
            <a:srgbClr val="FFFFFF"/>
          </a:solidFill>
          <a:ln w="3810">
            <a:solidFill>
              <a:srgbClr val="E2D9CF"/>
            </a:solidFill>
            <a:prstDash val="solid"/>
          </a:ln>
        </p:spPr>
      </p:sp>
      <p:sp>
        <p:nvSpPr>
          <p:cNvPr id="70" name="Text 68"/>
          <p:cNvSpPr/>
          <p:nvPr/>
        </p:nvSpPr>
        <p:spPr>
          <a:xfrm>
            <a:off x="1005840" y="265176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Phase 2 施設横断</a:t>
            </a:r>
            <a:endParaRPr lang="en-US" sz="800" dirty="0"/>
          </a:p>
        </p:txBody>
      </p:sp>
      <p:sp>
        <p:nvSpPr>
          <p:cNvPr id="71" name="Shape 69"/>
          <p:cNvSpPr/>
          <p:nvPr/>
        </p:nvSpPr>
        <p:spPr>
          <a:xfrm>
            <a:off x="8714232" y="2697480"/>
            <a:ext cx="4059936" cy="274320"/>
          </a:xfrm>
          <a:prstGeom prst="rect">
            <a:avLst>
              <a:gd name="adj" fmla="val 16667"/>
            </a:avLst>
          </a:prstGeom>
          <a:solidFill>
            <a:srgbClr val="16A085"/>
          </a:solidFill>
          <a:ln/>
        </p:spPr>
      </p:sp>
      <p:sp>
        <p:nvSpPr>
          <p:cNvPr id="72" name="Shape 70"/>
          <p:cNvSpPr/>
          <p:nvPr/>
        </p:nvSpPr>
        <p:spPr>
          <a:xfrm>
            <a:off x="457200" y="3017520"/>
            <a:ext cx="13716000" cy="365760"/>
          </a:xfrm>
          <a:prstGeom prst="rect">
            <a:avLst/>
          </a:prstGeom>
          <a:solidFill>
            <a:srgbClr val="F9F6F0"/>
          </a:solidFill>
          <a:ln w="3810">
            <a:solidFill>
              <a:srgbClr val="E2D9CF"/>
            </a:solidFill>
            <a:prstDash val="solid"/>
          </a:ln>
        </p:spPr>
      </p:sp>
      <p:sp>
        <p:nvSpPr>
          <p:cNvPr id="73" name="Text 71"/>
          <p:cNvSpPr/>
          <p:nvPr/>
        </p:nvSpPr>
        <p:spPr>
          <a:xfrm>
            <a:off x="502920" y="3017520"/>
            <a:ext cx="502920" cy="365760"/>
          </a:xfrm>
          <a:prstGeom prst="rect">
            <a:avLst/>
          </a:prstGeom>
          <a:noFill/>
          <a:ln/>
        </p:spPr>
        <p:txBody>
          <a:bodyPr wrap="square" rtlCol="0" anchor="ctr">
            <a:normAutofit/>
          </a:bodyPr>
          <a:lstStyle/>
          <a:p>
            <a:pPr indent="0" marL="0">
              <a:buNone/>
            </a:pPr>
            <a:r>
              <a:rPr lang="en-US" sz="800" b="1" dirty="0">
                <a:solidFill>
                  <a:srgbClr val="746558"/>
                </a:solidFill>
                <a:latin typeface="Hiragino Sans" pitchFamily="34" charset="0"/>
                <a:ea typeface="Hiragino Sans" pitchFamily="34" charset="-122"/>
                <a:cs typeface="Hiragino Sans" pitchFamily="34" charset="-120"/>
              </a:rPr>
              <a:t>商標</a:t>
            </a:r>
            <a:endParaRPr lang="en-US" sz="800" dirty="0"/>
          </a:p>
        </p:txBody>
      </p:sp>
      <p:sp>
        <p:nvSpPr>
          <p:cNvPr id="74" name="Text 72"/>
          <p:cNvSpPr/>
          <p:nvPr/>
        </p:nvSpPr>
        <p:spPr>
          <a:xfrm>
            <a:off x="1005840" y="301752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UCO/わかるじゃん</a:t>
            </a:r>
            <a:endParaRPr lang="en-US" sz="800" dirty="0"/>
          </a:p>
        </p:txBody>
      </p:sp>
      <p:sp>
        <p:nvSpPr>
          <p:cNvPr id="75" name="Shape 73"/>
          <p:cNvSpPr/>
          <p:nvPr/>
        </p:nvSpPr>
        <p:spPr>
          <a:xfrm>
            <a:off x="3227832" y="3063240"/>
            <a:ext cx="402336" cy="274320"/>
          </a:xfrm>
          <a:prstGeom prst="rect">
            <a:avLst>
              <a:gd name="adj" fmla="val 16667"/>
            </a:avLst>
          </a:prstGeom>
          <a:solidFill>
            <a:srgbClr val="27AE60"/>
          </a:solidFill>
          <a:ln/>
        </p:spPr>
      </p:sp>
      <p:sp>
        <p:nvSpPr>
          <p:cNvPr id="76" name="Text 74"/>
          <p:cNvSpPr/>
          <p:nvPr/>
        </p:nvSpPr>
        <p:spPr>
          <a:xfrm>
            <a:off x="3227832" y="3063240"/>
            <a:ext cx="402336" cy="274320"/>
          </a:xfrm>
          <a:prstGeom prst="rect">
            <a:avLst/>
          </a:prstGeom>
          <a:noFill/>
          <a:ln/>
        </p:spPr>
        <p:txBody>
          <a:bodyPr wrap="square" rtlCol="0" anchor="ctr">
            <a:normAutofit/>
          </a:bodyPr>
          <a:lstStyle/>
          <a:p>
            <a:pPr algn="ctr" indent="0" marL="0">
              <a:buNone/>
            </a:pPr>
            <a:r>
              <a:rPr lang="en-US" sz="800" dirty="0">
                <a:solidFill>
                  <a:srgbClr val="FFFFFF"/>
                </a:solidFill>
                <a:latin typeface="Hiragino Sans" pitchFamily="34" charset="0"/>
                <a:ea typeface="Hiragino Sans" pitchFamily="34" charset="-122"/>
                <a:cs typeface="Hiragino Sans" pitchFamily="34" charset="-120"/>
              </a:rPr>
              <a:t>◆</a:t>
            </a:r>
            <a:endParaRPr lang="en-US" sz="800" dirty="0"/>
          </a:p>
        </p:txBody>
      </p:sp>
      <p:sp>
        <p:nvSpPr>
          <p:cNvPr id="77" name="Shape 75"/>
          <p:cNvSpPr/>
          <p:nvPr/>
        </p:nvSpPr>
        <p:spPr>
          <a:xfrm>
            <a:off x="457200" y="3383280"/>
            <a:ext cx="13716000" cy="365760"/>
          </a:xfrm>
          <a:prstGeom prst="rect">
            <a:avLst/>
          </a:prstGeom>
          <a:solidFill>
            <a:srgbClr val="FFFFFF"/>
          </a:solidFill>
          <a:ln w="3810">
            <a:solidFill>
              <a:srgbClr val="E2D9CF"/>
            </a:solidFill>
            <a:prstDash val="solid"/>
          </a:ln>
        </p:spPr>
      </p:sp>
      <p:sp>
        <p:nvSpPr>
          <p:cNvPr id="78" name="Text 76"/>
          <p:cNvSpPr/>
          <p:nvPr/>
        </p:nvSpPr>
        <p:spPr>
          <a:xfrm>
            <a:off x="1005840" y="338328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ユニバーサルID/ケアOS</a:t>
            </a:r>
            <a:endParaRPr lang="en-US" sz="800" dirty="0"/>
          </a:p>
        </p:txBody>
      </p:sp>
      <p:sp>
        <p:nvSpPr>
          <p:cNvPr id="79" name="Shape 77"/>
          <p:cNvSpPr/>
          <p:nvPr/>
        </p:nvSpPr>
        <p:spPr>
          <a:xfrm>
            <a:off x="3685032" y="3429000"/>
            <a:ext cx="402336" cy="274320"/>
          </a:xfrm>
          <a:prstGeom prst="rect">
            <a:avLst>
              <a:gd name="adj" fmla="val 16667"/>
            </a:avLst>
          </a:prstGeom>
          <a:solidFill>
            <a:srgbClr val="4CAF50"/>
          </a:solidFill>
          <a:ln/>
        </p:spPr>
      </p:sp>
      <p:sp>
        <p:nvSpPr>
          <p:cNvPr id="80" name="Text 78"/>
          <p:cNvSpPr/>
          <p:nvPr/>
        </p:nvSpPr>
        <p:spPr>
          <a:xfrm>
            <a:off x="3685032" y="3429000"/>
            <a:ext cx="402336" cy="274320"/>
          </a:xfrm>
          <a:prstGeom prst="rect">
            <a:avLst/>
          </a:prstGeom>
          <a:noFill/>
          <a:ln/>
        </p:spPr>
        <p:txBody>
          <a:bodyPr wrap="square" rtlCol="0" anchor="ctr">
            <a:normAutofit/>
          </a:bodyPr>
          <a:lstStyle/>
          <a:p>
            <a:pPr algn="ctr" indent="0" marL="0">
              <a:buNone/>
            </a:pPr>
            <a:r>
              <a:rPr lang="en-US" sz="800" dirty="0">
                <a:solidFill>
                  <a:srgbClr val="FFFFFF"/>
                </a:solidFill>
                <a:latin typeface="Hiragino Sans" pitchFamily="34" charset="0"/>
                <a:ea typeface="Hiragino Sans" pitchFamily="34" charset="-122"/>
                <a:cs typeface="Hiragino Sans" pitchFamily="34" charset="-120"/>
              </a:rPr>
              <a:t>◆</a:t>
            </a:r>
            <a:endParaRPr lang="en-US" sz="800" dirty="0"/>
          </a:p>
        </p:txBody>
      </p:sp>
      <p:sp>
        <p:nvSpPr>
          <p:cNvPr id="81" name="Shape 79"/>
          <p:cNvSpPr/>
          <p:nvPr/>
        </p:nvSpPr>
        <p:spPr>
          <a:xfrm>
            <a:off x="457200" y="3749040"/>
            <a:ext cx="13716000" cy="365760"/>
          </a:xfrm>
          <a:prstGeom prst="rect">
            <a:avLst/>
          </a:prstGeom>
          <a:solidFill>
            <a:srgbClr val="F9F6F0"/>
          </a:solidFill>
          <a:ln w="3810">
            <a:solidFill>
              <a:srgbClr val="E2D9CF"/>
            </a:solidFill>
            <a:prstDash val="solid"/>
          </a:ln>
        </p:spPr>
      </p:sp>
      <p:sp>
        <p:nvSpPr>
          <p:cNvPr id="82" name="Text 80"/>
          <p:cNvSpPr/>
          <p:nvPr/>
        </p:nvSpPr>
        <p:spPr>
          <a:xfrm>
            <a:off x="502920" y="3749040"/>
            <a:ext cx="502920" cy="365760"/>
          </a:xfrm>
          <a:prstGeom prst="rect">
            <a:avLst/>
          </a:prstGeom>
          <a:noFill/>
          <a:ln/>
        </p:spPr>
        <p:txBody>
          <a:bodyPr wrap="square" rtlCol="0" anchor="ctr">
            <a:normAutofit/>
          </a:bodyPr>
          <a:lstStyle/>
          <a:p>
            <a:pPr indent="0" marL="0">
              <a:buNone/>
            </a:pPr>
            <a:r>
              <a:rPr lang="en-US" sz="800" b="1" dirty="0">
                <a:solidFill>
                  <a:srgbClr val="746558"/>
                </a:solidFill>
                <a:latin typeface="Hiragino Sans" pitchFamily="34" charset="0"/>
                <a:ea typeface="Hiragino Sans" pitchFamily="34" charset="-122"/>
                <a:cs typeface="Hiragino Sans" pitchFamily="34" charset="-120"/>
              </a:rPr>
              <a:t>特許</a:t>
            </a:r>
            <a:endParaRPr lang="en-US" sz="800" dirty="0"/>
          </a:p>
        </p:txBody>
      </p:sp>
      <p:sp>
        <p:nvSpPr>
          <p:cNvPr id="83" name="Text 81"/>
          <p:cNvSpPr/>
          <p:nvPr/>
        </p:nvSpPr>
        <p:spPr>
          <a:xfrm>
            <a:off x="1005840" y="374904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(1) AI虐待予防 明細書</a:t>
            </a:r>
            <a:endParaRPr lang="en-US" sz="800" dirty="0"/>
          </a:p>
        </p:txBody>
      </p:sp>
      <p:sp>
        <p:nvSpPr>
          <p:cNvPr id="84" name="Shape 82"/>
          <p:cNvSpPr/>
          <p:nvPr/>
        </p:nvSpPr>
        <p:spPr>
          <a:xfrm>
            <a:off x="4142232" y="3794760"/>
            <a:ext cx="1316736" cy="274320"/>
          </a:xfrm>
          <a:prstGeom prst="rect">
            <a:avLst>
              <a:gd name="adj" fmla="val 16667"/>
            </a:avLst>
          </a:prstGeom>
          <a:solidFill>
            <a:srgbClr val="E67E22"/>
          </a:solidFill>
          <a:ln/>
        </p:spPr>
      </p:sp>
      <p:sp>
        <p:nvSpPr>
          <p:cNvPr id="85" name="Shape 83"/>
          <p:cNvSpPr/>
          <p:nvPr/>
        </p:nvSpPr>
        <p:spPr>
          <a:xfrm>
            <a:off x="457200" y="4114800"/>
            <a:ext cx="13716000" cy="365760"/>
          </a:xfrm>
          <a:prstGeom prst="rect">
            <a:avLst/>
          </a:prstGeom>
          <a:solidFill>
            <a:srgbClr val="FFFFFF"/>
          </a:solidFill>
          <a:ln w="3810">
            <a:solidFill>
              <a:srgbClr val="E2D9CF"/>
            </a:solidFill>
            <a:prstDash val="solid"/>
          </a:ln>
        </p:spPr>
      </p:sp>
      <p:sp>
        <p:nvSpPr>
          <p:cNvPr id="86" name="Text 84"/>
          <p:cNvSpPr/>
          <p:nvPr/>
        </p:nvSpPr>
        <p:spPr>
          <a:xfrm>
            <a:off x="1005840" y="411480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(1) 出願→審査請求</a:t>
            </a:r>
            <a:endParaRPr lang="en-US" sz="800" dirty="0"/>
          </a:p>
        </p:txBody>
      </p:sp>
      <p:sp>
        <p:nvSpPr>
          <p:cNvPr id="87" name="Shape 85"/>
          <p:cNvSpPr/>
          <p:nvPr/>
        </p:nvSpPr>
        <p:spPr>
          <a:xfrm>
            <a:off x="5513832" y="4160520"/>
            <a:ext cx="402336" cy="274320"/>
          </a:xfrm>
          <a:prstGeom prst="rect">
            <a:avLst>
              <a:gd name="adj" fmla="val 16667"/>
            </a:avLst>
          </a:prstGeom>
          <a:solidFill>
            <a:srgbClr val="C0392B"/>
          </a:solidFill>
          <a:ln/>
        </p:spPr>
      </p:sp>
      <p:sp>
        <p:nvSpPr>
          <p:cNvPr id="88" name="Text 86"/>
          <p:cNvSpPr/>
          <p:nvPr/>
        </p:nvSpPr>
        <p:spPr>
          <a:xfrm>
            <a:off x="5513832" y="4160520"/>
            <a:ext cx="402336" cy="274320"/>
          </a:xfrm>
          <a:prstGeom prst="rect">
            <a:avLst/>
          </a:prstGeom>
          <a:noFill/>
          <a:ln/>
        </p:spPr>
        <p:txBody>
          <a:bodyPr wrap="square" rtlCol="0" anchor="ctr">
            <a:normAutofit/>
          </a:bodyPr>
          <a:lstStyle/>
          <a:p>
            <a:pPr algn="ctr" indent="0" marL="0">
              <a:buNone/>
            </a:pPr>
            <a:r>
              <a:rPr lang="en-US" sz="800" dirty="0">
                <a:solidFill>
                  <a:srgbClr val="FFFFFF"/>
                </a:solidFill>
                <a:latin typeface="Hiragino Sans" pitchFamily="34" charset="0"/>
                <a:ea typeface="Hiragino Sans" pitchFamily="34" charset="-122"/>
                <a:cs typeface="Hiragino Sans" pitchFamily="34" charset="-120"/>
              </a:rPr>
              <a:t>◆</a:t>
            </a:r>
            <a:endParaRPr lang="en-US" sz="800" dirty="0"/>
          </a:p>
        </p:txBody>
      </p:sp>
      <p:sp>
        <p:nvSpPr>
          <p:cNvPr id="89" name="Shape 87"/>
          <p:cNvSpPr/>
          <p:nvPr/>
        </p:nvSpPr>
        <p:spPr>
          <a:xfrm>
            <a:off x="457200" y="4480560"/>
            <a:ext cx="13716000" cy="365760"/>
          </a:xfrm>
          <a:prstGeom prst="rect">
            <a:avLst/>
          </a:prstGeom>
          <a:solidFill>
            <a:srgbClr val="F9F6F0"/>
          </a:solidFill>
          <a:ln w="3810">
            <a:solidFill>
              <a:srgbClr val="E2D9CF"/>
            </a:solidFill>
            <a:prstDash val="solid"/>
          </a:ln>
        </p:spPr>
      </p:sp>
      <p:sp>
        <p:nvSpPr>
          <p:cNvPr id="90" name="Text 88"/>
          <p:cNvSpPr/>
          <p:nvPr/>
        </p:nvSpPr>
        <p:spPr>
          <a:xfrm>
            <a:off x="1005840" y="448056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(2) 情報開示x課金</a:t>
            </a:r>
            <a:endParaRPr lang="en-US" sz="800" dirty="0"/>
          </a:p>
        </p:txBody>
      </p:sp>
      <p:sp>
        <p:nvSpPr>
          <p:cNvPr id="91" name="Shape 89"/>
          <p:cNvSpPr/>
          <p:nvPr/>
        </p:nvSpPr>
        <p:spPr>
          <a:xfrm>
            <a:off x="5971032" y="4526280"/>
            <a:ext cx="1316736" cy="274320"/>
          </a:xfrm>
          <a:prstGeom prst="rect">
            <a:avLst>
              <a:gd name="adj" fmla="val 16667"/>
            </a:avLst>
          </a:prstGeom>
          <a:solidFill>
            <a:srgbClr val="E67E22"/>
          </a:solidFill>
          <a:ln/>
        </p:spPr>
      </p:sp>
      <p:sp>
        <p:nvSpPr>
          <p:cNvPr id="92" name="Shape 90"/>
          <p:cNvSpPr/>
          <p:nvPr/>
        </p:nvSpPr>
        <p:spPr>
          <a:xfrm>
            <a:off x="457200" y="4846320"/>
            <a:ext cx="13716000" cy="365760"/>
          </a:xfrm>
          <a:prstGeom prst="rect">
            <a:avLst/>
          </a:prstGeom>
          <a:solidFill>
            <a:srgbClr val="FFFFFF"/>
          </a:solidFill>
          <a:ln w="3810">
            <a:solidFill>
              <a:srgbClr val="E2D9CF"/>
            </a:solidFill>
            <a:prstDash val="solid"/>
          </a:ln>
        </p:spPr>
      </p:sp>
      <p:sp>
        <p:nvSpPr>
          <p:cNvPr id="93" name="Text 91"/>
          <p:cNvSpPr/>
          <p:nvPr/>
        </p:nvSpPr>
        <p:spPr>
          <a:xfrm>
            <a:off x="1005840" y="484632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(2) 出願→審査請求</a:t>
            </a:r>
            <a:endParaRPr lang="en-US" sz="800" dirty="0"/>
          </a:p>
        </p:txBody>
      </p:sp>
      <p:sp>
        <p:nvSpPr>
          <p:cNvPr id="94" name="Shape 92"/>
          <p:cNvSpPr/>
          <p:nvPr/>
        </p:nvSpPr>
        <p:spPr>
          <a:xfrm>
            <a:off x="7342632" y="4892040"/>
            <a:ext cx="402336" cy="274320"/>
          </a:xfrm>
          <a:prstGeom prst="rect">
            <a:avLst>
              <a:gd name="adj" fmla="val 16667"/>
            </a:avLst>
          </a:prstGeom>
          <a:solidFill>
            <a:srgbClr val="C0392B"/>
          </a:solidFill>
          <a:ln/>
        </p:spPr>
      </p:sp>
      <p:sp>
        <p:nvSpPr>
          <p:cNvPr id="95" name="Text 93"/>
          <p:cNvSpPr/>
          <p:nvPr/>
        </p:nvSpPr>
        <p:spPr>
          <a:xfrm>
            <a:off x="7342632" y="4892040"/>
            <a:ext cx="402336" cy="274320"/>
          </a:xfrm>
          <a:prstGeom prst="rect">
            <a:avLst/>
          </a:prstGeom>
          <a:noFill/>
          <a:ln/>
        </p:spPr>
        <p:txBody>
          <a:bodyPr wrap="square" rtlCol="0" anchor="ctr">
            <a:normAutofit/>
          </a:bodyPr>
          <a:lstStyle/>
          <a:p>
            <a:pPr algn="ctr" indent="0" marL="0">
              <a:buNone/>
            </a:pPr>
            <a:r>
              <a:rPr lang="en-US" sz="800" dirty="0">
                <a:solidFill>
                  <a:srgbClr val="FFFFFF"/>
                </a:solidFill>
                <a:latin typeface="Hiragino Sans" pitchFamily="34" charset="0"/>
                <a:ea typeface="Hiragino Sans" pitchFamily="34" charset="-122"/>
                <a:cs typeface="Hiragino Sans" pitchFamily="34" charset="-120"/>
              </a:rPr>
              <a:t>◆</a:t>
            </a:r>
            <a:endParaRPr lang="en-US" sz="800" dirty="0"/>
          </a:p>
        </p:txBody>
      </p:sp>
      <p:sp>
        <p:nvSpPr>
          <p:cNvPr id="96" name="Shape 94"/>
          <p:cNvSpPr/>
          <p:nvPr/>
        </p:nvSpPr>
        <p:spPr>
          <a:xfrm>
            <a:off x="457200" y="5212080"/>
            <a:ext cx="13716000" cy="365760"/>
          </a:xfrm>
          <a:prstGeom prst="rect">
            <a:avLst/>
          </a:prstGeom>
          <a:solidFill>
            <a:srgbClr val="F9F6F0"/>
          </a:solidFill>
          <a:ln w="3810">
            <a:solidFill>
              <a:srgbClr val="E2D9CF"/>
            </a:solidFill>
            <a:prstDash val="solid"/>
          </a:ln>
        </p:spPr>
      </p:sp>
      <p:sp>
        <p:nvSpPr>
          <p:cNvPr id="97" name="Text 95"/>
          <p:cNvSpPr/>
          <p:nvPr/>
        </p:nvSpPr>
        <p:spPr>
          <a:xfrm>
            <a:off x="1005840" y="521208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(3) 分岐入力UI</a:t>
            </a:r>
            <a:endParaRPr lang="en-US" sz="800" dirty="0"/>
          </a:p>
        </p:txBody>
      </p:sp>
      <p:sp>
        <p:nvSpPr>
          <p:cNvPr id="98" name="Shape 96"/>
          <p:cNvSpPr/>
          <p:nvPr/>
        </p:nvSpPr>
        <p:spPr>
          <a:xfrm>
            <a:off x="7342632" y="5257800"/>
            <a:ext cx="1316736" cy="274320"/>
          </a:xfrm>
          <a:prstGeom prst="rect">
            <a:avLst>
              <a:gd name="adj" fmla="val 16667"/>
            </a:avLst>
          </a:prstGeom>
          <a:solidFill>
            <a:srgbClr val="E67E22"/>
          </a:solidFill>
          <a:ln/>
        </p:spPr>
      </p:sp>
      <p:sp>
        <p:nvSpPr>
          <p:cNvPr id="99" name="Shape 97"/>
          <p:cNvSpPr/>
          <p:nvPr/>
        </p:nvSpPr>
        <p:spPr>
          <a:xfrm>
            <a:off x="457200" y="5577840"/>
            <a:ext cx="13716000" cy="365760"/>
          </a:xfrm>
          <a:prstGeom prst="rect">
            <a:avLst/>
          </a:prstGeom>
          <a:solidFill>
            <a:srgbClr val="FFFFFF"/>
          </a:solidFill>
          <a:ln w="3810">
            <a:solidFill>
              <a:srgbClr val="E2D9CF"/>
            </a:solidFill>
            <a:prstDash val="solid"/>
          </a:ln>
        </p:spPr>
      </p:sp>
      <p:sp>
        <p:nvSpPr>
          <p:cNvPr id="100" name="Text 98"/>
          <p:cNvSpPr/>
          <p:nvPr/>
        </p:nvSpPr>
        <p:spPr>
          <a:xfrm>
            <a:off x="1005840" y="557784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(3) 出願→審査請求</a:t>
            </a:r>
            <a:endParaRPr lang="en-US" sz="800" dirty="0"/>
          </a:p>
        </p:txBody>
      </p:sp>
      <p:sp>
        <p:nvSpPr>
          <p:cNvPr id="101" name="Shape 99"/>
          <p:cNvSpPr/>
          <p:nvPr/>
        </p:nvSpPr>
        <p:spPr>
          <a:xfrm>
            <a:off x="8714232" y="5623560"/>
            <a:ext cx="402336" cy="274320"/>
          </a:xfrm>
          <a:prstGeom prst="rect">
            <a:avLst>
              <a:gd name="adj" fmla="val 16667"/>
            </a:avLst>
          </a:prstGeom>
          <a:solidFill>
            <a:srgbClr val="C0392B"/>
          </a:solidFill>
          <a:ln/>
        </p:spPr>
      </p:sp>
      <p:sp>
        <p:nvSpPr>
          <p:cNvPr id="102" name="Text 100"/>
          <p:cNvSpPr/>
          <p:nvPr/>
        </p:nvSpPr>
        <p:spPr>
          <a:xfrm>
            <a:off x="8714232" y="5623560"/>
            <a:ext cx="402336" cy="274320"/>
          </a:xfrm>
          <a:prstGeom prst="rect">
            <a:avLst/>
          </a:prstGeom>
          <a:noFill/>
          <a:ln/>
        </p:spPr>
        <p:txBody>
          <a:bodyPr wrap="square" rtlCol="0" anchor="ctr">
            <a:normAutofit/>
          </a:bodyPr>
          <a:lstStyle/>
          <a:p>
            <a:pPr algn="ctr" indent="0" marL="0">
              <a:buNone/>
            </a:pPr>
            <a:r>
              <a:rPr lang="en-US" sz="800" dirty="0">
                <a:solidFill>
                  <a:srgbClr val="FFFFFF"/>
                </a:solidFill>
                <a:latin typeface="Hiragino Sans" pitchFamily="34" charset="0"/>
                <a:ea typeface="Hiragino Sans" pitchFamily="34" charset="-122"/>
                <a:cs typeface="Hiragino Sans" pitchFamily="34" charset="-120"/>
              </a:rPr>
              <a:t>◆</a:t>
            </a:r>
            <a:endParaRPr lang="en-US" sz="800" dirty="0"/>
          </a:p>
        </p:txBody>
      </p:sp>
      <p:sp>
        <p:nvSpPr>
          <p:cNvPr id="103" name="Shape 101"/>
          <p:cNvSpPr/>
          <p:nvPr/>
        </p:nvSpPr>
        <p:spPr>
          <a:xfrm>
            <a:off x="457200" y="5943600"/>
            <a:ext cx="13716000" cy="365760"/>
          </a:xfrm>
          <a:prstGeom prst="rect">
            <a:avLst/>
          </a:prstGeom>
          <a:solidFill>
            <a:srgbClr val="F9F6F0"/>
          </a:solidFill>
          <a:ln w="3810">
            <a:solidFill>
              <a:srgbClr val="E2D9CF"/>
            </a:solidFill>
            <a:prstDash val="solid"/>
          </a:ln>
        </p:spPr>
      </p:sp>
      <p:sp>
        <p:nvSpPr>
          <p:cNvPr id="104" name="Text 102"/>
          <p:cNvSpPr/>
          <p:nvPr/>
        </p:nvSpPr>
        <p:spPr>
          <a:xfrm>
            <a:off x="502920" y="5943600"/>
            <a:ext cx="502920" cy="365760"/>
          </a:xfrm>
          <a:prstGeom prst="rect">
            <a:avLst/>
          </a:prstGeom>
          <a:noFill/>
          <a:ln/>
        </p:spPr>
        <p:txBody>
          <a:bodyPr wrap="square" rtlCol="0" anchor="ctr">
            <a:normAutofit/>
          </a:bodyPr>
          <a:lstStyle/>
          <a:p>
            <a:pPr indent="0" marL="0">
              <a:buNone/>
            </a:pPr>
            <a:r>
              <a:rPr lang="en-US" sz="800" b="1" dirty="0">
                <a:solidFill>
                  <a:srgbClr val="746558"/>
                </a:solidFill>
                <a:latin typeface="Hiragino Sans" pitchFamily="34" charset="0"/>
                <a:ea typeface="Hiragino Sans" pitchFamily="34" charset="-122"/>
                <a:cs typeface="Hiragino Sans" pitchFamily="34" charset="-120"/>
              </a:rPr>
              <a:t>意匠</a:t>
            </a:r>
            <a:endParaRPr lang="en-US" sz="800" dirty="0"/>
          </a:p>
        </p:txBody>
      </p:sp>
      <p:sp>
        <p:nvSpPr>
          <p:cNvPr id="105" name="Text 103"/>
          <p:cNvSpPr/>
          <p:nvPr/>
        </p:nvSpPr>
        <p:spPr>
          <a:xfrm>
            <a:off x="1005840" y="594360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ひらがなUI</a:t>
            </a:r>
            <a:endParaRPr lang="en-US" sz="800" dirty="0"/>
          </a:p>
        </p:txBody>
      </p:sp>
      <p:sp>
        <p:nvSpPr>
          <p:cNvPr id="106" name="Shape 104"/>
          <p:cNvSpPr/>
          <p:nvPr/>
        </p:nvSpPr>
        <p:spPr>
          <a:xfrm>
            <a:off x="5971032" y="5989320"/>
            <a:ext cx="859536" cy="274320"/>
          </a:xfrm>
          <a:prstGeom prst="rect">
            <a:avLst>
              <a:gd name="adj" fmla="val 16667"/>
            </a:avLst>
          </a:prstGeom>
          <a:solidFill>
            <a:srgbClr val="8E44AD"/>
          </a:solidFill>
          <a:ln/>
        </p:spPr>
      </p:sp>
      <p:sp>
        <p:nvSpPr>
          <p:cNvPr id="107" name="Shape 105"/>
          <p:cNvSpPr/>
          <p:nvPr/>
        </p:nvSpPr>
        <p:spPr>
          <a:xfrm>
            <a:off x="457200" y="6309360"/>
            <a:ext cx="13716000" cy="365760"/>
          </a:xfrm>
          <a:prstGeom prst="rect">
            <a:avLst/>
          </a:prstGeom>
          <a:solidFill>
            <a:srgbClr val="FFFFFF"/>
          </a:solidFill>
          <a:ln w="3810">
            <a:solidFill>
              <a:srgbClr val="E2D9CF"/>
            </a:solidFill>
            <a:prstDash val="solid"/>
          </a:ln>
        </p:spPr>
      </p:sp>
      <p:sp>
        <p:nvSpPr>
          <p:cNvPr id="108" name="Text 106"/>
          <p:cNvSpPr/>
          <p:nvPr/>
        </p:nvSpPr>
        <p:spPr>
          <a:xfrm>
            <a:off x="1005840" y="6309360"/>
            <a:ext cx="2194560" cy="365760"/>
          </a:xfrm>
          <a:prstGeom prst="rect">
            <a:avLst/>
          </a:prstGeom>
          <a:noFill/>
          <a:ln/>
        </p:spPr>
        <p:txBody>
          <a:bodyPr wrap="square" rtlCol="0" anchor="ctr">
            <a:normAutofit/>
          </a:bodyPr>
          <a:lstStyle/>
          <a:p>
            <a:pPr indent="0" marL="0">
              <a:buNone/>
            </a:pPr>
            <a:r>
              <a:rPr lang="en-US" sz="800" dirty="0">
                <a:solidFill>
                  <a:srgbClr val="4A4A45"/>
                </a:solidFill>
                <a:latin typeface="Hiragino Sans" pitchFamily="34" charset="0"/>
                <a:ea typeface="Hiragino Sans" pitchFamily="34" charset="-122"/>
                <a:cs typeface="Hiragino Sans" pitchFamily="34" charset="-120"/>
              </a:rPr>
              <a:t>分岐入力/タブレット</a:t>
            </a:r>
            <a:endParaRPr lang="en-US" sz="800" dirty="0"/>
          </a:p>
        </p:txBody>
      </p:sp>
      <p:sp>
        <p:nvSpPr>
          <p:cNvPr id="109" name="Shape 107"/>
          <p:cNvSpPr/>
          <p:nvPr/>
        </p:nvSpPr>
        <p:spPr>
          <a:xfrm>
            <a:off x="7342632" y="6355080"/>
            <a:ext cx="859536" cy="274320"/>
          </a:xfrm>
          <a:prstGeom prst="rect">
            <a:avLst>
              <a:gd name="adj" fmla="val 16667"/>
            </a:avLst>
          </a:prstGeom>
          <a:solidFill>
            <a:srgbClr val="8E44AD"/>
          </a:solidFill>
          <a:ln/>
        </p:spPr>
      </p:sp>
      <p:sp>
        <p:nvSpPr>
          <p:cNvPr id="110" name="Shape 108"/>
          <p:cNvSpPr/>
          <p:nvPr/>
        </p:nvSpPr>
        <p:spPr>
          <a:xfrm>
            <a:off x="457200" y="6766560"/>
            <a:ext cx="274320" cy="182880"/>
          </a:xfrm>
          <a:prstGeom prst="rect">
            <a:avLst>
              <a:gd name="adj" fmla="val 20000"/>
            </a:avLst>
          </a:prstGeom>
          <a:solidFill>
            <a:srgbClr val="2C6FAC"/>
          </a:solidFill>
          <a:ln/>
        </p:spPr>
      </p:sp>
      <p:sp>
        <p:nvSpPr>
          <p:cNvPr id="111" name="Text 109"/>
          <p:cNvSpPr/>
          <p:nvPr/>
        </p:nvSpPr>
        <p:spPr>
          <a:xfrm>
            <a:off x="822960" y="6766560"/>
            <a:ext cx="2103120" cy="182880"/>
          </a:xfrm>
          <a:prstGeom prst="rect">
            <a:avLst/>
          </a:prstGeom>
          <a:noFill/>
          <a:ln/>
        </p:spPr>
        <p:txBody>
          <a:bodyPr wrap="square" rtlCol="0" anchor="ctr">
            <a:normAutofit/>
          </a:bodyPr>
          <a:lstStyle/>
          <a:p>
            <a:pPr indent="0" marL="0">
              <a:buNone/>
            </a:pPr>
            <a:r>
              <a:rPr lang="en-US" sz="900" dirty="0">
                <a:solidFill>
                  <a:srgbClr val="4A4A45"/>
                </a:solidFill>
                <a:latin typeface="Hiragino Sans" pitchFamily="34" charset="0"/>
                <a:ea typeface="Hiragino Sans" pitchFamily="34" charset="-122"/>
                <a:cs typeface="Hiragino Sans" pitchFamily="34" charset="-120"/>
              </a:rPr>
              <a:t>開発フェーズ</a:t>
            </a:r>
            <a:endParaRPr lang="en-US" sz="900" dirty="0"/>
          </a:p>
        </p:txBody>
      </p:sp>
      <p:sp>
        <p:nvSpPr>
          <p:cNvPr id="112" name="Shape 110"/>
          <p:cNvSpPr/>
          <p:nvPr/>
        </p:nvSpPr>
        <p:spPr>
          <a:xfrm>
            <a:off x="3200400" y="6766560"/>
            <a:ext cx="274320" cy="182880"/>
          </a:xfrm>
          <a:prstGeom prst="rect">
            <a:avLst>
              <a:gd name="adj" fmla="val 20000"/>
            </a:avLst>
          </a:prstGeom>
          <a:solidFill>
            <a:srgbClr val="27AE60"/>
          </a:solidFill>
          <a:ln/>
        </p:spPr>
      </p:sp>
      <p:sp>
        <p:nvSpPr>
          <p:cNvPr id="113" name="Text 111"/>
          <p:cNvSpPr/>
          <p:nvPr/>
        </p:nvSpPr>
        <p:spPr>
          <a:xfrm>
            <a:off x="3566160" y="6766560"/>
            <a:ext cx="2103120" cy="182880"/>
          </a:xfrm>
          <a:prstGeom prst="rect">
            <a:avLst/>
          </a:prstGeom>
          <a:noFill/>
          <a:ln/>
        </p:spPr>
        <p:txBody>
          <a:bodyPr wrap="square" rtlCol="0" anchor="ctr">
            <a:normAutofit/>
          </a:bodyPr>
          <a:lstStyle/>
          <a:p>
            <a:pPr indent="0" marL="0">
              <a:buNone/>
            </a:pPr>
            <a:r>
              <a:rPr lang="en-US" sz="900" dirty="0">
                <a:solidFill>
                  <a:srgbClr val="4A4A45"/>
                </a:solidFill>
                <a:latin typeface="Hiragino Sans" pitchFamily="34" charset="0"/>
                <a:ea typeface="Hiragino Sans" pitchFamily="34" charset="-122"/>
                <a:cs typeface="Hiragino Sans" pitchFamily="34" charset="-120"/>
              </a:rPr>
              <a:t>商標出願</a:t>
            </a:r>
            <a:endParaRPr lang="en-US" sz="900" dirty="0"/>
          </a:p>
        </p:txBody>
      </p:sp>
      <p:sp>
        <p:nvSpPr>
          <p:cNvPr id="114" name="Shape 112"/>
          <p:cNvSpPr/>
          <p:nvPr/>
        </p:nvSpPr>
        <p:spPr>
          <a:xfrm>
            <a:off x="5943600" y="6766560"/>
            <a:ext cx="274320" cy="182880"/>
          </a:xfrm>
          <a:prstGeom prst="rect">
            <a:avLst>
              <a:gd name="adj" fmla="val 20000"/>
            </a:avLst>
          </a:prstGeom>
          <a:solidFill>
            <a:srgbClr val="E67E22"/>
          </a:solidFill>
          <a:ln/>
        </p:spPr>
      </p:sp>
      <p:sp>
        <p:nvSpPr>
          <p:cNvPr id="115" name="Text 113"/>
          <p:cNvSpPr/>
          <p:nvPr/>
        </p:nvSpPr>
        <p:spPr>
          <a:xfrm>
            <a:off x="6309360" y="6766560"/>
            <a:ext cx="2103120" cy="182880"/>
          </a:xfrm>
          <a:prstGeom prst="rect">
            <a:avLst/>
          </a:prstGeom>
          <a:noFill/>
          <a:ln/>
        </p:spPr>
        <p:txBody>
          <a:bodyPr wrap="square" rtlCol="0" anchor="ctr">
            <a:normAutofit/>
          </a:bodyPr>
          <a:lstStyle/>
          <a:p>
            <a:pPr indent="0" marL="0">
              <a:buNone/>
            </a:pPr>
            <a:r>
              <a:rPr lang="en-US" sz="900" dirty="0">
                <a:solidFill>
                  <a:srgbClr val="4A4A45"/>
                </a:solidFill>
                <a:latin typeface="Hiragino Sans" pitchFamily="34" charset="0"/>
                <a:ea typeface="Hiragino Sans" pitchFamily="34" charset="-122"/>
                <a:cs typeface="Hiragino Sans" pitchFamily="34" charset="-120"/>
              </a:rPr>
              <a:t>特許明細書</a:t>
            </a:r>
            <a:endParaRPr lang="en-US" sz="900" dirty="0"/>
          </a:p>
        </p:txBody>
      </p:sp>
      <p:sp>
        <p:nvSpPr>
          <p:cNvPr id="116" name="Shape 114"/>
          <p:cNvSpPr/>
          <p:nvPr/>
        </p:nvSpPr>
        <p:spPr>
          <a:xfrm>
            <a:off x="8686800" y="6766560"/>
            <a:ext cx="274320" cy="182880"/>
          </a:xfrm>
          <a:prstGeom prst="rect">
            <a:avLst>
              <a:gd name="adj" fmla="val 20000"/>
            </a:avLst>
          </a:prstGeom>
          <a:solidFill>
            <a:srgbClr val="C0392B"/>
          </a:solidFill>
          <a:ln/>
        </p:spPr>
      </p:sp>
      <p:sp>
        <p:nvSpPr>
          <p:cNvPr id="117" name="Text 115"/>
          <p:cNvSpPr/>
          <p:nvPr/>
        </p:nvSpPr>
        <p:spPr>
          <a:xfrm>
            <a:off x="9052560" y="6766560"/>
            <a:ext cx="2103120" cy="182880"/>
          </a:xfrm>
          <a:prstGeom prst="rect">
            <a:avLst/>
          </a:prstGeom>
          <a:noFill/>
          <a:ln/>
        </p:spPr>
        <p:txBody>
          <a:bodyPr wrap="square" rtlCol="0" anchor="ctr">
            <a:normAutofit/>
          </a:bodyPr>
          <a:lstStyle/>
          <a:p>
            <a:pPr indent="0" marL="0">
              <a:buNone/>
            </a:pPr>
            <a:r>
              <a:rPr lang="en-US" sz="900" dirty="0">
                <a:solidFill>
                  <a:srgbClr val="4A4A45"/>
                </a:solidFill>
                <a:latin typeface="Hiragino Sans" pitchFamily="34" charset="0"/>
                <a:ea typeface="Hiragino Sans" pitchFamily="34" charset="-122"/>
                <a:cs typeface="Hiragino Sans" pitchFamily="34" charset="-120"/>
              </a:rPr>
              <a:t>特許出願</a:t>
            </a:r>
            <a:endParaRPr lang="en-US" sz="900" dirty="0"/>
          </a:p>
        </p:txBody>
      </p:sp>
      <p:sp>
        <p:nvSpPr>
          <p:cNvPr id="118" name="Shape 116"/>
          <p:cNvSpPr/>
          <p:nvPr/>
        </p:nvSpPr>
        <p:spPr>
          <a:xfrm>
            <a:off x="11430000" y="6766560"/>
            <a:ext cx="274320" cy="182880"/>
          </a:xfrm>
          <a:prstGeom prst="rect">
            <a:avLst>
              <a:gd name="adj" fmla="val 20000"/>
            </a:avLst>
          </a:prstGeom>
          <a:solidFill>
            <a:srgbClr val="8E44AD"/>
          </a:solidFill>
          <a:ln/>
        </p:spPr>
      </p:sp>
      <p:sp>
        <p:nvSpPr>
          <p:cNvPr id="119" name="Text 117"/>
          <p:cNvSpPr/>
          <p:nvPr/>
        </p:nvSpPr>
        <p:spPr>
          <a:xfrm>
            <a:off x="11795760" y="6766560"/>
            <a:ext cx="2103120" cy="182880"/>
          </a:xfrm>
          <a:prstGeom prst="rect">
            <a:avLst/>
          </a:prstGeom>
          <a:noFill/>
          <a:ln/>
        </p:spPr>
        <p:txBody>
          <a:bodyPr wrap="square" rtlCol="0" anchor="ctr">
            <a:normAutofit/>
          </a:bodyPr>
          <a:lstStyle/>
          <a:p>
            <a:pPr indent="0" marL="0">
              <a:buNone/>
            </a:pPr>
            <a:r>
              <a:rPr lang="en-US" sz="900" dirty="0">
                <a:solidFill>
                  <a:srgbClr val="4A4A45"/>
                </a:solidFill>
                <a:latin typeface="Hiragino Sans" pitchFamily="34" charset="0"/>
                <a:ea typeface="Hiragino Sans" pitchFamily="34" charset="-122"/>
                <a:cs typeface="Hiragino Sans" pitchFamily="34" charset="-120"/>
              </a:rPr>
              <a:t>意匠出願</a:t>
            </a:r>
            <a:endParaRPr lang="en-US" sz="900" dirty="0"/>
          </a:p>
        </p:txBody>
      </p:sp>
      <p:sp>
        <p:nvSpPr>
          <p:cNvPr id="120" name="Text 118"/>
          <p:cNvSpPr/>
          <p:nvPr/>
        </p:nvSpPr>
        <p:spPr>
          <a:xfrm>
            <a:off x="457200" y="7040880"/>
            <a:ext cx="13716000" cy="228600"/>
          </a:xfrm>
          <a:prstGeom prst="rect">
            <a:avLst/>
          </a:prstGeom>
          <a:noFill/>
          <a:ln/>
        </p:spPr>
        <p:txBody>
          <a:bodyPr wrap="square" rtlCol="0" anchor="ctr">
            <a:normAutofit/>
          </a:bodyPr>
          <a:lstStyle/>
          <a:p>
            <a:pPr indent="0" marL="0">
              <a:buNone/>
            </a:pPr>
            <a:r>
              <a:rPr lang="en-US" sz="900" dirty="0">
                <a:solidFill>
                  <a:srgbClr val="746558"/>
                </a:solidFill>
                <a:latin typeface="Hiragino Sans" pitchFamily="34" charset="0"/>
                <a:ea typeface="Hiragino Sans" pitchFamily="34" charset="-122"/>
                <a:cs typeface="Hiragino Sans" pitchFamily="34" charset="-120"/>
              </a:rPr>
              <a:t>※補助金時期: 特許調査(随時) / 製品化支援(12月) / ハンズオン(2~4月)</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8DD"/>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EEE8DD"/>
          </a:solidFill>
          <a:ln/>
        </p:spPr>
      </p:sp>
      <p:sp>
        <p:nvSpPr>
          <p:cNvPr id="3" name="Text 1"/>
          <p:cNvSpPr/>
          <p:nvPr/>
        </p:nvSpPr>
        <p:spPr>
          <a:xfrm>
            <a:off x="457200" y="228600"/>
            <a:ext cx="13258800" cy="594360"/>
          </a:xfrm>
          <a:prstGeom prst="rect">
            <a:avLst/>
          </a:prstGeom>
          <a:noFill/>
          <a:ln/>
        </p:spPr>
        <p:txBody>
          <a:bodyPr wrap="square" rtlCol="0" anchor="ctr">
            <a:normAutofit/>
          </a:bodyPr>
          <a:lstStyle/>
          <a:p>
            <a:pPr indent="0" marL="0">
              <a:buNone/>
            </a:pPr>
            <a:r>
              <a:rPr lang="en-US" sz="2800" b="1" dirty="0">
                <a:solidFill>
                  <a:srgbClr val="282824"/>
                </a:solidFill>
                <a:latin typeface="Hiragino Sans" pitchFamily="34" charset="0"/>
                <a:ea typeface="Hiragino Sans" pitchFamily="34" charset="-122"/>
                <a:cs typeface="Hiragino Sans" pitchFamily="34" charset="-120"/>
              </a:rPr>
              <a:t>IP戦略アクションプラン</a:t>
            </a:r>
            <a:endParaRPr lang="en-US" sz="2800" dirty="0"/>
          </a:p>
        </p:txBody>
      </p:sp>
      <p:sp>
        <p:nvSpPr>
          <p:cNvPr id="4" name="Text 2"/>
          <p:cNvSpPr/>
          <p:nvPr/>
        </p:nvSpPr>
        <p:spPr>
          <a:xfrm>
            <a:off x="457200" y="868680"/>
            <a:ext cx="13258800" cy="411480"/>
          </a:xfrm>
          <a:prstGeom prst="rect">
            <a:avLst/>
          </a:prstGeom>
          <a:noFill/>
          <a:ln/>
        </p:spPr>
        <p:txBody>
          <a:bodyPr wrap="square" rtlCol="0" anchor="ctr">
            <a:normAutofit/>
          </a:bodyPr>
          <a:lstStyle/>
          <a:p>
            <a:pPr indent="0" marL="0">
              <a:buNone/>
            </a:pPr>
            <a:r>
              <a:rPr lang="en-US" sz="1400" dirty="0">
                <a:solidFill>
                  <a:srgbClr val="746558"/>
                </a:solidFill>
                <a:latin typeface="Hiragino Sans" pitchFamily="34" charset="0"/>
                <a:ea typeface="Hiragino Sans" pitchFamily="34" charset="-122"/>
                <a:cs typeface="Hiragino Sans" pitchFamily="34" charset="-120"/>
              </a:rPr>
              <a:t>今すぐ着手すべき5つのアクション</a:t>
            </a:r>
            <a:endParaRPr lang="en-US" sz="1400" dirty="0"/>
          </a:p>
        </p:txBody>
      </p:sp>
      <p:sp>
        <p:nvSpPr>
          <p:cNvPr id="5" name="Shape 3"/>
          <p:cNvSpPr/>
          <p:nvPr/>
        </p:nvSpPr>
        <p:spPr>
          <a:xfrm>
            <a:off x="457200" y="1463040"/>
            <a:ext cx="13716000" cy="457200"/>
          </a:xfrm>
          <a:prstGeom prst="rect">
            <a:avLst>
              <a:gd name="adj" fmla="val 10000"/>
            </a:avLst>
          </a:prstGeom>
          <a:solidFill>
            <a:srgbClr val="484237"/>
          </a:solidFill>
          <a:ln/>
        </p:spPr>
      </p:sp>
      <p:sp>
        <p:nvSpPr>
          <p:cNvPr id="6" name="Text 4"/>
          <p:cNvSpPr/>
          <p:nvPr/>
        </p:nvSpPr>
        <p:spPr>
          <a:xfrm>
            <a:off x="457200" y="1463040"/>
            <a:ext cx="13716000" cy="457200"/>
          </a:xfrm>
          <a:prstGeom prst="rect">
            <a:avLst/>
          </a:prstGeom>
          <a:noFill/>
          <a:ln/>
        </p:spPr>
        <p:txBody>
          <a:bodyPr wrap="square" lIns="457200" tIns="0" rIns="0" bIns="0" rtlCol="0" anchor="ctr">
            <a:normAutofit/>
          </a:bodyP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商標出願は「明日にでも」-- 特許は開発と並行して準備</a:t>
            </a:r>
            <a:endParaRPr lang="en-US" sz="1400" dirty="0"/>
          </a:p>
        </p:txBody>
      </p:sp>
      <p:sp>
        <p:nvSpPr>
          <p:cNvPr id="7" name="Text 5"/>
          <p:cNvSpPr/>
          <p:nvPr/>
        </p:nvSpPr>
        <p:spPr>
          <a:xfrm>
            <a:off x="457200" y="7863840"/>
            <a:ext cx="9144000" cy="274320"/>
          </a:xfrm>
          <a:prstGeom prst="rect">
            <a:avLst/>
          </a:prstGeom>
          <a:noFill/>
          <a:ln/>
        </p:spPr>
        <p:txBody>
          <a:bodyPr wrap="square" rtlCol="0" anchor="ctr">
            <a:normAutofit/>
          </a:bodyPr>
          <a:lstStyle/>
          <a:p>
            <a:pPr indent="0" marL="0">
              <a:buNone/>
            </a:pPr>
            <a:r>
              <a:rPr lang="en-US" sz="800" dirty="0">
                <a:solidFill>
                  <a:srgbClr val="95A5A6"/>
                </a:solidFill>
                <a:latin typeface="Hiragino Sans" pitchFamily="34" charset="0"/>
                <a:ea typeface="Hiragino Sans" pitchFamily="34" charset="-122"/>
                <a:cs typeface="Hiragino Sans" pitchFamily="34" charset="-120"/>
              </a:rPr>
              <a:t>Universal Care OS - IP戦略</a:t>
            </a:r>
            <a:endParaRPr lang="en-US" sz="800" dirty="0"/>
          </a:p>
        </p:txBody>
      </p:sp>
      <p:sp>
        <p:nvSpPr>
          <p:cNvPr id="8" name="Text 6"/>
          <p:cNvSpPr/>
          <p:nvPr/>
        </p:nvSpPr>
        <p:spPr>
          <a:xfrm>
            <a:off x="11887200" y="45720"/>
            <a:ext cx="2286000" cy="182880"/>
          </a:xfrm>
          <a:prstGeom prst="rect">
            <a:avLst/>
          </a:prstGeom>
          <a:noFill/>
          <a:ln/>
        </p:spPr>
        <p:txBody>
          <a:bodyPr wrap="square" rtlCol="0" anchor="ctr">
            <a:normAutofit/>
          </a:bodyPr>
          <a:lstStyle/>
          <a:p>
            <a:pPr algn="r" indent="0" marL="0">
              <a:buNone/>
            </a:pPr>
            <a:r>
              <a:rPr lang="en-US" sz="800" i="1" dirty="0">
                <a:solidFill>
                  <a:srgbClr val="95A5A6"/>
                </a:solidFill>
                <a:latin typeface="Hiragino Sans" pitchFamily="34" charset="0"/>
                <a:ea typeface="Hiragino Sans" pitchFamily="34" charset="-122"/>
                <a:cs typeface="Hiragino Sans" pitchFamily="34" charset="-120"/>
              </a:rPr>
              <a:t>Confidential</a:t>
            </a:r>
            <a:endParaRPr lang="en-US" sz="800" dirty="0"/>
          </a:p>
        </p:txBody>
      </p:sp>
      <p:sp>
        <p:nvSpPr>
          <p:cNvPr id="9" name="Text 7"/>
          <p:cNvSpPr/>
          <p:nvPr/>
        </p:nvSpPr>
        <p:spPr>
          <a:xfrm>
            <a:off x="13716000" y="7863840"/>
            <a:ext cx="457200" cy="274320"/>
          </a:xfrm>
          <a:prstGeom prst="rect">
            <a:avLst/>
          </a:prstGeom>
          <a:noFill/>
          <a:ln/>
        </p:spPr>
        <p:txBody>
          <a:bodyPr wrap="square" rtlCol="0" anchor="ctr">
            <a:normAutofit/>
          </a:bodyPr>
          <a:lstStyle/>
          <a:p>
            <a:pPr algn="r" indent="0" marL="0">
              <a:buNone/>
            </a:pPr>
            <a:r>
              <a:rPr lang="en-US" sz="900" dirty="0">
                <a:solidFill>
                  <a:srgbClr val="95A5A6"/>
                </a:solidFill>
                <a:latin typeface="Hiragino Sans" pitchFamily="34" charset="0"/>
                <a:ea typeface="Hiragino Sans" pitchFamily="34" charset="-122"/>
                <a:cs typeface="Hiragino Sans" pitchFamily="34" charset="-120"/>
              </a:rPr>
              <a:t>12</a:t>
            </a:r>
            <a:endParaRPr lang="en-US" sz="900" dirty="0"/>
          </a:p>
        </p:txBody>
      </p:sp>
      <p:sp>
        <p:nvSpPr>
          <p:cNvPr id="10" name="Shape 8"/>
          <p:cNvSpPr/>
          <p:nvPr/>
        </p:nvSpPr>
        <p:spPr>
          <a:xfrm>
            <a:off x="457200" y="2103120"/>
            <a:ext cx="13716000" cy="914400"/>
          </a:xfrm>
          <a:prstGeom prst="rect">
            <a:avLst>
              <a:gd name="adj" fmla="val 8000"/>
            </a:avLst>
          </a:prstGeom>
          <a:solidFill>
            <a:srgbClr val="FFFFFF"/>
          </a:solidFill>
          <a:ln w="12700">
            <a:solidFill>
              <a:srgbClr val="C0392B"/>
            </a:solidFill>
            <a:prstDash val="solid"/>
          </a:ln>
        </p:spPr>
      </p:sp>
      <p:sp>
        <p:nvSpPr>
          <p:cNvPr id="11" name="Shape 9"/>
          <p:cNvSpPr/>
          <p:nvPr/>
        </p:nvSpPr>
        <p:spPr>
          <a:xfrm>
            <a:off x="640080" y="2240280"/>
            <a:ext cx="457200" cy="457200"/>
          </a:xfrm>
          <a:prstGeom prst="ellipse">
            <a:avLst/>
          </a:prstGeom>
          <a:solidFill>
            <a:srgbClr val="C0392B"/>
          </a:solidFill>
          <a:ln/>
        </p:spPr>
      </p:sp>
      <p:sp>
        <p:nvSpPr>
          <p:cNvPr id="12" name="Text 10"/>
          <p:cNvSpPr/>
          <p:nvPr/>
        </p:nvSpPr>
        <p:spPr>
          <a:xfrm>
            <a:off x="640080" y="2240280"/>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1</a:t>
            </a:r>
            <a:endParaRPr lang="en-US" sz="1600" dirty="0"/>
          </a:p>
        </p:txBody>
      </p:sp>
      <p:sp>
        <p:nvSpPr>
          <p:cNvPr id="13" name="Shape 11"/>
          <p:cNvSpPr/>
          <p:nvPr/>
        </p:nvSpPr>
        <p:spPr>
          <a:xfrm>
            <a:off x="1234440" y="2267712"/>
            <a:ext cx="731520" cy="256032"/>
          </a:xfrm>
          <a:prstGeom prst="rect">
            <a:avLst>
              <a:gd name="adj" fmla="val 28571"/>
            </a:avLst>
          </a:prstGeom>
          <a:solidFill>
            <a:srgbClr val="C0392B"/>
          </a:solidFill>
          <a:ln/>
        </p:spPr>
      </p:sp>
      <p:sp>
        <p:nvSpPr>
          <p:cNvPr id="14" name="Text 12"/>
          <p:cNvSpPr/>
          <p:nvPr/>
        </p:nvSpPr>
        <p:spPr>
          <a:xfrm>
            <a:off x="1234440" y="2267712"/>
            <a:ext cx="73152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最優先</a:t>
            </a:r>
            <a:endParaRPr lang="en-US" sz="900" dirty="0"/>
          </a:p>
        </p:txBody>
      </p:sp>
      <p:sp>
        <p:nvSpPr>
          <p:cNvPr id="15" name="Text 13"/>
          <p:cNvSpPr/>
          <p:nvPr/>
        </p:nvSpPr>
        <p:spPr>
          <a:xfrm>
            <a:off x="2103120" y="2176272"/>
            <a:ext cx="7772400" cy="32004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商標「Universal Care OS」「わかるじゃん」を即時出願</a:t>
            </a:r>
            <a:endParaRPr lang="en-US" sz="1200" dirty="0"/>
          </a:p>
        </p:txBody>
      </p:sp>
      <p:sp>
        <p:nvSpPr>
          <p:cNvPr id="16" name="Text 14"/>
          <p:cNvSpPr/>
          <p:nvPr/>
        </p:nvSpPr>
        <p:spPr>
          <a:xfrm>
            <a:off x="2103120" y="2542032"/>
            <a:ext cx="7772400" cy="347472"/>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先願主義。名称認知が広がる前に押さえる</a:t>
            </a:r>
            <a:endParaRPr lang="en-US" sz="1100" dirty="0"/>
          </a:p>
        </p:txBody>
      </p:sp>
      <p:sp>
        <p:nvSpPr>
          <p:cNvPr id="17" name="Text 15"/>
          <p:cNvSpPr/>
          <p:nvPr/>
        </p:nvSpPr>
        <p:spPr>
          <a:xfrm>
            <a:off x="10058400" y="2176272"/>
            <a:ext cx="1828800" cy="32004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永山</a:t>
            </a:r>
            <a:endParaRPr lang="en-US" sz="1000" dirty="0"/>
          </a:p>
        </p:txBody>
      </p:sp>
      <p:sp>
        <p:nvSpPr>
          <p:cNvPr id="18" name="Text 16"/>
          <p:cNvSpPr/>
          <p:nvPr/>
        </p:nvSpPr>
        <p:spPr>
          <a:xfrm>
            <a:off x="11887200" y="2176272"/>
            <a:ext cx="2103120" cy="320040"/>
          </a:xfrm>
          <a:prstGeom prst="rect">
            <a:avLst/>
          </a:prstGeom>
          <a:noFill/>
          <a:ln/>
        </p:spPr>
        <p:txBody>
          <a:bodyPr wrap="square" rtlCol="0" anchor="ctr">
            <a:normAutofit/>
          </a:bodyPr>
          <a:lstStyle/>
          <a:p>
            <a:pPr indent="0" marL="0">
              <a:buNone/>
            </a:pPr>
            <a:r>
              <a:rPr lang="en-US" sz="1100" b="1" dirty="0">
                <a:solidFill>
                  <a:srgbClr val="C0392B"/>
                </a:solidFill>
                <a:latin typeface="Hiragino Sans" pitchFamily="34" charset="0"/>
                <a:ea typeface="Hiragino Sans" pitchFamily="34" charset="-122"/>
                <a:cs typeface="Hiragino Sans" pitchFamily="34" charset="-120"/>
              </a:rPr>
              <a:t>4月中</a:t>
            </a:r>
            <a:endParaRPr lang="en-US" sz="1100" dirty="0"/>
          </a:p>
        </p:txBody>
      </p:sp>
      <p:sp>
        <p:nvSpPr>
          <p:cNvPr id="19" name="Shape 17"/>
          <p:cNvSpPr/>
          <p:nvPr/>
        </p:nvSpPr>
        <p:spPr>
          <a:xfrm>
            <a:off x="457200" y="3090672"/>
            <a:ext cx="13716000" cy="914400"/>
          </a:xfrm>
          <a:prstGeom prst="rect">
            <a:avLst>
              <a:gd name="adj" fmla="val 8000"/>
            </a:avLst>
          </a:prstGeom>
          <a:solidFill>
            <a:srgbClr val="FFFFFF"/>
          </a:solidFill>
          <a:ln w="12700">
            <a:solidFill>
              <a:srgbClr val="C0392B"/>
            </a:solidFill>
            <a:prstDash val="solid"/>
          </a:ln>
        </p:spPr>
      </p:sp>
      <p:sp>
        <p:nvSpPr>
          <p:cNvPr id="20" name="Shape 18"/>
          <p:cNvSpPr/>
          <p:nvPr/>
        </p:nvSpPr>
        <p:spPr>
          <a:xfrm>
            <a:off x="640080" y="3227832"/>
            <a:ext cx="457200" cy="457200"/>
          </a:xfrm>
          <a:prstGeom prst="ellipse">
            <a:avLst/>
          </a:prstGeom>
          <a:solidFill>
            <a:srgbClr val="C0392B"/>
          </a:solidFill>
          <a:ln/>
        </p:spPr>
      </p:sp>
      <p:sp>
        <p:nvSpPr>
          <p:cNvPr id="21" name="Text 19"/>
          <p:cNvSpPr/>
          <p:nvPr/>
        </p:nvSpPr>
        <p:spPr>
          <a:xfrm>
            <a:off x="640080" y="3227832"/>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2</a:t>
            </a:r>
            <a:endParaRPr lang="en-US" sz="1600" dirty="0"/>
          </a:p>
        </p:txBody>
      </p:sp>
      <p:sp>
        <p:nvSpPr>
          <p:cNvPr id="22" name="Shape 20"/>
          <p:cNvSpPr/>
          <p:nvPr/>
        </p:nvSpPr>
        <p:spPr>
          <a:xfrm>
            <a:off x="1234440" y="3255264"/>
            <a:ext cx="731520" cy="256032"/>
          </a:xfrm>
          <a:prstGeom prst="rect">
            <a:avLst>
              <a:gd name="adj" fmla="val 28571"/>
            </a:avLst>
          </a:prstGeom>
          <a:solidFill>
            <a:srgbClr val="C0392B"/>
          </a:solidFill>
          <a:ln/>
        </p:spPr>
      </p:sp>
      <p:sp>
        <p:nvSpPr>
          <p:cNvPr id="23" name="Text 21"/>
          <p:cNvSpPr/>
          <p:nvPr/>
        </p:nvSpPr>
        <p:spPr>
          <a:xfrm>
            <a:off x="1234440" y="3255264"/>
            <a:ext cx="73152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最優先</a:t>
            </a:r>
            <a:endParaRPr lang="en-US" sz="900" dirty="0"/>
          </a:p>
        </p:txBody>
      </p:sp>
      <p:sp>
        <p:nvSpPr>
          <p:cNvPr id="24" name="Text 22"/>
          <p:cNvSpPr/>
          <p:nvPr/>
        </p:nvSpPr>
        <p:spPr>
          <a:xfrm>
            <a:off x="2103120" y="3163824"/>
            <a:ext cx="7772400" cy="32004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東京都知的財産総合センターで無料相談を予約</a:t>
            </a:r>
            <a:endParaRPr lang="en-US" sz="1200" dirty="0"/>
          </a:p>
        </p:txBody>
      </p:sp>
      <p:sp>
        <p:nvSpPr>
          <p:cNvPr id="25" name="Text 23"/>
          <p:cNvSpPr/>
          <p:nvPr/>
        </p:nvSpPr>
        <p:spPr>
          <a:xfrm>
            <a:off x="2103120" y="3529584"/>
            <a:ext cx="7772400" cy="347472"/>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簡易調査済。正式な先行技術調査と出願戦略を相談</a:t>
            </a:r>
            <a:endParaRPr lang="en-US" sz="1100" dirty="0"/>
          </a:p>
        </p:txBody>
      </p:sp>
      <p:sp>
        <p:nvSpPr>
          <p:cNvPr id="26" name="Text 24"/>
          <p:cNvSpPr/>
          <p:nvPr/>
        </p:nvSpPr>
        <p:spPr>
          <a:xfrm>
            <a:off x="10058400" y="3163824"/>
            <a:ext cx="1828800" cy="32004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永山</a:t>
            </a:r>
            <a:endParaRPr lang="en-US" sz="1000" dirty="0"/>
          </a:p>
        </p:txBody>
      </p:sp>
      <p:sp>
        <p:nvSpPr>
          <p:cNvPr id="27" name="Text 25"/>
          <p:cNvSpPr/>
          <p:nvPr/>
        </p:nvSpPr>
        <p:spPr>
          <a:xfrm>
            <a:off x="11887200" y="3163824"/>
            <a:ext cx="2103120" cy="320040"/>
          </a:xfrm>
          <a:prstGeom prst="rect">
            <a:avLst/>
          </a:prstGeom>
          <a:noFill/>
          <a:ln/>
        </p:spPr>
        <p:txBody>
          <a:bodyPr wrap="square" rtlCol="0" anchor="ctr">
            <a:normAutofit/>
          </a:bodyPr>
          <a:lstStyle/>
          <a:p>
            <a:pPr indent="0" marL="0">
              <a:buNone/>
            </a:pPr>
            <a:r>
              <a:rPr lang="en-US" sz="1100" b="1" dirty="0">
                <a:solidFill>
                  <a:srgbClr val="C0392B"/>
                </a:solidFill>
                <a:latin typeface="Hiragino Sans" pitchFamily="34" charset="0"/>
                <a:ea typeface="Hiragino Sans" pitchFamily="34" charset="-122"/>
                <a:cs typeface="Hiragino Sans" pitchFamily="34" charset="-120"/>
              </a:rPr>
              <a:t>4月中</a:t>
            </a:r>
            <a:endParaRPr lang="en-US" sz="1100" dirty="0"/>
          </a:p>
        </p:txBody>
      </p:sp>
      <p:sp>
        <p:nvSpPr>
          <p:cNvPr id="28" name="Shape 26"/>
          <p:cNvSpPr/>
          <p:nvPr/>
        </p:nvSpPr>
        <p:spPr>
          <a:xfrm>
            <a:off x="457200" y="4078224"/>
            <a:ext cx="13716000" cy="914400"/>
          </a:xfrm>
          <a:prstGeom prst="rect">
            <a:avLst>
              <a:gd name="adj" fmla="val 8000"/>
            </a:avLst>
          </a:prstGeom>
          <a:solidFill>
            <a:srgbClr val="FFFFFF"/>
          </a:solidFill>
          <a:ln w="12700">
            <a:solidFill>
              <a:srgbClr val="E67E22"/>
            </a:solidFill>
            <a:prstDash val="solid"/>
          </a:ln>
        </p:spPr>
      </p:sp>
      <p:sp>
        <p:nvSpPr>
          <p:cNvPr id="29" name="Shape 27"/>
          <p:cNvSpPr/>
          <p:nvPr/>
        </p:nvSpPr>
        <p:spPr>
          <a:xfrm>
            <a:off x="640080" y="4215384"/>
            <a:ext cx="457200" cy="457200"/>
          </a:xfrm>
          <a:prstGeom prst="ellipse">
            <a:avLst/>
          </a:prstGeom>
          <a:solidFill>
            <a:srgbClr val="E67E22"/>
          </a:solidFill>
          <a:ln/>
        </p:spPr>
      </p:sp>
      <p:sp>
        <p:nvSpPr>
          <p:cNvPr id="30" name="Text 28"/>
          <p:cNvSpPr/>
          <p:nvPr/>
        </p:nvSpPr>
        <p:spPr>
          <a:xfrm>
            <a:off x="640080" y="4215384"/>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3</a:t>
            </a:r>
            <a:endParaRPr lang="en-US" sz="1600" dirty="0"/>
          </a:p>
        </p:txBody>
      </p:sp>
      <p:sp>
        <p:nvSpPr>
          <p:cNvPr id="31" name="Shape 29"/>
          <p:cNvSpPr/>
          <p:nvPr/>
        </p:nvSpPr>
        <p:spPr>
          <a:xfrm>
            <a:off x="1234440" y="4242816"/>
            <a:ext cx="731520" cy="256032"/>
          </a:xfrm>
          <a:prstGeom prst="rect">
            <a:avLst>
              <a:gd name="adj" fmla="val 28571"/>
            </a:avLst>
          </a:prstGeom>
          <a:solidFill>
            <a:srgbClr val="E67E22"/>
          </a:solidFill>
          <a:ln/>
        </p:spPr>
      </p:sp>
      <p:sp>
        <p:nvSpPr>
          <p:cNvPr id="32" name="Text 30"/>
          <p:cNvSpPr/>
          <p:nvPr/>
        </p:nvSpPr>
        <p:spPr>
          <a:xfrm>
            <a:off x="1234440" y="4242816"/>
            <a:ext cx="73152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高</a:t>
            </a:r>
            <a:endParaRPr lang="en-US" sz="900" dirty="0"/>
          </a:p>
        </p:txBody>
      </p:sp>
      <p:sp>
        <p:nvSpPr>
          <p:cNvPr id="33" name="Text 31"/>
          <p:cNvSpPr/>
          <p:nvPr/>
        </p:nvSpPr>
        <p:spPr>
          <a:xfrm>
            <a:off x="2103120" y="4151376"/>
            <a:ext cx="7772400" cy="32004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営業秘密管理規程を策定（NDA+アクセス制限）</a:t>
            </a:r>
            <a:endParaRPr lang="en-US" sz="1200" dirty="0"/>
          </a:p>
        </p:txBody>
      </p:sp>
      <p:sp>
        <p:nvSpPr>
          <p:cNvPr id="34" name="Text 32"/>
          <p:cNvSpPr/>
          <p:nvPr/>
        </p:nvSpPr>
        <p:spPr>
          <a:xfrm>
            <a:off x="2103120" y="4517136"/>
            <a:ext cx="7772400" cy="347472"/>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マトリックスと1,507選択肢DBの保護</a:t>
            </a:r>
            <a:endParaRPr lang="en-US" sz="1100" dirty="0"/>
          </a:p>
        </p:txBody>
      </p:sp>
      <p:sp>
        <p:nvSpPr>
          <p:cNvPr id="35" name="Text 33"/>
          <p:cNvSpPr/>
          <p:nvPr/>
        </p:nvSpPr>
        <p:spPr>
          <a:xfrm>
            <a:off x="10058400" y="4151376"/>
            <a:ext cx="1828800" cy="32004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3社共同</a:t>
            </a:r>
            <a:endParaRPr lang="en-US" sz="1000" dirty="0"/>
          </a:p>
        </p:txBody>
      </p:sp>
      <p:sp>
        <p:nvSpPr>
          <p:cNvPr id="36" name="Text 34"/>
          <p:cNvSpPr/>
          <p:nvPr/>
        </p:nvSpPr>
        <p:spPr>
          <a:xfrm>
            <a:off x="11887200" y="4151376"/>
            <a:ext cx="2103120" cy="320040"/>
          </a:xfrm>
          <a:prstGeom prst="rect">
            <a:avLst/>
          </a:prstGeom>
          <a:noFill/>
          <a:ln/>
        </p:spPr>
        <p:txBody>
          <a:bodyPr wrap="square" rtlCol="0" anchor="ctr">
            <a:normAutofit/>
          </a:bodyPr>
          <a:lstStyle/>
          <a:p>
            <a:pPr indent="0" marL="0">
              <a:buNone/>
            </a:pPr>
            <a:r>
              <a:rPr lang="en-US" sz="1100" b="1" dirty="0">
                <a:solidFill>
                  <a:srgbClr val="E67E22"/>
                </a:solidFill>
                <a:latin typeface="Hiragino Sans" pitchFamily="34" charset="0"/>
                <a:ea typeface="Hiragino Sans" pitchFamily="34" charset="-122"/>
                <a:cs typeface="Hiragino Sans" pitchFamily="34" charset="-120"/>
              </a:rPr>
              <a:t>5月</a:t>
            </a:r>
            <a:endParaRPr lang="en-US" sz="1100" dirty="0"/>
          </a:p>
        </p:txBody>
      </p:sp>
      <p:sp>
        <p:nvSpPr>
          <p:cNvPr id="37" name="Shape 35"/>
          <p:cNvSpPr/>
          <p:nvPr/>
        </p:nvSpPr>
        <p:spPr>
          <a:xfrm>
            <a:off x="457200" y="5065776"/>
            <a:ext cx="13716000" cy="914400"/>
          </a:xfrm>
          <a:prstGeom prst="rect">
            <a:avLst>
              <a:gd name="adj" fmla="val 8000"/>
            </a:avLst>
          </a:prstGeom>
          <a:solidFill>
            <a:srgbClr val="FFFFFF"/>
          </a:solidFill>
          <a:ln w="12700">
            <a:solidFill>
              <a:srgbClr val="E67E22"/>
            </a:solidFill>
            <a:prstDash val="solid"/>
          </a:ln>
        </p:spPr>
      </p:sp>
      <p:sp>
        <p:nvSpPr>
          <p:cNvPr id="38" name="Shape 36"/>
          <p:cNvSpPr/>
          <p:nvPr/>
        </p:nvSpPr>
        <p:spPr>
          <a:xfrm>
            <a:off x="640080" y="5202936"/>
            <a:ext cx="457200" cy="457200"/>
          </a:xfrm>
          <a:prstGeom prst="ellipse">
            <a:avLst/>
          </a:prstGeom>
          <a:solidFill>
            <a:srgbClr val="E67E22"/>
          </a:solidFill>
          <a:ln/>
        </p:spPr>
      </p:sp>
      <p:sp>
        <p:nvSpPr>
          <p:cNvPr id="39" name="Text 37"/>
          <p:cNvSpPr/>
          <p:nvPr/>
        </p:nvSpPr>
        <p:spPr>
          <a:xfrm>
            <a:off x="640080" y="5202936"/>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4</a:t>
            </a:r>
            <a:endParaRPr lang="en-US" sz="1600" dirty="0"/>
          </a:p>
        </p:txBody>
      </p:sp>
      <p:sp>
        <p:nvSpPr>
          <p:cNvPr id="40" name="Shape 38"/>
          <p:cNvSpPr/>
          <p:nvPr/>
        </p:nvSpPr>
        <p:spPr>
          <a:xfrm>
            <a:off x="1234440" y="5230368"/>
            <a:ext cx="731520" cy="256032"/>
          </a:xfrm>
          <a:prstGeom prst="rect">
            <a:avLst>
              <a:gd name="adj" fmla="val 28571"/>
            </a:avLst>
          </a:prstGeom>
          <a:solidFill>
            <a:srgbClr val="E67E22"/>
          </a:solidFill>
          <a:ln/>
        </p:spPr>
      </p:sp>
      <p:sp>
        <p:nvSpPr>
          <p:cNvPr id="41" name="Text 39"/>
          <p:cNvSpPr/>
          <p:nvPr/>
        </p:nvSpPr>
        <p:spPr>
          <a:xfrm>
            <a:off x="1234440" y="5230368"/>
            <a:ext cx="73152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高</a:t>
            </a:r>
            <a:endParaRPr lang="en-US" sz="900" dirty="0"/>
          </a:p>
        </p:txBody>
      </p:sp>
      <p:sp>
        <p:nvSpPr>
          <p:cNvPr id="42" name="Text 40"/>
          <p:cNvSpPr/>
          <p:nvPr/>
        </p:nvSpPr>
        <p:spPr>
          <a:xfrm>
            <a:off x="2103120" y="5138928"/>
            <a:ext cx="7772400" cy="32004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特許(1) AI虐待予防の明細書作成を弁理士に依頼</a:t>
            </a:r>
            <a:endParaRPr lang="en-US" sz="1200" dirty="0"/>
          </a:p>
        </p:txBody>
      </p:sp>
      <p:sp>
        <p:nvSpPr>
          <p:cNvPr id="43" name="Text 41"/>
          <p:cNvSpPr/>
          <p:nvPr/>
        </p:nvSpPr>
        <p:spPr>
          <a:xfrm>
            <a:off x="2103120" y="5504688"/>
            <a:ext cx="7772400" cy="347472"/>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最も特許性高い。Phase 1中に出願</a:t>
            </a:r>
            <a:endParaRPr lang="en-US" sz="1100" dirty="0"/>
          </a:p>
        </p:txBody>
      </p:sp>
      <p:sp>
        <p:nvSpPr>
          <p:cNvPr id="44" name="Text 42"/>
          <p:cNvSpPr/>
          <p:nvPr/>
        </p:nvSpPr>
        <p:spPr>
          <a:xfrm>
            <a:off x="10058400" y="5138928"/>
            <a:ext cx="1828800" cy="32004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永山+弁理士</a:t>
            </a:r>
            <a:endParaRPr lang="en-US" sz="1000" dirty="0"/>
          </a:p>
        </p:txBody>
      </p:sp>
      <p:sp>
        <p:nvSpPr>
          <p:cNvPr id="45" name="Text 43"/>
          <p:cNvSpPr/>
          <p:nvPr/>
        </p:nvSpPr>
        <p:spPr>
          <a:xfrm>
            <a:off x="11887200" y="5138928"/>
            <a:ext cx="2103120" cy="320040"/>
          </a:xfrm>
          <a:prstGeom prst="rect">
            <a:avLst/>
          </a:prstGeom>
          <a:noFill/>
          <a:ln/>
        </p:spPr>
        <p:txBody>
          <a:bodyPr wrap="square" rtlCol="0" anchor="ctr">
            <a:normAutofit/>
          </a:bodyPr>
          <a:lstStyle/>
          <a:p>
            <a:pPr indent="0" marL="0">
              <a:buNone/>
            </a:pPr>
            <a:r>
              <a:rPr lang="en-US" sz="1100" b="1" dirty="0">
                <a:solidFill>
                  <a:srgbClr val="E67E22"/>
                </a:solidFill>
                <a:latin typeface="Hiragino Sans" pitchFamily="34" charset="0"/>
                <a:ea typeface="Hiragino Sans" pitchFamily="34" charset="-122"/>
                <a:cs typeface="Hiragino Sans" pitchFamily="34" charset="-120"/>
              </a:rPr>
              <a:t>6月</a:t>
            </a:r>
            <a:endParaRPr lang="en-US" sz="1100" dirty="0"/>
          </a:p>
        </p:txBody>
      </p:sp>
      <p:sp>
        <p:nvSpPr>
          <p:cNvPr id="46" name="Shape 44"/>
          <p:cNvSpPr/>
          <p:nvPr/>
        </p:nvSpPr>
        <p:spPr>
          <a:xfrm>
            <a:off x="457200" y="6053328"/>
            <a:ext cx="13716000" cy="914400"/>
          </a:xfrm>
          <a:prstGeom prst="rect">
            <a:avLst>
              <a:gd name="adj" fmla="val 8000"/>
            </a:avLst>
          </a:prstGeom>
          <a:solidFill>
            <a:srgbClr val="FFFFFF"/>
          </a:solidFill>
          <a:ln w="12700">
            <a:solidFill>
              <a:srgbClr val="E67E22"/>
            </a:solidFill>
            <a:prstDash val="solid"/>
          </a:ln>
        </p:spPr>
      </p:sp>
      <p:sp>
        <p:nvSpPr>
          <p:cNvPr id="47" name="Shape 45"/>
          <p:cNvSpPr/>
          <p:nvPr/>
        </p:nvSpPr>
        <p:spPr>
          <a:xfrm>
            <a:off x="640080" y="6190488"/>
            <a:ext cx="457200" cy="457200"/>
          </a:xfrm>
          <a:prstGeom prst="ellipse">
            <a:avLst/>
          </a:prstGeom>
          <a:solidFill>
            <a:srgbClr val="E67E22"/>
          </a:solidFill>
          <a:ln/>
        </p:spPr>
      </p:sp>
      <p:sp>
        <p:nvSpPr>
          <p:cNvPr id="48" name="Text 46"/>
          <p:cNvSpPr/>
          <p:nvPr/>
        </p:nvSpPr>
        <p:spPr>
          <a:xfrm>
            <a:off x="640080" y="619048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Hiragino Sans" pitchFamily="34" charset="0"/>
                <a:ea typeface="Hiragino Sans" pitchFamily="34" charset="-122"/>
                <a:cs typeface="Hiragino Sans" pitchFamily="34" charset="-120"/>
              </a:rPr>
              <a:t>5</a:t>
            </a:r>
            <a:endParaRPr lang="en-US" sz="1600" dirty="0"/>
          </a:p>
        </p:txBody>
      </p:sp>
      <p:sp>
        <p:nvSpPr>
          <p:cNvPr id="49" name="Shape 47"/>
          <p:cNvSpPr/>
          <p:nvPr/>
        </p:nvSpPr>
        <p:spPr>
          <a:xfrm>
            <a:off x="1234440" y="6217920"/>
            <a:ext cx="731520" cy="256032"/>
          </a:xfrm>
          <a:prstGeom prst="rect">
            <a:avLst>
              <a:gd name="adj" fmla="val 28571"/>
            </a:avLst>
          </a:prstGeom>
          <a:solidFill>
            <a:srgbClr val="E67E22"/>
          </a:solidFill>
          <a:ln/>
        </p:spPr>
      </p:sp>
      <p:sp>
        <p:nvSpPr>
          <p:cNvPr id="50" name="Text 48"/>
          <p:cNvSpPr/>
          <p:nvPr/>
        </p:nvSpPr>
        <p:spPr>
          <a:xfrm>
            <a:off x="1234440" y="6217920"/>
            <a:ext cx="731520" cy="256032"/>
          </a:xfrm>
          <a:prstGeom prst="rect">
            <a:avLst/>
          </a:prstGeom>
          <a:noFill/>
          <a:ln/>
        </p:spPr>
        <p:txBody>
          <a:bodyPr wrap="square" rtlCol="0" anchor="ctr">
            <a:normAutofit/>
          </a:bodyPr>
          <a:lstStyle/>
          <a:p>
            <a:pPr algn="ctr" indent="0" marL="0">
              <a:buNone/>
            </a:pPr>
            <a:r>
              <a:rPr lang="en-US" sz="900" b="1" dirty="0">
                <a:solidFill>
                  <a:srgbClr val="FFFFFF"/>
                </a:solidFill>
                <a:latin typeface="Hiragino Sans" pitchFamily="34" charset="0"/>
                <a:ea typeface="Hiragino Sans" pitchFamily="34" charset="-122"/>
                <a:cs typeface="Hiragino Sans" pitchFamily="34" charset="-120"/>
              </a:rPr>
              <a:t>高</a:t>
            </a:r>
            <a:endParaRPr lang="en-US" sz="900" dirty="0"/>
          </a:p>
        </p:txBody>
      </p:sp>
      <p:sp>
        <p:nvSpPr>
          <p:cNvPr id="51" name="Text 49"/>
          <p:cNvSpPr/>
          <p:nvPr/>
        </p:nvSpPr>
        <p:spPr>
          <a:xfrm>
            <a:off x="2103120" y="6126480"/>
            <a:ext cx="7772400" cy="320040"/>
          </a:xfrm>
          <a:prstGeom prst="rect">
            <a:avLst/>
          </a:prstGeom>
          <a:noFill/>
          <a:ln/>
        </p:spPr>
        <p:txBody>
          <a:bodyPr wrap="square" rtlCol="0" anchor="ctr">
            <a:normAutofit/>
          </a:bodyPr>
          <a:lstStyle/>
          <a:p>
            <a:pPr indent="0" marL="0">
              <a:buNone/>
            </a:pPr>
            <a:r>
              <a:rPr lang="en-US" sz="1200" b="1" dirty="0">
                <a:solidFill>
                  <a:srgbClr val="282824"/>
                </a:solidFill>
                <a:latin typeface="Hiragino Sans" pitchFamily="34" charset="0"/>
                <a:ea typeface="Hiragino Sans" pitchFamily="34" charset="-122"/>
                <a:cs typeface="Hiragino Sans" pitchFamily="34" charset="-120"/>
              </a:rPr>
              <a:t>JV契約にIP帰属条項を追加</a:t>
            </a:r>
            <a:endParaRPr lang="en-US" sz="1200" dirty="0"/>
          </a:p>
        </p:txBody>
      </p:sp>
      <p:sp>
        <p:nvSpPr>
          <p:cNvPr id="52" name="Text 50"/>
          <p:cNvSpPr/>
          <p:nvPr/>
        </p:nvSpPr>
        <p:spPr>
          <a:xfrm>
            <a:off x="2103120" y="6492240"/>
            <a:ext cx="7772400" cy="347472"/>
          </a:xfrm>
          <a:prstGeom prst="rect">
            <a:avLst/>
          </a:prstGeom>
          <a:noFill/>
          <a:ln/>
        </p:spPr>
        <p:txBody>
          <a:bodyPr wrap="square" rtlCol="0" anchor="ctr">
            <a:normAutofit/>
          </a:bodyPr>
          <a:lstStyle/>
          <a:p>
            <a:pPr indent="0" marL="0">
              <a:buNone/>
            </a:pPr>
            <a:r>
              <a:rPr lang="en-US" sz="1100" dirty="0">
                <a:solidFill>
                  <a:srgbClr val="4A4A45"/>
                </a:solidFill>
                <a:latin typeface="Hiragino Sans" pitchFamily="34" charset="0"/>
                <a:ea typeface="Hiragino Sans" pitchFamily="34" charset="-122"/>
                <a:cs typeface="Hiragino Sans" pitchFamily="34" charset="-120"/>
              </a:rPr>
              <a:t>共同開発の知財帰属を明確化</a:t>
            </a:r>
            <a:endParaRPr lang="en-US" sz="1100" dirty="0"/>
          </a:p>
        </p:txBody>
      </p:sp>
      <p:sp>
        <p:nvSpPr>
          <p:cNvPr id="53" name="Text 51"/>
          <p:cNvSpPr/>
          <p:nvPr/>
        </p:nvSpPr>
        <p:spPr>
          <a:xfrm>
            <a:off x="10058400" y="6126480"/>
            <a:ext cx="1828800" cy="320040"/>
          </a:xfrm>
          <a:prstGeom prst="rect">
            <a:avLst/>
          </a:prstGeom>
          <a:noFill/>
          <a:ln/>
        </p:spPr>
        <p:txBody>
          <a:bodyPr wrap="square" rtlCol="0" anchor="ctr">
            <a:normAutofit/>
          </a:bodyPr>
          <a:lstStyle/>
          <a:p>
            <a:pPr indent="0" marL="0">
              <a:buNone/>
            </a:pPr>
            <a:r>
              <a:rPr lang="en-US" sz="1000" dirty="0">
                <a:solidFill>
                  <a:srgbClr val="746558"/>
                </a:solidFill>
                <a:latin typeface="Hiragino Sans" pitchFamily="34" charset="0"/>
                <a:ea typeface="Hiragino Sans" pitchFamily="34" charset="-122"/>
                <a:cs typeface="Hiragino Sans" pitchFamily="34" charset="-120"/>
              </a:rPr>
              <a:t>3社共同</a:t>
            </a:r>
            <a:endParaRPr lang="en-US" sz="1000" dirty="0"/>
          </a:p>
        </p:txBody>
      </p:sp>
      <p:sp>
        <p:nvSpPr>
          <p:cNvPr id="54" name="Text 52"/>
          <p:cNvSpPr/>
          <p:nvPr/>
        </p:nvSpPr>
        <p:spPr>
          <a:xfrm>
            <a:off x="11887200" y="6126480"/>
            <a:ext cx="2103120" cy="320040"/>
          </a:xfrm>
          <a:prstGeom prst="rect">
            <a:avLst/>
          </a:prstGeom>
          <a:noFill/>
          <a:ln/>
        </p:spPr>
        <p:txBody>
          <a:bodyPr wrap="square" rtlCol="0" anchor="ctr">
            <a:normAutofit/>
          </a:bodyPr>
          <a:lstStyle/>
          <a:p>
            <a:pPr indent="0" marL="0">
              <a:buNone/>
            </a:pPr>
            <a:r>
              <a:rPr lang="en-US" sz="1100" b="1" dirty="0">
                <a:solidFill>
                  <a:srgbClr val="E67E22"/>
                </a:solidFill>
                <a:latin typeface="Hiragino Sans" pitchFamily="34" charset="0"/>
                <a:ea typeface="Hiragino Sans" pitchFamily="34" charset="-122"/>
                <a:cs typeface="Hiragino Sans" pitchFamily="34" charset="-120"/>
              </a:rPr>
              <a:t>契約時</a:t>
            </a:r>
            <a:endParaRPr lang="en-US" sz="1100" dirty="0"/>
          </a:p>
        </p:txBody>
      </p:sp>
      <p:sp>
        <p:nvSpPr>
          <p:cNvPr id="55" name="Shape 53"/>
          <p:cNvSpPr/>
          <p:nvPr/>
        </p:nvSpPr>
        <p:spPr>
          <a:xfrm>
            <a:off x="457200" y="7040880"/>
            <a:ext cx="13716000" cy="365760"/>
          </a:xfrm>
          <a:prstGeom prst="rect">
            <a:avLst>
              <a:gd name="adj" fmla="val 20000"/>
            </a:avLst>
          </a:prstGeom>
          <a:solidFill>
            <a:srgbClr val="D6EAF8"/>
          </a:solidFill>
          <a:ln w="12700">
            <a:solidFill>
              <a:srgbClr val="2C6FAC"/>
            </a:solidFill>
            <a:prstDash val="solid"/>
          </a:ln>
        </p:spPr>
      </p:sp>
      <p:sp>
        <p:nvSpPr>
          <p:cNvPr id="56" name="Text 54"/>
          <p:cNvSpPr/>
          <p:nvPr/>
        </p:nvSpPr>
        <p:spPr>
          <a:xfrm>
            <a:off x="640080" y="7059168"/>
            <a:ext cx="13350240" cy="320040"/>
          </a:xfrm>
          <a:prstGeom prst="rect">
            <a:avLst/>
          </a:prstGeom>
          <a:noFill/>
          <a:ln/>
        </p:spPr>
        <p:txBody>
          <a:bodyPr wrap="square" rtlCol="0" anchor="ctr">
            <a:normAutofit/>
          </a:bodyPr>
          <a:lstStyle/>
          <a:p>
            <a:pPr indent="0" marL="0">
              <a:buNone/>
            </a:pPr>
            <a:r>
              <a:rPr lang="en-US" sz="1000" b="1" dirty="0">
                <a:solidFill>
                  <a:srgbClr val="2C6FAC"/>
                </a:solidFill>
                <a:latin typeface="Hiragino Sans" pitchFamily="34" charset="0"/>
                <a:ea typeface="Hiragino Sans" pitchFamily="34" charset="-122"/>
                <a:cs typeface="Hiragino Sans" pitchFamily="34" charset="-120"/>
              </a:rPr>
              <a:t>JV契約IP帰属条項（案）: </a:t>
            </a:r>
            <a:pPr indent="0" marL="0">
              <a:buNone/>
            </a:pPr>
            <a:r>
              <a:rPr lang="en-US" sz="1000" dirty="0">
                <a:solidFill>
                  <a:srgbClr val="4A4A45"/>
                </a:solidFill>
                <a:latin typeface="Hiragino Sans" pitchFamily="34" charset="0"/>
                <a:ea typeface="Hiragino Sans" pitchFamily="34" charset="-122"/>
                <a:cs typeface="Hiragino Sans" pitchFamily="34" charset="-120"/>
              </a:rPr>
              <a:t>共同開発の知財はJV法人に帰属。各社の既存知財はライセンス。</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iragino Sans" panose="020F0302020204030204"/>
        <a:ea typeface="Hiragino Sans"/>
        <a:cs typeface="Hiragino Sans"/>
        <a:font script="Jpan" typeface="Hiragino Sans"/>
        <a:font script="Hang" typeface="Hiragino Sans"/>
        <a:font script="Hans" typeface="Hiragino Sans"/>
        <a:font script="Hant" typeface="Hiragino Sans"/>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Hiragino Sans"/>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ragino Sans" panose="020F0502020204030204"/>
        <a:ea typeface="Hiragino Sans"/>
        <a:cs typeface="Hiragino Sans"/>
        <a:font script="Jpan" typeface="Hiragino Sans"/>
        <a:font script="Hang" typeface="Hiragino Sans"/>
        <a:font script="Hans" typeface="Hiragino Sans"/>
        <a:font script="Hant" typeface="Hiragino Sans"/>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Hiragino Sans"/>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2026-03-24T22:28:35Z</dcterms:created>
  <dcterms:modified xsi:type="dcterms:W3CDTF">2026-03-24T22:28:35Z</dcterms:modified>
</cp:coreProperties>
</file>