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192"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090905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【つかみ — スライドを出す前に話し始める】</a:t>
            </a:r>
          </a:p>
          <a:p>
            <a:r>
              <a:t>「藤井議員、今日はお時間をいただきありがとうございます。早速ですが、一つ質問させてください。福祉施設の職員さんが、利用者さんと向き合う時間は1日何時間だと思いますか？」（相手の答えを待つ）「実は、記録作業に3割取られています。8時間勤務なら2時間半。利用者さんのためにいるはずの人が、紙に向かっている。今日お持ちしたのは、その2時間半を利用者さんに返す仕組みです。」→ S1をめくる「Universal Care OS。知的障害者福祉に特化したDXプラットフォームです。」</a:t>
            </a:r>
          </a:p>
          <a:p>
            <a:r>
              <a:t>★ポイント: 表紙は読まない。「質問→驚き→解決策の予告」で引き込む。</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「3つの数字だけ覚えてください。30% — 業務時間のうち記録作業。さっきお話しした通りです。15年 — 平均職員在職年数。他業界の半分以下。燃え尽きて辞めていく。ゼロ — 施設間でデータが共有される仕組み。利用者が施設を移ると、情報はゼロからやり直しです。」（一拍おく）「藤井議員がマイクロソフト時代に、もしお客さんの情報が営業マン個人のノートにしかなくて、担当が変わるたびにゼロからヒアリングし直していたら…と想像していただくと、まさにそれが今の福祉現場です。」</a:t>
            </a:r>
          </a:p>
          <a:p>
            <a:r>
              <a:t>★ポイント: 藤井議員のMS時代の経験に寄せる。「CRMのない営業組織」というアナロジーは元法人営業なら一発で痛みがわかる。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れは単なるITツールの話ではありません。障害者総合支援法の理念——『自立と社会参加』を、テクノロジーで加速する。まさに藤井議員が都議会で推進されてきた『福祉×デジタル』のど真ん中です。」「国のデジタル田園都市構想、東京都のスマート東京、そして藤井議員ご自身が提案された福祉保健局のオープンデータ化。すべてのベクトルが、このプロジェクトの方向と一致しています。」</a:t>
            </a:r>
          </a:p>
          <a:p>
            <a:r>
              <a:t>★ポイント: 「あなたの政策の実証事例になります」という伏線をここで張る。言葉にはまだしない。S19-20で回収する。</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では、何を作るのか。ここからが面白いところです。」（笑顔で）「普通のDXは『業務を効率化しましょう』で終わります。私たちは違います。サンライズという会社が6年間かけて磨き上げた、支援の哲学そのものをシステムにします。名前は『わかるじゃんマトリックス』。社外秘ですので今日特別にご覧いただきます。」</a:t>
            </a:r>
          </a:p>
          <a:p>
            <a:r>
              <a:t>★ポイント: 「社外秘」という言葉で特別感を出す。元記者の藤井議員は「独占情報」に弱いはず。</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マトリックスと聞くと難しそうですが、一言で言えば『支援のカーナビ』です。」「カーナビには3つの機能がありますよね。1つ目、目的地を示す。利用者の『自立』がゴールです。2つ目、今の位置を教える。この利用者さんは13段階のうち今ステップ5にいる。3つ目、道を外れたらアラートを出す。支援がズレ始めたら警告する。」「福祉の現場では、ベテランの勘と経験に頼ってきました。それ自体は尊いことですが、カーナビなしで知らない街を運転しているようなものです。新人もベテランも、同じ品質の支援ができるようにする。それがこの仕組みです。」</a:t>
            </a:r>
          </a:p>
          <a:p>
            <a:r>
              <a:t>★ポイント: 「カーナビ」のたとえは藤井議員のようなテック系の人にも、福祉畑の人にも刺さる万能アナロジー。</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具体的にお見せします。架空の利用者、田中さんの物語です。」「田中さん、28歳。中度の知的障害があります。施設に入所してきたばかり。ステップ1、面談。初めて会う。表情、仕草、何が好きで何が嫌か。ステップ2、傾聴。田中さんの話をひたすら聞く。決して否定しない。」（テンポよく）「ステップ5まで来ると、職員にとって大事な転換点があります。『なるほどカード』。田中さんの行動を観察して、『この人はこういう時にこうするんだ』という気づきを言語化して記録する。これが後でAI分析の宝の山になります。」「そして最終ステップ13、未来自立。地域で暮らし、自分で決定し、社会とつながる。ここまでの道のりを、システムが一歩ずつ伴走するんです。」</a:t>
            </a:r>
          </a:p>
          <a:p>
            <a:r>
              <a:t>★ポイント: 田中さんを28歳に設定。淡々と語ること。</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が一番面白いスライドです。田中さんが昼食を拒否した。『いらない』と首を振る。この場面に対して、4つの対応パターンがあります。」「理想パス。『何か嫌なことある？』と表情を見ながら丁寧に聞く。結果、実は朝から歯が痛かったことがわかり、歯科受診で解決。」「日常パス。『お腹すいてない？後で食べる？』と声をかける。まずまずの対応。でも根本原因には届かない。」「注意パス。『ちゃんと食べなきゃダメでしょ』と我流の指導。利用者は萎縮する。記録には『食事拒否』としか残らない。」「危険パス。『食べないなら片付けるよ』と脅す。これが繰り返されると、虐待の入り口です。」（一拍）「同じ場面、同じ利用者。職員の一言で、未来が分岐する。この分岐をシステムが可視化して、正しい道に導く。これがマトリックスの本質です。」</a:t>
            </a:r>
          </a:p>
          <a:p>
            <a:r>
              <a:t>★ポイント: 「同じ場面→4つの結末」は雑誌記事の鉄板フォーマット。元記者の藤井議員に刺さる。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までの話を一枚にまとめたのがこの図です。縦に13ステップ、横に4つのパスレベル。合計52マスのすべてに、具体的な行動指針が入っています。」「これを壁に貼ったポスターではなく、データベースに落とし込み、AIが常時モニタリングする。世界で初めての試みです。」</a:t>
            </a:r>
          </a:p>
          <a:p>
            <a:r>
              <a:t>★ポイント: さらっと流す。「圧倒的な情報量がある」ことだけ伝えれば十分。ここで細部に入ると失速する。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まとめると、このマトリックスがシステムの魂です。他社のケア記録システムは『箱』を提供しますが、中身は現場任せ。私たちは箱の中に6年分の知恵を詰めて出荷する。だから導入初日から意味のある記録が取れるんです。」</a:t>
            </a:r>
          </a:p>
          <a:p>
            <a:r>
              <a:t>★ポイント: 競合との違いをここで明確にする。「箱だけ vs 知恵入りの箱」は直感的にわかりやすい。</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サンライズが現場で使ってきたアナログツールがこれだけあります。支援カルテ、なるほどカード、できるカード、達成シート…。これらを一つひとつデジタルに変換して、さらにAI分析にかけます。」「藤井議員はマイクロソフト時代、ExcelやAccessで営業管理をされていた経験がおありかと思いますが、まさにそのアナログ→デジタル変換を、福祉の現場でやるわけです。ただし、私たちの場合はAIが分析まで自動でやってくれる。」</a:t>
            </a:r>
          </a:p>
          <a:p>
            <a:r>
              <a:t>★ポイント: 再びMS時代に寄せる。「あなたが経験した変革の福祉版です」と暗に伝える。</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画面は4つのロールに最適化しています。施設職員のPC画面が23。現場タブレットが12。保護者スマホが35。利用者本人向けは、ひらがなと大きなボタンだけのやさしいUI。合計47画面、すべて設計済みです。」「藤井議員が推進されているデジタルデバイド対策の考え方を、そのまま画面設計に取り入れています。誰ひとり取り残さない、はUIの設計思想でもあります。」</a:t>
            </a:r>
          </a:p>
          <a:p>
            <a:r>
              <a:t>★ポイント: 藤井議員のデジタルデバイド対策を引用。「あなたの思想が設計に入っている」と伝える。</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初にお話しした記録作業30%の問題。これをどう解決するか。答えは声です。」「職員が『10時半から入所対応、鍵の受取り、ヘルパーと2人で対応』と話すだけで、日時・内容・担当者に自動分類されて記録が完了します。紙に書く15分＋PC転記10分がゼロになる。」「SiriやAlexaは一般向けですが、これは福祉専門の音声入力です。『SS』と言えばショートステイ、『CL』でチェックリスト。現場の略語を最初から知っている。」</a:t>
            </a:r>
          </a:p>
          <a:p>
            <a:r>
              <a:t>★ポイント: テック好きの藤井議員には音声AIの話は刺さる。具体的な略語の例で「ここまで考えている」と見せる。</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がAIの本領です。データが溜まる→AIが分析する→支援品質が上がる→もっとデータが溜まる。この好循環が回り始めると、使えば使うほど賢くなるシステムになります。」「藤井議員がFintechにいらっしゃった時の、トランザクションデータが溜まるほど与信精度が上がる仕組みと同じ原理です。福祉のデータで、同じことをやります。」</a:t>
            </a:r>
          </a:p>
          <a:p>
            <a:r>
              <a:t>★ポイント: Fintech経験に寄せる。「与信モデル」のアナロジーは藤井議員だけに刺さる一撃。</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だけは、少し重い話をさせてください。知的障害者施設での虐待事案は、毎年報告されています。問題は、虐待はある日突然起きるのではなく、支援の質が段階的に劣化していく過程の末端で起きるということです。」「マトリックスの危険パス——L4に落ちていくパターンを、AIがリアルタイムで監視します。記録の否定的語彙が増えていないか。特定の利用者との接触時間が減っていないか。人間が気づく前に、システムが警告を出す。」</a:t>
            </a:r>
          </a:p>
          <a:p>
            <a:r>
              <a:t>★ポイント: ここは真剣に。声のトーンを落とす。速く喋らない。間を取る。</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静かに）「テクノロジーで虐待を未然に防ぐ。起きてから調査するのではなく、起きる前に止める。これは藤井議員がおっしゃる『テクノロジーで人々の可能性を広げる』の、最も切実な実践だと考えています。」</a:t>
            </a:r>
          </a:p>
          <a:p>
            <a:r>
              <a:t>★ポイント: 藤井議員自身の言葉を引用して着地。感情に訴える最重要パート。</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とはいえ、マトリックスを壁に貼っても人は変わりません。そこで作ったのが研修ゲームです。」「職員がスマホで遊びながらマトリックスを体得する。ストーリーモード、タイムアタック、ランダムシナリオ…ゲームクリアで初めて現場デビューできる仕組みです。」「実はこのゲーム、もう動くものがあります。ご興味があれば後ほどお見せします。」</a:t>
            </a:r>
          </a:p>
          <a:p>
            <a:r>
              <a:t>★ポイント: 「動くものがある」はテック系の人への最強ワード。興味を示したらスマホでデモ。</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「ここからは『どうやるか』です。3フェーズ18ヶ月。まずPhase 1、サンライズの自社施設で実証。自分たちが使って、自分たちで磨く。失敗するなら身内で失敗する。これが鉄則です。」「Phase 2で近隣施設に展開、Phase 3で全国へ。藤井議員の町田市にも障害者施設は複数ありますので、Phase 2の展開先として非常に有力です。」</a:t>
            </a:r>
          </a:p>
          <a:p>
            <a:r>
              <a:t>★ポイント: 町田市への展開可能性を示唆。「あなたの選挙区にも恩恵がある」ニュアンス。直接的には言わない。</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収益モデルはユニークです。情報開示レベルに連動した料金体系。利用者の情報をオープンにするほど、月額が下がる。施設にとっては情報開示のインセンティブになり、システム側にはAI学習用のデータが集まる。Win-Winのメカニズムデザインです。」「JVは3社で組みます。サンライズが福祉のドメイン知識。DataBeeがシステム。FDSiがAI。餅は餅屋です。」</a:t>
            </a:r>
          </a:p>
          <a:p>
            <a:r>
              <a:t>★ポイント: 「メカニズムデザイン」は京大経済学部出身の藤井議員に効くキーワード。</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藤井議員、ここまでお聞きいただいてお気づきかもしれませんが、このプロジェクトは議員の政策そのものです。」「デジタル化推進。福祉分野のICT活用。スタートアップ支援。官民連携の実証事業。議員が都議会で推進されてきた4つの政策のすべてと、CareOSは合致しています。」「言い方を変えれば、CareOSが成功すれば、それは藤井議員の政策ビジョンが現場で実証されたことになります。」</a:t>
            </a:r>
          </a:p>
          <a:p>
            <a:r>
              <a:t>★ポイント: 「お願い」の前に「あなたにとってのメリット」を明示する。政治家にとって「自分の政策の実証事例」は最高の実績になる。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そこで3つ、具体的なお願いがあります。すべてご紹介・ご推薦という形のご支援です。お金のお願いではありません。」「1つ目。東京都DX推進助成金。最大3,000万円。都議会議員としてのお口添えは、審査上の大きなプラスになります。」「2つ目。福祉保健局のICT導入支援事業。1施設最大1,000万円。福祉部局への橋渡しをお願いできれば。」「3つ目。TCiN（東京コンソーシアム）への推薦。スタートアップ支援の枠組みで、大企業とのマッチング機会をいただきたい。」「3つ合わせて、最大4,400万円のポテンシャルです。藤井議員のご紹介があるかないかで、申請の通りやすさが大きく変わります。」</a:t>
            </a:r>
          </a:p>
          <a:p>
            <a:r>
              <a:t>★ポイント: 「お金のお願いではない」を最初に明言。「紹介・推薦」フレームを堅持。</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後に、お願いの進め方を2段階で整理しました。」「今すぐのお願いは、隔月30分の進捗報告の場をいただくこと。開発が進む様子を直接ご覧いただきたい。実証段階で施設見学にお越しいただければ、現場がどう変わるか、目で見ていただけます。」「実績が出た後のお願いとして、都議会での福祉DX事例としてのご紹介。他の施設や自治体への横展開のお力添え。これは成果が出てからの話ですので、今は約束ではなく可能性としてお伝えするだけです。」（最後に）「藤井議員が政治を志されたきっかけは、『社会の仕組みを変えたい』という思いだと伺っています。私たちも同じです。福祉の現場の仕組みを、テクノロジーで変えたい。一緒に走っていただけないでしょうか。」</a:t>
            </a:r>
          </a:p>
          <a:p>
            <a:r>
              <a:t>★ポイント: 最後は静かに、目を見て。声を張らない。「社会の仕組みを変えたい」は藤井議員の原点の言葉。</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8DD"/>
        </a:solidFill>
        <a:effectLst/>
      </p:bgPr>
    </p:bg>
    <p:spTree>
      <p:nvGrpSpPr>
        <p:cNvPr id="1" name=""/>
        <p:cNvGrpSpPr/>
        <p:nvPr/>
      </p:nvGrpSpPr>
      <p:grpSpPr>
        <a:xfrm>
          <a:off x="0" y="0"/>
          <a:ext cx="0" cy="0"/>
          <a:chOff x="0" y="0"/>
          <a:chExt cx="0" cy="0"/>
        </a:xfrm>
      </p:grpSpPr>
      <p:sp>
        <p:nvSpPr>
          <p:cNvPr id="2" name="Shape 0"/>
          <p:cNvSpPr/>
          <p:nvPr/>
        </p:nvSpPr>
        <p:spPr>
          <a:xfrm>
            <a:off x="0" y="0"/>
            <a:ext cx="109728" cy="8229600"/>
          </a:xfrm>
          <a:prstGeom prst="rect">
            <a:avLst/>
          </a:prstGeom>
          <a:solidFill>
            <a:srgbClr val="4A90D9"/>
          </a:solidFill>
          <a:ln/>
        </p:spPr>
        <p:txBody>
          <a:bodyPr/>
          <a:lstStyle/>
          <a:p>
            <a:endParaRPr lang="ja-JP" altLang="en-US"/>
          </a:p>
        </p:txBody>
      </p:sp>
      <p:sp>
        <p:nvSpPr>
          <p:cNvPr id="3" name="Text 1"/>
          <p:cNvSpPr/>
          <p:nvPr/>
        </p:nvSpPr>
        <p:spPr>
          <a:xfrm>
            <a:off x="749808" y="1645920"/>
            <a:ext cx="10972800" cy="1097280"/>
          </a:xfrm>
          <a:prstGeom prst="rect">
            <a:avLst/>
          </a:prstGeom>
          <a:noFill/>
          <a:ln/>
        </p:spPr>
        <p:txBody>
          <a:bodyPr wrap="square" lIns="0" tIns="0" rIns="0" bIns="0" rtlCol="0" anchor="ctr"/>
          <a:lstStyle/>
          <a:p>
            <a:pPr marL="0" indent="0" algn="l">
              <a:buNone/>
            </a:pPr>
            <a:r>
              <a:rPr lang="en-US" sz="4800" b="1" dirty="0">
                <a:solidFill>
                  <a:srgbClr val="282824"/>
                </a:solidFill>
                <a:latin typeface="Hiragino Sans W6" pitchFamily="34" charset="0"/>
                <a:ea typeface="Hiragino Sans W6" pitchFamily="34" charset="-122"/>
                <a:cs typeface="Hiragino Sans W6" pitchFamily="34" charset="-120"/>
              </a:rPr>
              <a:t>Universal Care OS</a:t>
            </a:r>
            <a:endParaRPr lang="en-US" sz="4800" dirty="0"/>
          </a:p>
        </p:txBody>
      </p:sp>
      <p:sp>
        <p:nvSpPr>
          <p:cNvPr id="4" name="Text 2"/>
          <p:cNvSpPr/>
          <p:nvPr/>
        </p:nvSpPr>
        <p:spPr>
          <a:xfrm>
            <a:off x="749808" y="2834640"/>
            <a:ext cx="10972800" cy="914400"/>
          </a:xfrm>
          <a:prstGeom prst="rect">
            <a:avLst/>
          </a:prstGeom>
          <a:noFill/>
          <a:ln/>
        </p:spPr>
        <p:txBody>
          <a:bodyPr wrap="square" lIns="0" tIns="0" rIns="0" bIns="0" rtlCol="0" anchor="ctr"/>
          <a:lstStyle/>
          <a:p>
            <a:pPr marL="0" indent="0" algn="l">
              <a:buNone/>
            </a:pPr>
            <a:r>
              <a:rPr lang="en-US" sz="2400" dirty="0">
                <a:solidFill>
                  <a:srgbClr val="4A90D9"/>
                </a:solidFill>
                <a:latin typeface="Hiragino Sans W3" pitchFamily="34" charset="0"/>
                <a:ea typeface="Hiragino Sans W3" pitchFamily="34" charset="-122"/>
                <a:cs typeface="Hiragino Sans W3" pitchFamily="34" charset="-120"/>
              </a:rPr>
              <a:t>知的障害者福祉の現場知をデジタル化し</a:t>
            </a:r>
            <a:endParaRPr lang="en-US" sz="2400" dirty="0"/>
          </a:p>
          <a:p>
            <a:pPr marL="0" indent="0" algn="l">
              <a:buNone/>
            </a:pPr>
            <a:r>
              <a:rPr lang="en-US" sz="2400" dirty="0">
                <a:solidFill>
                  <a:srgbClr val="4A90D9"/>
                </a:solidFill>
                <a:latin typeface="Hiragino Sans W3" pitchFamily="34" charset="0"/>
                <a:ea typeface="Hiragino Sans W3" pitchFamily="34" charset="-122"/>
                <a:cs typeface="Hiragino Sans W3" pitchFamily="34" charset="-120"/>
              </a:rPr>
              <a:t>支援品質と利用者の自立を同時に実現する</a:t>
            </a:r>
            <a:endParaRPr lang="en-US" sz="2400" dirty="0"/>
          </a:p>
        </p:txBody>
      </p:sp>
      <p:sp>
        <p:nvSpPr>
          <p:cNvPr id="5" name="Shape 3"/>
          <p:cNvSpPr/>
          <p:nvPr/>
        </p:nvSpPr>
        <p:spPr>
          <a:xfrm>
            <a:off x="749808" y="4023360"/>
            <a:ext cx="5486400" cy="0"/>
          </a:xfrm>
          <a:prstGeom prst="line">
            <a:avLst/>
          </a:prstGeom>
          <a:noFill/>
          <a:ln w="25400">
            <a:solidFill>
              <a:srgbClr val="484237"/>
            </a:solidFill>
            <a:prstDash val="solid"/>
          </a:ln>
        </p:spPr>
        <p:txBody>
          <a:bodyPr/>
          <a:lstStyle/>
          <a:p>
            <a:endParaRPr lang="ja-JP" altLang="en-US"/>
          </a:p>
        </p:txBody>
      </p:sp>
      <p:sp>
        <p:nvSpPr>
          <p:cNvPr id="6" name="Text 4"/>
          <p:cNvSpPr/>
          <p:nvPr/>
        </p:nvSpPr>
        <p:spPr>
          <a:xfrm>
            <a:off x="749808" y="4297680"/>
            <a:ext cx="109728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東京都議会議員 藤井あきら 様 向けご説明資料</a:t>
            </a:r>
            <a:endParaRPr lang="en-US" sz="1800" dirty="0"/>
          </a:p>
        </p:txBody>
      </p:sp>
      <p:sp>
        <p:nvSpPr>
          <p:cNvPr id="7" name="Text 5"/>
          <p:cNvSpPr/>
          <p:nvPr/>
        </p:nvSpPr>
        <p:spPr>
          <a:xfrm>
            <a:off x="749808" y="4709160"/>
            <a:ext cx="10972800" cy="365760"/>
          </a:xfrm>
          <a:prstGeom prst="rect">
            <a:avLst/>
          </a:prstGeom>
          <a:noFill/>
          <a:ln/>
        </p:spPr>
        <p:txBody>
          <a:bodyPr wrap="square" lIns="0" tIns="0" rIns="0" bIns="0" rtlCol="0" anchor="ctr"/>
          <a:lstStyle/>
          <a:p>
            <a:pPr marL="0" indent="0" algn="l">
              <a:buNone/>
            </a:pPr>
            <a:r>
              <a:rPr lang="en-US" sz="1600" dirty="0">
                <a:solidFill>
                  <a:srgbClr val="746558"/>
                </a:solidFill>
                <a:latin typeface="Hiragino Sans W3" pitchFamily="34" charset="0"/>
                <a:ea typeface="Hiragino Sans W3" pitchFamily="34" charset="-122"/>
                <a:cs typeface="Hiragino Sans W3" pitchFamily="34" charset="-120"/>
              </a:rPr>
              <a:t>2026年3月  |  株式会社サンライズ × DataBee × FDSi</a:t>
            </a:r>
            <a:endParaRPr lang="en-US" sz="1600" dirty="0"/>
          </a:p>
        </p:txBody>
      </p:sp>
      <p:sp>
        <p:nvSpPr>
          <p:cNvPr id="8" name="Text 6"/>
          <p:cNvSpPr/>
          <p:nvPr/>
        </p:nvSpPr>
        <p:spPr>
          <a:xfrm>
            <a:off x="475488" y="7589520"/>
            <a:ext cx="13679424" cy="320040"/>
          </a:xfrm>
          <a:prstGeom prst="rect">
            <a:avLst/>
          </a:prstGeom>
          <a:noFill/>
          <a:ln/>
        </p:spPr>
        <p:txBody>
          <a:bodyPr wrap="square" lIns="0" tIns="0" rIns="0" bIns="0" rtlCol="0" anchor="ctr"/>
          <a:lstStyle/>
          <a:p>
            <a:pPr marL="0" indent="0" algn="l">
              <a:buNone/>
            </a:pPr>
            <a:r>
              <a:rPr lang="en-US" sz="1400" dirty="0">
                <a:solidFill>
                  <a:srgbClr val="746558"/>
                </a:solidFill>
                <a:latin typeface="Hiragino Sans W3" pitchFamily="34" charset="0"/>
                <a:ea typeface="Hiragino Sans W3" pitchFamily="34" charset="-122"/>
                <a:cs typeface="Hiragino Sans W3" pitchFamily="34" charset="-120"/>
              </a:rPr>
              <a:t>【機密】本資料は説明目的に限り配布しております</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知的障害者福祉の現場で、いま何が起きているか</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WHY — なぜ今、このシステムが必要なのか</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福祉現場の3つの構造的課題</a:t>
            </a:r>
            <a:endParaRPr lang="en-US" sz="2000" dirty="0"/>
          </a:p>
        </p:txBody>
      </p:sp>
      <p:sp>
        <p:nvSpPr>
          <p:cNvPr id="6" name="Shape 4"/>
          <p:cNvSpPr/>
          <p:nvPr/>
        </p:nvSpPr>
        <p:spPr>
          <a:xfrm>
            <a:off x="658368" y="2514600"/>
            <a:ext cx="4206240" cy="2468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658368" y="2514600"/>
            <a:ext cx="54864" cy="2468880"/>
          </a:xfrm>
          <a:prstGeom prst="rect">
            <a:avLst/>
          </a:prstGeom>
          <a:solidFill>
            <a:srgbClr val="4A90D9"/>
          </a:solidFill>
          <a:ln/>
        </p:spPr>
        <p:txBody>
          <a:bodyPr/>
          <a:lstStyle/>
          <a:p>
            <a:endParaRPr lang="ja-JP" altLang="en-US"/>
          </a:p>
        </p:txBody>
      </p:sp>
      <p:sp>
        <p:nvSpPr>
          <p:cNvPr id="8" name="Text 6"/>
          <p:cNvSpPr/>
          <p:nvPr/>
        </p:nvSpPr>
        <p:spPr>
          <a:xfrm>
            <a:off x="841248" y="2651760"/>
            <a:ext cx="3840480" cy="822960"/>
          </a:xfrm>
          <a:prstGeom prst="rect">
            <a:avLst/>
          </a:prstGeom>
          <a:noFill/>
          <a:ln/>
        </p:spPr>
        <p:txBody>
          <a:bodyPr wrap="square" lIns="0" tIns="0" rIns="0" bIns="0" rtlCol="0" anchor="ctr"/>
          <a:lstStyle/>
          <a:p>
            <a:pPr marL="0" indent="0" algn="ctr">
              <a:buNone/>
            </a:pPr>
            <a:r>
              <a:rPr lang="en-US" sz="5200" b="1" dirty="0">
                <a:solidFill>
                  <a:srgbClr val="4A90D9"/>
                </a:solidFill>
                <a:latin typeface="Hiragino Sans W6" pitchFamily="34" charset="0"/>
                <a:ea typeface="Hiragino Sans W6" pitchFamily="34" charset="-122"/>
                <a:cs typeface="Hiragino Sans W6" pitchFamily="34" charset="-120"/>
              </a:rPr>
              <a:t>30%</a:t>
            </a:r>
            <a:endParaRPr lang="en-US" sz="5200" dirty="0"/>
          </a:p>
        </p:txBody>
      </p:sp>
      <p:sp>
        <p:nvSpPr>
          <p:cNvPr id="9" name="Text 7"/>
          <p:cNvSpPr/>
          <p:nvPr/>
        </p:nvSpPr>
        <p:spPr>
          <a:xfrm>
            <a:off x="841248" y="3429000"/>
            <a:ext cx="3840480" cy="411480"/>
          </a:xfrm>
          <a:prstGeom prst="rect">
            <a:avLst/>
          </a:prstGeom>
          <a:noFill/>
          <a:ln/>
        </p:spPr>
        <p:txBody>
          <a:bodyPr wrap="square" lIns="0" tIns="0" rIns="0" bIns="0" rtlCol="0" anchor="ctr"/>
          <a:lstStyle/>
          <a:p>
            <a:pPr marL="0" indent="0" algn="ctr">
              <a:buNone/>
            </a:pPr>
            <a:r>
              <a:rPr lang="en-US" sz="1800" b="1" dirty="0">
                <a:solidFill>
                  <a:srgbClr val="282824"/>
                </a:solidFill>
                <a:latin typeface="Hiragino Sans W6" pitchFamily="34" charset="0"/>
                <a:ea typeface="Hiragino Sans W6" pitchFamily="34" charset="-122"/>
                <a:cs typeface="Hiragino Sans W6" pitchFamily="34" charset="-120"/>
              </a:rPr>
              <a:t>記録の紙依存</a:t>
            </a:r>
            <a:endParaRPr lang="en-US" sz="1800" dirty="0"/>
          </a:p>
        </p:txBody>
      </p:sp>
      <p:sp>
        <p:nvSpPr>
          <p:cNvPr id="10" name="Text 8"/>
          <p:cNvSpPr/>
          <p:nvPr/>
        </p:nvSpPr>
        <p:spPr>
          <a:xfrm>
            <a:off x="841248" y="3886200"/>
            <a:ext cx="3840480" cy="914400"/>
          </a:xfrm>
          <a:prstGeom prst="rect">
            <a:avLst/>
          </a:prstGeom>
          <a:noFill/>
          <a:ln/>
        </p:spPr>
        <p:txBody>
          <a:bodyPr wrap="square" lIns="0" tIns="0" rIns="0" bIns="0" rtlCol="0" anchor="t"/>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手書き→転記→ファイリング。</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情報共有に平均2日のタイムラグ。</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58種のPDF書式が現場に散在。</a:t>
            </a:r>
            <a:endParaRPr lang="en-US" sz="1500" dirty="0"/>
          </a:p>
        </p:txBody>
      </p:sp>
      <p:sp>
        <p:nvSpPr>
          <p:cNvPr id="11" name="Shape 9"/>
          <p:cNvSpPr/>
          <p:nvPr/>
        </p:nvSpPr>
        <p:spPr>
          <a:xfrm>
            <a:off x="5212080" y="2514600"/>
            <a:ext cx="4206240" cy="2468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2" name="Shape 10"/>
          <p:cNvSpPr/>
          <p:nvPr/>
        </p:nvSpPr>
        <p:spPr>
          <a:xfrm>
            <a:off x="5212080" y="2514600"/>
            <a:ext cx="54864" cy="2468880"/>
          </a:xfrm>
          <a:prstGeom prst="rect">
            <a:avLst/>
          </a:prstGeom>
          <a:solidFill>
            <a:srgbClr val="F39C12"/>
          </a:solidFill>
          <a:ln/>
        </p:spPr>
        <p:txBody>
          <a:bodyPr/>
          <a:lstStyle/>
          <a:p>
            <a:endParaRPr lang="ja-JP" altLang="en-US"/>
          </a:p>
        </p:txBody>
      </p:sp>
      <p:sp>
        <p:nvSpPr>
          <p:cNvPr id="13" name="Text 11"/>
          <p:cNvSpPr/>
          <p:nvPr/>
        </p:nvSpPr>
        <p:spPr>
          <a:xfrm>
            <a:off x="5394960" y="2651760"/>
            <a:ext cx="3840480" cy="822960"/>
          </a:xfrm>
          <a:prstGeom prst="rect">
            <a:avLst/>
          </a:prstGeom>
          <a:noFill/>
          <a:ln/>
        </p:spPr>
        <p:txBody>
          <a:bodyPr wrap="square" lIns="0" tIns="0" rIns="0" bIns="0" rtlCol="0" anchor="ctr"/>
          <a:lstStyle/>
          <a:p>
            <a:pPr marL="0" indent="0" algn="ctr">
              <a:buNone/>
            </a:pPr>
            <a:r>
              <a:rPr lang="en-US" sz="5200" b="1" dirty="0">
                <a:solidFill>
                  <a:srgbClr val="F39C12"/>
                </a:solidFill>
                <a:latin typeface="Hiragino Sans W6" pitchFamily="34" charset="0"/>
                <a:ea typeface="Hiragino Sans W6" pitchFamily="34" charset="-122"/>
                <a:cs typeface="Hiragino Sans W6" pitchFamily="34" charset="-120"/>
              </a:rPr>
              <a:t>70%</a:t>
            </a:r>
            <a:endParaRPr lang="en-US" sz="5200" dirty="0"/>
          </a:p>
        </p:txBody>
      </p:sp>
      <p:sp>
        <p:nvSpPr>
          <p:cNvPr id="14" name="Text 12"/>
          <p:cNvSpPr/>
          <p:nvPr/>
        </p:nvSpPr>
        <p:spPr>
          <a:xfrm>
            <a:off x="5394960" y="3429000"/>
            <a:ext cx="3840480" cy="411480"/>
          </a:xfrm>
          <a:prstGeom prst="rect">
            <a:avLst/>
          </a:prstGeom>
          <a:noFill/>
          <a:ln/>
        </p:spPr>
        <p:txBody>
          <a:bodyPr wrap="square" lIns="0" tIns="0" rIns="0" bIns="0" rtlCol="0" anchor="ctr"/>
          <a:lstStyle/>
          <a:p>
            <a:pPr marL="0" indent="0" algn="ctr">
              <a:buNone/>
            </a:pPr>
            <a:r>
              <a:rPr lang="en-US" sz="1800" b="1" dirty="0">
                <a:solidFill>
                  <a:srgbClr val="282824"/>
                </a:solidFill>
                <a:latin typeface="Hiragino Sans W6" pitchFamily="34" charset="0"/>
                <a:ea typeface="Hiragino Sans W6" pitchFamily="34" charset="-122"/>
                <a:cs typeface="Hiragino Sans W6" pitchFamily="34" charset="-120"/>
              </a:rPr>
              <a:t>支援の属人化</a:t>
            </a:r>
            <a:endParaRPr lang="en-US" sz="1800" dirty="0"/>
          </a:p>
        </p:txBody>
      </p:sp>
      <p:sp>
        <p:nvSpPr>
          <p:cNvPr id="15" name="Text 13"/>
          <p:cNvSpPr/>
          <p:nvPr/>
        </p:nvSpPr>
        <p:spPr>
          <a:xfrm>
            <a:off x="5394960" y="3886200"/>
            <a:ext cx="3840480" cy="914400"/>
          </a:xfrm>
          <a:prstGeom prst="rect">
            <a:avLst/>
          </a:prstGeom>
          <a:noFill/>
          <a:ln/>
        </p:spPr>
        <p:txBody>
          <a:bodyPr wrap="square" lIns="0" tIns="0" rIns="0" bIns="0" rtlCol="0" anchor="t"/>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ベテラン退職で知識消失。</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新人は「見て覚えろ」。</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支援品質のバラつきが常態化。</a:t>
            </a:r>
            <a:endParaRPr lang="en-US" sz="1500" dirty="0"/>
          </a:p>
        </p:txBody>
      </p:sp>
      <p:sp>
        <p:nvSpPr>
          <p:cNvPr id="16" name="Shape 14"/>
          <p:cNvSpPr/>
          <p:nvPr/>
        </p:nvSpPr>
        <p:spPr>
          <a:xfrm>
            <a:off x="9765792" y="2514600"/>
            <a:ext cx="4206240" cy="2468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7" name="Shape 15"/>
          <p:cNvSpPr/>
          <p:nvPr/>
        </p:nvSpPr>
        <p:spPr>
          <a:xfrm>
            <a:off x="9765792" y="2514600"/>
            <a:ext cx="54864" cy="2468880"/>
          </a:xfrm>
          <a:prstGeom prst="rect">
            <a:avLst/>
          </a:prstGeom>
          <a:solidFill>
            <a:srgbClr val="C0392B"/>
          </a:solidFill>
          <a:ln/>
        </p:spPr>
        <p:txBody>
          <a:bodyPr/>
          <a:lstStyle/>
          <a:p>
            <a:endParaRPr lang="ja-JP" altLang="en-US"/>
          </a:p>
        </p:txBody>
      </p:sp>
      <p:sp>
        <p:nvSpPr>
          <p:cNvPr id="18" name="Text 16"/>
          <p:cNvSpPr/>
          <p:nvPr/>
        </p:nvSpPr>
        <p:spPr>
          <a:xfrm>
            <a:off x="9948672" y="2651760"/>
            <a:ext cx="3840480" cy="822960"/>
          </a:xfrm>
          <a:prstGeom prst="rect">
            <a:avLst/>
          </a:prstGeom>
          <a:noFill/>
          <a:ln/>
        </p:spPr>
        <p:txBody>
          <a:bodyPr wrap="square" lIns="0" tIns="0" rIns="0" bIns="0" rtlCol="0" anchor="ctr"/>
          <a:lstStyle/>
          <a:p>
            <a:pPr marL="0" indent="0" algn="ctr">
              <a:buNone/>
            </a:pPr>
            <a:r>
              <a:rPr lang="en-US" sz="5200" b="1" dirty="0">
                <a:solidFill>
                  <a:srgbClr val="C0392B"/>
                </a:solidFill>
                <a:latin typeface="Hiragino Sans W6" pitchFamily="34" charset="0"/>
                <a:ea typeface="Hiragino Sans W6" pitchFamily="34" charset="-122"/>
                <a:cs typeface="Hiragino Sans W6" pitchFamily="34" charset="-120"/>
              </a:rPr>
              <a:t>14.4%</a:t>
            </a:r>
            <a:endParaRPr lang="en-US" sz="5200" dirty="0"/>
          </a:p>
        </p:txBody>
      </p:sp>
      <p:sp>
        <p:nvSpPr>
          <p:cNvPr id="19" name="Text 17"/>
          <p:cNvSpPr/>
          <p:nvPr/>
        </p:nvSpPr>
        <p:spPr>
          <a:xfrm>
            <a:off x="9948672" y="3429000"/>
            <a:ext cx="3840480" cy="411480"/>
          </a:xfrm>
          <a:prstGeom prst="rect">
            <a:avLst/>
          </a:prstGeom>
          <a:noFill/>
          <a:ln/>
        </p:spPr>
        <p:txBody>
          <a:bodyPr wrap="square" lIns="0" tIns="0" rIns="0" bIns="0" rtlCol="0" anchor="ctr"/>
          <a:lstStyle/>
          <a:p>
            <a:pPr marL="0" indent="0" algn="ctr">
              <a:buNone/>
            </a:pPr>
            <a:r>
              <a:rPr lang="en-US" sz="1800" b="1" dirty="0">
                <a:solidFill>
                  <a:srgbClr val="282824"/>
                </a:solidFill>
                <a:latin typeface="Hiragino Sans W6" pitchFamily="34" charset="0"/>
                <a:ea typeface="Hiragino Sans W6" pitchFamily="34" charset="-122"/>
                <a:cs typeface="Hiragino Sans W6" pitchFamily="34" charset="-120"/>
              </a:rPr>
              <a:t>人材不足の加速</a:t>
            </a:r>
            <a:endParaRPr lang="en-US" sz="1800" dirty="0"/>
          </a:p>
        </p:txBody>
      </p:sp>
      <p:sp>
        <p:nvSpPr>
          <p:cNvPr id="20" name="Text 18"/>
          <p:cNvSpPr/>
          <p:nvPr/>
        </p:nvSpPr>
        <p:spPr>
          <a:xfrm>
            <a:off x="9948672" y="3886200"/>
            <a:ext cx="3840480" cy="914400"/>
          </a:xfrm>
          <a:prstGeom prst="rect">
            <a:avLst/>
          </a:prstGeom>
          <a:noFill/>
          <a:ln/>
        </p:spPr>
        <p:txBody>
          <a:bodyPr wrap="square" lIns="0" tIns="0" rIns="0" bIns="0" rtlCol="0" anchor="t"/>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全産業平均の約2倍の離職率。</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記録負担→燃え尽き→離職の</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悪循環が止まらない。</a:t>
            </a:r>
            <a:endParaRPr lang="en-US" sz="1500" dirty="0"/>
          </a:p>
        </p:txBody>
      </p:sp>
      <p:sp>
        <p:nvSpPr>
          <p:cNvPr id="21" name="Text 19"/>
          <p:cNvSpPr/>
          <p:nvPr/>
        </p:nvSpPr>
        <p:spPr>
          <a:xfrm>
            <a:off x="475488" y="7132320"/>
            <a:ext cx="13679424" cy="457200"/>
          </a:xfrm>
          <a:prstGeom prst="rect">
            <a:avLst/>
          </a:prstGeom>
          <a:noFill/>
          <a:ln/>
        </p:spPr>
        <p:txBody>
          <a:bodyPr wrap="square" lIns="0" tIns="0" rIns="0" bIns="0" rtlCol="0" anchor="ctr"/>
          <a:lstStyle/>
          <a:p>
            <a:pPr marL="0" indent="0" algn="ctr">
              <a:buNone/>
            </a:pPr>
            <a:r>
              <a:rPr lang="en-US" sz="1500" i="1" dirty="0">
                <a:solidFill>
                  <a:srgbClr val="746558"/>
                </a:solidFill>
                <a:latin typeface="Hiragino Sans W3" pitchFamily="34" charset="0"/>
                <a:ea typeface="Hiragino Sans W3" pitchFamily="34" charset="-122"/>
                <a:cs typeface="Hiragino Sans W3" pitchFamily="34" charset="-120"/>
              </a:rPr>
              <a:t>業務時間が記録作業に消え、支援知は個人に滞留し、人材は流出し続ける — この構造を変えなければ福祉の未来はない</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国の政策方向と完全に一致するアプローチ</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障害者総合支援法の理念「自立と社会参加」をテクノロジーで加速する</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政策・制度との整合性</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377440"/>
          <a:ext cx="13441680" cy="3154680"/>
        </p:xfrm>
        <a:graphic>
          <a:graphicData uri="http://schemas.openxmlformats.org/drawingml/2006/table">
            <a:tbl>
              <a:tblPr/>
              <a:tblGrid>
                <a:gridCol w="27432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tblGrid>
              <a:tr h="411480">
                <a:tc>
                  <a:txBody>
                    <a:bodyPr/>
                    <a:lstStyle/>
                    <a:p>
                      <a:pPr marL="0" indent="0" algn="ctr">
                        <a:buNone/>
                      </a:pPr>
                      <a:r>
                        <a:rPr lang="en-US" sz="1500" b="1" dirty="0">
                          <a:solidFill>
                            <a:srgbClr val="FFFFFF"/>
                          </a:solidFill>
                          <a:latin typeface="Hiragino Sans W6" pitchFamily="34" charset="0"/>
                          <a:ea typeface="Hiragino Sans W6" pitchFamily="34" charset="-122"/>
                          <a:cs typeface="Hiragino Sans W6" pitchFamily="34" charset="-120"/>
                        </a:rPr>
                        <a:t>政策・制度</a:t>
                      </a:r>
                      <a:endParaRPr lang="en-US" sz="1500" dirty="0">
                        <a:latin typeface="Hiragino Sans W6" charset="0"/>
                        <a:ea typeface="Hiragino Sans W6" charset="0"/>
                        <a:cs typeface="Hiragino Sans W6" charset="0"/>
                      </a:endParaRPr>
                    </a:p>
                  </a:txBody>
                  <a:tcPr marL="76200" marR="76200" marT="50800" marB="50800" anchor="ctr">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484237"/>
                    </a:solidFill>
                  </a:tcPr>
                </a:tc>
                <a:tc>
                  <a:txBody>
                    <a:bodyPr/>
                    <a:lstStyle/>
                    <a:p>
                      <a:pPr marL="0" indent="0" algn="ctr">
                        <a:buNone/>
                      </a:pPr>
                      <a:r>
                        <a:rPr lang="en-US" sz="1500" b="1" dirty="0">
                          <a:solidFill>
                            <a:srgbClr val="FFFFFF"/>
                          </a:solidFill>
                          <a:latin typeface="Hiragino Sans W6" pitchFamily="34" charset="0"/>
                          <a:ea typeface="Hiragino Sans W6" pitchFamily="34" charset="-122"/>
                          <a:cs typeface="Hiragino Sans W6" pitchFamily="34" charset="-120"/>
                        </a:rPr>
                        <a:t>政策の方向性</a:t>
                      </a:r>
                      <a:endParaRPr lang="en-US" sz="1500" dirty="0">
                        <a:latin typeface="Hiragino Sans W6" charset="0"/>
                        <a:ea typeface="Hiragino Sans W6" charset="0"/>
                        <a:cs typeface="Hiragino Sans W6" charset="0"/>
                      </a:endParaRPr>
                    </a:p>
                  </a:txBody>
                  <a:tcPr marL="76200" marR="76200" marT="50800" marB="50800" anchor="ctr">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484237"/>
                    </a:solidFill>
                  </a:tcPr>
                </a:tc>
                <a:tc>
                  <a:txBody>
                    <a:bodyPr/>
                    <a:lstStyle/>
                    <a:p>
                      <a:pPr marL="0" indent="0" algn="ctr">
                        <a:buNone/>
                      </a:pPr>
                      <a:r>
                        <a:rPr lang="en-US" sz="1500" b="1" dirty="0">
                          <a:solidFill>
                            <a:srgbClr val="FFFFFF"/>
                          </a:solidFill>
                          <a:latin typeface="Hiragino Sans W6" pitchFamily="34" charset="0"/>
                          <a:ea typeface="Hiragino Sans W6" pitchFamily="34" charset="-122"/>
                          <a:cs typeface="Hiragino Sans W6" pitchFamily="34" charset="-120"/>
                        </a:rPr>
                        <a:t>Universal Care OS の対応</a:t>
                      </a:r>
                      <a:endParaRPr lang="en-US" sz="1500" dirty="0">
                        <a:latin typeface="Hiragino Sans W6" charset="0"/>
                        <a:ea typeface="Hiragino Sans W6" charset="0"/>
                        <a:cs typeface="Hiragino Sans W6" charset="0"/>
                      </a:endParaRPr>
                    </a:p>
                  </a:txBody>
                  <a:tcPr marL="76200" marR="76200" marT="50800" marB="50800" anchor="ctr">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484237"/>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rgbClr val="282824"/>
                          </a:solidFill>
                          <a:latin typeface="Hiragino Sans W6" pitchFamily="34" charset="0"/>
                          <a:ea typeface="Hiragino Sans W6" pitchFamily="34" charset="-122"/>
                          <a:cs typeface="Hiragino Sans W6" pitchFamily="34" charset="-120"/>
                        </a:rPr>
                        <a:t>障害者総合支援法</a:t>
                      </a:r>
                      <a:endParaRPr lang="en-US" sz="1400" dirty="0">
                        <a:latin typeface="Hiragino Sans W6" charset="0"/>
                        <a:ea typeface="Hiragino Sans W6" charset="0"/>
                        <a:cs typeface="Hiragino Sans W6"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自立支援・地域共生の理念をシステム設計の中核に据える</a:t>
                      </a:r>
                      <a:endParaRPr lang="en-US" sz="1400" dirty="0">
                        <a:latin typeface="Hiragino Sans W3" charset="0"/>
                        <a:ea typeface="Hiragino Sans W3" charset="0"/>
                        <a:cs typeface="Hiragino Sans W3"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13段階自立支援マトリックスをDB・画面・AIに完全実装</a:t>
                      </a:r>
                      <a:endParaRPr lang="en-US" sz="1400" dirty="0">
                        <a:latin typeface="Hiragino Sans W3" charset="0"/>
                        <a:ea typeface="Hiragino Sans W3" charset="0"/>
                        <a:cs typeface="Hiragino Sans W3"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rgbClr val="282824"/>
                          </a:solidFill>
                          <a:latin typeface="Hiragino Sans W6" pitchFamily="34" charset="0"/>
                          <a:ea typeface="Hiragino Sans W6" pitchFamily="34" charset="-122"/>
                          <a:cs typeface="Hiragino Sans W6" pitchFamily="34" charset="-120"/>
                        </a:rPr>
                        <a:t>福祉DX推進（厚労省）</a:t>
                      </a:r>
                      <a:endParaRPr lang="en-US" sz="1400" dirty="0">
                        <a:latin typeface="Hiragino Sans W6" charset="0"/>
                        <a:ea typeface="Hiragino Sans W6" charset="0"/>
                        <a:cs typeface="Hiragino Sans W6"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9F6F0"/>
                    </a:solidFill>
                  </a:tcPr>
                </a:tc>
                <a:tc>
                  <a:txBody>
                    <a:bodyP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ICT活用による業務効率化と記録の標準化</a:t>
                      </a:r>
                      <a:endParaRPr lang="en-US" sz="1400" dirty="0">
                        <a:latin typeface="Hiragino Sans W3" charset="0"/>
                        <a:ea typeface="Hiragino Sans W3" charset="0"/>
                        <a:cs typeface="Hiragino Sans W3"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9F6F0"/>
                    </a:solidFill>
                  </a:tcPr>
                </a:tc>
                <a:tc>
                  <a:txBody>
                    <a:bodyP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音声入力→AI構造化→紙ゼロ。58書式を統合DB化</a:t>
                      </a:r>
                      <a:endParaRPr lang="en-US" sz="1400" dirty="0">
                        <a:latin typeface="Hiragino Sans W3" charset="0"/>
                        <a:ea typeface="Hiragino Sans W3" charset="0"/>
                        <a:cs typeface="Hiragino Sans W3"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9F6F0"/>
                    </a:solidFill>
                  </a:tcPr>
                </a:tc>
                <a:extLst>
                  <a:ext uri="{0D108BD9-81ED-4DB2-BD59-A6C34878D82A}">
                    <a16:rowId xmlns:a16="http://schemas.microsoft.com/office/drawing/2014/main" val="10002"/>
                  </a:ext>
                </a:extLst>
              </a:tr>
              <a:tr h="548640">
                <a:tc>
                  <a:txBody>
                    <a:bodyPr/>
                    <a:lstStyle/>
                    <a:p>
                      <a:pPr marL="0" indent="0">
                        <a:buNone/>
                      </a:pPr>
                      <a:r>
                        <a:rPr lang="en-US" sz="1400" dirty="0">
                          <a:solidFill>
                            <a:srgbClr val="282824"/>
                          </a:solidFill>
                          <a:latin typeface="Hiragino Sans W6" pitchFamily="34" charset="0"/>
                          <a:ea typeface="Hiragino Sans W6" pitchFamily="34" charset="-122"/>
                          <a:cs typeface="Hiragino Sans W6" pitchFamily="34" charset="-120"/>
                        </a:rPr>
                        <a:t>報酬改定（R6年度）</a:t>
                      </a:r>
                      <a:endParaRPr lang="en-US" sz="1400" dirty="0">
                        <a:latin typeface="Hiragino Sans W6" charset="0"/>
                        <a:ea typeface="Hiragino Sans W6" charset="0"/>
                        <a:cs typeface="Hiragino Sans W6"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データに基づく支援品質の可視化・加算取得</a:t>
                      </a:r>
                      <a:endParaRPr lang="en-US" sz="1400" dirty="0">
                        <a:latin typeface="Hiragino Sans W3" charset="0"/>
                        <a:ea typeface="Hiragino Sans W3" charset="0"/>
                        <a:cs typeface="Hiragino Sans W3"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AI分析で加算対象行動を自動検出・レポート生成</a:t>
                      </a:r>
                      <a:endParaRPr lang="en-US" sz="1400" dirty="0">
                        <a:latin typeface="Hiragino Sans W3" charset="0"/>
                        <a:ea typeface="Hiragino Sans W3" charset="0"/>
                        <a:cs typeface="Hiragino Sans W3"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400" dirty="0">
                          <a:solidFill>
                            <a:srgbClr val="282824"/>
                          </a:solidFill>
                          <a:latin typeface="Hiragino Sans W6" pitchFamily="34" charset="0"/>
                          <a:ea typeface="Hiragino Sans W6" pitchFamily="34" charset="-122"/>
                          <a:cs typeface="Hiragino Sans W6" pitchFamily="34" charset="-120"/>
                        </a:rPr>
                        <a:t>地域共生社会の実現</a:t>
                      </a:r>
                      <a:endParaRPr lang="en-US" sz="1400" dirty="0">
                        <a:latin typeface="Hiragino Sans W6" charset="0"/>
                        <a:ea typeface="Hiragino Sans W6" charset="0"/>
                        <a:cs typeface="Hiragino Sans W6"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9F6F0"/>
                    </a:solidFill>
                  </a:tcPr>
                </a:tc>
                <a:tc>
                  <a:txBody>
                    <a:bodyP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施設間連携、切れ目ない支援の実現</a:t>
                      </a:r>
                      <a:endParaRPr lang="en-US" sz="1400" dirty="0">
                        <a:latin typeface="Hiragino Sans W3" charset="0"/>
                        <a:ea typeface="Hiragino Sans W3" charset="0"/>
                        <a:cs typeface="Hiragino Sans W3"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9F6F0"/>
                    </a:solidFill>
                  </a:tcPr>
                </a:tc>
                <a:tc>
                  <a:txBody>
                    <a:bodyP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ユニバーサルID × 施設横断DB × 4段階情報開示</a:t>
                      </a:r>
                      <a:endParaRPr lang="en-US" sz="1400" dirty="0">
                        <a:latin typeface="Hiragino Sans W3" charset="0"/>
                        <a:ea typeface="Hiragino Sans W3" charset="0"/>
                        <a:cs typeface="Hiragino Sans W3"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9F6F0"/>
                    </a:solidFill>
                  </a:tcPr>
                </a:tc>
                <a:extLst>
                  <a:ext uri="{0D108BD9-81ED-4DB2-BD59-A6C34878D82A}">
                    <a16:rowId xmlns:a16="http://schemas.microsoft.com/office/drawing/2014/main" val="10004"/>
                  </a:ext>
                </a:extLst>
              </a:tr>
              <a:tr h="548640">
                <a:tc>
                  <a:txBody>
                    <a:bodyPr/>
                    <a:lstStyle/>
                    <a:p>
                      <a:pPr marL="0" indent="0">
                        <a:buNone/>
                      </a:pPr>
                      <a:r>
                        <a:rPr lang="en-US" sz="1400" dirty="0">
                          <a:solidFill>
                            <a:srgbClr val="282824"/>
                          </a:solidFill>
                          <a:latin typeface="Hiragino Sans W6" pitchFamily="34" charset="0"/>
                          <a:ea typeface="Hiragino Sans W6" pitchFamily="34" charset="-122"/>
                          <a:cs typeface="Hiragino Sans W6" pitchFamily="34" charset="-120"/>
                        </a:rPr>
                        <a:t>虐待防止法・権利擁護</a:t>
                      </a:r>
                      <a:endParaRPr lang="en-US" sz="1400" dirty="0">
                        <a:latin typeface="Hiragino Sans W6" charset="0"/>
                        <a:ea typeface="Hiragino Sans W6" charset="0"/>
                        <a:cs typeface="Hiragino Sans W6"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虐待の早期発見・予防体制の構築</a:t>
                      </a:r>
                      <a:endParaRPr lang="en-US" sz="1400" dirty="0">
                        <a:latin typeface="Hiragino Sans W3" charset="0"/>
                        <a:ea typeface="Hiragino Sans W3" charset="0"/>
                        <a:cs typeface="Hiragino Sans W3"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危険パス自動検知、支援品質モニタリングAI</a:t>
                      </a:r>
                      <a:endParaRPr lang="en-US" sz="1400" dirty="0">
                        <a:latin typeface="Hiragino Sans W3" charset="0"/>
                        <a:ea typeface="Hiragino Sans W3" charset="0"/>
                        <a:cs typeface="Hiragino Sans W3" charset="0"/>
                      </a:endParaRPr>
                    </a:p>
                  </a:txBody>
                  <a:tcPr marL="76200" marR="762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66928" y="6035040"/>
            <a:ext cx="13496544" cy="1097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8" name="Text 5"/>
          <p:cNvSpPr/>
          <p:nvPr/>
        </p:nvSpPr>
        <p:spPr>
          <a:xfrm>
            <a:off x="749808" y="6126480"/>
            <a:ext cx="13130784" cy="914400"/>
          </a:xfrm>
          <a:prstGeom prst="rect">
            <a:avLst/>
          </a:prstGeom>
          <a:noFill/>
          <a:ln/>
        </p:spPr>
        <p:txBody>
          <a:bodyPr wrap="square" lIns="0" tIns="0" rIns="0" bIns="0" rtlCol="0" anchor="ctr"/>
          <a:lstStyle/>
          <a:p>
            <a:pPr marL="0" indent="0" algn="l">
              <a:buNone/>
            </a:pPr>
            <a:r>
              <a:rPr lang="en-US" sz="1500" b="1" dirty="0">
                <a:solidFill>
                  <a:srgbClr val="4A90D9"/>
                </a:solidFill>
                <a:latin typeface="Hiragino Sans W6" pitchFamily="34" charset="0"/>
                <a:ea typeface="Hiragino Sans W6" pitchFamily="34" charset="-122"/>
                <a:cs typeface="Hiragino Sans W6" pitchFamily="34" charset="-120"/>
              </a:rPr>
              <a:t>Universal Care OS の独自性: </a:t>
            </a:r>
            <a:r>
              <a:rPr lang="en-US" sz="1500" dirty="0">
                <a:solidFill>
                  <a:srgbClr val="4A4A45"/>
                </a:solidFill>
                <a:latin typeface="Hiragino Sans W3" pitchFamily="34" charset="0"/>
                <a:ea typeface="Hiragino Sans W3" pitchFamily="34" charset="-122"/>
                <a:cs typeface="Hiragino Sans W3" pitchFamily="34" charset="-120"/>
              </a:rPr>
              <a:t>単なるICTツールではなく、障害者総合支援法の理念「自立と社会参加」を、現場の支援哲学（わかるじゃんマトリックス）を介してシステム設計に直接反映。政策とシステムが同じ言語で語れる唯一のプラットフォーム。</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8DD"/>
        </a:solidFill>
        <a:effectLst/>
      </p:bgPr>
    </p:bg>
    <p:spTree>
      <p:nvGrpSpPr>
        <p:cNvPr id="1" name=""/>
        <p:cNvGrpSpPr/>
        <p:nvPr/>
      </p:nvGrpSpPr>
      <p:grpSpPr>
        <a:xfrm>
          <a:off x="0" y="0"/>
          <a:ext cx="0" cy="0"/>
          <a:chOff x="0" y="0"/>
          <a:chExt cx="0" cy="0"/>
        </a:xfrm>
      </p:grpSpPr>
      <p:sp>
        <p:nvSpPr>
          <p:cNvPr id="2" name="Shape 0"/>
          <p:cNvSpPr/>
          <p:nvPr/>
        </p:nvSpPr>
        <p:spPr>
          <a:xfrm>
            <a:off x="0" y="0"/>
            <a:ext cx="109728" cy="8229600"/>
          </a:xfrm>
          <a:prstGeom prst="rect">
            <a:avLst/>
          </a:prstGeom>
          <a:solidFill>
            <a:srgbClr val="4A90D9"/>
          </a:solidFill>
          <a:ln/>
        </p:spPr>
        <p:txBody>
          <a:bodyPr/>
          <a:lstStyle/>
          <a:p>
            <a:endParaRPr lang="ja-JP" altLang="en-US"/>
          </a:p>
        </p:txBody>
      </p:sp>
      <p:sp>
        <p:nvSpPr>
          <p:cNvPr id="3" name="Text 1"/>
          <p:cNvSpPr/>
          <p:nvPr/>
        </p:nvSpPr>
        <p:spPr>
          <a:xfrm>
            <a:off x="749808" y="731520"/>
            <a:ext cx="5486400" cy="731520"/>
          </a:xfrm>
          <a:prstGeom prst="rect">
            <a:avLst/>
          </a:prstGeom>
          <a:noFill/>
          <a:ln/>
        </p:spPr>
        <p:txBody>
          <a:bodyPr wrap="square" lIns="0" tIns="0" rIns="0" bIns="0" rtlCol="0" anchor="ctr"/>
          <a:lstStyle/>
          <a:p>
            <a:pPr marL="0" indent="0">
              <a:buNone/>
            </a:pPr>
            <a:r>
              <a:rPr lang="en-US" sz="1800" b="1" dirty="0">
                <a:solidFill>
                  <a:srgbClr val="4A90D9"/>
                </a:solidFill>
                <a:latin typeface="Hiragino Sans W6" pitchFamily="34" charset="0"/>
                <a:ea typeface="Hiragino Sans W6" pitchFamily="34" charset="-122"/>
                <a:cs typeface="Hiragino Sans W6" pitchFamily="34" charset="-120"/>
              </a:rPr>
              <a:t>WHAT</a:t>
            </a:r>
            <a:endParaRPr lang="en-US" sz="1800" dirty="0"/>
          </a:p>
        </p:txBody>
      </p:sp>
      <p:sp>
        <p:nvSpPr>
          <p:cNvPr id="4" name="Text 2"/>
          <p:cNvSpPr/>
          <p:nvPr/>
        </p:nvSpPr>
        <p:spPr>
          <a:xfrm>
            <a:off x="749808" y="1371600"/>
            <a:ext cx="11887200" cy="822960"/>
          </a:xfrm>
          <a:prstGeom prst="rect">
            <a:avLst/>
          </a:prstGeom>
          <a:noFill/>
          <a:ln/>
        </p:spPr>
        <p:txBody>
          <a:bodyPr wrap="square" lIns="0" tIns="0" rIns="0" bIns="0" rtlCol="0" anchor="ctr"/>
          <a:lstStyle/>
          <a:p>
            <a:pPr marL="0" indent="0">
              <a:buNone/>
            </a:pPr>
            <a:r>
              <a:rPr lang="en-US" sz="3600" b="1" dirty="0">
                <a:solidFill>
                  <a:srgbClr val="282824"/>
                </a:solidFill>
                <a:latin typeface="Hiragino Sans W6" pitchFamily="34" charset="0"/>
                <a:ea typeface="Hiragino Sans W6" pitchFamily="34" charset="-122"/>
                <a:cs typeface="Hiragino Sans W6" pitchFamily="34" charset="-120"/>
              </a:rPr>
              <a:t>現場の支援哲学を、そのまま動くシステムにする</a:t>
            </a:r>
            <a:endParaRPr lang="en-US" sz="3600" dirty="0"/>
          </a:p>
        </p:txBody>
      </p:sp>
      <p:sp>
        <p:nvSpPr>
          <p:cNvPr id="5" name="Text 3"/>
          <p:cNvSpPr/>
          <p:nvPr/>
        </p:nvSpPr>
        <p:spPr>
          <a:xfrm>
            <a:off x="749808" y="2468880"/>
            <a:ext cx="10972800" cy="822960"/>
          </a:xfrm>
          <a:prstGeom prst="rect">
            <a:avLst/>
          </a:prstGeom>
          <a:noFill/>
          <a:ln/>
        </p:spPr>
        <p:txBody>
          <a:bodyPr wrap="square" lIns="0" tIns="0" rIns="0" bIns="0" rtlCol="0" anchor="ctr"/>
          <a:lstStyle/>
          <a:p>
            <a:pPr marL="0" indent="0">
              <a:buNone/>
            </a:pPr>
            <a:r>
              <a:rPr lang="en-US" sz="1600" dirty="0">
                <a:solidFill>
                  <a:srgbClr val="4A4A45"/>
                </a:solidFill>
                <a:latin typeface="Hiragino Sans W3" pitchFamily="34" charset="0"/>
                <a:ea typeface="Hiragino Sans W3" pitchFamily="34" charset="-122"/>
                <a:cs typeface="Hiragino Sans W3" pitchFamily="34" charset="-120"/>
              </a:rPr>
              <a:t>サンライズが6年間の現場実践で磨き上げた「自立支援マトリックス（わかるじゃん）」。</a:t>
            </a:r>
            <a:endParaRPr lang="en-US" sz="1600" dirty="0"/>
          </a:p>
          <a:p>
            <a:pPr marL="0" indent="0">
              <a:buNone/>
            </a:pPr>
            <a:r>
              <a:rPr lang="en-US" sz="1600" dirty="0">
                <a:solidFill>
                  <a:srgbClr val="4A4A45"/>
                </a:solidFill>
                <a:latin typeface="Hiragino Sans W3" pitchFamily="34" charset="0"/>
                <a:ea typeface="Hiragino Sans W3" pitchFamily="34" charset="-122"/>
                <a:cs typeface="Hiragino Sans W3" pitchFamily="34" charset="-120"/>
              </a:rPr>
              <a:t>13段階×4層の支援プロセスを、データベース・画面設計・AI分析に完全に落とし込んだ福祉DXプラットフォームです。</a:t>
            </a:r>
            <a:endParaRPr lang="en-US" sz="1600" dirty="0"/>
          </a:p>
        </p:txBody>
      </p:sp>
      <p:sp>
        <p:nvSpPr>
          <p:cNvPr id="6" name="Shape 4"/>
          <p:cNvSpPr/>
          <p:nvPr/>
        </p:nvSpPr>
        <p:spPr>
          <a:xfrm>
            <a:off x="1115568" y="3931920"/>
            <a:ext cx="3840480" cy="2377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1115568" y="3931920"/>
            <a:ext cx="3840480" cy="54864"/>
          </a:xfrm>
          <a:prstGeom prst="rect">
            <a:avLst/>
          </a:prstGeom>
          <a:solidFill>
            <a:srgbClr val="4A90D9"/>
          </a:solidFill>
          <a:ln/>
        </p:spPr>
        <p:txBody>
          <a:bodyPr/>
          <a:lstStyle/>
          <a:p>
            <a:endParaRPr lang="ja-JP" altLang="en-US"/>
          </a:p>
        </p:txBody>
      </p:sp>
      <p:sp>
        <p:nvSpPr>
          <p:cNvPr id="8" name="Text 6"/>
          <p:cNvSpPr/>
          <p:nvPr/>
        </p:nvSpPr>
        <p:spPr>
          <a:xfrm>
            <a:off x="1298448" y="4206240"/>
            <a:ext cx="3474720" cy="457200"/>
          </a:xfrm>
          <a:prstGeom prst="rect">
            <a:avLst/>
          </a:prstGeom>
          <a:noFill/>
          <a:ln/>
        </p:spPr>
        <p:txBody>
          <a:bodyPr wrap="square" lIns="0" tIns="0" rIns="0" bIns="0" rtlCol="0" anchor="ctr"/>
          <a:lstStyle/>
          <a:p>
            <a:pPr marL="0" indent="0" algn="l">
              <a:buNone/>
            </a:pPr>
            <a:r>
              <a:rPr lang="en-US" sz="1500" dirty="0">
                <a:solidFill>
                  <a:srgbClr val="4A90D9"/>
                </a:solidFill>
                <a:latin typeface="Hiragino Sans W3" pitchFamily="34" charset="0"/>
                <a:ea typeface="Hiragino Sans W3" pitchFamily="34" charset="-122"/>
                <a:cs typeface="Hiragino Sans W3" pitchFamily="34" charset="-120"/>
              </a:rPr>
              <a:t>Voice</a:t>
            </a:r>
            <a:endParaRPr lang="en-US" sz="1500" dirty="0"/>
          </a:p>
        </p:txBody>
      </p:sp>
      <p:sp>
        <p:nvSpPr>
          <p:cNvPr id="9" name="Text 7"/>
          <p:cNvSpPr/>
          <p:nvPr/>
        </p:nvSpPr>
        <p:spPr>
          <a:xfrm>
            <a:off x="1298448" y="4663440"/>
            <a:ext cx="3474720" cy="457200"/>
          </a:xfrm>
          <a:prstGeom prst="rect">
            <a:avLst/>
          </a:prstGeom>
          <a:noFill/>
          <a:ln/>
        </p:spPr>
        <p:txBody>
          <a:bodyPr wrap="square" lIns="0" tIns="0" rIns="0" bIns="0" rtlCol="0" anchor="ctr"/>
          <a:lstStyle/>
          <a:p>
            <a:pPr marL="0" indent="0" algn="l">
              <a:buNone/>
            </a:pPr>
            <a:r>
              <a:rPr lang="en-US" sz="2200" b="1" dirty="0">
                <a:solidFill>
                  <a:srgbClr val="282824"/>
                </a:solidFill>
                <a:latin typeface="Hiragino Sans W6" pitchFamily="34" charset="0"/>
                <a:ea typeface="Hiragino Sans W6" pitchFamily="34" charset="-122"/>
                <a:cs typeface="Hiragino Sans W6" pitchFamily="34" charset="-120"/>
              </a:rPr>
              <a:t>音声ファースト</a:t>
            </a:r>
            <a:endParaRPr lang="en-US" sz="2200" dirty="0"/>
          </a:p>
        </p:txBody>
      </p:sp>
      <p:sp>
        <p:nvSpPr>
          <p:cNvPr id="10" name="Text 8"/>
          <p:cNvSpPr/>
          <p:nvPr/>
        </p:nvSpPr>
        <p:spPr>
          <a:xfrm>
            <a:off x="1298448" y="5303520"/>
            <a:ext cx="3474720" cy="457200"/>
          </a:xfrm>
          <a:prstGeom prst="rect">
            <a:avLst/>
          </a:prstGeom>
          <a:noFill/>
          <a:ln/>
        </p:spPr>
        <p:txBody>
          <a:bodyPr wrap="square" lIns="0" tIns="0" rIns="0" bIns="0" rtlCol="0" anchor="ctr"/>
          <a:lstStyle/>
          <a:p>
            <a:pPr marL="0" indent="0" algn="l">
              <a:buNone/>
            </a:pPr>
            <a:r>
              <a:rPr lang="en-US" sz="1600" dirty="0">
                <a:solidFill>
                  <a:srgbClr val="746558"/>
                </a:solidFill>
                <a:latin typeface="Hiragino Sans W3" pitchFamily="34" charset="0"/>
                <a:ea typeface="Hiragino Sans W3" pitchFamily="34" charset="-122"/>
                <a:cs typeface="Hiragino Sans W3" pitchFamily="34" charset="-120"/>
              </a:rPr>
              <a:t>話すだけで記録完了</a:t>
            </a:r>
            <a:endParaRPr lang="en-US" sz="1600" dirty="0"/>
          </a:p>
        </p:txBody>
      </p:sp>
      <p:sp>
        <p:nvSpPr>
          <p:cNvPr id="11" name="Shape 9"/>
          <p:cNvSpPr/>
          <p:nvPr/>
        </p:nvSpPr>
        <p:spPr>
          <a:xfrm>
            <a:off x="5413248" y="3931920"/>
            <a:ext cx="3840480" cy="2377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2" name="Shape 10"/>
          <p:cNvSpPr/>
          <p:nvPr/>
        </p:nvSpPr>
        <p:spPr>
          <a:xfrm>
            <a:off x="5413248" y="3931920"/>
            <a:ext cx="3840480" cy="54864"/>
          </a:xfrm>
          <a:prstGeom prst="rect">
            <a:avLst/>
          </a:prstGeom>
          <a:solidFill>
            <a:srgbClr val="4A90D9"/>
          </a:solidFill>
          <a:ln/>
        </p:spPr>
        <p:txBody>
          <a:bodyPr/>
          <a:lstStyle/>
          <a:p>
            <a:endParaRPr lang="ja-JP" altLang="en-US"/>
          </a:p>
        </p:txBody>
      </p:sp>
      <p:sp>
        <p:nvSpPr>
          <p:cNvPr id="13" name="Text 11"/>
          <p:cNvSpPr/>
          <p:nvPr/>
        </p:nvSpPr>
        <p:spPr>
          <a:xfrm>
            <a:off x="5596128" y="4206240"/>
            <a:ext cx="3474720" cy="457200"/>
          </a:xfrm>
          <a:prstGeom prst="rect">
            <a:avLst/>
          </a:prstGeom>
          <a:noFill/>
          <a:ln/>
        </p:spPr>
        <p:txBody>
          <a:bodyPr wrap="square" lIns="0" tIns="0" rIns="0" bIns="0" rtlCol="0" anchor="ctr"/>
          <a:lstStyle/>
          <a:p>
            <a:pPr marL="0" indent="0" algn="l">
              <a:buNone/>
            </a:pPr>
            <a:r>
              <a:rPr lang="en-US" sz="1500" dirty="0">
                <a:solidFill>
                  <a:srgbClr val="4A90D9"/>
                </a:solidFill>
                <a:latin typeface="Hiragino Sans W3" pitchFamily="34" charset="0"/>
                <a:ea typeface="Hiragino Sans W3" pitchFamily="34" charset="-122"/>
                <a:cs typeface="Hiragino Sans W3" pitchFamily="34" charset="-120"/>
              </a:rPr>
              <a:t>AI</a:t>
            </a:r>
            <a:endParaRPr lang="en-US" sz="1500" dirty="0"/>
          </a:p>
        </p:txBody>
      </p:sp>
      <p:sp>
        <p:nvSpPr>
          <p:cNvPr id="14" name="Text 12"/>
          <p:cNvSpPr/>
          <p:nvPr/>
        </p:nvSpPr>
        <p:spPr>
          <a:xfrm>
            <a:off x="5596128" y="4663440"/>
            <a:ext cx="3474720" cy="457200"/>
          </a:xfrm>
          <a:prstGeom prst="rect">
            <a:avLst/>
          </a:prstGeom>
          <a:noFill/>
          <a:ln/>
        </p:spPr>
        <p:txBody>
          <a:bodyPr wrap="square" lIns="0" tIns="0" rIns="0" bIns="0" rtlCol="0" anchor="ctr"/>
          <a:lstStyle/>
          <a:p>
            <a:pPr marL="0" indent="0" algn="l">
              <a:buNone/>
            </a:pPr>
            <a:r>
              <a:rPr lang="en-US" sz="2200" b="1" dirty="0">
                <a:solidFill>
                  <a:srgbClr val="282824"/>
                </a:solidFill>
                <a:latin typeface="Hiragino Sans W6" pitchFamily="34" charset="0"/>
                <a:ea typeface="Hiragino Sans W6" pitchFamily="34" charset="-122"/>
                <a:cs typeface="Hiragino Sans W6" pitchFamily="34" charset="-120"/>
              </a:rPr>
              <a:t>AI支援品質管理</a:t>
            </a:r>
            <a:endParaRPr lang="en-US" sz="2200" dirty="0"/>
          </a:p>
        </p:txBody>
      </p:sp>
      <p:sp>
        <p:nvSpPr>
          <p:cNvPr id="15" name="Text 13"/>
          <p:cNvSpPr/>
          <p:nvPr/>
        </p:nvSpPr>
        <p:spPr>
          <a:xfrm>
            <a:off x="5596128" y="5303520"/>
            <a:ext cx="3474720" cy="457200"/>
          </a:xfrm>
          <a:prstGeom prst="rect">
            <a:avLst/>
          </a:prstGeom>
          <a:noFill/>
          <a:ln/>
        </p:spPr>
        <p:txBody>
          <a:bodyPr wrap="square" lIns="0" tIns="0" rIns="0" bIns="0" rtlCol="0" anchor="ctr"/>
          <a:lstStyle/>
          <a:p>
            <a:pPr marL="0" indent="0" algn="l">
              <a:buNone/>
            </a:pPr>
            <a:r>
              <a:rPr lang="en-US" sz="1600" dirty="0">
                <a:solidFill>
                  <a:srgbClr val="746558"/>
                </a:solidFill>
                <a:latin typeface="Hiragino Sans W3" pitchFamily="34" charset="0"/>
                <a:ea typeface="Hiragino Sans W3" pitchFamily="34" charset="-122"/>
                <a:cs typeface="Hiragino Sans W3" pitchFamily="34" charset="-120"/>
              </a:rPr>
              <a:t>危険パス自動検知</a:t>
            </a:r>
            <a:endParaRPr lang="en-US" sz="1600" dirty="0"/>
          </a:p>
        </p:txBody>
      </p:sp>
      <p:sp>
        <p:nvSpPr>
          <p:cNvPr id="16" name="Shape 14"/>
          <p:cNvSpPr/>
          <p:nvPr/>
        </p:nvSpPr>
        <p:spPr>
          <a:xfrm>
            <a:off x="9710928" y="3931920"/>
            <a:ext cx="3840480" cy="2377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7" name="Shape 15"/>
          <p:cNvSpPr/>
          <p:nvPr/>
        </p:nvSpPr>
        <p:spPr>
          <a:xfrm>
            <a:off x="9710928" y="3931920"/>
            <a:ext cx="3840480" cy="54864"/>
          </a:xfrm>
          <a:prstGeom prst="rect">
            <a:avLst/>
          </a:prstGeom>
          <a:solidFill>
            <a:srgbClr val="4A90D9"/>
          </a:solidFill>
          <a:ln/>
        </p:spPr>
        <p:txBody>
          <a:bodyPr/>
          <a:lstStyle/>
          <a:p>
            <a:endParaRPr lang="ja-JP" altLang="en-US"/>
          </a:p>
        </p:txBody>
      </p:sp>
      <p:sp>
        <p:nvSpPr>
          <p:cNvPr id="18" name="Text 16"/>
          <p:cNvSpPr/>
          <p:nvPr/>
        </p:nvSpPr>
        <p:spPr>
          <a:xfrm>
            <a:off x="9893808" y="4206240"/>
            <a:ext cx="3474720" cy="457200"/>
          </a:xfrm>
          <a:prstGeom prst="rect">
            <a:avLst/>
          </a:prstGeom>
          <a:noFill/>
          <a:ln/>
        </p:spPr>
        <p:txBody>
          <a:bodyPr wrap="square" lIns="0" tIns="0" rIns="0" bIns="0" rtlCol="0" anchor="ctr"/>
          <a:lstStyle/>
          <a:p>
            <a:pPr marL="0" indent="0" algn="l">
              <a:buNone/>
            </a:pPr>
            <a:r>
              <a:rPr lang="en-US" sz="1500" dirty="0">
                <a:solidFill>
                  <a:srgbClr val="4A90D9"/>
                </a:solidFill>
                <a:latin typeface="Hiragino Sans W3" pitchFamily="34" charset="0"/>
                <a:ea typeface="Hiragino Sans W3" pitchFamily="34" charset="-122"/>
                <a:cs typeface="Hiragino Sans W3" pitchFamily="34" charset="-120"/>
              </a:rPr>
              <a:t>Link</a:t>
            </a:r>
            <a:endParaRPr lang="en-US" sz="1500" dirty="0"/>
          </a:p>
        </p:txBody>
      </p:sp>
      <p:sp>
        <p:nvSpPr>
          <p:cNvPr id="19" name="Text 17"/>
          <p:cNvSpPr/>
          <p:nvPr/>
        </p:nvSpPr>
        <p:spPr>
          <a:xfrm>
            <a:off x="9893808" y="4663440"/>
            <a:ext cx="3474720" cy="457200"/>
          </a:xfrm>
          <a:prstGeom prst="rect">
            <a:avLst/>
          </a:prstGeom>
          <a:noFill/>
          <a:ln/>
        </p:spPr>
        <p:txBody>
          <a:bodyPr wrap="square" lIns="0" tIns="0" rIns="0" bIns="0" rtlCol="0" anchor="ctr"/>
          <a:lstStyle/>
          <a:p>
            <a:pPr marL="0" indent="0" algn="l">
              <a:buNone/>
            </a:pPr>
            <a:r>
              <a:rPr lang="en-US" sz="2200" b="1" dirty="0">
                <a:solidFill>
                  <a:srgbClr val="282824"/>
                </a:solidFill>
                <a:latin typeface="Hiragino Sans W6" pitchFamily="34" charset="0"/>
                <a:ea typeface="Hiragino Sans W6" pitchFamily="34" charset="-122"/>
                <a:cs typeface="Hiragino Sans W6" pitchFamily="34" charset="-120"/>
              </a:rPr>
              <a:t>施設横断連携</a:t>
            </a:r>
            <a:endParaRPr lang="en-US" sz="2200" dirty="0"/>
          </a:p>
        </p:txBody>
      </p:sp>
      <p:sp>
        <p:nvSpPr>
          <p:cNvPr id="20" name="Text 18"/>
          <p:cNvSpPr/>
          <p:nvPr/>
        </p:nvSpPr>
        <p:spPr>
          <a:xfrm>
            <a:off x="9893808" y="5303520"/>
            <a:ext cx="3474720" cy="457200"/>
          </a:xfrm>
          <a:prstGeom prst="rect">
            <a:avLst/>
          </a:prstGeom>
          <a:noFill/>
          <a:ln/>
        </p:spPr>
        <p:txBody>
          <a:bodyPr wrap="square" lIns="0" tIns="0" rIns="0" bIns="0" rtlCol="0" anchor="ctr"/>
          <a:lstStyle/>
          <a:p>
            <a:pPr marL="0" indent="0" algn="l">
              <a:buNone/>
            </a:pPr>
            <a:r>
              <a:rPr lang="en-US" sz="1600" dirty="0">
                <a:solidFill>
                  <a:srgbClr val="746558"/>
                </a:solidFill>
                <a:latin typeface="Hiragino Sans W3" pitchFamily="34" charset="0"/>
                <a:ea typeface="Hiragino Sans W3" pitchFamily="34" charset="-122"/>
                <a:cs typeface="Hiragino Sans W3" pitchFamily="34" charset="-120"/>
              </a:rPr>
              <a:t>ユニバーサルID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自立支援マトリックス — これは「支援のカーナビ」です</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6年間の現場実践で磨き上げた、職員の行動を導くフレームワーク</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カーナビのたとえで理解する</a:t>
            </a:r>
            <a:endParaRPr lang="en-US" sz="2000" dirty="0"/>
          </a:p>
        </p:txBody>
      </p:sp>
      <p:sp>
        <p:nvSpPr>
          <p:cNvPr id="6" name="Shape 4"/>
          <p:cNvSpPr/>
          <p:nvPr/>
        </p:nvSpPr>
        <p:spPr>
          <a:xfrm>
            <a:off x="658368" y="2377440"/>
            <a:ext cx="420624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658368" y="2377440"/>
            <a:ext cx="4206240" cy="54864"/>
          </a:xfrm>
          <a:prstGeom prst="rect">
            <a:avLst/>
          </a:prstGeom>
          <a:solidFill>
            <a:srgbClr val="4A90D9"/>
          </a:solidFill>
          <a:ln/>
        </p:spPr>
        <p:txBody>
          <a:bodyPr/>
          <a:lstStyle/>
          <a:p>
            <a:endParaRPr lang="ja-JP" altLang="en-US"/>
          </a:p>
        </p:txBody>
      </p:sp>
      <p:sp>
        <p:nvSpPr>
          <p:cNvPr id="8" name="Shape 6"/>
          <p:cNvSpPr/>
          <p:nvPr/>
        </p:nvSpPr>
        <p:spPr>
          <a:xfrm>
            <a:off x="841248" y="2651760"/>
            <a:ext cx="502920" cy="502920"/>
          </a:xfrm>
          <a:prstGeom prst="ellipse">
            <a:avLst/>
          </a:prstGeom>
          <a:solidFill>
            <a:srgbClr val="4A90D9"/>
          </a:solidFill>
          <a:ln/>
        </p:spPr>
        <p:txBody>
          <a:bodyPr/>
          <a:lstStyle/>
          <a:p>
            <a:endParaRPr lang="ja-JP" altLang="en-US"/>
          </a:p>
        </p:txBody>
      </p:sp>
      <p:sp>
        <p:nvSpPr>
          <p:cNvPr id="9" name="Text 7"/>
          <p:cNvSpPr/>
          <p:nvPr/>
        </p:nvSpPr>
        <p:spPr>
          <a:xfrm>
            <a:off x="841248" y="265176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Hiragino Sans W6" pitchFamily="34" charset="0"/>
                <a:ea typeface="Hiragino Sans W6" pitchFamily="34" charset="-122"/>
                <a:cs typeface="Hiragino Sans W6" pitchFamily="34" charset="-120"/>
              </a:rPr>
              <a:t>1</a:t>
            </a:r>
            <a:endParaRPr lang="en-US" sz="2400" dirty="0"/>
          </a:p>
        </p:txBody>
      </p:sp>
      <p:sp>
        <p:nvSpPr>
          <p:cNvPr id="10" name="Text 8"/>
          <p:cNvSpPr/>
          <p:nvPr/>
        </p:nvSpPr>
        <p:spPr>
          <a:xfrm>
            <a:off x="1481328" y="2651760"/>
            <a:ext cx="3200400" cy="502920"/>
          </a:xfrm>
          <a:prstGeom prst="rect">
            <a:avLst/>
          </a:prstGeom>
          <a:noFill/>
          <a:ln/>
        </p:spPr>
        <p:txBody>
          <a:bodyPr wrap="square" lIns="0" tIns="0" rIns="0" bIns="0" rtlCol="0" anchor="ctr"/>
          <a:lstStyle/>
          <a:p>
            <a:pPr marL="0" indent="0" algn="l">
              <a:buNone/>
            </a:pPr>
            <a:r>
              <a:rPr lang="en-US" sz="1900" b="1" dirty="0">
                <a:solidFill>
                  <a:srgbClr val="282824"/>
                </a:solidFill>
                <a:latin typeface="Hiragino Sans W6" pitchFamily="34" charset="0"/>
                <a:ea typeface="Hiragino Sans W6" pitchFamily="34" charset="-122"/>
                <a:cs typeface="Hiragino Sans W6" pitchFamily="34" charset="-120"/>
              </a:rPr>
              <a:t>目的地を示す</a:t>
            </a:r>
            <a:endParaRPr lang="en-US" sz="1900" dirty="0"/>
          </a:p>
        </p:txBody>
      </p:sp>
      <p:sp>
        <p:nvSpPr>
          <p:cNvPr id="11" name="Text 9"/>
          <p:cNvSpPr/>
          <p:nvPr/>
        </p:nvSpPr>
        <p:spPr>
          <a:xfrm>
            <a:off x="841248" y="3383280"/>
            <a:ext cx="3840480" cy="1828800"/>
          </a:xfrm>
          <a:prstGeom prst="rect">
            <a:avLst/>
          </a:prstGeom>
          <a:noFill/>
          <a:ln/>
        </p:spPr>
        <p:txBody>
          <a:bodyPr wrap="square" lIns="0" tIns="0" rIns="0" bIns="0" rtlCol="0" anchor="t"/>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利用者の「自立」がゴール。</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13個のチェックポイント（ステップ）を通って、</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面談から自立まで一歩ずつ進む道を示します。</a:t>
            </a:r>
            <a:endParaRPr lang="en-US" sz="1500" dirty="0"/>
          </a:p>
        </p:txBody>
      </p:sp>
      <p:sp>
        <p:nvSpPr>
          <p:cNvPr id="12" name="Shape 10"/>
          <p:cNvSpPr/>
          <p:nvPr/>
        </p:nvSpPr>
        <p:spPr>
          <a:xfrm>
            <a:off x="5212080" y="2377440"/>
            <a:ext cx="420624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3" name="Shape 11"/>
          <p:cNvSpPr/>
          <p:nvPr/>
        </p:nvSpPr>
        <p:spPr>
          <a:xfrm>
            <a:off x="5212080" y="2377440"/>
            <a:ext cx="4206240" cy="54864"/>
          </a:xfrm>
          <a:prstGeom prst="rect">
            <a:avLst/>
          </a:prstGeom>
          <a:solidFill>
            <a:srgbClr val="27AE60"/>
          </a:solidFill>
          <a:ln/>
        </p:spPr>
        <p:txBody>
          <a:bodyPr/>
          <a:lstStyle/>
          <a:p>
            <a:endParaRPr lang="ja-JP" altLang="en-US"/>
          </a:p>
        </p:txBody>
      </p:sp>
      <p:sp>
        <p:nvSpPr>
          <p:cNvPr id="14" name="Shape 12"/>
          <p:cNvSpPr/>
          <p:nvPr/>
        </p:nvSpPr>
        <p:spPr>
          <a:xfrm>
            <a:off x="5394960" y="2651760"/>
            <a:ext cx="502920" cy="502920"/>
          </a:xfrm>
          <a:prstGeom prst="ellipse">
            <a:avLst/>
          </a:prstGeom>
          <a:solidFill>
            <a:srgbClr val="27AE60"/>
          </a:solidFill>
          <a:ln/>
        </p:spPr>
        <p:txBody>
          <a:bodyPr/>
          <a:lstStyle/>
          <a:p>
            <a:endParaRPr lang="ja-JP" altLang="en-US"/>
          </a:p>
        </p:txBody>
      </p:sp>
      <p:sp>
        <p:nvSpPr>
          <p:cNvPr id="15" name="Text 13"/>
          <p:cNvSpPr/>
          <p:nvPr/>
        </p:nvSpPr>
        <p:spPr>
          <a:xfrm>
            <a:off x="5394960" y="265176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Hiragino Sans W6" pitchFamily="34" charset="0"/>
                <a:ea typeface="Hiragino Sans W6" pitchFamily="34" charset="-122"/>
                <a:cs typeface="Hiragino Sans W6" pitchFamily="34" charset="-120"/>
              </a:rPr>
              <a:t>2</a:t>
            </a:r>
            <a:endParaRPr lang="en-US" sz="2400" dirty="0"/>
          </a:p>
        </p:txBody>
      </p:sp>
      <p:sp>
        <p:nvSpPr>
          <p:cNvPr id="16" name="Text 14"/>
          <p:cNvSpPr/>
          <p:nvPr/>
        </p:nvSpPr>
        <p:spPr>
          <a:xfrm>
            <a:off x="6035040" y="2651760"/>
            <a:ext cx="3200400" cy="502920"/>
          </a:xfrm>
          <a:prstGeom prst="rect">
            <a:avLst/>
          </a:prstGeom>
          <a:noFill/>
          <a:ln/>
        </p:spPr>
        <p:txBody>
          <a:bodyPr wrap="square" lIns="0" tIns="0" rIns="0" bIns="0" rtlCol="0" anchor="ctr"/>
          <a:lstStyle/>
          <a:p>
            <a:pPr marL="0" indent="0" algn="l">
              <a:buNone/>
            </a:pPr>
            <a:r>
              <a:rPr lang="en-US" sz="1900" b="1" dirty="0">
                <a:solidFill>
                  <a:srgbClr val="282824"/>
                </a:solidFill>
                <a:latin typeface="Hiragino Sans W6" pitchFamily="34" charset="0"/>
                <a:ea typeface="Hiragino Sans W6" pitchFamily="34" charset="-122"/>
                <a:cs typeface="Hiragino Sans W6" pitchFamily="34" charset="-120"/>
              </a:rPr>
              <a:t>正しいルートを案内する</a:t>
            </a:r>
            <a:endParaRPr lang="en-US" sz="1900" dirty="0"/>
          </a:p>
        </p:txBody>
      </p:sp>
      <p:sp>
        <p:nvSpPr>
          <p:cNvPr id="17" name="Text 15"/>
          <p:cNvSpPr/>
          <p:nvPr/>
        </p:nvSpPr>
        <p:spPr>
          <a:xfrm>
            <a:off x="5394960" y="3383280"/>
            <a:ext cx="3840480" cy="1828800"/>
          </a:xfrm>
          <a:prstGeom prst="rect">
            <a:avLst/>
          </a:prstGeom>
          <a:noFill/>
          <a:ln/>
        </p:spPr>
        <p:txBody>
          <a:bodyPr wrap="square" lIns="0" tIns="0" rIns="0" bIns="0" rtlCol="0" anchor="t"/>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各ステップに「理想の行動」が定義されています。</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例：利用者が困っている → まず観察する（Step1）</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 話を聞く（Step2）→ 方法を選ぶ（Step3）</a:t>
            </a:r>
            <a:endParaRPr lang="en-US" sz="1500" dirty="0"/>
          </a:p>
        </p:txBody>
      </p:sp>
      <p:sp>
        <p:nvSpPr>
          <p:cNvPr id="18" name="Shape 16"/>
          <p:cNvSpPr/>
          <p:nvPr/>
        </p:nvSpPr>
        <p:spPr>
          <a:xfrm>
            <a:off x="9765792" y="2377440"/>
            <a:ext cx="420624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9" name="Shape 17"/>
          <p:cNvSpPr/>
          <p:nvPr/>
        </p:nvSpPr>
        <p:spPr>
          <a:xfrm>
            <a:off x="9765792" y="2377440"/>
            <a:ext cx="4206240" cy="54864"/>
          </a:xfrm>
          <a:prstGeom prst="rect">
            <a:avLst/>
          </a:prstGeom>
          <a:solidFill>
            <a:srgbClr val="C0392B"/>
          </a:solidFill>
          <a:ln/>
        </p:spPr>
        <p:txBody>
          <a:bodyPr/>
          <a:lstStyle/>
          <a:p>
            <a:endParaRPr lang="ja-JP" altLang="en-US"/>
          </a:p>
        </p:txBody>
      </p:sp>
      <p:sp>
        <p:nvSpPr>
          <p:cNvPr id="20" name="Shape 18"/>
          <p:cNvSpPr/>
          <p:nvPr/>
        </p:nvSpPr>
        <p:spPr>
          <a:xfrm>
            <a:off x="9948672" y="2651760"/>
            <a:ext cx="502920" cy="502920"/>
          </a:xfrm>
          <a:prstGeom prst="ellipse">
            <a:avLst/>
          </a:prstGeom>
          <a:solidFill>
            <a:srgbClr val="C0392B"/>
          </a:solidFill>
          <a:ln/>
        </p:spPr>
        <p:txBody>
          <a:bodyPr/>
          <a:lstStyle/>
          <a:p>
            <a:endParaRPr lang="ja-JP" altLang="en-US"/>
          </a:p>
        </p:txBody>
      </p:sp>
      <p:sp>
        <p:nvSpPr>
          <p:cNvPr id="21" name="Text 19"/>
          <p:cNvSpPr/>
          <p:nvPr/>
        </p:nvSpPr>
        <p:spPr>
          <a:xfrm>
            <a:off x="9948672" y="2651760"/>
            <a:ext cx="50292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Hiragino Sans W6" pitchFamily="34" charset="0"/>
                <a:ea typeface="Hiragino Sans W6" pitchFamily="34" charset="-122"/>
                <a:cs typeface="Hiragino Sans W6" pitchFamily="34" charset="-120"/>
              </a:rPr>
              <a:t>3</a:t>
            </a:r>
            <a:endParaRPr lang="en-US" sz="2400" dirty="0"/>
          </a:p>
        </p:txBody>
      </p:sp>
      <p:sp>
        <p:nvSpPr>
          <p:cNvPr id="22" name="Text 20"/>
          <p:cNvSpPr/>
          <p:nvPr/>
        </p:nvSpPr>
        <p:spPr>
          <a:xfrm>
            <a:off x="10588752" y="2651760"/>
            <a:ext cx="3200400" cy="502920"/>
          </a:xfrm>
          <a:prstGeom prst="rect">
            <a:avLst/>
          </a:prstGeom>
          <a:noFill/>
          <a:ln/>
        </p:spPr>
        <p:txBody>
          <a:bodyPr wrap="square" lIns="0" tIns="0" rIns="0" bIns="0" rtlCol="0" anchor="ctr"/>
          <a:lstStyle/>
          <a:p>
            <a:pPr marL="0" indent="0" algn="l">
              <a:buNone/>
            </a:pPr>
            <a:r>
              <a:rPr lang="en-US" sz="1900" b="1" dirty="0">
                <a:solidFill>
                  <a:srgbClr val="282824"/>
                </a:solidFill>
                <a:latin typeface="Hiragino Sans W6" pitchFamily="34" charset="0"/>
                <a:ea typeface="Hiragino Sans W6" pitchFamily="34" charset="-122"/>
                <a:cs typeface="Hiragino Sans W6" pitchFamily="34" charset="-120"/>
              </a:rPr>
              <a:t>道を外れたら警告する</a:t>
            </a:r>
            <a:endParaRPr lang="en-US" sz="1900" dirty="0"/>
          </a:p>
        </p:txBody>
      </p:sp>
      <p:sp>
        <p:nvSpPr>
          <p:cNvPr id="23" name="Text 21"/>
          <p:cNvSpPr/>
          <p:nvPr/>
        </p:nvSpPr>
        <p:spPr>
          <a:xfrm>
            <a:off x="9948672" y="3383280"/>
            <a:ext cx="3840480" cy="1828800"/>
          </a:xfrm>
          <a:prstGeom prst="rect">
            <a:avLst/>
          </a:prstGeom>
          <a:noFill/>
          <a:ln/>
        </p:spPr>
        <p:txBody>
          <a:bodyPr wrap="square" lIns="0" tIns="0" rIns="0" bIns="0" rtlCol="0" anchor="t"/>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支援が間違った方向に進むと、AIが検知します。</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例：記録をサボる → 推測で支援 → 事故リスク</a:t>
            </a:r>
            <a:endParaRPr lang="en-US" sz="1500" dirty="0"/>
          </a:p>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この「危険パス」への逸脱を自動で発見。</a:t>
            </a:r>
            <a:endParaRPr lang="en-US" sz="1500" dirty="0"/>
          </a:p>
        </p:txBody>
      </p:sp>
      <p:sp>
        <p:nvSpPr>
          <p:cNvPr id="24" name="Shape 22"/>
          <p:cNvSpPr/>
          <p:nvPr/>
        </p:nvSpPr>
        <p:spPr>
          <a:xfrm>
            <a:off x="658368" y="5486400"/>
            <a:ext cx="6400800" cy="1463040"/>
          </a:xfrm>
          <a:prstGeom prst="rect">
            <a:avLst/>
          </a:prstGeom>
          <a:solidFill>
            <a:srgbClr val="FBE8E8"/>
          </a:solidFill>
          <a:ln/>
          <a:effectLst>
            <a:outerShdw blurRad="76200" dist="25400" dir="8100000" algn="bl" rotWithShape="0">
              <a:srgbClr val="000000">
                <a:alpha val="12000"/>
              </a:srgbClr>
            </a:outerShdw>
          </a:effectLst>
        </p:spPr>
        <p:txBody>
          <a:bodyPr/>
          <a:lstStyle/>
          <a:p>
            <a:endParaRPr lang="ja-JP" altLang="en-US"/>
          </a:p>
        </p:txBody>
      </p:sp>
      <p:sp>
        <p:nvSpPr>
          <p:cNvPr id="25" name="Text 23"/>
          <p:cNvSpPr/>
          <p:nvPr/>
        </p:nvSpPr>
        <p:spPr>
          <a:xfrm>
            <a:off x="841248" y="5577840"/>
            <a:ext cx="6035040" cy="365760"/>
          </a:xfrm>
          <a:prstGeom prst="rect">
            <a:avLst/>
          </a:prstGeom>
          <a:noFill/>
          <a:ln/>
        </p:spPr>
        <p:txBody>
          <a:bodyPr wrap="square" lIns="0" tIns="0" rIns="0" bIns="0" rtlCol="0" anchor="ctr"/>
          <a:lstStyle/>
          <a:p>
            <a:pPr marL="0" indent="0">
              <a:buNone/>
            </a:pPr>
            <a:r>
              <a:rPr lang="en-US" sz="1600" b="1" dirty="0">
                <a:solidFill>
                  <a:srgbClr val="C0392B"/>
                </a:solidFill>
                <a:latin typeface="Hiragino Sans W6" pitchFamily="34" charset="0"/>
                <a:ea typeface="Hiragino Sans W6" pitchFamily="34" charset="-122"/>
                <a:cs typeface="Hiragino Sans W6" pitchFamily="34" charset="-120"/>
              </a:rPr>
              <a:t>従来の福祉研修</a:t>
            </a:r>
            <a:endParaRPr lang="en-US" sz="1600" dirty="0"/>
          </a:p>
        </p:txBody>
      </p:sp>
      <p:sp>
        <p:nvSpPr>
          <p:cNvPr id="26" name="Text 24"/>
          <p:cNvSpPr/>
          <p:nvPr/>
        </p:nvSpPr>
        <p:spPr>
          <a:xfrm>
            <a:off x="841248" y="5989320"/>
            <a:ext cx="6035040" cy="822960"/>
          </a:xfrm>
          <a:prstGeom prst="rect">
            <a:avLst/>
          </a:prstGeom>
          <a:noFill/>
          <a:ln/>
        </p:spPr>
        <p:txBody>
          <a:bodyPr wrap="square" lIns="0" tIns="0" rIns="0" bIns="0" rtlCol="0" anchor="ctr"/>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「見て覚えろ」「経験が全て」</a:t>
            </a:r>
            <a:endParaRPr lang="en-US" sz="1500" dirty="0"/>
          </a:p>
          <a:p>
            <a:pPr marL="0" indent="0">
              <a:buNone/>
            </a:pPr>
            <a:r>
              <a:rPr lang="en-US" sz="1500" dirty="0">
                <a:solidFill>
                  <a:srgbClr val="4A4A45"/>
                </a:solidFill>
                <a:latin typeface="Hiragino Sans W3" pitchFamily="34" charset="0"/>
                <a:ea typeface="Hiragino Sans W3" pitchFamily="34" charset="-122"/>
                <a:cs typeface="Hiragino Sans W3" pitchFamily="34" charset="-120"/>
              </a:rPr>
              <a:t>→ ベテラン退職で知識消失</a:t>
            </a:r>
            <a:endParaRPr lang="en-US" sz="1500" dirty="0"/>
          </a:p>
        </p:txBody>
      </p:sp>
      <p:sp>
        <p:nvSpPr>
          <p:cNvPr id="27" name="Shape 25"/>
          <p:cNvSpPr/>
          <p:nvPr/>
        </p:nvSpPr>
        <p:spPr>
          <a:xfrm>
            <a:off x="7516368" y="5486400"/>
            <a:ext cx="6400800" cy="1463040"/>
          </a:xfrm>
          <a:prstGeom prst="rect">
            <a:avLst/>
          </a:prstGeom>
          <a:solidFill>
            <a:srgbClr val="E8F5E8"/>
          </a:solidFill>
          <a:ln/>
          <a:effectLst>
            <a:outerShdw blurRad="76200" dist="25400" dir="8100000" algn="bl" rotWithShape="0">
              <a:srgbClr val="000000">
                <a:alpha val="12000"/>
              </a:srgbClr>
            </a:outerShdw>
          </a:effectLst>
        </p:spPr>
        <p:txBody>
          <a:bodyPr/>
          <a:lstStyle/>
          <a:p>
            <a:endParaRPr lang="ja-JP" altLang="en-US"/>
          </a:p>
        </p:txBody>
      </p:sp>
      <p:sp>
        <p:nvSpPr>
          <p:cNvPr id="28" name="Text 26"/>
          <p:cNvSpPr/>
          <p:nvPr/>
        </p:nvSpPr>
        <p:spPr>
          <a:xfrm>
            <a:off x="7699248" y="5577840"/>
            <a:ext cx="6035040" cy="365760"/>
          </a:xfrm>
          <a:prstGeom prst="rect">
            <a:avLst/>
          </a:prstGeom>
          <a:noFill/>
          <a:ln/>
        </p:spPr>
        <p:txBody>
          <a:bodyPr wrap="square" lIns="0" tIns="0" rIns="0" bIns="0" rtlCol="0" anchor="ctr"/>
          <a:lstStyle/>
          <a:p>
            <a:pPr marL="0" indent="0">
              <a:buNone/>
            </a:pPr>
            <a:r>
              <a:rPr lang="en-US" sz="1600" b="1" dirty="0">
                <a:solidFill>
                  <a:srgbClr val="27AE60"/>
                </a:solidFill>
                <a:latin typeface="Hiragino Sans W6" pitchFamily="34" charset="0"/>
                <a:ea typeface="Hiragino Sans W6" pitchFamily="34" charset="-122"/>
                <a:cs typeface="Hiragino Sans W6" pitchFamily="34" charset="-120"/>
              </a:rPr>
              <a:t>わかるじゃん導入後</a:t>
            </a:r>
            <a:endParaRPr lang="en-US" sz="1600" dirty="0"/>
          </a:p>
        </p:txBody>
      </p:sp>
      <p:sp>
        <p:nvSpPr>
          <p:cNvPr id="29" name="Text 27"/>
          <p:cNvSpPr/>
          <p:nvPr/>
        </p:nvSpPr>
        <p:spPr>
          <a:xfrm>
            <a:off x="7699248" y="5989320"/>
            <a:ext cx="6035040" cy="822960"/>
          </a:xfrm>
          <a:prstGeom prst="rect">
            <a:avLst/>
          </a:prstGeom>
          <a:noFill/>
          <a:ln/>
        </p:spPr>
        <p:txBody>
          <a:bodyPr wrap="square" lIns="0" tIns="0" rIns="0" bIns="0" rtlCol="0" anchor="ctr"/>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13ステップが行動基準 / AIが常時サポート</a:t>
            </a:r>
            <a:endParaRPr lang="en-US" sz="1500" dirty="0"/>
          </a:p>
          <a:p>
            <a:pPr marL="0" indent="0">
              <a:buNone/>
            </a:pPr>
            <a:r>
              <a:rPr lang="en-US" sz="1500" dirty="0">
                <a:solidFill>
                  <a:srgbClr val="4A4A45"/>
                </a:solidFill>
                <a:latin typeface="Hiragino Sans W3" pitchFamily="34" charset="0"/>
                <a:ea typeface="Hiragino Sans W3" pitchFamily="34" charset="-122"/>
                <a:cs typeface="Hiragino Sans W3" pitchFamily="34" charset="-120"/>
              </a:rPr>
              <a:t>→ 誰が担当しても品質安定</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13ステップの旅 — 面談から自立まで、田中さんの物語</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利用者「田中さん」が施設に入所してから自立するまでの道のりを、13のステップで追う</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各ステップで職員は何をするのか？ — 具体例で理解する</a:t>
            </a:r>
            <a:endParaRPr lang="en-US" sz="2000" dirty="0"/>
          </a:p>
        </p:txBody>
      </p:sp>
      <p:sp>
        <p:nvSpPr>
          <p:cNvPr id="6" name="Shape 4"/>
          <p:cNvSpPr/>
          <p:nvPr/>
        </p:nvSpPr>
        <p:spPr>
          <a:xfrm>
            <a:off x="612648" y="233172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1316736" y="2468880"/>
            <a:ext cx="402336" cy="402336"/>
          </a:xfrm>
          <a:prstGeom prst="ellipse">
            <a:avLst/>
          </a:prstGeom>
          <a:solidFill>
            <a:srgbClr val="4A90D9"/>
          </a:solidFill>
          <a:ln/>
        </p:spPr>
        <p:txBody>
          <a:bodyPr/>
          <a:lstStyle/>
          <a:p>
            <a:endParaRPr lang="ja-JP" altLang="en-US"/>
          </a:p>
        </p:txBody>
      </p:sp>
      <p:sp>
        <p:nvSpPr>
          <p:cNvPr id="8" name="Text 6"/>
          <p:cNvSpPr/>
          <p:nvPr/>
        </p:nvSpPr>
        <p:spPr>
          <a:xfrm>
            <a:off x="1316736" y="246888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1</a:t>
            </a:r>
            <a:endParaRPr lang="en-US" sz="1800" dirty="0"/>
          </a:p>
        </p:txBody>
      </p:sp>
      <p:sp>
        <p:nvSpPr>
          <p:cNvPr id="9" name="Text 7"/>
          <p:cNvSpPr/>
          <p:nvPr/>
        </p:nvSpPr>
        <p:spPr>
          <a:xfrm>
            <a:off x="704088" y="297180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面談</a:t>
            </a:r>
            <a:endParaRPr lang="en-US" sz="1600" dirty="0"/>
          </a:p>
        </p:txBody>
      </p:sp>
      <p:sp>
        <p:nvSpPr>
          <p:cNvPr id="10" name="Text 8"/>
          <p:cNvSpPr/>
          <p:nvPr/>
        </p:nvSpPr>
        <p:spPr>
          <a:xfrm>
            <a:off x="704088" y="338328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田中さんと初めて会う。表情や仕草をよく観察する</a:t>
            </a:r>
            <a:endParaRPr lang="en-US" sz="1300" dirty="0"/>
          </a:p>
        </p:txBody>
      </p:sp>
      <p:sp>
        <p:nvSpPr>
          <p:cNvPr id="11" name="Shape 9"/>
          <p:cNvSpPr/>
          <p:nvPr/>
        </p:nvSpPr>
        <p:spPr>
          <a:xfrm>
            <a:off x="2560320" y="233172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2" name="Shape 10"/>
          <p:cNvSpPr/>
          <p:nvPr/>
        </p:nvSpPr>
        <p:spPr>
          <a:xfrm>
            <a:off x="3264408" y="2468880"/>
            <a:ext cx="402336" cy="402336"/>
          </a:xfrm>
          <a:prstGeom prst="ellipse">
            <a:avLst/>
          </a:prstGeom>
          <a:solidFill>
            <a:srgbClr val="4A90D9"/>
          </a:solidFill>
          <a:ln/>
        </p:spPr>
        <p:txBody>
          <a:bodyPr/>
          <a:lstStyle/>
          <a:p>
            <a:endParaRPr lang="ja-JP" altLang="en-US"/>
          </a:p>
        </p:txBody>
      </p:sp>
      <p:sp>
        <p:nvSpPr>
          <p:cNvPr id="13" name="Text 11"/>
          <p:cNvSpPr/>
          <p:nvPr/>
        </p:nvSpPr>
        <p:spPr>
          <a:xfrm>
            <a:off x="3264408" y="246888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2</a:t>
            </a:r>
            <a:endParaRPr lang="en-US" sz="1800" dirty="0"/>
          </a:p>
        </p:txBody>
      </p:sp>
      <p:sp>
        <p:nvSpPr>
          <p:cNvPr id="14" name="Text 12"/>
          <p:cNvSpPr/>
          <p:nvPr/>
        </p:nvSpPr>
        <p:spPr>
          <a:xfrm>
            <a:off x="2651760" y="297180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傾聴</a:t>
            </a:r>
            <a:endParaRPr lang="en-US" sz="1600" dirty="0"/>
          </a:p>
        </p:txBody>
      </p:sp>
      <p:sp>
        <p:nvSpPr>
          <p:cNvPr id="15" name="Text 13"/>
          <p:cNvSpPr/>
          <p:nvPr/>
        </p:nvSpPr>
        <p:spPr>
          <a:xfrm>
            <a:off x="2651760" y="338328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「帰りたい」の言葉の裏にある不安を受け止める</a:t>
            </a:r>
            <a:endParaRPr lang="en-US" sz="1300" dirty="0"/>
          </a:p>
        </p:txBody>
      </p:sp>
      <p:sp>
        <p:nvSpPr>
          <p:cNvPr id="16" name="Shape 14"/>
          <p:cNvSpPr/>
          <p:nvPr/>
        </p:nvSpPr>
        <p:spPr>
          <a:xfrm>
            <a:off x="4507992" y="233172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7" name="Shape 15"/>
          <p:cNvSpPr/>
          <p:nvPr/>
        </p:nvSpPr>
        <p:spPr>
          <a:xfrm>
            <a:off x="5212080" y="2468880"/>
            <a:ext cx="402336" cy="402336"/>
          </a:xfrm>
          <a:prstGeom prst="ellipse">
            <a:avLst/>
          </a:prstGeom>
          <a:solidFill>
            <a:srgbClr val="4A90D9"/>
          </a:solidFill>
          <a:ln/>
        </p:spPr>
        <p:txBody>
          <a:bodyPr/>
          <a:lstStyle/>
          <a:p>
            <a:endParaRPr lang="ja-JP" altLang="en-US"/>
          </a:p>
        </p:txBody>
      </p:sp>
      <p:sp>
        <p:nvSpPr>
          <p:cNvPr id="18" name="Text 16"/>
          <p:cNvSpPr/>
          <p:nvPr/>
        </p:nvSpPr>
        <p:spPr>
          <a:xfrm>
            <a:off x="5212080" y="246888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3</a:t>
            </a:r>
            <a:endParaRPr lang="en-US" sz="1800" dirty="0"/>
          </a:p>
        </p:txBody>
      </p:sp>
      <p:sp>
        <p:nvSpPr>
          <p:cNvPr id="19" name="Text 17"/>
          <p:cNvSpPr/>
          <p:nvPr/>
        </p:nvSpPr>
        <p:spPr>
          <a:xfrm>
            <a:off x="4599432" y="297180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支援選択</a:t>
            </a:r>
            <a:endParaRPr lang="en-US" sz="1600" dirty="0"/>
          </a:p>
        </p:txBody>
      </p:sp>
      <p:sp>
        <p:nvSpPr>
          <p:cNvPr id="20" name="Text 18"/>
          <p:cNvSpPr/>
          <p:nvPr/>
        </p:nvSpPr>
        <p:spPr>
          <a:xfrm>
            <a:off x="4599432" y="338328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入浴を嫌がる原因を探り、足湯から段階的に試す</a:t>
            </a:r>
            <a:endParaRPr lang="en-US" sz="1300" dirty="0"/>
          </a:p>
        </p:txBody>
      </p:sp>
      <p:sp>
        <p:nvSpPr>
          <p:cNvPr id="21" name="Shape 19"/>
          <p:cNvSpPr/>
          <p:nvPr/>
        </p:nvSpPr>
        <p:spPr>
          <a:xfrm>
            <a:off x="6455664" y="233172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2" name="Shape 20"/>
          <p:cNvSpPr/>
          <p:nvPr/>
        </p:nvSpPr>
        <p:spPr>
          <a:xfrm>
            <a:off x="7159752" y="2468880"/>
            <a:ext cx="402336" cy="402336"/>
          </a:xfrm>
          <a:prstGeom prst="ellipse">
            <a:avLst/>
          </a:prstGeom>
          <a:solidFill>
            <a:srgbClr val="4A90D9"/>
          </a:solidFill>
          <a:ln/>
        </p:spPr>
        <p:txBody>
          <a:bodyPr/>
          <a:lstStyle/>
          <a:p>
            <a:endParaRPr lang="ja-JP" altLang="en-US"/>
          </a:p>
        </p:txBody>
      </p:sp>
      <p:sp>
        <p:nvSpPr>
          <p:cNvPr id="23" name="Text 21"/>
          <p:cNvSpPr/>
          <p:nvPr/>
        </p:nvSpPr>
        <p:spPr>
          <a:xfrm>
            <a:off x="7159752" y="246888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4</a:t>
            </a:r>
            <a:endParaRPr lang="en-US" sz="1800" dirty="0"/>
          </a:p>
        </p:txBody>
      </p:sp>
      <p:sp>
        <p:nvSpPr>
          <p:cNvPr id="24" name="Text 22"/>
          <p:cNvSpPr/>
          <p:nvPr/>
        </p:nvSpPr>
        <p:spPr>
          <a:xfrm>
            <a:off x="6547104" y="297180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Teach me</a:t>
            </a:r>
            <a:endParaRPr lang="en-US" sz="1600" dirty="0"/>
          </a:p>
        </p:txBody>
      </p:sp>
      <p:sp>
        <p:nvSpPr>
          <p:cNvPr id="25" name="Text 23"/>
          <p:cNvSpPr/>
          <p:nvPr/>
        </p:nvSpPr>
        <p:spPr>
          <a:xfrm>
            <a:off x="6547104" y="338328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田中さんの独特な折り紙の折り方を「教えて」と聞く</a:t>
            </a:r>
            <a:endParaRPr lang="en-US" sz="1300" dirty="0"/>
          </a:p>
        </p:txBody>
      </p:sp>
      <p:sp>
        <p:nvSpPr>
          <p:cNvPr id="26" name="Shape 24"/>
          <p:cNvSpPr/>
          <p:nvPr/>
        </p:nvSpPr>
        <p:spPr>
          <a:xfrm>
            <a:off x="8403336" y="233172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7" name="Shape 25"/>
          <p:cNvSpPr/>
          <p:nvPr/>
        </p:nvSpPr>
        <p:spPr>
          <a:xfrm>
            <a:off x="9107424" y="2468880"/>
            <a:ext cx="402336" cy="402336"/>
          </a:xfrm>
          <a:prstGeom prst="ellipse">
            <a:avLst/>
          </a:prstGeom>
          <a:solidFill>
            <a:srgbClr val="4A90D9"/>
          </a:solidFill>
          <a:ln/>
        </p:spPr>
        <p:txBody>
          <a:bodyPr/>
          <a:lstStyle/>
          <a:p>
            <a:endParaRPr lang="ja-JP" altLang="en-US"/>
          </a:p>
        </p:txBody>
      </p:sp>
      <p:sp>
        <p:nvSpPr>
          <p:cNvPr id="28" name="Text 26"/>
          <p:cNvSpPr/>
          <p:nvPr/>
        </p:nvSpPr>
        <p:spPr>
          <a:xfrm>
            <a:off x="9107424" y="246888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5</a:t>
            </a:r>
            <a:endParaRPr lang="en-US" sz="1800" dirty="0"/>
          </a:p>
        </p:txBody>
      </p:sp>
      <p:sp>
        <p:nvSpPr>
          <p:cNvPr id="29" name="Text 27"/>
          <p:cNvSpPr/>
          <p:nvPr/>
        </p:nvSpPr>
        <p:spPr>
          <a:xfrm>
            <a:off x="8494776" y="297180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気づき</a:t>
            </a:r>
            <a:endParaRPr lang="en-US" sz="1600" dirty="0"/>
          </a:p>
        </p:txBody>
      </p:sp>
      <p:sp>
        <p:nvSpPr>
          <p:cNvPr id="30" name="Text 28"/>
          <p:cNvSpPr/>
          <p:nvPr/>
        </p:nvSpPr>
        <p:spPr>
          <a:xfrm>
            <a:off x="8494776" y="338328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「この人は手先が器用だ！」を記録して共有する</a:t>
            </a:r>
            <a:endParaRPr lang="en-US" sz="1300" dirty="0"/>
          </a:p>
        </p:txBody>
      </p:sp>
      <p:sp>
        <p:nvSpPr>
          <p:cNvPr id="31" name="Shape 29"/>
          <p:cNvSpPr/>
          <p:nvPr/>
        </p:nvSpPr>
        <p:spPr>
          <a:xfrm>
            <a:off x="10351008" y="233172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32" name="Shape 30"/>
          <p:cNvSpPr/>
          <p:nvPr/>
        </p:nvSpPr>
        <p:spPr>
          <a:xfrm>
            <a:off x="11055096" y="2468880"/>
            <a:ext cx="402336" cy="402336"/>
          </a:xfrm>
          <a:prstGeom prst="ellipse">
            <a:avLst/>
          </a:prstGeom>
          <a:solidFill>
            <a:srgbClr val="4A90D9"/>
          </a:solidFill>
          <a:ln/>
        </p:spPr>
        <p:txBody>
          <a:bodyPr/>
          <a:lstStyle/>
          <a:p>
            <a:endParaRPr lang="ja-JP" altLang="en-US"/>
          </a:p>
        </p:txBody>
      </p:sp>
      <p:sp>
        <p:nvSpPr>
          <p:cNvPr id="33" name="Text 31"/>
          <p:cNvSpPr/>
          <p:nvPr/>
        </p:nvSpPr>
        <p:spPr>
          <a:xfrm>
            <a:off x="11055096" y="246888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6</a:t>
            </a:r>
            <a:endParaRPr lang="en-US" sz="1800" dirty="0"/>
          </a:p>
        </p:txBody>
      </p:sp>
      <p:sp>
        <p:nvSpPr>
          <p:cNvPr id="34" name="Text 32"/>
          <p:cNvSpPr/>
          <p:nvPr/>
        </p:nvSpPr>
        <p:spPr>
          <a:xfrm>
            <a:off x="10442448" y="297180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分析</a:t>
            </a:r>
            <a:endParaRPr lang="en-US" sz="1600" dirty="0"/>
          </a:p>
        </p:txBody>
      </p:sp>
      <p:sp>
        <p:nvSpPr>
          <p:cNvPr id="35" name="Text 33"/>
          <p:cNvSpPr/>
          <p:nvPr/>
        </p:nvSpPr>
        <p:spPr>
          <a:xfrm>
            <a:off x="10442448" y="338328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毎日泣く理由を「なぜ5回」で探る→家族が恋しい</a:t>
            </a:r>
            <a:endParaRPr lang="en-US" sz="1300" dirty="0"/>
          </a:p>
        </p:txBody>
      </p:sp>
      <p:sp>
        <p:nvSpPr>
          <p:cNvPr id="36" name="Shape 34"/>
          <p:cNvSpPr/>
          <p:nvPr/>
        </p:nvSpPr>
        <p:spPr>
          <a:xfrm>
            <a:off x="12298680" y="233172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37" name="Shape 35"/>
          <p:cNvSpPr/>
          <p:nvPr/>
        </p:nvSpPr>
        <p:spPr>
          <a:xfrm>
            <a:off x="13002768" y="2468880"/>
            <a:ext cx="402336" cy="402336"/>
          </a:xfrm>
          <a:prstGeom prst="ellipse">
            <a:avLst/>
          </a:prstGeom>
          <a:solidFill>
            <a:srgbClr val="4A90D9"/>
          </a:solidFill>
          <a:ln/>
        </p:spPr>
        <p:txBody>
          <a:bodyPr/>
          <a:lstStyle/>
          <a:p>
            <a:endParaRPr lang="ja-JP" altLang="en-US"/>
          </a:p>
        </p:txBody>
      </p:sp>
      <p:sp>
        <p:nvSpPr>
          <p:cNvPr id="38" name="Text 36"/>
          <p:cNvSpPr/>
          <p:nvPr/>
        </p:nvSpPr>
        <p:spPr>
          <a:xfrm>
            <a:off x="13002768" y="246888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7</a:t>
            </a:r>
            <a:endParaRPr lang="en-US" sz="1800" dirty="0"/>
          </a:p>
        </p:txBody>
      </p:sp>
      <p:sp>
        <p:nvSpPr>
          <p:cNvPr id="39" name="Text 37"/>
          <p:cNvSpPr/>
          <p:nvPr/>
        </p:nvSpPr>
        <p:spPr>
          <a:xfrm>
            <a:off x="12390120" y="297180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発見</a:t>
            </a:r>
            <a:endParaRPr lang="en-US" sz="1600" dirty="0"/>
          </a:p>
        </p:txBody>
      </p:sp>
      <p:sp>
        <p:nvSpPr>
          <p:cNvPr id="40" name="Text 38"/>
          <p:cNvSpPr/>
          <p:nvPr/>
        </p:nvSpPr>
        <p:spPr>
          <a:xfrm>
            <a:off x="12390120" y="338328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「電話ができる」という可能性を記録する</a:t>
            </a:r>
            <a:endParaRPr lang="en-US" sz="1300" dirty="0"/>
          </a:p>
        </p:txBody>
      </p:sp>
      <p:sp>
        <p:nvSpPr>
          <p:cNvPr id="41" name="Shape 39"/>
          <p:cNvSpPr/>
          <p:nvPr/>
        </p:nvSpPr>
        <p:spPr>
          <a:xfrm>
            <a:off x="1069848" y="470916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42" name="Shape 40"/>
          <p:cNvSpPr/>
          <p:nvPr/>
        </p:nvSpPr>
        <p:spPr>
          <a:xfrm>
            <a:off x="1773936" y="4846320"/>
            <a:ext cx="402336" cy="402336"/>
          </a:xfrm>
          <a:prstGeom prst="ellipse">
            <a:avLst/>
          </a:prstGeom>
          <a:solidFill>
            <a:srgbClr val="4A90D9"/>
          </a:solidFill>
          <a:ln/>
        </p:spPr>
        <p:txBody>
          <a:bodyPr/>
          <a:lstStyle/>
          <a:p>
            <a:endParaRPr lang="ja-JP" altLang="en-US"/>
          </a:p>
        </p:txBody>
      </p:sp>
      <p:sp>
        <p:nvSpPr>
          <p:cNvPr id="43" name="Text 41"/>
          <p:cNvSpPr/>
          <p:nvPr/>
        </p:nvSpPr>
        <p:spPr>
          <a:xfrm>
            <a:off x="1773936" y="484632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8</a:t>
            </a:r>
            <a:endParaRPr lang="en-US" sz="1800" dirty="0"/>
          </a:p>
        </p:txBody>
      </p:sp>
      <p:sp>
        <p:nvSpPr>
          <p:cNvPr id="44" name="Text 42"/>
          <p:cNvSpPr/>
          <p:nvPr/>
        </p:nvSpPr>
        <p:spPr>
          <a:xfrm>
            <a:off x="1161288" y="534924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参画</a:t>
            </a:r>
            <a:endParaRPr lang="en-US" sz="1600" dirty="0"/>
          </a:p>
        </p:txBody>
      </p:sp>
      <p:sp>
        <p:nvSpPr>
          <p:cNvPr id="45" name="Text 43"/>
          <p:cNvSpPr/>
          <p:nvPr/>
        </p:nvSpPr>
        <p:spPr>
          <a:xfrm>
            <a:off x="1161288" y="576072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田中さん自身に「次は何したい？」と聞く</a:t>
            </a:r>
            <a:endParaRPr lang="en-US" sz="1300" dirty="0"/>
          </a:p>
        </p:txBody>
      </p:sp>
      <p:sp>
        <p:nvSpPr>
          <p:cNvPr id="46" name="Shape 44"/>
          <p:cNvSpPr/>
          <p:nvPr/>
        </p:nvSpPr>
        <p:spPr>
          <a:xfrm>
            <a:off x="3017520" y="470916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47" name="Shape 45"/>
          <p:cNvSpPr/>
          <p:nvPr/>
        </p:nvSpPr>
        <p:spPr>
          <a:xfrm>
            <a:off x="3721608" y="4846320"/>
            <a:ext cx="402336" cy="402336"/>
          </a:xfrm>
          <a:prstGeom prst="ellipse">
            <a:avLst/>
          </a:prstGeom>
          <a:solidFill>
            <a:srgbClr val="4A90D9"/>
          </a:solidFill>
          <a:ln/>
        </p:spPr>
        <p:txBody>
          <a:bodyPr/>
          <a:lstStyle/>
          <a:p>
            <a:endParaRPr lang="ja-JP" altLang="en-US"/>
          </a:p>
        </p:txBody>
      </p:sp>
      <p:sp>
        <p:nvSpPr>
          <p:cNvPr id="48" name="Text 46"/>
          <p:cNvSpPr/>
          <p:nvPr/>
        </p:nvSpPr>
        <p:spPr>
          <a:xfrm>
            <a:off x="3721608" y="484632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9</a:t>
            </a:r>
            <a:endParaRPr lang="en-US" sz="1800" dirty="0"/>
          </a:p>
        </p:txBody>
      </p:sp>
      <p:sp>
        <p:nvSpPr>
          <p:cNvPr id="49" name="Text 47"/>
          <p:cNvSpPr/>
          <p:nvPr/>
        </p:nvSpPr>
        <p:spPr>
          <a:xfrm>
            <a:off x="3108960" y="534924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達成</a:t>
            </a:r>
            <a:endParaRPr lang="en-US" sz="1600" dirty="0"/>
          </a:p>
        </p:txBody>
      </p:sp>
      <p:sp>
        <p:nvSpPr>
          <p:cNvPr id="50" name="Text 48"/>
          <p:cNvSpPr/>
          <p:nvPr/>
        </p:nvSpPr>
        <p:spPr>
          <a:xfrm>
            <a:off x="3108960" y="576072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一人で電話できた！一緒に喜ぶ。記録する</a:t>
            </a:r>
            <a:endParaRPr lang="en-US" sz="1300" dirty="0"/>
          </a:p>
        </p:txBody>
      </p:sp>
      <p:sp>
        <p:nvSpPr>
          <p:cNvPr id="51" name="Shape 49"/>
          <p:cNvSpPr/>
          <p:nvPr/>
        </p:nvSpPr>
        <p:spPr>
          <a:xfrm>
            <a:off x="4965192" y="470916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52" name="Shape 50"/>
          <p:cNvSpPr/>
          <p:nvPr/>
        </p:nvSpPr>
        <p:spPr>
          <a:xfrm>
            <a:off x="5669280" y="4846320"/>
            <a:ext cx="402336" cy="402336"/>
          </a:xfrm>
          <a:prstGeom prst="ellipse">
            <a:avLst/>
          </a:prstGeom>
          <a:solidFill>
            <a:srgbClr val="4A90D9"/>
          </a:solidFill>
          <a:ln/>
        </p:spPr>
        <p:txBody>
          <a:bodyPr/>
          <a:lstStyle/>
          <a:p>
            <a:endParaRPr lang="ja-JP" altLang="en-US"/>
          </a:p>
        </p:txBody>
      </p:sp>
      <p:sp>
        <p:nvSpPr>
          <p:cNvPr id="53" name="Text 51"/>
          <p:cNvSpPr/>
          <p:nvPr/>
        </p:nvSpPr>
        <p:spPr>
          <a:xfrm>
            <a:off x="5669280" y="484632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10</a:t>
            </a:r>
            <a:endParaRPr lang="en-US" sz="1800" dirty="0"/>
          </a:p>
        </p:txBody>
      </p:sp>
      <p:sp>
        <p:nvSpPr>
          <p:cNvPr id="54" name="Text 52"/>
          <p:cNvSpPr/>
          <p:nvPr/>
        </p:nvSpPr>
        <p:spPr>
          <a:xfrm>
            <a:off x="5056632" y="534924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定着</a:t>
            </a:r>
            <a:endParaRPr lang="en-US" sz="1600" dirty="0"/>
          </a:p>
        </p:txBody>
      </p:sp>
      <p:sp>
        <p:nvSpPr>
          <p:cNvPr id="55" name="Text 53"/>
          <p:cNvSpPr/>
          <p:nvPr/>
        </p:nvSpPr>
        <p:spPr>
          <a:xfrm>
            <a:off x="5056632" y="576072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毎週土曜に電話する習慣が根づく</a:t>
            </a:r>
            <a:endParaRPr lang="en-US" sz="1300" dirty="0"/>
          </a:p>
        </p:txBody>
      </p:sp>
      <p:sp>
        <p:nvSpPr>
          <p:cNvPr id="56" name="Shape 54"/>
          <p:cNvSpPr/>
          <p:nvPr/>
        </p:nvSpPr>
        <p:spPr>
          <a:xfrm>
            <a:off x="6912864" y="470916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57" name="Shape 55"/>
          <p:cNvSpPr/>
          <p:nvPr/>
        </p:nvSpPr>
        <p:spPr>
          <a:xfrm>
            <a:off x="7616952" y="4846320"/>
            <a:ext cx="402336" cy="402336"/>
          </a:xfrm>
          <a:prstGeom prst="ellipse">
            <a:avLst/>
          </a:prstGeom>
          <a:solidFill>
            <a:srgbClr val="4A90D9"/>
          </a:solidFill>
          <a:ln/>
        </p:spPr>
        <p:txBody>
          <a:bodyPr/>
          <a:lstStyle/>
          <a:p>
            <a:endParaRPr lang="ja-JP" altLang="en-US"/>
          </a:p>
        </p:txBody>
      </p:sp>
      <p:sp>
        <p:nvSpPr>
          <p:cNvPr id="58" name="Text 56"/>
          <p:cNvSpPr/>
          <p:nvPr/>
        </p:nvSpPr>
        <p:spPr>
          <a:xfrm>
            <a:off x="7616952" y="484632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11</a:t>
            </a:r>
            <a:endParaRPr lang="en-US" sz="1800" dirty="0"/>
          </a:p>
        </p:txBody>
      </p:sp>
      <p:sp>
        <p:nvSpPr>
          <p:cNvPr id="59" name="Text 57"/>
          <p:cNvSpPr/>
          <p:nvPr/>
        </p:nvSpPr>
        <p:spPr>
          <a:xfrm>
            <a:off x="7004304" y="534924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評価</a:t>
            </a:r>
            <a:endParaRPr lang="en-US" sz="1600" dirty="0"/>
          </a:p>
        </p:txBody>
      </p:sp>
      <p:sp>
        <p:nvSpPr>
          <p:cNvPr id="60" name="Text 58"/>
          <p:cNvSpPr/>
          <p:nvPr/>
        </p:nvSpPr>
        <p:spPr>
          <a:xfrm>
            <a:off x="7004304" y="576072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自立度シートで成長を数値化・可視化する</a:t>
            </a:r>
            <a:endParaRPr lang="en-US" sz="1300" dirty="0"/>
          </a:p>
        </p:txBody>
      </p:sp>
      <p:sp>
        <p:nvSpPr>
          <p:cNvPr id="61" name="Shape 59"/>
          <p:cNvSpPr/>
          <p:nvPr/>
        </p:nvSpPr>
        <p:spPr>
          <a:xfrm>
            <a:off x="8860536" y="4709160"/>
            <a:ext cx="1810512"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2" name="Shape 60"/>
          <p:cNvSpPr/>
          <p:nvPr/>
        </p:nvSpPr>
        <p:spPr>
          <a:xfrm>
            <a:off x="9564624" y="4846320"/>
            <a:ext cx="402336" cy="402336"/>
          </a:xfrm>
          <a:prstGeom prst="ellipse">
            <a:avLst/>
          </a:prstGeom>
          <a:solidFill>
            <a:srgbClr val="4A90D9"/>
          </a:solidFill>
          <a:ln/>
        </p:spPr>
        <p:txBody>
          <a:bodyPr/>
          <a:lstStyle/>
          <a:p>
            <a:endParaRPr lang="ja-JP" altLang="en-US"/>
          </a:p>
        </p:txBody>
      </p:sp>
      <p:sp>
        <p:nvSpPr>
          <p:cNvPr id="63" name="Text 61"/>
          <p:cNvSpPr/>
          <p:nvPr/>
        </p:nvSpPr>
        <p:spPr>
          <a:xfrm>
            <a:off x="9564624" y="4846320"/>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Hiragino Sans W6" pitchFamily="34" charset="0"/>
                <a:ea typeface="Hiragino Sans W6" pitchFamily="34" charset="-122"/>
                <a:cs typeface="Hiragino Sans W6" pitchFamily="34" charset="-120"/>
              </a:rPr>
              <a:t>12</a:t>
            </a:r>
            <a:endParaRPr lang="en-US" sz="1800" dirty="0"/>
          </a:p>
        </p:txBody>
      </p:sp>
      <p:sp>
        <p:nvSpPr>
          <p:cNvPr id="64" name="Text 62"/>
          <p:cNvSpPr/>
          <p:nvPr/>
        </p:nvSpPr>
        <p:spPr>
          <a:xfrm>
            <a:off x="8951976" y="5349240"/>
            <a:ext cx="1627632"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共生</a:t>
            </a:r>
            <a:endParaRPr lang="en-US" sz="1600" dirty="0"/>
          </a:p>
        </p:txBody>
      </p:sp>
      <p:sp>
        <p:nvSpPr>
          <p:cNvPr id="65" name="Text 63"/>
          <p:cNvSpPr/>
          <p:nvPr/>
        </p:nvSpPr>
        <p:spPr>
          <a:xfrm>
            <a:off x="8951976" y="5760720"/>
            <a:ext cx="1627632" cy="1005840"/>
          </a:xfrm>
          <a:prstGeom prst="rect">
            <a:avLst/>
          </a:prstGeom>
          <a:noFill/>
          <a:ln/>
        </p:spPr>
        <p:txBody>
          <a:bodyPr wrap="square" lIns="0" tIns="0" rIns="0" bIns="0" rtlCol="0" anchor="t"/>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近所のコンビニで一人で買い物できるようになる</a:t>
            </a:r>
            <a:endParaRPr lang="en-US" sz="1300" dirty="0"/>
          </a:p>
        </p:txBody>
      </p:sp>
      <p:sp>
        <p:nvSpPr>
          <p:cNvPr id="66" name="Shape 64"/>
          <p:cNvSpPr/>
          <p:nvPr/>
        </p:nvSpPr>
        <p:spPr>
          <a:xfrm>
            <a:off x="10808208" y="4709160"/>
            <a:ext cx="1810512" cy="2194560"/>
          </a:xfrm>
          <a:prstGeom prst="rect">
            <a:avLst/>
          </a:prstGeom>
          <a:solidFill>
            <a:srgbClr val="4A90D9"/>
          </a:solidFill>
          <a:ln/>
          <a:effectLst>
            <a:outerShdw blurRad="76200" dist="25400" dir="8100000" algn="bl" rotWithShape="0">
              <a:srgbClr val="000000">
                <a:alpha val="12000"/>
              </a:srgbClr>
            </a:outerShdw>
          </a:effectLst>
        </p:spPr>
        <p:txBody>
          <a:bodyPr/>
          <a:lstStyle/>
          <a:p>
            <a:endParaRPr lang="ja-JP" altLang="en-US"/>
          </a:p>
        </p:txBody>
      </p:sp>
      <p:sp>
        <p:nvSpPr>
          <p:cNvPr id="67" name="Shape 65"/>
          <p:cNvSpPr/>
          <p:nvPr/>
        </p:nvSpPr>
        <p:spPr>
          <a:xfrm>
            <a:off x="11512296" y="4846320"/>
            <a:ext cx="402336" cy="402336"/>
          </a:xfrm>
          <a:prstGeom prst="ellipse">
            <a:avLst/>
          </a:prstGeom>
          <a:solidFill>
            <a:srgbClr val="FFFFFF"/>
          </a:solidFill>
          <a:ln/>
        </p:spPr>
        <p:txBody>
          <a:bodyPr/>
          <a:lstStyle/>
          <a:p>
            <a:endParaRPr lang="ja-JP" altLang="en-US"/>
          </a:p>
        </p:txBody>
      </p:sp>
      <p:sp>
        <p:nvSpPr>
          <p:cNvPr id="68" name="Text 66"/>
          <p:cNvSpPr/>
          <p:nvPr/>
        </p:nvSpPr>
        <p:spPr>
          <a:xfrm>
            <a:off x="11512296" y="4846320"/>
            <a:ext cx="402336" cy="402336"/>
          </a:xfrm>
          <a:prstGeom prst="rect">
            <a:avLst/>
          </a:prstGeom>
          <a:noFill/>
          <a:ln/>
        </p:spPr>
        <p:txBody>
          <a:bodyPr wrap="square" lIns="0" tIns="0" rIns="0" bIns="0" rtlCol="0" anchor="ctr"/>
          <a:lstStyle/>
          <a:p>
            <a:pPr marL="0" indent="0" algn="ctr">
              <a:buNone/>
            </a:pPr>
            <a:r>
              <a:rPr lang="en-US" sz="1800" b="1" dirty="0">
                <a:solidFill>
                  <a:srgbClr val="4A90D9"/>
                </a:solidFill>
                <a:latin typeface="Hiragino Sans W6" pitchFamily="34" charset="0"/>
                <a:ea typeface="Hiragino Sans W6" pitchFamily="34" charset="-122"/>
                <a:cs typeface="Hiragino Sans W6" pitchFamily="34" charset="-120"/>
              </a:rPr>
              <a:t>13</a:t>
            </a:r>
            <a:endParaRPr lang="en-US" sz="1800" dirty="0"/>
          </a:p>
        </p:txBody>
      </p:sp>
      <p:sp>
        <p:nvSpPr>
          <p:cNvPr id="69" name="Text 67"/>
          <p:cNvSpPr/>
          <p:nvPr/>
        </p:nvSpPr>
        <p:spPr>
          <a:xfrm>
            <a:off x="10899648" y="5349240"/>
            <a:ext cx="1627632"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Hiragino Sans W6" pitchFamily="34" charset="0"/>
                <a:ea typeface="Hiragino Sans W6" pitchFamily="34" charset="-122"/>
                <a:cs typeface="Hiragino Sans W6" pitchFamily="34" charset="-120"/>
              </a:rPr>
              <a:t>自立</a:t>
            </a:r>
            <a:endParaRPr lang="en-US" sz="1600" dirty="0"/>
          </a:p>
        </p:txBody>
      </p:sp>
      <p:sp>
        <p:nvSpPr>
          <p:cNvPr id="70" name="Text 68"/>
          <p:cNvSpPr/>
          <p:nvPr/>
        </p:nvSpPr>
        <p:spPr>
          <a:xfrm>
            <a:off x="10899648" y="5760720"/>
            <a:ext cx="1627632" cy="1005840"/>
          </a:xfrm>
          <a:prstGeom prst="rect">
            <a:avLst/>
          </a:prstGeom>
          <a:noFill/>
          <a:ln/>
        </p:spPr>
        <p:txBody>
          <a:bodyPr wrap="square" lIns="0" tIns="0" rIns="0" bIns="0" rtlCol="0" anchor="t"/>
          <a:lstStyle/>
          <a:p>
            <a:pPr marL="0" indent="0" algn="l">
              <a:buNone/>
            </a:pPr>
            <a:r>
              <a:rPr lang="en-US" sz="1300" dirty="0">
                <a:solidFill>
                  <a:srgbClr val="DCE8FF"/>
                </a:solidFill>
                <a:latin typeface="Hiragino Sans W3" pitchFamily="34" charset="0"/>
                <a:ea typeface="Hiragino Sans W3" pitchFamily="34" charset="-122"/>
                <a:cs typeface="Hiragino Sans W3" pitchFamily="34" charset="-120"/>
              </a:rPr>
              <a:t>田中さんが自分らしく暮らせる。職員は見守り役に</a:t>
            </a:r>
            <a:endParaRPr lang="en-US" sz="1300" dirty="0"/>
          </a:p>
        </p:txBody>
      </p:sp>
      <p:sp>
        <p:nvSpPr>
          <p:cNvPr id="71" name="Text 69"/>
          <p:cNvSpPr/>
          <p:nvPr/>
        </p:nvSpPr>
        <p:spPr>
          <a:xfrm>
            <a:off x="475488" y="7132320"/>
            <a:ext cx="13679424" cy="365760"/>
          </a:xfrm>
          <a:prstGeom prst="rect">
            <a:avLst/>
          </a:prstGeom>
          <a:noFill/>
          <a:ln/>
        </p:spPr>
        <p:txBody>
          <a:bodyPr wrap="square" lIns="0" tIns="0" rIns="0" bIns="0" rtlCol="0" anchor="ctr"/>
          <a:lstStyle/>
          <a:p>
            <a:pPr marL="0" indent="0" algn="ctr">
              <a:buNone/>
            </a:pPr>
            <a:r>
              <a:rPr lang="en-US" sz="1500" i="1" dirty="0">
                <a:solidFill>
                  <a:srgbClr val="746558"/>
                </a:solidFill>
                <a:latin typeface="Hiragino Sans W3" pitchFamily="34" charset="0"/>
                <a:ea typeface="Hiragino Sans W3" pitchFamily="34" charset="-122"/>
                <a:cs typeface="Hiragino Sans W3" pitchFamily="34" charset="-120"/>
              </a:rPr>
              <a:t>→ この13ステップを繰り返し、利用者も職員も一緒に成長していく仕組みです</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4つの道 — 同じ場面でも、支援者の行動で結果がまるで違う</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「食事を拒否する利用者」に対して、4つの対応パターンとその結末を比較する</a:t>
            </a:r>
            <a:endParaRPr lang="en-US" sz="1800" dirty="0"/>
          </a:p>
        </p:txBody>
      </p:sp>
      <p:sp>
        <p:nvSpPr>
          <p:cNvPr id="4" name="Shape 2"/>
          <p:cNvSpPr/>
          <p:nvPr/>
        </p:nvSpPr>
        <p:spPr>
          <a:xfrm>
            <a:off x="566928" y="1417320"/>
            <a:ext cx="13496544" cy="594360"/>
          </a:xfrm>
          <a:prstGeom prst="rect">
            <a:avLst/>
          </a:prstGeom>
          <a:solidFill>
            <a:srgbClr val="484237"/>
          </a:solidFill>
          <a:ln/>
        </p:spPr>
        <p:txBody>
          <a:bodyPr/>
          <a:lstStyle/>
          <a:p>
            <a:endParaRPr lang="ja-JP" altLang="en-US"/>
          </a:p>
        </p:txBody>
      </p:sp>
      <p:sp>
        <p:nvSpPr>
          <p:cNvPr id="5" name="Text 3"/>
          <p:cNvSpPr/>
          <p:nvPr/>
        </p:nvSpPr>
        <p:spPr>
          <a:xfrm>
            <a:off x="566928" y="1417320"/>
            <a:ext cx="13496544" cy="594360"/>
          </a:xfrm>
          <a:prstGeom prst="rect">
            <a:avLst/>
          </a:prstGeom>
          <a:noFill/>
          <a:ln/>
        </p:spPr>
        <p:txBody>
          <a:bodyPr wrap="square" lIns="457200" tIns="0" rIns="0" bIns="0" rtlCol="0" anchor="ctr"/>
          <a:lstStyle/>
          <a:p>
            <a:pPr marL="0" indent="0" algn="l">
              <a:buNone/>
            </a:pPr>
            <a:r>
              <a:rPr lang="en-US" sz="1500" dirty="0">
                <a:solidFill>
                  <a:srgbClr val="FFFFFF"/>
                </a:solidFill>
                <a:latin typeface="Hiragino Sans W3" pitchFamily="34" charset="0"/>
                <a:ea typeface="Hiragino Sans W3" pitchFamily="34" charset="-122"/>
                <a:cs typeface="Hiragino Sans W3" pitchFamily="34" charset="-120"/>
              </a:rPr>
              <a:t>場面：昼食の時間。田中さん（28歳男性、中度知的障害）がスプーンを持とうとしない。「いらない」と首を振る。</a:t>
            </a:r>
            <a:endParaRPr lang="en-US" sz="1500" dirty="0"/>
          </a:p>
        </p:txBody>
      </p:sp>
      <p:sp>
        <p:nvSpPr>
          <p:cNvPr id="6" name="Shape 4"/>
          <p:cNvSpPr/>
          <p:nvPr/>
        </p:nvSpPr>
        <p:spPr>
          <a:xfrm>
            <a:off x="566928" y="2194560"/>
            <a:ext cx="13496544"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566928" y="2194560"/>
            <a:ext cx="73152" cy="1234440"/>
          </a:xfrm>
          <a:prstGeom prst="rect">
            <a:avLst/>
          </a:prstGeom>
          <a:solidFill>
            <a:srgbClr val="27AE60"/>
          </a:solidFill>
          <a:ln/>
        </p:spPr>
        <p:txBody>
          <a:bodyPr/>
          <a:lstStyle/>
          <a:p>
            <a:endParaRPr lang="ja-JP" altLang="en-US"/>
          </a:p>
        </p:txBody>
      </p:sp>
      <p:sp>
        <p:nvSpPr>
          <p:cNvPr id="8" name="Shape 6"/>
          <p:cNvSpPr/>
          <p:nvPr/>
        </p:nvSpPr>
        <p:spPr>
          <a:xfrm>
            <a:off x="795528" y="2331720"/>
            <a:ext cx="1828800" cy="365760"/>
          </a:xfrm>
          <a:prstGeom prst="rect">
            <a:avLst/>
          </a:prstGeom>
          <a:solidFill>
            <a:srgbClr val="27AE60"/>
          </a:solidFill>
          <a:ln/>
        </p:spPr>
        <p:txBody>
          <a:bodyPr/>
          <a:lstStyle/>
          <a:p>
            <a:endParaRPr lang="ja-JP" altLang="en-US"/>
          </a:p>
        </p:txBody>
      </p:sp>
      <p:sp>
        <p:nvSpPr>
          <p:cNvPr id="9" name="Text 7"/>
          <p:cNvSpPr/>
          <p:nvPr/>
        </p:nvSpPr>
        <p:spPr>
          <a:xfrm>
            <a:off x="795528" y="2331720"/>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Hiragino Sans W6" pitchFamily="34" charset="0"/>
                <a:ea typeface="Hiragino Sans W6" pitchFamily="34" charset="-122"/>
                <a:cs typeface="Hiragino Sans W6" pitchFamily="34" charset="-120"/>
              </a:rPr>
              <a:t>L1 理想パス</a:t>
            </a:r>
            <a:endParaRPr lang="en-US" sz="1500" dirty="0"/>
          </a:p>
        </p:txBody>
      </p:sp>
      <p:sp>
        <p:nvSpPr>
          <p:cNvPr id="10" name="Text 8"/>
          <p:cNvSpPr/>
          <p:nvPr/>
        </p:nvSpPr>
        <p:spPr>
          <a:xfrm>
            <a:off x="2852928" y="2286000"/>
            <a:ext cx="5486400" cy="105156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観察 → 傾聴 → 根本解決</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「何か嫌なことある？」と表情を見ながら丁寧に聞く</a:t>
            </a:r>
            <a:endParaRPr lang="en-US" sz="1400" dirty="0"/>
          </a:p>
        </p:txBody>
      </p:sp>
      <p:sp>
        <p:nvSpPr>
          <p:cNvPr id="11" name="Text 9"/>
          <p:cNvSpPr/>
          <p:nvPr/>
        </p:nvSpPr>
        <p:spPr>
          <a:xfrm>
            <a:off x="8522208" y="2286000"/>
            <a:ext cx="457200" cy="1051560"/>
          </a:xfrm>
          <a:prstGeom prst="rect">
            <a:avLst/>
          </a:prstGeom>
          <a:noFill/>
          <a:ln/>
        </p:spPr>
        <p:txBody>
          <a:bodyPr wrap="square" lIns="0" tIns="0" rIns="0" bIns="0" rtlCol="0" anchor="ctr"/>
          <a:lstStyle/>
          <a:p>
            <a:pPr marL="0" indent="0" algn="ctr">
              <a:buNone/>
            </a:pPr>
            <a:r>
              <a:rPr lang="en-US" sz="2200" dirty="0">
                <a:solidFill>
                  <a:srgbClr val="27AE60"/>
                </a:solidFill>
                <a:latin typeface="Hiragino Sans W6" pitchFamily="34" charset="0"/>
                <a:ea typeface="Hiragino Sans W6" pitchFamily="34" charset="-122"/>
                <a:cs typeface="Hiragino Sans W6" pitchFamily="34" charset="-120"/>
              </a:rPr>
              <a:t>→</a:t>
            </a:r>
            <a:endParaRPr lang="en-US" sz="2200" dirty="0"/>
          </a:p>
        </p:txBody>
      </p:sp>
      <p:sp>
        <p:nvSpPr>
          <p:cNvPr id="12" name="Text 10"/>
          <p:cNvSpPr/>
          <p:nvPr/>
        </p:nvSpPr>
        <p:spPr>
          <a:xfrm>
            <a:off x="9162288" y="2286000"/>
            <a:ext cx="4754880" cy="105156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実は歯が痛かった。歯科受診で解決。本人の信頼が深まる。</a:t>
            </a:r>
            <a:endParaRPr lang="en-US" sz="1400" dirty="0"/>
          </a:p>
        </p:txBody>
      </p:sp>
      <p:sp>
        <p:nvSpPr>
          <p:cNvPr id="13" name="Shape 11"/>
          <p:cNvSpPr/>
          <p:nvPr/>
        </p:nvSpPr>
        <p:spPr>
          <a:xfrm>
            <a:off x="566928" y="3566160"/>
            <a:ext cx="13496544"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4" name="Shape 12"/>
          <p:cNvSpPr/>
          <p:nvPr/>
        </p:nvSpPr>
        <p:spPr>
          <a:xfrm>
            <a:off x="566928" y="3566160"/>
            <a:ext cx="73152" cy="1234440"/>
          </a:xfrm>
          <a:prstGeom prst="rect">
            <a:avLst/>
          </a:prstGeom>
          <a:solidFill>
            <a:srgbClr val="4A90D9"/>
          </a:solidFill>
          <a:ln/>
        </p:spPr>
        <p:txBody>
          <a:bodyPr/>
          <a:lstStyle/>
          <a:p>
            <a:endParaRPr lang="ja-JP" altLang="en-US"/>
          </a:p>
        </p:txBody>
      </p:sp>
      <p:sp>
        <p:nvSpPr>
          <p:cNvPr id="15" name="Shape 13"/>
          <p:cNvSpPr/>
          <p:nvPr/>
        </p:nvSpPr>
        <p:spPr>
          <a:xfrm>
            <a:off x="795528" y="3703320"/>
            <a:ext cx="1828800" cy="365760"/>
          </a:xfrm>
          <a:prstGeom prst="rect">
            <a:avLst/>
          </a:prstGeom>
          <a:solidFill>
            <a:srgbClr val="4A90D9"/>
          </a:solidFill>
          <a:ln/>
        </p:spPr>
        <p:txBody>
          <a:bodyPr/>
          <a:lstStyle/>
          <a:p>
            <a:endParaRPr lang="ja-JP" altLang="en-US"/>
          </a:p>
        </p:txBody>
      </p:sp>
      <p:sp>
        <p:nvSpPr>
          <p:cNvPr id="16" name="Text 14"/>
          <p:cNvSpPr/>
          <p:nvPr/>
        </p:nvSpPr>
        <p:spPr>
          <a:xfrm>
            <a:off x="795528" y="3703320"/>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Hiragino Sans W6" pitchFamily="34" charset="0"/>
                <a:ea typeface="Hiragino Sans W6" pitchFamily="34" charset="-122"/>
                <a:cs typeface="Hiragino Sans W6" pitchFamily="34" charset="-120"/>
              </a:rPr>
              <a:t>L2 日常パス</a:t>
            </a:r>
            <a:endParaRPr lang="en-US" sz="1500" dirty="0"/>
          </a:p>
        </p:txBody>
      </p:sp>
      <p:sp>
        <p:nvSpPr>
          <p:cNvPr id="17" name="Text 15"/>
          <p:cNvSpPr/>
          <p:nvPr/>
        </p:nvSpPr>
        <p:spPr>
          <a:xfrm>
            <a:off x="2852928" y="3657600"/>
            <a:ext cx="5486400" cy="105156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一時的な対処 → 繰り返し</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食べやすいメニューに変更。「これなら食べられる？」と聞く</a:t>
            </a:r>
            <a:endParaRPr lang="en-US" sz="1400" dirty="0"/>
          </a:p>
        </p:txBody>
      </p:sp>
      <p:sp>
        <p:nvSpPr>
          <p:cNvPr id="18" name="Text 16"/>
          <p:cNvSpPr/>
          <p:nvPr/>
        </p:nvSpPr>
        <p:spPr>
          <a:xfrm>
            <a:off x="8522208" y="3657600"/>
            <a:ext cx="457200" cy="1051560"/>
          </a:xfrm>
          <a:prstGeom prst="rect">
            <a:avLst/>
          </a:prstGeom>
          <a:noFill/>
          <a:ln/>
        </p:spPr>
        <p:txBody>
          <a:bodyPr wrap="square" lIns="0" tIns="0" rIns="0" bIns="0" rtlCol="0" anchor="ctr"/>
          <a:lstStyle/>
          <a:p>
            <a:pPr marL="0" indent="0" algn="ctr">
              <a:buNone/>
            </a:pPr>
            <a:r>
              <a:rPr lang="en-US" sz="2200" dirty="0">
                <a:solidFill>
                  <a:srgbClr val="4A90D9"/>
                </a:solidFill>
                <a:latin typeface="Hiragino Sans W6" pitchFamily="34" charset="0"/>
                <a:ea typeface="Hiragino Sans W6" pitchFamily="34" charset="-122"/>
                <a:cs typeface="Hiragino Sans W6" pitchFamily="34" charset="-120"/>
              </a:rPr>
              <a:t>→</a:t>
            </a:r>
            <a:endParaRPr lang="en-US" sz="2200" dirty="0"/>
          </a:p>
        </p:txBody>
      </p:sp>
      <p:sp>
        <p:nvSpPr>
          <p:cNvPr id="19" name="Text 17"/>
          <p:cNvSpPr/>
          <p:nvPr/>
        </p:nvSpPr>
        <p:spPr>
          <a:xfrm>
            <a:off x="9162288" y="3657600"/>
            <a:ext cx="4754880" cy="105156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その日は食べたが、翌日も同じ状況が続く。根本原因は未解決。</a:t>
            </a:r>
            <a:endParaRPr lang="en-US" sz="1400" dirty="0"/>
          </a:p>
        </p:txBody>
      </p:sp>
      <p:sp>
        <p:nvSpPr>
          <p:cNvPr id="20" name="Shape 18"/>
          <p:cNvSpPr/>
          <p:nvPr/>
        </p:nvSpPr>
        <p:spPr>
          <a:xfrm>
            <a:off x="566928" y="4937760"/>
            <a:ext cx="13496544"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1" name="Shape 19"/>
          <p:cNvSpPr/>
          <p:nvPr/>
        </p:nvSpPr>
        <p:spPr>
          <a:xfrm>
            <a:off x="566928" y="4937760"/>
            <a:ext cx="73152" cy="1234440"/>
          </a:xfrm>
          <a:prstGeom prst="rect">
            <a:avLst/>
          </a:prstGeom>
          <a:solidFill>
            <a:srgbClr val="F39C12"/>
          </a:solidFill>
          <a:ln/>
        </p:spPr>
        <p:txBody>
          <a:bodyPr/>
          <a:lstStyle/>
          <a:p>
            <a:endParaRPr lang="ja-JP" altLang="en-US"/>
          </a:p>
        </p:txBody>
      </p:sp>
      <p:sp>
        <p:nvSpPr>
          <p:cNvPr id="22" name="Shape 20"/>
          <p:cNvSpPr/>
          <p:nvPr/>
        </p:nvSpPr>
        <p:spPr>
          <a:xfrm>
            <a:off x="795528" y="5074920"/>
            <a:ext cx="1828800" cy="365760"/>
          </a:xfrm>
          <a:prstGeom prst="rect">
            <a:avLst/>
          </a:prstGeom>
          <a:solidFill>
            <a:srgbClr val="F39C12"/>
          </a:solidFill>
          <a:ln/>
        </p:spPr>
        <p:txBody>
          <a:bodyPr/>
          <a:lstStyle/>
          <a:p>
            <a:endParaRPr lang="ja-JP" altLang="en-US"/>
          </a:p>
        </p:txBody>
      </p:sp>
      <p:sp>
        <p:nvSpPr>
          <p:cNvPr id="23" name="Text 21"/>
          <p:cNvSpPr/>
          <p:nvPr/>
        </p:nvSpPr>
        <p:spPr>
          <a:xfrm>
            <a:off x="795528" y="5074920"/>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Hiragino Sans W6" pitchFamily="34" charset="0"/>
                <a:ea typeface="Hiragino Sans W6" pitchFamily="34" charset="-122"/>
                <a:cs typeface="Hiragino Sans W6" pitchFamily="34" charset="-120"/>
              </a:rPr>
              <a:t>L3 注意パス</a:t>
            </a:r>
            <a:endParaRPr lang="en-US" sz="1500" dirty="0"/>
          </a:p>
        </p:txBody>
      </p:sp>
      <p:sp>
        <p:nvSpPr>
          <p:cNvPr id="24" name="Text 22"/>
          <p:cNvSpPr/>
          <p:nvPr/>
        </p:nvSpPr>
        <p:spPr>
          <a:xfrm>
            <a:off x="2852928" y="5029200"/>
            <a:ext cx="5486400" cy="105156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決めつけ → 押し付け → 悪化</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「みんな食べてるよ」「ちゃんと食べなさい」と促す</a:t>
            </a:r>
            <a:endParaRPr lang="en-US" sz="1400" dirty="0"/>
          </a:p>
        </p:txBody>
      </p:sp>
      <p:sp>
        <p:nvSpPr>
          <p:cNvPr id="25" name="Text 23"/>
          <p:cNvSpPr/>
          <p:nvPr/>
        </p:nvSpPr>
        <p:spPr>
          <a:xfrm>
            <a:off x="8522208" y="5029200"/>
            <a:ext cx="457200" cy="1051560"/>
          </a:xfrm>
          <a:prstGeom prst="rect">
            <a:avLst/>
          </a:prstGeom>
          <a:noFill/>
          <a:ln/>
        </p:spPr>
        <p:txBody>
          <a:bodyPr wrap="square" lIns="0" tIns="0" rIns="0" bIns="0" rtlCol="0" anchor="ctr"/>
          <a:lstStyle/>
          <a:p>
            <a:pPr marL="0" indent="0" algn="ctr">
              <a:buNone/>
            </a:pPr>
            <a:r>
              <a:rPr lang="en-US" sz="2200" dirty="0">
                <a:solidFill>
                  <a:srgbClr val="F39C12"/>
                </a:solidFill>
                <a:latin typeface="Hiragino Sans W6" pitchFamily="34" charset="0"/>
                <a:ea typeface="Hiragino Sans W6" pitchFamily="34" charset="-122"/>
                <a:cs typeface="Hiragino Sans W6" pitchFamily="34" charset="-120"/>
              </a:rPr>
              <a:t>→</a:t>
            </a:r>
            <a:endParaRPr lang="en-US" sz="2200" dirty="0"/>
          </a:p>
        </p:txBody>
      </p:sp>
      <p:sp>
        <p:nvSpPr>
          <p:cNvPr id="26" name="Text 24"/>
          <p:cNvSpPr/>
          <p:nvPr/>
        </p:nvSpPr>
        <p:spPr>
          <a:xfrm>
            <a:off x="9162288" y="5029200"/>
            <a:ext cx="4754880" cy="105156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本人が萎縮。食事の時間が苦痛に。拒否がさらに悪化。</a:t>
            </a:r>
            <a:endParaRPr lang="en-US" sz="1400" dirty="0"/>
          </a:p>
        </p:txBody>
      </p:sp>
      <p:sp>
        <p:nvSpPr>
          <p:cNvPr id="27" name="Shape 25"/>
          <p:cNvSpPr/>
          <p:nvPr/>
        </p:nvSpPr>
        <p:spPr>
          <a:xfrm>
            <a:off x="566928" y="6309360"/>
            <a:ext cx="13496544"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8" name="Shape 26"/>
          <p:cNvSpPr/>
          <p:nvPr/>
        </p:nvSpPr>
        <p:spPr>
          <a:xfrm>
            <a:off x="566928" y="6309360"/>
            <a:ext cx="73152" cy="1234440"/>
          </a:xfrm>
          <a:prstGeom prst="rect">
            <a:avLst/>
          </a:prstGeom>
          <a:solidFill>
            <a:srgbClr val="C0392B"/>
          </a:solidFill>
          <a:ln/>
        </p:spPr>
        <p:txBody>
          <a:bodyPr/>
          <a:lstStyle/>
          <a:p>
            <a:endParaRPr lang="ja-JP" altLang="en-US"/>
          </a:p>
        </p:txBody>
      </p:sp>
      <p:sp>
        <p:nvSpPr>
          <p:cNvPr id="29" name="Shape 27"/>
          <p:cNvSpPr/>
          <p:nvPr/>
        </p:nvSpPr>
        <p:spPr>
          <a:xfrm>
            <a:off x="795528" y="6446520"/>
            <a:ext cx="1828800" cy="365760"/>
          </a:xfrm>
          <a:prstGeom prst="rect">
            <a:avLst/>
          </a:prstGeom>
          <a:solidFill>
            <a:srgbClr val="C0392B"/>
          </a:solidFill>
          <a:ln/>
        </p:spPr>
        <p:txBody>
          <a:bodyPr/>
          <a:lstStyle/>
          <a:p>
            <a:endParaRPr lang="ja-JP" altLang="en-US"/>
          </a:p>
        </p:txBody>
      </p:sp>
      <p:sp>
        <p:nvSpPr>
          <p:cNvPr id="30" name="Text 28"/>
          <p:cNvSpPr/>
          <p:nvPr/>
        </p:nvSpPr>
        <p:spPr>
          <a:xfrm>
            <a:off x="795528" y="6446520"/>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Hiragino Sans W6" pitchFamily="34" charset="0"/>
                <a:ea typeface="Hiragino Sans W6" pitchFamily="34" charset="-122"/>
                <a:cs typeface="Hiragino Sans W6" pitchFamily="34" charset="-120"/>
              </a:rPr>
              <a:t>L4 危険パス</a:t>
            </a:r>
            <a:endParaRPr lang="en-US" sz="1500" dirty="0"/>
          </a:p>
        </p:txBody>
      </p:sp>
      <p:sp>
        <p:nvSpPr>
          <p:cNvPr id="31" name="Text 29"/>
          <p:cNvSpPr/>
          <p:nvPr/>
        </p:nvSpPr>
        <p:spPr>
          <a:xfrm>
            <a:off x="2852928" y="6400800"/>
            <a:ext cx="5486400" cy="105156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強要 → 虐待 → 取り返しがつかない</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無理やり口に運ぶ。「食べないと片付けるよ」と脅す</a:t>
            </a:r>
            <a:endParaRPr lang="en-US" sz="1400" dirty="0"/>
          </a:p>
        </p:txBody>
      </p:sp>
      <p:sp>
        <p:nvSpPr>
          <p:cNvPr id="32" name="Text 30"/>
          <p:cNvSpPr/>
          <p:nvPr/>
        </p:nvSpPr>
        <p:spPr>
          <a:xfrm>
            <a:off x="8522208" y="6400800"/>
            <a:ext cx="457200" cy="1051560"/>
          </a:xfrm>
          <a:prstGeom prst="rect">
            <a:avLst/>
          </a:prstGeom>
          <a:noFill/>
          <a:ln/>
        </p:spPr>
        <p:txBody>
          <a:bodyPr wrap="square" lIns="0" tIns="0" rIns="0" bIns="0" rtlCol="0" anchor="ctr"/>
          <a:lstStyle/>
          <a:p>
            <a:pPr marL="0" indent="0" algn="ctr">
              <a:buNone/>
            </a:pPr>
            <a:r>
              <a:rPr lang="en-US" sz="2200" dirty="0">
                <a:solidFill>
                  <a:srgbClr val="C0392B"/>
                </a:solidFill>
                <a:latin typeface="Hiragino Sans W6" pitchFamily="34" charset="0"/>
                <a:ea typeface="Hiragino Sans W6" pitchFamily="34" charset="-122"/>
                <a:cs typeface="Hiragino Sans W6" pitchFamily="34" charset="-120"/>
              </a:rPr>
              <a:t>→</a:t>
            </a:r>
            <a:endParaRPr lang="en-US" sz="2200" dirty="0"/>
          </a:p>
        </p:txBody>
      </p:sp>
      <p:sp>
        <p:nvSpPr>
          <p:cNvPr id="33" name="Text 31"/>
          <p:cNvSpPr/>
          <p:nvPr/>
        </p:nvSpPr>
        <p:spPr>
          <a:xfrm>
            <a:off x="9162288" y="6400800"/>
            <a:ext cx="4754880" cy="105156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これは虐待。本人の尊厳を侵害。事故・事件に直結。</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自立支援マトリックス全体像 — 13段階 × 4層グリッド</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わかるじゃんメソッドの完全構造</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13の支援ステップと4つのパスレベルが交差する支援マップ</a:t>
            </a:r>
            <a:endParaRPr lang="en-US" sz="2000" dirty="0"/>
          </a:p>
        </p:txBody>
      </p:sp>
      <p:sp>
        <p:nvSpPr>
          <p:cNvPr id="6" name="Shape 4"/>
          <p:cNvSpPr/>
          <p:nvPr/>
        </p:nvSpPr>
        <p:spPr>
          <a:xfrm>
            <a:off x="1664208" y="2423160"/>
            <a:ext cx="932688" cy="457200"/>
          </a:xfrm>
          <a:prstGeom prst="rect">
            <a:avLst/>
          </a:prstGeom>
          <a:solidFill>
            <a:srgbClr val="484237"/>
          </a:solidFill>
          <a:ln/>
        </p:spPr>
        <p:txBody>
          <a:bodyPr/>
          <a:lstStyle/>
          <a:p>
            <a:endParaRPr lang="ja-JP" altLang="en-US"/>
          </a:p>
        </p:txBody>
      </p:sp>
      <p:sp>
        <p:nvSpPr>
          <p:cNvPr id="7" name="Text 5"/>
          <p:cNvSpPr/>
          <p:nvPr/>
        </p:nvSpPr>
        <p:spPr>
          <a:xfrm>
            <a:off x="1664208"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面</a:t>
            </a:r>
            <a:endParaRPr lang="en-US" sz="1200" dirty="0"/>
          </a:p>
        </p:txBody>
      </p:sp>
      <p:sp>
        <p:nvSpPr>
          <p:cNvPr id="8" name="Shape 6"/>
          <p:cNvSpPr/>
          <p:nvPr/>
        </p:nvSpPr>
        <p:spPr>
          <a:xfrm>
            <a:off x="2596896" y="2423160"/>
            <a:ext cx="932688" cy="457200"/>
          </a:xfrm>
          <a:prstGeom prst="rect">
            <a:avLst/>
          </a:prstGeom>
          <a:solidFill>
            <a:srgbClr val="484237"/>
          </a:solidFill>
          <a:ln/>
        </p:spPr>
        <p:txBody>
          <a:bodyPr/>
          <a:lstStyle/>
          <a:p>
            <a:endParaRPr lang="ja-JP" altLang="en-US"/>
          </a:p>
        </p:txBody>
      </p:sp>
      <p:sp>
        <p:nvSpPr>
          <p:cNvPr id="9" name="Text 7"/>
          <p:cNvSpPr/>
          <p:nvPr/>
        </p:nvSpPr>
        <p:spPr>
          <a:xfrm>
            <a:off x="2596896"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傾聴</a:t>
            </a:r>
            <a:endParaRPr lang="en-US" sz="1200" dirty="0"/>
          </a:p>
        </p:txBody>
      </p:sp>
      <p:sp>
        <p:nvSpPr>
          <p:cNvPr id="10" name="Shape 8"/>
          <p:cNvSpPr/>
          <p:nvPr/>
        </p:nvSpPr>
        <p:spPr>
          <a:xfrm>
            <a:off x="3529584" y="2423160"/>
            <a:ext cx="932688" cy="457200"/>
          </a:xfrm>
          <a:prstGeom prst="rect">
            <a:avLst/>
          </a:prstGeom>
          <a:solidFill>
            <a:srgbClr val="484237"/>
          </a:solidFill>
          <a:ln/>
        </p:spPr>
        <p:txBody>
          <a:bodyPr/>
          <a:lstStyle/>
          <a:p>
            <a:endParaRPr lang="ja-JP" altLang="en-US"/>
          </a:p>
        </p:txBody>
      </p:sp>
      <p:sp>
        <p:nvSpPr>
          <p:cNvPr id="11" name="Text 9"/>
          <p:cNvSpPr/>
          <p:nvPr/>
        </p:nvSpPr>
        <p:spPr>
          <a:xfrm>
            <a:off x="3529584"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選択</a:t>
            </a:r>
            <a:endParaRPr lang="en-US" sz="1200" dirty="0"/>
          </a:p>
        </p:txBody>
      </p:sp>
      <p:sp>
        <p:nvSpPr>
          <p:cNvPr id="12" name="Shape 10"/>
          <p:cNvSpPr/>
          <p:nvPr/>
        </p:nvSpPr>
        <p:spPr>
          <a:xfrm>
            <a:off x="4462272" y="2423160"/>
            <a:ext cx="932688" cy="457200"/>
          </a:xfrm>
          <a:prstGeom prst="rect">
            <a:avLst/>
          </a:prstGeom>
          <a:solidFill>
            <a:srgbClr val="484237"/>
          </a:solidFill>
          <a:ln/>
        </p:spPr>
        <p:txBody>
          <a:bodyPr/>
          <a:lstStyle/>
          <a:p>
            <a:endParaRPr lang="ja-JP" altLang="en-US"/>
          </a:p>
        </p:txBody>
      </p:sp>
      <p:sp>
        <p:nvSpPr>
          <p:cNvPr id="13" name="Text 11"/>
          <p:cNvSpPr/>
          <p:nvPr/>
        </p:nvSpPr>
        <p:spPr>
          <a:xfrm>
            <a:off x="4462272"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TM</a:t>
            </a:r>
            <a:endParaRPr lang="en-US" sz="1200" dirty="0"/>
          </a:p>
        </p:txBody>
      </p:sp>
      <p:sp>
        <p:nvSpPr>
          <p:cNvPr id="14" name="Shape 12"/>
          <p:cNvSpPr/>
          <p:nvPr/>
        </p:nvSpPr>
        <p:spPr>
          <a:xfrm>
            <a:off x="5394960" y="2423160"/>
            <a:ext cx="932688" cy="457200"/>
          </a:xfrm>
          <a:prstGeom prst="rect">
            <a:avLst/>
          </a:prstGeom>
          <a:solidFill>
            <a:srgbClr val="484237"/>
          </a:solidFill>
          <a:ln/>
        </p:spPr>
        <p:txBody>
          <a:bodyPr/>
          <a:lstStyle/>
          <a:p>
            <a:endParaRPr lang="ja-JP" altLang="en-US"/>
          </a:p>
        </p:txBody>
      </p:sp>
      <p:sp>
        <p:nvSpPr>
          <p:cNvPr id="15" name="Text 13"/>
          <p:cNvSpPr/>
          <p:nvPr/>
        </p:nvSpPr>
        <p:spPr>
          <a:xfrm>
            <a:off x="5394960"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なる</a:t>
            </a:r>
            <a:endParaRPr lang="en-US" sz="1200" dirty="0"/>
          </a:p>
        </p:txBody>
      </p:sp>
      <p:sp>
        <p:nvSpPr>
          <p:cNvPr id="16" name="Shape 14"/>
          <p:cNvSpPr/>
          <p:nvPr/>
        </p:nvSpPr>
        <p:spPr>
          <a:xfrm>
            <a:off x="6327648" y="2423160"/>
            <a:ext cx="932688" cy="457200"/>
          </a:xfrm>
          <a:prstGeom prst="rect">
            <a:avLst/>
          </a:prstGeom>
          <a:solidFill>
            <a:srgbClr val="484237"/>
          </a:solidFill>
          <a:ln/>
        </p:spPr>
        <p:txBody>
          <a:bodyPr/>
          <a:lstStyle/>
          <a:p>
            <a:endParaRPr lang="ja-JP" altLang="en-US"/>
          </a:p>
        </p:txBody>
      </p:sp>
      <p:sp>
        <p:nvSpPr>
          <p:cNvPr id="17" name="Text 15"/>
          <p:cNvSpPr/>
          <p:nvPr/>
        </p:nvSpPr>
        <p:spPr>
          <a:xfrm>
            <a:off x="6327648"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なぜ</a:t>
            </a:r>
            <a:endParaRPr lang="en-US" sz="1200" dirty="0"/>
          </a:p>
        </p:txBody>
      </p:sp>
      <p:sp>
        <p:nvSpPr>
          <p:cNvPr id="18" name="Shape 16"/>
          <p:cNvSpPr/>
          <p:nvPr/>
        </p:nvSpPr>
        <p:spPr>
          <a:xfrm>
            <a:off x="7260336" y="2423160"/>
            <a:ext cx="932688" cy="457200"/>
          </a:xfrm>
          <a:prstGeom prst="rect">
            <a:avLst/>
          </a:prstGeom>
          <a:solidFill>
            <a:srgbClr val="484237"/>
          </a:solidFill>
          <a:ln/>
        </p:spPr>
        <p:txBody>
          <a:bodyPr/>
          <a:lstStyle/>
          <a:p>
            <a:endParaRPr lang="ja-JP" altLang="en-US"/>
          </a:p>
        </p:txBody>
      </p:sp>
      <p:sp>
        <p:nvSpPr>
          <p:cNvPr id="19" name="Text 17"/>
          <p:cNvSpPr/>
          <p:nvPr/>
        </p:nvSpPr>
        <p:spPr>
          <a:xfrm>
            <a:off x="7260336"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でき</a:t>
            </a:r>
            <a:endParaRPr lang="en-US" sz="1200" dirty="0"/>
          </a:p>
        </p:txBody>
      </p:sp>
      <p:sp>
        <p:nvSpPr>
          <p:cNvPr id="20" name="Shape 18"/>
          <p:cNvSpPr/>
          <p:nvPr/>
        </p:nvSpPr>
        <p:spPr>
          <a:xfrm>
            <a:off x="8193024" y="2423160"/>
            <a:ext cx="932688" cy="457200"/>
          </a:xfrm>
          <a:prstGeom prst="rect">
            <a:avLst/>
          </a:prstGeom>
          <a:solidFill>
            <a:srgbClr val="484237"/>
          </a:solidFill>
          <a:ln/>
        </p:spPr>
        <p:txBody>
          <a:bodyPr/>
          <a:lstStyle/>
          <a:p>
            <a:endParaRPr lang="ja-JP" altLang="en-US"/>
          </a:p>
        </p:txBody>
      </p:sp>
      <p:sp>
        <p:nvSpPr>
          <p:cNvPr id="21" name="Text 19"/>
          <p:cNvSpPr/>
          <p:nvPr/>
        </p:nvSpPr>
        <p:spPr>
          <a:xfrm>
            <a:off x="8193024"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参画</a:t>
            </a:r>
            <a:endParaRPr lang="en-US" sz="1200" dirty="0"/>
          </a:p>
        </p:txBody>
      </p:sp>
      <p:sp>
        <p:nvSpPr>
          <p:cNvPr id="22" name="Shape 20"/>
          <p:cNvSpPr/>
          <p:nvPr/>
        </p:nvSpPr>
        <p:spPr>
          <a:xfrm>
            <a:off x="9125712" y="2423160"/>
            <a:ext cx="932688" cy="457200"/>
          </a:xfrm>
          <a:prstGeom prst="rect">
            <a:avLst/>
          </a:prstGeom>
          <a:solidFill>
            <a:srgbClr val="484237"/>
          </a:solidFill>
          <a:ln/>
        </p:spPr>
        <p:txBody>
          <a:bodyPr/>
          <a:lstStyle/>
          <a:p>
            <a:endParaRPr lang="ja-JP" altLang="en-US"/>
          </a:p>
        </p:txBody>
      </p:sp>
      <p:sp>
        <p:nvSpPr>
          <p:cNvPr id="23" name="Text 21"/>
          <p:cNvSpPr/>
          <p:nvPr/>
        </p:nvSpPr>
        <p:spPr>
          <a:xfrm>
            <a:off x="9125712"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達成</a:t>
            </a:r>
            <a:endParaRPr lang="en-US" sz="1200" dirty="0"/>
          </a:p>
        </p:txBody>
      </p:sp>
      <p:sp>
        <p:nvSpPr>
          <p:cNvPr id="24" name="Shape 22"/>
          <p:cNvSpPr/>
          <p:nvPr/>
        </p:nvSpPr>
        <p:spPr>
          <a:xfrm>
            <a:off x="10058400" y="2423160"/>
            <a:ext cx="932688" cy="457200"/>
          </a:xfrm>
          <a:prstGeom prst="rect">
            <a:avLst/>
          </a:prstGeom>
          <a:solidFill>
            <a:srgbClr val="484237"/>
          </a:solidFill>
          <a:ln/>
        </p:spPr>
        <p:txBody>
          <a:bodyPr/>
          <a:lstStyle/>
          <a:p>
            <a:endParaRPr lang="ja-JP" altLang="en-US"/>
          </a:p>
        </p:txBody>
      </p:sp>
      <p:sp>
        <p:nvSpPr>
          <p:cNvPr id="25" name="Text 23"/>
          <p:cNvSpPr/>
          <p:nvPr/>
        </p:nvSpPr>
        <p:spPr>
          <a:xfrm>
            <a:off x="10058400"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定着</a:t>
            </a:r>
            <a:endParaRPr lang="en-US" sz="1200" dirty="0"/>
          </a:p>
        </p:txBody>
      </p:sp>
      <p:sp>
        <p:nvSpPr>
          <p:cNvPr id="26" name="Shape 24"/>
          <p:cNvSpPr/>
          <p:nvPr/>
        </p:nvSpPr>
        <p:spPr>
          <a:xfrm>
            <a:off x="10991088" y="2423160"/>
            <a:ext cx="932688" cy="457200"/>
          </a:xfrm>
          <a:prstGeom prst="rect">
            <a:avLst/>
          </a:prstGeom>
          <a:solidFill>
            <a:srgbClr val="484237"/>
          </a:solidFill>
          <a:ln/>
        </p:spPr>
        <p:txBody>
          <a:bodyPr/>
          <a:lstStyle/>
          <a:p>
            <a:endParaRPr lang="ja-JP" altLang="en-US"/>
          </a:p>
        </p:txBody>
      </p:sp>
      <p:sp>
        <p:nvSpPr>
          <p:cNvPr id="27" name="Text 25"/>
          <p:cNvSpPr/>
          <p:nvPr/>
        </p:nvSpPr>
        <p:spPr>
          <a:xfrm>
            <a:off x="10991088"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自立度</a:t>
            </a:r>
            <a:endParaRPr lang="en-US" sz="1200" dirty="0"/>
          </a:p>
        </p:txBody>
      </p:sp>
      <p:sp>
        <p:nvSpPr>
          <p:cNvPr id="28" name="Shape 26"/>
          <p:cNvSpPr/>
          <p:nvPr/>
        </p:nvSpPr>
        <p:spPr>
          <a:xfrm>
            <a:off x="11923776" y="2423160"/>
            <a:ext cx="932688" cy="457200"/>
          </a:xfrm>
          <a:prstGeom prst="rect">
            <a:avLst/>
          </a:prstGeom>
          <a:solidFill>
            <a:srgbClr val="484237"/>
          </a:solidFill>
          <a:ln/>
        </p:spPr>
        <p:txBody>
          <a:bodyPr/>
          <a:lstStyle/>
          <a:p>
            <a:endParaRPr lang="ja-JP" altLang="en-US"/>
          </a:p>
        </p:txBody>
      </p:sp>
      <p:sp>
        <p:nvSpPr>
          <p:cNvPr id="29" name="Text 27"/>
          <p:cNvSpPr/>
          <p:nvPr/>
        </p:nvSpPr>
        <p:spPr>
          <a:xfrm>
            <a:off x="11923776"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共生</a:t>
            </a:r>
            <a:endParaRPr lang="en-US" sz="1200" dirty="0"/>
          </a:p>
        </p:txBody>
      </p:sp>
      <p:sp>
        <p:nvSpPr>
          <p:cNvPr id="30" name="Shape 28"/>
          <p:cNvSpPr/>
          <p:nvPr/>
        </p:nvSpPr>
        <p:spPr>
          <a:xfrm>
            <a:off x="12856464" y="2423160"/>
            <a:ext cx="932688" cy="457200"/>
          </a:xfrm>
          <a:prstGeom prst="rect">
            <a:avLst/>
          </a:prstGeom>
          <a:solidFill>
            <a:srgbClr val="484237"/>
          </a:solidFill>
          <a:ln/>
        </p:spPr>
        <p:txBody>
          <a:bodyPr/>
          <a:lstStyle/>
          <a:p>
            <a:endParaRPr lang="ja-JP" altLang="en-US"/>
          </a:p>
        </p:txBody>
      </p:sp>
      <p:sp>
        <p:nvSpPr>
          <p:cNvPr id="31" name="Text 29"/>
          <p:cNvSpPr/>
          <p:nvPr/>
        </p:nvSpPr>
        <p:spPr>
          <a:xfrm>
            <a:off x="12856464" y="2423160"/>
            <a:ext cx="932688"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未来</a:t>
            </a:r>
            <a:endParaRPr lang="en-US" sz="1200" dirty="0"/>
          </a:p>
        </p:txBody>
      </p:sp>
      <p:sp>
        <p:nvSpPr>
          <p:cNvPr id="32" name="Shape 30"/>
          <p:cNvSpPr/>
          <p:nvPr/>
        </p:nvSpPr>
        <p:spPr>
          <a:xfrm>
            <a:off x="566928" y="2880360"/>
            <a:ext cx="1051560" cy="658368"/>
          </a:xfrm>
          <a:prstGeom prst="rect">
            <a:avLst/>
          </a:prstGeom>
          <a:solidFill>
            <a:srgbClr val="27AE60"/>
          </a:solidFill>
          <a:ln/>
        </p:spPr>
        <p:txBody>
          <a:bodyPr/>
          <a:lstStyle/>
          <a:p>
            <a:endParaRPr lang="ja-JP" altLang="en-US"/>
          </a:p>
        </p:txBody>
      </p:sp>
      <p:sp>
        <p:nvSpPr>
          <p:cNvPr id="33" name="Text 31"/>
          <p:cNvSpPr/>
          <p:nvPr/>
        </p:nvSpPr>
        <p:spPr>
          <a:xfrm>
            <a:off x="566928" y="2880360"/>
            <a:ext cx="1051560"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L1 理想</a:t>
            </a:r>
            <a:endParaRPr lang="en-US" sz="1200" dirty="0"/>
          </a:p>
        </p:txBody>
      </p:sp>
      <p:sp>
        <p:nvSpPr>
          <p:cNvPr id="34" name="Shape 32"/>
          <p:cNvSpPr/>
          <p:nvPr/>
        </p:nvSpPr>
        <p:spPr>
          <a:xfrm>
            <a:off x="1664208"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35" name="Text 33"/>
          <p:cNvSpPr/>
          <p:nvPr/>
        </p:nvSpPr>
        <p:spPr>
          <a:xfrm>
            <a:off x="1664208"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アスキング</a:t>
            </a:r>
            <a:endParaRPr lang="en-US" sz="1200" dirty="0"/>
          </a:p>
        </p:txBody>
      </p:sp>
      <p:sp>
        <p:nvSpPr>
          <p:cNvPr id="36" name="Shape 34"/>
          <p:cNvSpPr/>
          <p:nvPr/>
        </p:nvSpPr>
        <p:spPr>
          <a:xfrm>
            <a:off x="2596896"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37" name="Text 35"/>
          <p:cNvSpPr/>
          <p:nvPr/>
        </p:nvSpPr>
        <p:spPr>
          <a:xfrm>
            <a:off x="2596896"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オープンD</a:t>
            </a:r>
            <a:endParaRPr lang="en-US" sz="1200" dirty="0"/>
          </a:p>
        </p:txBody>
      </p:sp>
      <p:sp>
        <p:nvSpPr>
          <p:cNvPr id="38" name="Shape 36"/>
          <p:cNvSpPr/>
          <p:nvPr/>
        </p:nvSpPr>
        <p:spPr>
          <a:xfrm>
            <a:off x="3529584"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39" name="Text 37"/>
          <p:cNvSpPr/>
          <p:nvPr/>
        </p:nvSpPr>
        <p:spPr>
          <a:xfrm>
            <a:off x="3529584"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チームP</a:t>
            </a:r>
            <a:endParaRPr lang="en-US" sz="1200" dirty="0"/>
          </a:p>
        </p:txBody>
      </p:sp>
      <p:sp>
        <p:nvSpPr>
          <p:cNvPr id="40" name="Shape 38"/>
          <p:cNvSpPr/>
          <p:nvPr/>
        </p:nvSpPr>
        <p:spPr>
          <a:xfrm>
            <a:off x="4462272"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41" name="Text 39"/>
          <p:cNvSpPr/>
          <p:nvPr/>
        </p:nvSpPr>
        <p:spPr>
          <a:xfrm>
            <a:off x="4462272"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学ぶ</a:t>
            </a:r>
            <a:endParaRPr lang="en-US" sz="1200" dirty="0"/>
          </a:p>
        </p:txBody>
      </p:sp>
      <p:sp>
        <p:nvSpPr>
          <p:cNvPr id="42" name="Shape 40"/>
          <p:cNvSpPr/>
          <p:nvPr/>
        </p:nvSpPr>
        <p:spPr>
          <a:xfrm>
            <a:off x="5394960"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43" name="Text 41"/>
          <p:cNvSpPr/>
          <p:nvPr/>
        </p:nvSpPr>
        <p:spPr>
          <a:xfrm>
            <a:off x="5394960"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気づき</a:t>
            </a:r>
            <a:endParaRPr lang="en-US" sz="1200" dirty="0"/>
          </a:p>
        </p:txBody>
      </p:sp>
      <p:sp>
        <p:nvSpPr>
          <p:cNvPr id="44" name="Shape 42"/>
          <p:cNvSpPr/>
          <p:nvPr/>
        </p:nvSpPr>
        <p:spPr>
          <a:xfrm>
            <a:off x="6327648"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45" name="Text 43"/>
          <p:cNvSpPr/>
          <p:nvPr/>
        </p:nvSpPr>
        <p:spPr>
          <a:xfrm>
            <a:off x="6327648"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仮説検証</a:t>
            </a:r>
            <a:endParaRPr lang="en-US" sz="1200" dirty="0"/>
          </a:p>
        </p:txBody>
      </p:sp>
      <p:sp>
        <p:nvSpPr>
          <p:cNvPr id="46" name="Shape 44"/>
          <p:cNvSpPr/>
          <p:nvPr/>
        </p:nvSpPr>
        <p:spPr>
          <a:xfrm>
            <a:off x="7260336"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47" name="Text 45"/>
          <p:cNvSpPr/>
          <p:nvPr/>
        </p:nvSpPr>
        <p:spPr>
          <a:xfrm>
            <a:off x="7260336"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可能性</a:t>
            </a:r>
            <a:endParaRPr lang="en-US" sz="1200" dirty="0"/>
          </a:p>
        </p:txBody>
      </p:sp>
      <p:sp>
        <p:nvSpPr>
          <p:cNvPr id="48" name="Shape 46"/>
          <p:cNvSpPr/>
          <p:nvPr/>
        </p:nvSpPr>
        <p:spPr>
          <a:xfrm>
            <a:off x="8193024"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49" name="Text 47"/>
          <p:cNvSpPr/>
          <p:nvPr/>
        </p:nvSpPr>
        <p:spPr>
          <a:xfrm>
            <a:off x="8193024"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好奇心</a:t>
            </a:r>
            <a:endParaRPr lang="en-US" sz="1200" dirty="0"/>
          </a:p>
        </p:txBody>
      </p:sp>
      <p:sp>
        <p:nvSpPr>
          <p:cNvPr id="50" name="Shape 48"/>
          <p:cNvSpPr/>
          <p:nvPr/>
        </p:nvSpPr>
        <p:spPr>
          <a:xfrm>
            <a:off x="9125712"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51" name="Text 49"/>
          <p:cNvSpPr/>
          <p:nvPr/>
        </p:nvSpPr>
        <p:spPr>
          <a:xfrm>
            <a:off x="9125712"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肯定支援</a:t>
            </a:r>
            <a:endParaRPr lang="en-US" sz="1200" dirty="0"/>
          </a:p>
        </p:txBody>
      </p:sp>
      <p:sp>
        <p:nvSpPr>
          <p:cNvPr id="52" name="Shape 50"/>
          <p:cNvSpPr/>
          <p:nvPr/>
        </p:nvSpPr>
        <p:spPr>
          <a:xfrm>
            <a:off x="10058400"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53" name="Text 51"/>
          <p:cNvSpPr/>
          <p:nvPr/>
        </p:nvSpPr>
        <p:spPr>
          <a:xfrm>
            <a:off x="10058400"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反復</a:t>
            </a:r>
            <a:endParaRPr lang="en-US" sz="1200" dirty="0"/>
          </a:p>
        </p:txBody>
      </p:sp>
      <p:sp>
        <p:nvSpPr>
          <p:cNvPr id="54" name="Shape 52"/>
          <p:cNvSpPr/>
          <p:nvPr/>
        </p:nvSpPr>
        <p:spPr>
          <a:xfrm>
            <a:off x="10991088"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55" name="Text 53"/>
          <p:cNvSpPr/>
          <p:nvPr/>
        </p:nvSpPr>
        <p:spPr>
          <a:xfrm>
            <a:off x="10991088"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継続</a:t>
            </a:r>
            <a:endParaRPr lang="en-US" sz="1200" dirty="0"/>
          </a:p>
        </p:txBody>
      </p:sp>
      <p:sp>
        <p:nvSpPr>
          <p:cNvPr id="56" name="Shape 54"/>
          <p:cNvSpPr/>
          <p:nvPr/>
        </p:nvSpPr>
        <p:spPr>
          <a:xfrm>
            <a:off x="11923776"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57" name="Text 55"/>
          <p:cNvSpPr/>
          <p:nvPr/>
        </p:nvSpPr>
        <p:spPr>
          <a:xfrm>
            <a:off x="11923776"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就労</a:t>
            </a:r>
            <a:endParaRPr lang="en-US" sz="1200" dirty="0"/>
          </a:p>
        </p:txBody>
      </p:sp>
      <p:sp>
        <p:nvSpPr>
          <p:cNvPr id="58" name="Shape 56"/>
          <p:cNvSpPr/>
          <p:nvPr/>
        </p:nvSpPr>
        <p:spPr>
          <a:xfrm>
            <a:off x="12856464" y="2880360"/>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59" name="Text 57"/>
          <p:cNvSpPr/>
          <p:nvPr/>
        </p:nvSpPr>
        <p:spPr>
          <a:xfrm>
            <a:off x="12856464" y="2880360"/>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自立</a:t>
            </a:r>
            <a:endParaRPr lang="en-US" sz="1200" dirty="0"/>
          </a:p>
        </p:txBody>
      </p:sp>
      <p:sp>
        <p:nvSpPr>
          <p:cNvPr id="60" name="Shape 58"/>
          <p:cNvSpPr/>
          <p:nvPr/>
        </p:nvSpPr>
        <p:spPr>
          <a:xfrm>
            <a:off x="566928" y="3538728"/>
            <a:ext cx="1051560" cy="658368"/>
          </a:xfrm>
          <a:prstGeom prst="rect">
            <a:avLst/>
          </a:prstGeom>
          <a:solidFill>
            <a:srgbClr val="4A90D9"/>
          </a:solidFill>
          <a:ln/>
        </p:spPr>
        <p:txBody>
          <a:bodyPr/>
          <a:lstStyle/>
          <a:p>
            <a:endParaRPr lang="ja-JP" altLang="en-US"/>
          </a:p>
        </p:txBody>
      </p:sp>
      <p:sp>
        <p:nvSpPr>
          <p:cNvPr id="61" name="Text 59"/>
          <p:cNvSpPr/>
          <p:nvPr/>
        </p:nvSpPr>
        <p:spPr>
          <a:xfrm>
            <a:off x="566928" y="3538728"/>
            <a:ext cx="1051560"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L2 日常</a:t>
            </a:r>
            <a:endParaRPr lang="en-US" sz="1200" dirty="0"/>
          </a:p>
        </p:txBody>
      </p:sp>
      <p:sp>
        <p:nvSpPr>
          <p:cNvPr id="62" name="Shape 60"/>
          <p:cNvSpPr/>
          <p:nvPr/>
        </p:nvSpPr>
        <p:spPr>
          <a:xfrm>
            <a:off x="1664208" y="3538728"/>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63" name="Text 61"/>
          <p:cNvSpPr/>
          <p:nvPr/>
        </p:nvSpPr>
        <p:spPr>
          <a:xfrm>
            <a:off x="1664208" y="3538728"/>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優先順位</a:t>
            </a:r>
            <a:endParaRPr lang="en-US" sz="1200" dirty="0"/>
          </a:p>
        </p:txBody>
      </p:sp>
      <p:sp>
        <p:nvSpPr>
          <p:cNvPr id="64" name="Shape 62"/>
          <p:cNvSpPr/>
          <p:nvPr/>
        </p:nvSpPr>
        <p:spPr>
          <a:xfrm>
            <a:off x="2596896" y="3538728"/>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65" name="Text 63"/>
          <p:cNvSpPr/>
          <p:nvPr/>
        </p:nvSpPr>
        <p:spPr>
          <a:xfrm>
            <a:off x="2596896" y="3538728"/>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報連相</a:t>
            </a:r>
            <a:endParaRPr lang="en-US" sz="1200" dirty="0"/>
          </a:p>
        </p:txBody>
      </p:sp>
      <p:sp>
        <p:nvSpPr>
          <p:cNvPr id="66" name="Shape 64"/>
          <p:cNvSpPr/>
          <p:nvPr/>
        </p:nvSpPr>
        <p:spPr>
          <a:xfrm>
            <a:off x="3529584" y="3538728"/>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67" name="Text 65"/>
          <p:cNvSpPr/>
          <p:nvPr/>
        </p:nvSpPr>
        <p:spPr>
          <a:xfrm>
            <a:off x="3529584" y="3538728"/>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やるっき</a:t>
            </a:r>
            <a:endParaRPr lang="en-US" sz="1200" dirty="0"/>
          </a:p>
        </p:txBody>
      </p:sp>
      <p:sp>
        <p:nvSpPr>
          <p:cNvPr id="68" name="Shape 66"/>
          <p:cNvSpPr/>
          <p:nvPr/>
        </p:nvSpPr>
        <p:spPr>
          <a:xfrm>
            <a:off x="4462272" y="3538728"/>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69" name="Shape 67"/>
          <p:cNvSpPr/>
          <p:nvPr/>
        </p:nvSpPr>
        <p:spPr>
          <a:xfrm>
            <a:off x="5394960" y="3538728"/>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70" name="Shape 68"/>
          <p:cNvSpPr/>
          <p:nvPr/>
        </p:nvSpPr>
        <p:spPr>
          <a:xfrm>
            <a:off x="6327648" y="3538728"/>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71" name="Shape 69"/>
          <p:cNvSpPr/>
          <p:nvPr/>
        </p:nvSpPr>
        <p:spPr>
          <a:xfrm>
            <a:off x="7260336" y="3538728"/>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72" name="Shape 70"/>
          <p:cNvSpPr/>
          <p:nvPr/>
        </p:nvSpPr>
        <p:spPr>
          <a:xfrm>
            <a:off x="8193024" y="3538728"/>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73" name="Shape 71"/>
          <p:cNvSpPr/>
          <p:nvPr/>
        </p:nvSpPr>
        <p:spPr>
          <a:xfrm>
            <a:off x="9125712" y="3538728"/>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74" name="Shape 72"/>
          <p:cNvSpPr/>
          <p:nvPr/>
        </p:nvSpPr>
        <p:spPr>
          <a:xfrm>
            <a:off x="10058400" y="3538728"/>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75" name="Shape 73"/>
          <p:cNvSpPr/>
          <p:nvPr/>
        </p:nvSpPr>
        <p:spPr>
          <a:xfrm>
            <a:off x="10991088" y="3538728"/>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76" name="Shape 74"/>
          <p:cNvSpPr/>
          <p:nvPr/>
        </p:nvSpPr>
        <p:spPr>
          <a:xfrm>
            <a:off x="11923776" y="3538728"/>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77" name="Shape 75"/>
          <p:cNvSpPr/>
          <p:nvPr/>
        </p:nvSpPr>
        <p:spPr>
          <a:xfrm>
            <a:off x="12856464" y="3538728"/>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78" name="Shape 76"/>
          <p:cNvSpPr/>
          <p:nvPr/>
        </p:nvSpPr>
        <p:spPr>
          <a:xfrm>
            <a:off x="566928" y="4197096"/>
            <a:ext cx="1051560" cy="658368"/>
          </a:xfrm>
          <a:prstGeom prst="rect">
            <a:avLst/>
          </a:prstGeom>
          <a:solidFill>
            <a:srgbClr val="F39C12"/>
          </a:solidFill>
          <a:ln/>
        </p:spPr>
        <p:txBody>
          <a:bodyPr/>
          <a:lstStyle/>
          <a:p>
            <a:endParaRPr lang="ja-JP" altLang="en-US"/>
          </a:p>
        </p:txBody>
      </p:sp>
      <p:sp>
        <p:nvSpPr>
          <p:cNvPr id="79" name="Text 77"/>
          <p:cNvSpPr/>
          <p:nvPr/>
        </p:nvSpPr>
        <p:spPr>
          <a:xfrm>
            <a:off x="566928" y="4197096"/>
            <a:ext cx="1051560"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L3 注意</a:t>
            </a:r>
            <a:endParaRPr lang="en-US" sz="1200" dirty="0"/>
          </a:p>
        </p:txBody>
      </p:sp>
      <p:sp>
        <p:nvSpPr>
          <p:cNvPr id="80" name="Shape 78"/>
          <p:cNvSpPr/>
          <p:nvPr/>
        </p:nvSpPr>
        <p:spPr>
          <a:xfrm>
            <a:off x="1664208" y="4197096"/>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81" name="Text 79"/>
          <p:cNvSpPr/>
          <p:nvPr/>
        </p:nvSpPr>
        <p:spPr>
          <a:xfrm>
            <a:off x="1664208" y="4197096"/>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後回し</a:t>
            </a:r>
            <a:endParaRPr lang="en-US" sz="1200" dirty="0"/>
          </a:p>
        </p:txBody>
      </p:sp>
      <p:sp>
        <p:nvSpPr>
          <p:cNvPr id="82" name="Shape 80"/>
          <p:cNvSpPr/>
          <p:nvPr/>
        </p:nvSpPr>
        <p:spPr>
          <a:xfrm>
            <a:off x="2596896" y="4197096"/>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83" name="Text 81"/>
          <p:cNvSpPr/>
          <p:nvPr/>
        </p:nvSpPr>
        <p:spPr>
          <a:xfrm>
            <a:off x="2596896" y="4197096"/>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頑固</a:t>
            </a:r>
            <a:endParaRPr lang="en-US" sz="1200" dirty="0"/>
          </a:p>
        </p:txBody>
      </p:sp>
      <p:sp>
        <p:nvSpPr>
          <p:cNvPr id="84" name="Shape 82"/>
          <p:cNvSpPr/>
          <p:nvPr/>
        </p:nvSpPr>
        <p:spPr>
          <a:xfrm>
            <a:off x="3529584" y="4197096"/>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85" name="Text 83"/>
          <p:cNvSpPr/>
          <p:nvPr/>
        </p:nvSpPr>
        <p:spPr>
          <a:xfrm>
            <a:off x="3529584" y="4197096"/>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ジコチュー</a:t>
            </a:r>
            <a:endParaRPr lang="en-US" sz="1200" dirty="0"/>
          </a:p>
        </p:txBody>
      </p:sp>
      <p:sp>
        <p:nvSpPr>
          <p:cNvPr id="86" name="Shape 84"/>
          <p:cNvSpPr/>
          <p:nvPr/>
        </p:nvSpPr>
        <p:spPr>
          <a:xfrm>
            <a:off x="4462272" y="4197096"/>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87" name="Text 85"/>
          <p:cNvSpPr/>
          <p:nvPr/>
        </p:nvSpPr>
        <p:spPr>
          <a:xfrm>
            <a:off x="4462272" y="4197096"/>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我流</a:t>
            </a:r>
            <a:endParaRPr lang="en-US" sz="1200" dirty="0"/>
          </a:p>
        </p:txBody>
      </p:sp>
      <p:sp>
        <p:nvSpPr>
          <p:cNvPr id="88" name="Shape 86"/>
          <p:cNvSpPr/>
          <p:nvPr/>
        </p:nvSpPr>
        <p:spPr>
          <a:xfrm>
            <a:off x="5394960" y="4197096"/>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89" name="Text 87"/>
          <p:cNvSpPr/>
          <p:nvPr/>
        </p:nvSpPr>
        <p:spPr>
          <a:xfrm>
            <a:off x="5394960" y="4197096"/>
            <a:ext cx="932688" cy="658368"/>
          </a:xfrm>
          <a:prstGeom prst="rect">
            <a:avLst/>
          </a:prstGeom>
          <a:noFill/>
          <a:ln/>
        </p:spPr>
        <p:txBody>
          <a:bodyPr wrap="square" lIns="0" tIns="0" rIns="0" bIns="0" rtlCol="0" anchor="ctr"/>
          <a:lstStyle/>
          <a:p>
            <a:pPr marL="0" indent="0" algn="ctr">
              <a:buNone/>
            </a:pPr>
            <a:r>
              <a:rPr lang="en-US" sz="1200" dirty="0">
                <a:solidFill>
                  <a:srgbClr val="4A4A45"/>
                </a:solidFill>
                <a:latin typeface="Hiragino Sans W3" pitchFamily="34" charset="0"/>
                <a:ea typeface="Hiragino Sans W3" pitchFamily="34" charset="-122"/>
                <a:cs typeface="Hiragino Sans W3" pitchFamily="34" charset="-120"/>
              </a:rPr>
              <a:t>迷走</a:t>
            </a:r>
            <a:endParaRPr lang="en-US" sz="1200" dirty="0"/>
          </a:p>
        </p:txBody>
      </p:sp>
      <p:sp>
        <p:nvSpPr>
          <p:cNvPr id="90" name="Shape 88"/>
          <p:cNvSpPr/>
          <p:nvPr/>
        </p:nvSpPr>
        <p:spPr>
          <a:xfrm>
            <a:off x="6327648" y="4197096"/>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91" name="Shape 89"/>
          <p:cNvSpPr/>
          <p:nvPr/>
        </p:nvSpPr>
        <p:spPr>
          <a:xfrm>
            <a:off x="7260336" y="4197096"/>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92" name="Shape 90"/>
          <p:cNvSpPr/>
          <p:nvPr/>
        </p:nvSpPr>
        <p:spPr>
          <a:xfrm>
            <a:off x="8193024" y="4197096"/>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93" name="Shape 91"/>
          <p:cNvSpPr/>
          <p:nvPr/>
        </p:nvSpPr>
        <p:spPr>
          <a:xfrm>
            <a:off x="9125712" y="4197096"/>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94" name="Shape 92"/>
          <p:cNvSpPr/>
          <p:nvPr/>
        </p:nvSpPr>
        <p:spPr>
          <a:xfrm>
            <a:off x="10058400" y="4197096"/>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95" name="Shape 93"/>
          <p:cNvSpPr/>
          <p:nvPr/>
        </p:nvSpPr>
        <p:spPr>
          <a:xfrm>
            <a:off x="10991088" y="4197096"/>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96" name="Shape 94"/>
          <p:cNvSpPr/>
          <p:nvPr/>
        </p:nvSpPr>
        <p:spPr>
          <a:xfrm>
            <a:off x="11923776" y="4197096"/>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97" name="Shape 95"/>
          <p:cNvSpPr/>
          <p:nvPr/>
        </p:nvSpPr>
        <p:spPr>
          <a:xfrm>
            <a:off x="12856464" y="4197096"/>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98" name="Shape 96"/>
          <p:cNvSpPr/>
          <p:nvPr/>
        </p:nvSpPr>
        <p:spPr>
          <a:xfrm>
            <a:off x="566928" y="4855464"/>
            <a:ext cx="1051560" cy="658368"/>
          </a:xfrm>
          <a:prstGeom prst="rect">
            <a:avLst/>
          </a:prstGeom>
          <a:solidFill>
            <a:srgbClr val="C0392B"/>
          </a:solidFill>
          <a:ln/>
        </p:spPr>
        <p:txBody>
          <a:bodyPr/>
          <a:lstStyle/>
          <a:p>
            <a:endParaRPr lang="ja-JP" altLang="en-US"/>
          </a:p>
        </p:txBody>
      </p:sp>
      <p:sp>
        <p:nvSpPr>
          <p:cNvPr id="99" name="Text 97"/>
          <p:cNvSpPr/>
          <p:nvPr/>
        </p:nvSpPr>
        <p:spPr>
          <a:xfrm>
            <a:off x="566928" y="4855464"/>
            <a:ext cx="1051560"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Hiragino Sans W6" pitchFamily="34" charset="0"/>
                <a:ea typeface="Hiragino Sans W6" pitchFamily="34" charset="-122"/>
                <a:cs typeface="Hiragino Sans W6" pitchFamily="34" charset="-120"/>
              </a:rPr>
              <a:t>L4 危険</a:t>
            </a:r>
            <a:endParaRPr lang="en-US" sz="1200" dirty="0"/>
          </a:p>
        </p:txBody>
      </p:sp>
      <p:sp>
        <p:nvSpPr>
          <p:cNvPr id="100" name="Shape 98"/>
          <p:cNvSpPr/>
          <p:nvPr/>
        </p:nvSpPr>
        <p:spPr>
          <a:xfrm>
            <a:off x="1664208" y="4855464"/>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101" name="Text 99"/>
          <p:cNvSpPr/>
          <p:nvPr/>
        </p:nvSpPr>
        <p:spPr>
          <a:xfrm>
            <a:off x="1664208" y="4855464"/>
            <a:ext cx="932688" cy="658368"/>
          </a:xfrm>
          <a:prstGeom prst="rect">
            <a:avLst/>
          </a:prstGeom>
          <a:noFill/>
          <a:ln/>
        </p:spPr>
        <p:txBody>
          <a:bodyPr wrap="square" lIns="0" tIns="0" rIns="0" bIns="0" rtlCol="0" anchor="ctr"/>
          <a:lstStyle/>
          <a:p>
            <a:pPr marL="0" indent="0" algn="ctr">
              <a:buNone/>
            </a:pPr>
            <a:r>
              <a:rPr lang="en-US" sz="1200" dirty="0">
                <a:solidFill>
                  <a:srgbClr val="C0392B"/>
                </a:solidFill>
                <a:latin typeface="Hiragino Sans W3" pitchFamily="34" charset="0"/>
                <a:ea typeface="Hiragino Sans W3" pitchFamily="34" charset="-122"/>
                <a:cs typeface="Hiragino Sans W3" pitchFamily="34" charset="-120"/>
              </a:rPr>
              <a:t>無視</a:t>
            </a:r>
            <a:endParaRPr lang="en-US" sz="1200" dirty="0"/>
          </a:p>
        </p:txBody>
      </p:sp>
      <p:sp>
        <p:nvSpPr>
          <p:cNvPr id="102" name="Shape 100"/>
          <p:cNvSpPr/>
          <p:nvPr/>
        </p:nvSpPr>
        <p:spPr>
          <a:xfrm>
            <a:off x="2596896" y="4855464"/>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103" name="Text 101"/>
          <p:cNvSpPr/>
          <p:nvPr/>
        </p:nvSpPr>
        <p:spPr>
          <a:xfrm>
            <a:off x="2596896" y="4855464"/>
            <a:ext cx="932688" cy="658368"/>
          </a:xfrm>
          <a:prstGeom prst="rect">
            <a:avLst/>
          </a:prstGeom>
          <a:noFill/>
          <a:ln/>
        </p:spPr>
        <p:txBody>
          <a:bodyPr wrap="square" lIns="0" tIns="0" rIns="0" bIns="0" rtlCol="0" anchor="ctr"/>
          <a:lstStyle/>
          <a:p>
            <a:pPr marL="0" indent="0" algn="ctr">
              <a:buNone/>
            </a:pPr>
            <a:r>
              <a:rPr lang="en-US" sz="1200" dirty="0">
                <a:solidFill>
                  <a:srgbClr val="C0392B"/>
                </a:solidFill>
                <a:latin typeface="Hiragino Sans W3" pitchFamily="34" charset="0"/>
                <a:ea typeface="Hiragino Sans W3" pitchFamily="34" charset="-122"/>
                <a:cs typeface="Hiragino Sans W3" pitchFamily="34" charset="-120"/>
              </a:rPr>
              <a:t>他責</a:t>
            </a:r>
            <a:endParaRPr lang="en-US" sz="1200" dirty="0"/>
          </a:p>
        </p:txBody>
      </p:sp>
      <p:sp>
        <p:nvSpPr>
          <p:cNvPr id="104" name="Shape 102"/>
          <p:cNvSpPr/>
          <p:nvPr/>
        </p:nvSpPr>
        <p:spPr>
          <a:xfrm>
            <a:off x="3529584" y="4855464"/>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105" name="Text 103"/>
          <p:cNvSpPr/>
          <p:nvPr/>
        </p:nvSpPr>
        <p:spPr>
          <a:xfrm>
            <a:off x="3529584" y="4855464"/>
            <a:ext cx="932688" cy="658368"/>
          </a:xfrm>
          <a:prstGeom prst="rect">
            <a:avLst/>
          </a:prstGeom>
          <a:noFill/>
          <a:ln/>
        </p:spPr>
        <p:txBody>
          <a:bodyPr wrap="square" lIns="0" tIns="0" rIns="0" bIns="0" rtlCol="0" anchor="ctr"/>
          <a:lstStyle/>
          <a:p>
            <a:pPr marL="0" indent="0" algn="ctr">
              <a:buNone/>
            </a:pPr>
            <a:r>
              <a:rPr lang="en-US" sz="1200" dirty="0">
                <a:solidFill>
                  <a:srgbClr val="C0392B"/>
                </a:solidFill>
                <a:latin typeface="Hiragino Sans W3" pitchFamily="34" charset="0"/>
                <a:ea typeface="Hiragino Sans W3" pitchFamily="34" charset="-122"/>
                <a:cs typeface="Hiragino Sans W3" pitchFamily="34" charset="-120"/>
              </a:rPr>
              <a:t>身勝手</a:t>
            </a:r>
            <a:endParaRPr lang="en-US" sz="1200" dirty="0"/>
          </a:p>
        </p:txBody>
      </p:sp>
      <p:sp>
        <p:nvSpPr>
          <p:cNvPr id="106" name="Shape 104"/>
          <p:cNvSpPr/>
          <p:nvPr/>
        </p:nvSpPr>
        <p:spPr>
          <a:xfrm>
            <a:off x="4462272" y="4855464"/>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107" name="Text 105"/>
          <p:cNvSpPr/>
          <p:nvPr/>
        </p:nvSpPr>
        <p:spPr>
          <a:xfrm>
            <a:off x="4462272" y="4855464"/>
            <a:ext cx="932688" cy="658368"/>
          </a:xfrm>
          <a:prstGeom prst="rect">
            <a:avLst/>
          </a:prstGeom>
          <a:noFill/>
          <a:ln/>
        </p:spPr>
        <p:txBody>
          <a:bodyPr wrap="square" lIns="0" tIns="0" rIns="0" bIns="0" rtlCol="0" anchor="ctr"/>
          <a:lstStyle/>
          <a:p>
            <a:pPr marL="0" indent="0" algn="ctr">
              <a:buNone/>
            </a:pPr>
            <a:r>
              <a:rPr lang="en-US" sz="1200" dirty="0">
                <a:solidFill>
                  <a:srgbClr val="C0392B"/>
                </a:solidFill>
                <a:latin typeface="Hiragino Sans W3" pitchFamily="34" charset="0"/>
                <a:ea typeface="Hiragino Sans W3" pitchFamily="34" charset="-122"/>
                <a:cs typeface="Hiragino Sans W3" pitchFamily="34" charset="-120"/>
              </a:rPr>
              <a:t>偏見</a:t>
            </a:r>
            <a:endParaRPr lang="en-US" sz="1200" dirty="0"/>
          </a:p>
        </p:txBody>
      </p:sp>
      <p:sp>
        <p:nvSpPr>
          <p:cNvPr id="108" name="Shape 106"/>
          <p:cNvSpPr/>
          <p:nvPr/>
        </p:nvSpPr>
        <p:spPr>
          <a:xfrm>
            <a:off x="5394960" y="4855464"/>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109" name="Text 107"/>
          <p:cNvSpPr/>
          <p:nvPr/>
        </p:nvSpPr>
        <p:spPr>
          <a:xfrm>
            <a:off x="5394960" y="4855464"/>
            <a:ext cx="932688" cy="658368"/>
          </a:xfrm>
          <a:prstGeom prst="rect">
            <a:avLst/>
          </a:prstGeom>
          <a:noFill/>
          <a:ln/>
        </p:spPr>
        <p:txBody>
          <a:bodyPr wrap="square" lIns="0" tIns="0" rIns="0" bIns="0" rtlCol="0" anchor="ctr"/>
          <a:lstStyle/>
          <a:p>
            <a:pPr marL="0" indent="0" algn="ctr">
              <a:buNone/>
            </a:pPr>
            <a:r>
              <a:rPr lang="en-US" sz="1200" dirty="0">
                <a:solidFill>
                  <a:srgbClr val="C0392B"/>
                </a:solidFill>
                <a:latin typeface="Hiragino Sans W3" pitchFamily="34" charset="0"/>
                <a:ea typeface="Hiragino Sans W3" pitchFamily="34" charset="-122"/>
                <a:cs typeface="Hiragino Sans W3" pitchFamily="34" charset="-120"/>
              </a:rPr>
              <a:t>抑圧</a:t>
            </a:r>
            <a:endParaRPr lang="en-US" sz="1200" dirty="0"/>
          </a:p>
        </p:txBody>
      </p:sp>
      <p:sp>
        <p:nvSpPr>
          <p:cNvPr id="110" name="Shape 108"/>
          <p:cNvSpPr/>
          <p:nvPr/>
        </p:nvSpPr>
        <p:spPr>
          <a:xfrm>
            <a:off x="6327648" y="4855464"/>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111" name="Text 109"/>
          <p:cNvSpPr/>
          <p:nvPr/>
        </p:nvSpPr>
        <p:spPr>
          <a:xfrm>
            <a:off x="6327648" y="4855464"/>
            <a:ext cx="932688" cy="658368"/>
          </a:xfrm>
          <a:prstGeom prst="rect">
            <a:avLst/>
          </a:prstGeom>
          <a:noFill/>
          <a:ln/>
        </p:spPr>
        <p:txBody>
          <a:bodyPr wrap="square" lIns="0" tIns="0" rIns="0" bIns="0" rtlCol="0" anchor="ctr"/>
          <a:lstStyle/>
          <a:p>
            <a:pPr marL="0" indent="0" algn="ctr">
              <a:buNone/>
            </a:pPr>
            <a:r>
              <a:rPr lang="en-US" sz="1200" dirty="0">
                <a:solidFill>
                  <a:srgbClr val="C0392B"/>
                </a:solidFill>
                <a:latin typeface="Hiragino Sans W3" pitchFamily="34" charset="0"/>
                <a:ea typeface="Hiragino Sans W3" pitchFamily="34" charset="-122"/>
                <a:cs typeface="Hiragino Sans W3" pitchFamily="34" charset="-120"/>
              </a:rPr>
              <a:t>強引</a:t>
            </a:r>
            <a:endParaRPr lang="en-US" sz="1200" dirty="0"/>
          </a:p>
        </p:txBody>
      </p:sp>
      <p:sp>
        <p:nvSpPr>
          <p:cNvPr id="112" name="Shape 110"/>
          <p:cNvSpPr/>
          <p:nvPr/>
        </p:nvSpPr>
        <p:spPr>
          <a:xfrm>
            <a:off x="7260336" y="4855464"/>
            <a:ext cx="932688" cy="658368"/>
          </a:xfrm>
          <a:prstGeom prst="rect">
            <a:avLst/>
          </a:prstGeom>
          <a:solidFill>
            <a:srgbClr val="FFFFFF"/>
          </a:solidFill>
          <a:ln w="9525">
            <a:solidFill>
              <a:srgbClr val="B5AFA5"/>
            </a:solidFill>
            <a:prstDash val="solid"/>
          </a:ln>
        </p:spPr>
        <p:txBody>
          <a:bodyPr/>
          <a:lstStyle/>
          <a:p>
            <a:endParaRPr lang="ja-JP" altLang="en-US"/>
          </a:p>
        </p:txBody>
      </p:sp>
      <p:sp>
        <p:nvSpPr>
          <p:cNvPr id="113" name="Text 111"/>
          <p:cNvSpPr/>
          <p:nvPr/>
        </p:nvSpPr>
        <p:spPr>
          <a:xfrm>
            <a:off x="7260336" y="4855464"/>
            <a:ext cx="932688" cy="658368"/>
          </a:xfrm>
          <a:prstGeom prst="rect">
            <a:avLst/>
          </a:prstGeom>
          <a:noFill/>
          <a:ln/>
        </p:spPr>
        <p:txBody>
          <a:bodyPr wrap="square" lIns="0" tIns="0" rIns="0" bIns="0" rtlCol="0" anchor="ctr"/>
          <a:lstStyle/>
          <a:p>
            <a:pPr marL="0" indent="0" algn="ctr">
              <a:buNone/>
            </a:pPr>
            <a:r>
              <a:rPr lang="en-US" sz="1200" dirty="0">
                <a:solidFill>
                  <a:srgbClr val="C0392B"/>
                </a:solidFill>
                <a:latin typeface="Hiragino Sans W3" pitchFamily="34" charset="0"/>
                <a:ea typeface="Hiragino Sans W3" pitchFamily="34" charset="-122"/>
                <a:cs typeface="Hiragino Sans W3" pitchFamily="34" charset="-120"/>
              </a:rPr>
              <a:t>強要</a:t>
            </a:r>
            <a:endParaRPr lang="en-US" sz="1200" dirty="0"/>
          </a:p>
        </p:txBody>
      </p:sp>
      <p:sp>
        <p:nvSpPr>
          <p:cNvPr id="114" name="Shape 112"/>
          <p:cNvSpPr/>
          <p:nvPr/>
        </p:nvSpPr>
        <p:spPr>
          <a:xfrm>
            <a:off x="8193024" y="4855464"/>
            <a:ext cx="932688" cy="658368"/>
          </a:xfrm>
          <a:prstGeom prst="rect">
            <a:avLst/>
          </a:prstGeom>
          <a:solidFill>
            <a:srgbClr val="FADBD8"/>
          </a:solidFill>
          <a:ln w="9525">
            <a:solidFill>
              <a:srgbClr val="B5AFA5"/>
            </a:solidFill>
            <a:prstDash val="solid"/>
          </a:ln>
        </p:spPr>
        <p:txBody>
          <a:bodyPr/>
          <a:lstStyle/>
          <a:p>
            <a:endParaRPr lang="ja-JP" altLang="en-US"/>
          </a:p>
        </p:txBody>
      </p:sp>
      <p:sp>
        <p:nvSpPr>
          <p:cNvPr id="115" name="Text 113"/>
          <p:cNvSpPr/>
          <p:nvPr/>
        </p:nvSpPr>
        <p:spPr>
          <a:xfrm>
            <a:off x="8193024" y="4855464"/>
            <a:ext cx="932688" cy="658368"/>
          </a:xfrm>
          <a:prstGeom prst="rect">
            <a:avLst/>
          </a:prstGeom>
          <a:noFill/>
          <a:ln/>
        </p:spPr>
        <p:txBody>
          <a:bodyPr wrap="square" lIns="0" tIns="0" rIns="0" bIns="0" rtlCol="0" anchor="ctr"/>
          <a:lstStyle/>
          <a:p>
            <a:pPr marL="0" indent="0" algn="ctr">
              <a:buNone/>
            </a:pPr>
            <a:r>
              <a:rPr lang="en-US" sz="1200" dirty="0">
                <a:solidFill>
                  <a:srgbClr val="C0392B"/>
                </a:solidFill>
                <a:latin typeface="Hiragino Sans W3" pitchFamily="34" charset="0"/>
                <a:ea typeface="Hiragino Sans W3" pitchFamily="34" charset="-122"/>
                <a:cs typeface="Hiragino Sans W3" pitchFamily="34" charset="-120"/>
              </a:rPr>
              <a:t>虐待</a:t>
            </a:r>
            <a:endParaRPr lang="en-US" sz="1200" dirty="0"/>
          </a:p>
        </p:txBody>
      </p:sp>
      <p:sp>
        <p:nvSpPr>
          <p:cNvPr id="116" name="Shape 114"/>
          <p:cNvSpPr/>
          <p:nvPr/>
        </p:nvSpPr>
        <p:spPr>
          <a:xfrm>
            <a:off x="9125712" y="4855464"/>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117" name="Shape 115"/>
          <p:cNvSpPr/>
          <p:nvPr/>
        </p:nvSpPr>
        <p:spPr>
          <a:xfrm>
            <a:off x="10058400" y="4855464"/>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118" name="Shape 116"/>
          <p:cNvSpPr/>
          <p:nvPr/>
        </p:nvSpPr>
        <p:spPr>
          <a:xfrm>
            <a:off x="10991088" y="4855464"/>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119" name="Shape 117"/>
          <p:cNvSpPr/>
          <p:nvPr/>
        </p:nvSpPr>
        <p:spPr>
          <a:xfrm>
            <a:off x="11923776" y="4855464"/>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120" name="Shape 118"/>
          <p:cNvSpPr/>
          <p:nvPr/>
        </p:nvSpPr>
        <p:spPr>
          <a:xfrm>
            <a:off x="12856464" y="4855464"/>
            <a:ext cx="932688" cy="658368"/>
          </a:xfrm>
          <a:prstGeom prst="rect">
            <a:avLst/>
          </a:prstGeom>
          <a:solidFill>
            <a:srgbClr val="F5F5F0"/>
          </a:solidFill>
          <a:ln w="9525">
            <a:solidFill>
              <a:srgbClr val="B5AFA5"/>
            </a:solidFill>
            <a:prstDash val="solid"/>
          </a:ln>
        </p:spPr>
        <p:txBody>
          <a:bodyPr/>
          <a:lstStyle/>
          <a:p>
            <a:endParaRPr lang="ja-JP" altLang="en-US"/>
          </a:p>
        </p:txBody>
      </p:sp>
      <p:sp>
        <p:nvSpPr>
          <p:cNvPr id="121" name="Text 119"/>
          <p:cNvSpPr/>
          <p:nvPr/>
        </p:nvSpPr>
        <p:spPr>
          <a:xfrm>
            <a:off x="566928" y="5650992"/>
            <a:ext cx="13679424" cy="320040"/>
          </a:xfrm>
          <a:prstGeom prst="rect">
            <a:avLst/>
          </a:prstGeom>
          <a:noFill/>
          <a:ln/>
        </p:spPr>
        <p:txBody>
          <a:bodyPr wrap="square" lIns="0" tIns="0" rIns="0" bIns="0" rtlCol="0" anchor="ctr"/>
          <a:lstStyle/>
          <a:p>
            <a:pPr marL="0" indent="0">
              <a:buNone/>
            </a:pPr>
            <a:r>
              <a:rPr lang="en-US" sz="1400" b="1" dirty="0">
                <a:solidFill>
                  <a:srgbClr val="C0392B"/>
                </a:solidFill>
                <a:latin typeface="Hiragino Sans W6" pitchFamily="34" charset="0"/>
                <a:ea typeface="Hiragino Sans W6" pitchFamily="34" charset="-122"/>
                <a:cs typeface="Hiragino Sans W6" pitchFamily="34" charset="-120"/>
              </a:rPr>
              <a:t>↑ L4の連鎖 = 魔の支援ループ（AIが自動検知）</a:t>
            </a:r>
            <a:endParaRPr lang="en-US" sz="1400" dirty="0"/>
          </a:p>
        </p:txBody>
      </p:sp>
      <p:sp>
        <p:nvSpPr>
          <p:cNvPr id="122" name="Shape 120"/>
          <p:cNvSpPr/>
          <p:nvPr/>
        </p:nvSpPr>
        <p:spPr>
          <a:xfrm>
            <a:off x="566928" y="6062472"/>
            <a:ext cx="274320" cy="274320"/>
          </a:xfrm>
          <a:prstGeom prst="rect">
            <a:avLst/>
          </a:prstGeom>
          <a:solidFill>
            <a:srgbClr val="27AE60"/>
          </a:solidFill>
          <a:ln/>
        </p:spPr>
        <p:txBody>
          <a:bodyPr/>
          <a:lstStyle/>
          <a:p>
            <a:endParaRPr lang="ja-JP" altLang="en-US"/>
          </a:p>
        </p:txBody>
      </p:sp>
      <p:sp>
        <p:nvSpPr>
          <p:cNvPr id="123" name="Text 121"/>
          <p:cNvSpPr/>
          <p:nvPr/>
        </p:nvSpPr>
        <p:spPr>
          <a:xfrm>
            <a:off x="932688" y="6062472"/>
            <a:ext cx="2560320" cy="274320"/>
          </a:xfrm>
          <a:prstGeom prst="rect">
            <a:avLst/>
          </a:prstGeom>
          <a:noFill/>
          <a:ln/>
        </p:spPr>
        <p:txBody>
          <a:bodyPr wrap="square" lIns="0" tIns="0" rIns="0" bIns="0" rtlCol="0" anchor="ctr"/>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理想パス</a:t>
            </a:r>
            <a:endParaRPr lang="en-US" sz="1300" dirty="0"/>
          </a:p>
        </p:txBody>
      </p:sp>
      <p:sp>
        <p:nvSpPr>
          <p:cNvPr id="124" name="Shape 122"/>
          <p:cNvSpPr/>
          <p:nvPr/>
        </p:nvSpPr>
        <p:spPr>
          <a:xfrm>
            <a:off x="3767328" y="6062472"/>
            <a:ext cx="274320" cy="274320"/>
          </a:xfrm>
          <a:prstGeom prst="rect">
            <a:avLst/>
          </a:prstGeom>
          <a:solidFill>
            <a:srgbClr val="4A90D9"/>
          </a:solidFill>
          <a:ln/>
        </p:spPr>
        <p:txBody>
          <a:bodyPr/>
          <a:lstStyle/>
          <a:p>
            <a:endParaRPr lang="ja-JP" altLang="en-US"/>
          </a:p>
        </p:txBody>
      </p:sp>
      <p:sp>
        <p:nvSpPr>
          <p:cNvPr id="125" name="Text 123"/>
          <p:cNvSpPr/>
          <p:nvPr/>
        </p:nvSpPr>
        <p:spPr>
          <a:xfrm>
            <a:off x="4133088" y="6062472"/>
            <a:ext cx="2560320" cy="274320"/>
          </a:xfrm>
          <a:prstGeom prst="rect">
            <a:avLst/>
          </a:prstGeom>
          <a:noFill/>
          <a:ln/>
        </p:spPr>
        <p:txBody>
          <a:bodyPr wrap="square" lIns="0" tIns="0" rIns="0" bIns="0" rtlCol="0" anchor="ctr"/>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日常パス</a:t>
            </a:r>
            <a:endParaRPr lang="en-US" sz="1300" dirty="0"/>
          </a:p>
        </p:txBody>
      </p:sp>
      <p:sp>
        <p:nvSpPr>
          <p:cNvPr id="126" name="Shape 124"/>
          <p:cNvSpPr/>
          <p:nvPr/>
        </p:nvSpPr>
        <p:spPr>
          <a:xfrm>
            <a:off x="6967728" y="6062472"/>
            <a:ext cx="274320" cy="274320"/>
          </a:xfrm>
          <a:prstGeom prst="rect">
            <a:avLst/>
          </a:prstGeom>
          <a:solidFill>
            <a:srgbClr val="F39C12"/>
          </a:solidFill>
          <a:ln/>
        </p:spPr>
        <p:txBody>
          <a:bodyPr/>
          <a:lstStyle/>
          <a:p>
            <a:endParaRPr lang="ja-JP" altLang="en-US"/>
          </a:p>
        </p:txBody>
      </p:sp>
      <p:sp>
        <p:nvSpPr>
          <p:cNvPr id="127" name="Text 125"/>
          <p:cNvSpPr/>
          <p:nvPr/>
        </p:nvSpPr>
        <p:spPr>
          <a:xfrm>
            <a:off x="7333488" y="6062472"/>
            <a:ext cx="2560320" cy="274320"/>
          </a:xfrm>
          <a:prstGeom prst="rect">
            <a:avLst/>
          </a:prstGeom>
          <a:noFill/>
          <a:ln/>
        </p:spPr>
        <p:txBody>
          <a:bodyPr wrap="square" lIns="0" tIns="0" rIns="0" bIns="0" rtlCol="0" anchor="ctr"/>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注意パス</a:t>
            </a:r>
            <a:endParaRPr lang="en-US" sz="1300" dirty="0"/>
          </a:p>
        </p:txBody>
      </p:sp>
      <p:sp>
        <p:nvSpPr>
          <p:cNvPr id="128" name="Shape 126"/>
          <p:cNvSpPr/>
          <p:nvPr/>
        </p:nvSpPr>
        <p:spPr>
          <a:xfrm>
            <a:off x="10168128" y="6062472"/>
            <a:ext cx="274320" cy="274320"/>
          </a:xfrm>
          <a:prstGeom prst="rect">
            <a:avLst/>
          </a:prstGeom>
          <a:solidFill>
            <a:srgbClr val="C0392B"/>
          </a:solidFill>
          <a:ln/>
        </p:spPr>
        <p:txBody>
          <a:bodyPr/>
          <a:lstStyle/>
          <a:p>
            <a:endParaRPr lang="ja-JP" altLang="en-US"/>
          </a:p>
        </p:txBody>
      </p:sp>
      <p:sp>
        <p:nvSpPr>
          <p:cNvPr id="129" name="Text 127"/>
          <p:cNvSpPr/>
          <p:nvPr/>
        </p:nvSpPr>
        <p:spPr>
          <a:xfrm>
            <a:off x="10533888" y="6062472"/>
            <a:ext cx="2560320" cy="274320"/>
          </a:xfrm>
          <a:prstGeom prst="rect">
            <a:avLst/>
          </a:prstGeom>
          <a:noFill/>
          <a:ln/>
        </p:spPr>
        <p:txBody>
          <a:bodyPr wrap="square" lIns="0" tIns="0" rIns="0" bIns="0" rtlCol="0" anchor="ctr"/>
          <a:lstStyle/>
          <a:p>
            <a:pPr marL="0" indent="0" algn="l">
              <a:buNone/>
            </a:pPr>
            <a:r>
              <a:rPr lang="en-US" sz="1300" dirty="0">
                <a:solidFill>
                  <a:srgbClr val="4A4A45"/>
                </a:solidFill>
                <a:latin typeface="Hiragino Sans W3" pitchFamily="34" charset="0"/>
                <a:ea typeface="Hiragino Sans W3" pitchFamily="34" charset="-122"/>
                <a:cs typeface="Hiragino Sans W3" pitchFamily="34" charset="-120"/>
              </a:rPr>
              <a:t>危険パス（AI監視対象）</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自立支援マトリックス（わかるじゃん）がシステムの魂</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6年間の現場実践で磨かれた13段階×4層の支援フレームワーク</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面談から自立まで — 支援の全プロセスをデジタル化</a:t>
            </a:r>
            <a:endParaRPr lang="en-US" sz="2000" dirty="0"/>
          </a:p>
        </p:txBody>
      </p:sp>
      <p:sp>
        <p:nvSpPr>
          <p:cNvPr id="6" name="Shape 4"/>
          <p:cNvSpPr/>
          <p:nvPr/>
        </p:nvSpPr>
        <p:spPr>
          <a:xfrm>
            <a:off x="749808" y="2423160"/>
            <a:ext cx="914400" cy="502920"/>
          </a:xfrm>
          <a:prstGeom prst="rect">
            <a:avLst/>
          </a:prstGeom>
          <a:solidFill>
            <a:srgbClr val="484237"/>
          </a:solidFill>
          <a:ln/>
        </p:spPr>
        <p:txBody>
          <a:bodyPr/>
          <a:lstStyle/>
          <a:p>
            <a:endParaRPr lang="ja-JP" altLang="en-US"/>
          </a:p>
        </p:txBody>
      </p:sp>
      <p:sp>
        <p:nvSpPr>
          <p:cNvPr id="7" name="Text 5"/>
          <p:cNvSpPr/>
          <p:nvPr/>
        </p:nvSpPr>
        <p:spPr>
          <a:xfrm>
            <a:off x="749808"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面談</a:t>
            </a:r>
            <a:endParaRPr lang="en-US" sz="1400" dirty="0"/>
          </a:p>
        </p:txBody>
      </p:sp>
      <p:sp>
        <p:nvSpPr>
          <p:cNvPr id="8" name="Text 6"/>
          <p:cNvSpPr/>
          <p:nvPr/>
        </p:nvSpPr>
        <p:spPr>
          <a:xfrm>
            <a:off x="1600200"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9" name="Shape 7"/>
          <p:cNvSpPr/>
          <p:nvPr/>
        </p:nvSpPr>
        <p:spPr>
          <a:xfrm>
            <a:off x="1737360" y="2423160"/>
            <a:ext cx="914400" cy="502920"/>
          </a:xfrm>
          <a:prstGeom prst="rect">
            <a:avLst/>
          </a:prstGeom>
          <a:solidFill>
            <a:srgbClr val="484237"/>
          </a:solidFill>
          <a:ln/>
        </p:spPr>
        <p:txBody>
          <a:bodyPr/>
          <a:lstStyle/>
          <a:p>
            <a:endParaRPr lang="ja-JP" altLang="en-US"/>
          </a:p>
        </p:txBody>
      </p:sp>
      <p:sp>
        <p:nvSpPr>
          <p:cNvPr id="10" name="Text 8"/>
          <p:cNvSpPr/>
          <p:nvPr/>
        </p:nvSpPr>
        <p:spPr>
          <a:xfrm>
            <a:off x="1737360"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傾聴</a:t>
            </a:r>
            <a:endParaRPr lang="en-US" sz="1400" dirty="0"/>
          </a:p>
        </p:txBody>
      </p:sp>
      <p:sp>
        <p:nvSpPr>
          <p:cNvPr id="11" name="Text 9"/>
          <p:cNvSpPr/>
          <p:nvPr/>
        </p:nvSpPr>
        <p:spPr>
          <a:xfrm>
            <a:off x="2587752"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12" name="Shape 10"/>
          <p:cNvSpPr/>
          <p:nvPr/>
        </p:nvSpPr>
        <p:spPr>
          <a:xfrm>
            <a:off x="2724912" y="2423160"/>
            <a:ext cx="914400" cy="502920"/>
          </a:xfrm>
          <a:prstGeom prst="rect">
            <a:avLst/>
          </a:prstGeom>
          <a:solidFill>
            <a:srgbClr val="484237"/>
          </a:solidFill>
          <a:ln/>
        </p:spPr>
        <p:txBody>
          <a:bodyPr/>
          <a:lstStyle/>
          <a:p>
            <a:endParaRPr lang="ja-JP" altLang="en-US"/>
          </a:p>
        </p:txBody>
      </p:sp>
      <p:sp>
        <p:nvSpPr>
          <p:cNvPr id="13" name="Text 11"/>
          <p:cNvSpPr/>
          <p:nvPr/>
        </p:nvSpPr>
        <p:spPr>
          <a:xfrm>
            <a:off x="2724912"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選択</a:t>
            </a:r>
            <a:endParaRPr lang="en-US" sz="1400" dirty="0"/>
          </a:p>
        </p:txBody>
      </p:sp>
      <p:sp>
        <p:nvSpPr>
          <p:cNvPr id="14" name="Text 12"/>
          <p:cNvSpPr/>
          <p:nvPr/>
        </p:nvSpPr>
        <p:spPr>
          <a:xfrm>
            <a:off x="3575304"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15" name="Shape 13"/>
          <p:cNvSpPr/>
          <p:nvPr/>
        </p:nvSpPr>
        <p:spPr>
          <a:xfrm>
            <a:off x="3712464" y="2423160"/>
            <a:ext cx="914400" cy="502920"/>
          </a:xfrm>
          <a:prstGeom prst="rect">
            <a:avLst/>
          </a:prstGeom>
          <a:solidFill>
            <a:srgbClr val="484237"/>
          </a:solidFill>
          <a:ln/>
        </p:spPr>
        <p:txBody>
          <a:bodyPr/>
          <a:lstStyle/>
          <a:p>
            <a:endParaRPr lang="ja-JP" altLang="en-US"/>
          </a:p>
        </p:txBody>
      </p:sp>
      <p:sp>
        <p:nvSpPr>
          <p:cNvPr id="16" name="Text 14"/>
          <p:cNvSpPr/>
          <p:nvPr/>
        </p:nvSpPr>
        <p:spPr>
          <a:xfrm>
            <a:off x="3712464"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TM</a:t>
            </a:r>
            <a:endParaRPr lang="en-US" sz="1400" dirty="0"/>
          </a:p>
        </p:txBody>
      </p:sp>
      <p:sp>
        <p:nvSpPr>
          <p:cNvPr id="17" name="Text 15"/>
          <p:cNvSpPr/>
          <p:nvPr/>
        </p:nvSpPr>
        <p:spPr>
          <a:xfrm>
            <a:off x="4562856"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18" name="Shape 16"/>
          <p:cNvSpPr/>
          <p:nvPr/>
        </p:nvSpPr>
        <p:spPr>
          <a:xfrm>
            <a:off x="4700016" y="2423160"/>
            <a:ext cx="914400" cy="502920"/>
          </a:xfrm>
          <a:prstGeom prst="rect">
            <a:avLst/>
          </a:prstGeom>
          <a:solidFill>
            <a:srgbClr val="484237"/>
          </a:solidFill>
          <a:ln/>
        </p:spPr>
        <p:txBody>
          <a:bodyPr/>
          <a:lstStyle/>
          <a:p>
            <a:endParaRPr lang="ja-JP" altLang="en-US"/>
          </a:p>
        </p:txBody>
      </p:sp>
      <p:sp>
        <p:nvSpPr>
          <p:cNvPr id="19" name="Text 17"/>
          <p:cNvSpPr/>
          <p:nvPr/>
        </p:nvSpPr>
        <p:spPr>
          <a:xfrm>
            <a:off x="4700016"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気づき</a:t>
            </a:r>
            <a:endParaRPr lang="en-US" sz="1400" dirty="0"/>
          </a:p>
        </p:txBody>
      </p:sp>
      <p:sp>
        <p:nvSpPr>
          <p:cNvPr id="20" name="Text 18"/>
          <p:cNvSpPr/>
          <p:nvPr/>
        </p:nvSpPr>
        <p:spPr>
          <a:xfrm>
            <a:off x="5550408"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21" name="Shape 19"/>
          <p:cNvSpPr/>
          <p:nvPr/>
        </p:nvSpPr>
        <p:spPr>
          <a:xfrm>
            <a:off x="5687568" y="2423160"/>
            <a:ext cx="914400" cy="502920"/>
          </a:xfrm>
          <a:prstGeom prst="rect">
            <a:avLst/>
          </a:prstGeom>
          <a:solidFill>
            <a:srgbClr val="484237"/>
          </a:solidFill>
          <a:ln/>
        </p:spPr>
        <p:txBody>
          <a:bodyPr/>
          <a:lstStyle/>
          <a:p>
            <a:endParaRPr lang="ja-JP" altLang="en-US"/>
          </a:p>
        </p:txBody>
      </p:sp>
      <p:sp>
        <p:nvSpPr>
          <p:cNvPr id="22" name="Text 20"/>
          <p:cNvSpPr/>
          <p:nvPr/>
        </p:nvSpPr>
        <p:spPr>
          <a:xfrm>
            <a:off x="5687568"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分析</a:t>
            </a:r>
            <a:endParaRPr lang="en-US" sz="1400" dirty="0"/>
          </a:p>
        </p:txBody>
      </p:sp>
      <p:sp>
        <p:nvSpPr>
          <p:cNvPr id="23" name="Text 21"/>
          <p:cNvSpPr/>
          <p:nvPr/>
        </p:nvSpPr>
        <p:spPr>
          <a:xfrm>
            <a:off x="6537960"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24" name="Shape 22"/>
          <p:cNvSpPr/>
          <p:nvPr/>
        </p:nvSpPr>
        <p:spPr>
          <a:xfrm>
            <a:off x="6675120" y="2423160"/>
            <a:ext cx="914400" cy="502920"/>
          </a:xfrm>
          <a:prstGeom prst="rect">
            <a:avLst/>
          </a:prstGeom>
          <a:solidFill>
            <a:srgbClr val="484237"/>
          </a:solidFill>
          <a:ln/>
        </p:spPr>
        <p:txBody>
          <a:bodyPr/>
          <a:lstStyle/>
          <a:p>
            <a:endParaRPr lang="ja-JP" altLang="en-US"/>
          </a:p>
        </p:txBody>
      </p:sp>
      <p:sp>
        <p:nvSpPr>
          <p:cNvPr id="25" name="Text 23"/>
          <p:cNvSpPr/>
          <p:nvPr/>
        </p:nvSpPr>
        <p:spPr>
          <a:xfrm>
            <a:off x="6675120"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発見</a:t>
            </a:r>
            <a:endParaRPr lang="en-US" sz="1400" dirty="0"/>
          </a:p>
        </p:txBody>
      </p:sp>
      <p:sp>
        <p:nvSpPr>
          <p:cNvPr id="26" name="Text 24"/>
          <p:cNvSpPr/>
          <p:nvPr/>
        </p:nvSpPr>
        <p:spPr>
          <a:xfrm>
            <a:off x="7525512"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27" name="Shape 25"/>
          <p:cNvSpPr/>
          <p:nvPr/>
        </p:nvSpPr>
        <p:spPr>
          <a:xfrm>
            <a:off x="7662672" y="2423160"/>
            <a:ext cx="914400" cy="502920"/>
          </a:xfrm>
          <a:prstGeom prst="rect">
            <a:avLst/>
          </a:prstGeom>
          <a:solidFill>
            <a:srgbClr val="484237"/>
          </a:solidFill>
          <a:ln/>
        </p:spPr>
        <p:txBody>
          <a:bodyPr/>
          <a:lstStyle/>
          <a:p>
            <a:endParaRPr lang="ja-JP" altLang="en-US"/>
          </a:p>
        </p:txBody>
      </p:sp>
      <p:sp>
        <p:nvSpPr>
          <p:cNvPr id="28" name="Text 26"/>
          <p:cNvSpPr/>
          <p:nvPr/>
        </p:nvSpPr>
        <p:spPr>
          <a:xfrm>
            <a:off x="7662672"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参画</a:t>
            </a:r>
            <a:endParaRPr lang="en-US" sz="1400" dirty="0"/>
          </a:p>
        </p:txBody>
      </p:sp>
      <p:sp>
        <p:nvSpPr>
          <p:cNvPr id="29" name="Text 27"/>
          <p:cNvSpPr/>
          <p:nvPr/>
        </p:nvSpPr>
        <p:spPr>
          <a:xfrm>
            <a:off x="8513064"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30" name="Shape 28"/>
          <p:cNvSpPr/>
          <p:nvPr/>
        </p:nvSpPr>
        <p:spPr>
          <a:xfrm>
            <a:off x="8650224" y="2423160"/>
            <a:ext cx="914400" cy="502920"/>
          </a:xfrm>
          <a:prstGeom prst="rect">
            <a:avLst/>
          </a:prstGeom>
          <a:solidFill>
            <a:srgbClr val="484237"/>
          </a:solidFill>
          <a:ln/>
        </p:spPr>
        <p:txBody>
          <a:bodyPr/>
          <a:lstStyle/>
          <a:p>
            <a:endParaRPr lang="ja-JP" altLang="en-US"/>
          </a:p>
        </p:txBody>
      </p:sp>
      <p:sp>
        <p:nvSpPr>
          <p:cNvPr id="31" name="Text 29"/>
          <p:cNvSpPr/>
          <p:nvPr/>
        </p:nvSpPr>
        <p:spPr>
          <a:xfrm>
            <a:off x="8650224"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達成</a:t>
            </a:r>
            <a:endParaRPr lang="en-US" sz="1400" dirty="0"/>
          </a:p>
        </p:txBody>
      </p:sp>
      <p:sp>
        <p:nvSpPr>
          <p:cNvPr id="32" name="Text 30"/>
          <p:cNvSpPr/>
          <p:nvPr/>
        </p:nvSpPr>
        <p:spPr>
          <a:xfrm>
            <a:off x="9500616"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33" name="Shape 31"/>
          <p:cNvSpPr/>
          <p:nvPr/>
        </p:nvSpPr>
        <p:spPr>
          <a:xfrm>
            <a:off x="9637776" y="2423160"/>
            <a:ext cx="914400" cy="502920"/>
          </a:xfrm>
          <a:prstGeom prst="rect">
            <a:avLst/>
          </a:prstGeom>
          <a:solidFill>
            <a:srgbClr val="484237"/>
          </a:solidFill>
          <a:ln/>
        </p:spPr>
        <p:txBody>
          <a:bodyPr/>
          <a:lstStyle/>
          <a:p>
            <a:endParaRPr lang="ja-JP" altLang="en-US"/>
          </a:p>
        </p:txBody>
      </p:sp>
      <p:sp>
        <p:nvSpPr>
          <p:cNvPr id="34" name="Text 32"/>
          <p:cNvSpPr/>
          <p:nvPr/>
        </p:nvSpPr>
        <p:spPr>
          <a:xfrm>
            <a:off x="9637776"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定着</a:t>
            </a:r>
            <a:endParaRPr lang="en-US" sz="1400" dirty="0"/>
          </a:p>
        </p:txBody>
      </p:sp>
      <p:sp>
        <p:nvSpPr>
          <p:cNvPr id="35" name="Text 33"/>
          <p:cNvSpPr/>
          <p:nvPr/>
        </p:nvSpPr>
        <p:spPr>
          <a:xfrm>
            <a:off x="10488168"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36" name="Shape 34"/>
          <p:cNvSpPr/>
          <p:nvPr/>
        </p:nvSpPr>
        <p:spPr>
          <a:xfrm>
            <a:off x="10625328" y="2423160"/>
            <a:ext cx="914400" cy="502920"/>
          </a:xfrm>
          <a:prstGeom prst="rect">
            <a:avLst/>
          </a:prstGeom>
          <a:solidFill>
            <a:srgbClr val="484237"/>
          </a:solidFill>
          <a:ln/>
        </p:spPr>
        <p:txBody>
          <a:bodyPr/>
          <a:lstStyle/>
          <a:p>
            <a:endParaRPr lang="ja-JP" altLang="en-US"/>
          </a:p>
        </p:txBody>
      </p:sp>
      <p:sp>
        <p:nvSpPr>
          <p:cNvPr id="37" name="Text 35"/>
          <p:cNvSpPr/>
          <p:nvPr/>
        </p:nvSpPr>
        <p:spPr>
          <a:xfrm>
            <a:off x="10625328"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評価</a:t>
            </a:r>
            <a:endParaRPr lang="en-US" sz="1400" dirty="0"/>
          </a:p>
        </p:txBody>
      </p:sp>
      <p:sp>
        <p:nvSpPr>
          <p:cNvPr id="38" name="Text 36"/>
          <p:cNvSpPr/>
          <p:nvPr/>
        </p:nvSpPr>
        <p:spPr>
          <a:xfrm>
            <a:off x="11475720"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39" name="Shape 37"/>
          <p:cNvSpPr/>
          <p:nvPr/>
        </p:nvSpPr>
        <p:spPr>
          <a:xfrm>
            <a:off x="11612880" y="2423160"/>
            <a:ext cx="914400" cy="502920"/>
          </a:xfrm>
          <a:prstGeom prst="rect">
            <a:avLst/>
          </a:prstGeom>
          <a:solidFill>
            <a:srgbClr val="484237"/>
          </a:solidFill>
          <a:ln/>
        </p:spPr>
        <p:txBody>
          <a:bodyPr/>
          <a:lstStyle/>
          <a:p>
            <a:endParaRPr lang="ja-JP" altLang="en-US"/>
          </a:p>
        </p:txBody>
      </p:sp>
      <p:sp>
        <p:nvSpPr>
          <p:cNvPr id="40" name="Text 38"/>
          <p:cNvSpPr/>
          <p:nvPr/>
        </p:nvSpPr>
        <p:spPr>
          <a:xfrm>
            <a:off x="11612880"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共生</a:t>
            </a:r>
            <a:endParaRPr lang="en-US" sz="1400" dirty="0"/>
          </a:p>
        </p:txBody>
      </p:sp>
      <p:sp>
        <p:nvSpPr>
          <p:cNvPr id="41" name="Text 39"/>
          <p:cNvSpPr/>
          <p:nvPr/>
        </p:nvSpPr>
        <p:spPr>
          <a:xfrm>
            <a:off x="12463272" y="2423160"/>
            <a:ext cx="201168" cy="502920"/>
          </a:xfrm>
          <a:prstGeom prst="rect">
            <a:avLst/>
          </a:prstGeom>
          <a:noFill/>
          <a:ln/>
        </p:spPr>
        <p:txBody>
          <a:bodyPr wrap="square" lIns="0" tIns="0" rIns="0" bIns="0" rtlCol="0" anchor="ctr"/>
          <a:lstStyle/>
          <a:p>
            <a:pPr marL="0" indent="0" algn="ctr">
              <a:buNone/>
            </a:pPr>
            <a:r>
              <a:rPr lang="en-US" sz="1600" dirty="0">
                <a:solidFill>
                  <a:srgbClr val="746558"/>
                </a:solidFill>
                <a:latin typeface="Hiragino Sans W6" pitchFamily="34" charset="0"/>
                <a:ea typeface="Hiragino Sans W6" pitchFamily="34" charset="-122"/>
                <a:cs typeface="Hiragino Sans W6" pitchFamily="34" charset="-120"/>
              </a:rPr>
              <a:t>→</a:t>
            </a:r>
            <a:endParaRPr lang="en-US" sz="1600" dirty="0"/>
          </a:p>
        </p:txBody>
      </p:sp>
      <p:sp>
        <p:nvSpPr>
          <p:cNvPr id="42" name="Shape 40"/>
          <p:cNvSpPr/>
          <p:nvPr/>
        </p:nvSpPr>
        <p:spPr>
          <a:xfrm>
            <a:off x="12600432" y="2423160"/>
            <a:ext cx="914400" cy="502920"/>
          </a:xfrm>
          <a:prstGeom prst="rect">
            <a:avLst/>
          </a:prstGeom>
          <a:solidFill>
            <a:srgbClr val="4A90D9"/>
          </a:solidFill>
          <a:ln/>
        </p:spPr>
        <p:txBody>
          <a:bodyPr/>
          <a:lstStyle/>
          <a:p>
            <a:endParaRPr lang="ja-JP" altLang="en-US"/>
          </a:p>
        </p:txBody>
      </p:sp>
      <p:sp>
        <p:nvSpPr>
          <p:cNvPr id="43" name="Text 41"/>
          <p:cNvSpPr/>
          <p:nvPr/>
        </p:nvSpPr>
        <p:spPr>
          <a:xfrm>
            <a:off x="12600432" y="2423160"/>
            <a:ext cx="9144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自立</a:t>
            </a:r>
            <a:endParaRPr lang="en-US" sz="1400" dirty="0"/>
          </a:p>
        </p:txBody>
      </p:sp>
      <p:sp>
        <p:nvSpPr>
          <p:cNvPr id="44" name="Shape 42"/>
          <p:cNvSpPr/>
          <p:nvPr/>
        </p:nvSpPr>
        <p:spPr>
          <a:xfrm>
            <a:off x="749808" y="3154680"/>
            <a:ext cx="12618720" cy="320040"/>
          </a:xfrm>
          <a:prstGeom prst="rect">
            <a:avLst/>
          </a:prstGeom>
          <a:solidFill>
            <a:srgbClr val="27AE60">
              <a:alpha val="20000"/>
            </a:srgbClr>
          </a:solidFill>
          <a:ln/>
        </p:spPr>
        <p:txBody>
          <a:bodyPr/>
          <a:lstStyle/>
          <a:p>
            <a:endParaRPr lang="ja-JP" altLang="en-US"/>
          </a:p>
        </p:txBody>
      </p:sp>
      <p:sp>
        <p:nvSpPr>
          <p:cNvPr id="45" name="Shape 43"/>
          <p:cNvSpPr/>
          <p:nvPr/>
        </p:nvSpPr>
        <p:spPr>
          <a:xfrm>
            <a:off x="749808" y="3154680"/>
            <a:ext cx="1188720" cy="320040"/>
          </a:xfrm>
          <a:prstGeom prst="rect">
            <a:avLst/>
          </a:prstGeom>
          <a:solidFill>
            <a:srgbClr val="27AE60"/>
          </a:solidFill>
          <a:ln/>
        </p:spPr>
        <p:txBody>
          <a:bodyPr/>
          <a:lstStyle/>
          <a:p>
            <a:endParaRPr lang="ja-JP" altLang="en-US"/>
          </a:p>
        </p:txBody>
      </p:sp>
      <p:sp>
        <p:nvSpPr>
          <p:cNvPr id="46" name="Text 44"/>
          <p:cNvSpPr/>
          <p:nvPr/>
        </p:nvSpPr>
        <p:spPr>
          <a:xfrm>
            <a:off x="749808" y="3154680"/>
            <a:ext cx="1188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理想パス</a:t>
            </a:r>
            <a:endParaRPr lang="en-US" sz="1300" dirty="0"/>
          </a:p>
        </p:txBody>
      </p:sp>
      <p:sp>
        <p:nvSpPr>
          <p:cNvPr id="47" name="Shape 45"/>
          <p:cNvSpPr/>
          <p:nvPr/>
        </p:nvSpPr>
        <p:spPr>
          <a:xfrm>
            <a:off x="749808" y="3566160"/>
            <a:ext cx="12618720" cy="320040"/>
          </a:xfrm>
          <a:prstGeom prst="rect">
            <a:avLst/>
          </a:prstGeom>
          <a:solidFill>
            <a:srgbClr val="4A90D9">
              <a:alpha val="20000"/>
            </a:srgbClr>
          </a:solidFill>
          <a:ln/>
        </p:spPr>
        <p:txBody>
          <a:bodyPr/>
          <a:lstStyle/>
          <a:p>
            <a:endParaRPr lang="ja-JP" altLang="en-US"/>
          </a:p>
        </p:txBody>
      </p:sp>
      <p:sp>
        <p:nvSpPr>
          <p:cNvPr id="48" name="Shape 46"/>
          <p:cNvSpPr/>
          <p:nvPr/>
        </p:nvSpPr>
        <p:spPr>
          <a:xfrm>
            <a:off x="749808" y="3566160"/>
            <a:ext cx="1188720" cy="320040"/>
          </a:xfrm>
          <a:prstGeom prst="rect">
            <a:avLst/>
          </a:prstGeom>
          <a:solidFill>
            <a:srgbClr val="4A90D9"/>
          </a:solidFill>
          <a:ln/>
        </p:spPr>
        <p:txBody>
          <a:bodyPr/>
          <a:lstStyle/>
          <a:p>
            <a:endParaRPr lang="ja-JP" altLang="en-US"/>
          </a:p>
        </p:txBody>
      </p:sp>
      <p:sp>
        <p:nvSpPr>
          <p:cNvPr id="49" name="Text 47"/>
          <p:cNvSpPr/>
          <p:nvPr/>
        </p:nvSpPr>
        <p:spPr>
          <a:xfrm>
            <a:off x="749808" y="3566160"/>
            <a:ext cx="1188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日常パス</a:t>
            </a:r>
            <a:endParaRPr lang="en-US" sz="1300" dirty="0"/>
          </a:p>
        </p:txBody>
      </p:sp>
      <p:sp>
        <p:nvSpPr>
          <p:cNvPr id="50" name="Shape 48"/>
          <p:cNvSpPr/>
          <p:nvPr/>
        </p:nvSpPr>
        <p:spPr>
          <a:xfrm>
            <a:off x="749808" y="3977640"/>
            <a:ext cx="12618720" cy="320040"/>
          </a:xfrm>
          <a:prstGeom prst="rect">
            <a:avLst/>
          </a:prstGeom>
          <a:solidFill>
            <a:srgbClr val="F39C12">
              <a:alpha val="20000"/>
            </a:srgbClr>
          </a:solidFill>
          <a:ln/>
        </p:spPr>
        <p:txBody>
          <a:bodyPr/>
          <a:lstStyle/>
          <a:p>
            <a:endParaRPr lang="ja-JP" altLang="en-US"/>
          </a:p>
        </p:txBody>
      </p:sp>
      <p:sp>
        <p:nvSpPr>
          <p:cNvPr id="51" name="Shape 49"/>
          <p:cNvSpPr/>
          <p:nvPr/>
        </p:nvSpPr>
        <p:spPr>
          <a:xfrm>
            <a:off x="749808" y="3977640"/>
            <a:ext cx="1188720" cy="320040"/>
          </a:xfrm>
          <a:prstGeom prst="rect">
            <a:avLst/>
          </a:prstGeom>
          <a:solidFill>
            <a:srgbClr val="F39C12"/>
          </a:solidFill>
          <a:ln/>
        </p:spPr>
        <p:txBody>
          <a:bodyPr/>
          <a:lstStyle/>
          <a:p>
            <a:endParaRPr lang="ja-JP" altLang="en-US"/>
          </a:p>
        </p:txBody>
      </p:sp>
      <p:sp>
        <p:nvSpPr>
          <p:cNvPr id="52" name="Text 50"/>
          <p:cNvSpPr/>
          <p:nvPr/>
        </p:nvSpPr>
        <p:spPr>
          <a:xfrm>
            <a:off x="749808" y="3977640"/>
            <a:ext cx="1188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注意パス</a:t>
            </a:r>
            <a:endParaRPr lang="en-US" sz="1300" dirty="0"/>
          </a:p>
        </p:txBody>
      </p:sp>
      <p:sp>
        <p:nvSpPr>
          <p:cNvPr id="53" name="Shape 51"/>
          <p:cNvSpPr/>
          <p:nvPr/>
        </p:nvSpPr>
        <p:spPr>
          <a:xfrm>
            <a:off x="749808" y="4389120"/>
            <a:ext cx="12618720" cy="320040"/>
          </a:xfrm>
          <a:prstGeom prst="rect">
            <a:avLst/>
          </a:prstGeom>
          <a:solidFill>
            <a:srgbClr val="C0392B">
              <a:alpha val="20000"/>
            </a:srgbClr>
          </a:solidFill>
          <a:ln/>
        </p:spPr>
        <p:txBody>
          <a:bodyPr/>
          <a:lstStyle/>
          <a:p>
            <a:endParaRPr lang="ja-JP" altLang="en-US"/>
          </a:p>
        </p:txBody>
      </p:sp>
      <p:sp>
        <p:nvSpPr>
          <p:cNvPr id="54" name="Shape 52"/>
          <p:cNvSpPr/>
          <p:nvPr/>
        </p:nvSpPr>
        <p:spPr>
          <a:xfrm>
            <a:off x="749808" y="4389120"/>
            <a:ext cx="1188720" cy="320040"/>
          </a:xfrm>
          <a:prstGeom prst="rect">
            <a:avLst/>
          </a:prstGeom>
          <a:solidFill>
            <a:srgbClr val="C0392B"/>
          </a:solidFill>
          <a:ln/>
        </p:spPr>
        <p:txBody>
          <a:bodyPr/>
          <a:lstStyle/>
          <a:p>
            <a:endParaRPr lang="ja-JP" altLang="en-US"/>
          </a:p>
        </p:txBody>
      </p:sp>
      <p:sp>
        <p:nvSpPr>
          <p:cNvPr id="55" name="Text 53"/>
          <p:cNvSpPr/>
          <p:nvPr/>
        </p:nvSpPr>
        <p:spPr>
          <a:xfrm>
            <a:off x="749808" y="4389120"/>
            <a:ext cx="11887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危険パス</a:t>
            </a:r>
            <a:endParaRPr lang="en-US" sz="1300" dirty="0"/>
          </a:p>
        </p:txBody>
      </p:sp>
      <p:sp>
        <p:nvSpPr>
          <p:cNvPr id="56" name="Shape 54"/>
          <p:cNvSpPr/>
          <p:nvPr/>
        </p:nvSpPr>
        <p:spPr>
          <a:xfrm>
            <a:off x="566928" y="4846320"/>
            <a:ext cx="13496544"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57" name="Text 55"/>
          <p:cNvSpPr/>
          <p:nvPr/>
        </p:nvSpPr>
        <p:spPr>
          <a:xfrm>
            <a:off x="749808" y="4937760"/>
            <a:ext cx="2743200" cy="365760"/>
          </a:xfrm>
          <a:prstGeom prst="rect">
            <a:avLst/>
          </a:prstGeom>
          <a:noFill/>
          <a:ln/>
        </p:spPr>
        <p:txBody>
          <a:bodyPr wrap="square" lIns="0" tIns="0" rIns="0" bIns="0" rtlCol="0" anchor="ctr"/>
          <a:lstStyle/>
          <a:p>
            <a:pPr marL="0" indent="0">
              <a:buNone/>
            </a:pPr>
            <a:r>
              <a:rPr lang="en-US" sz="1600" b="1" dirty="0">
                <a:solidFill>
                  <a:srgbClr val="4A90D9"/>
                </a:solidFill>
                <a:latin typeface="Hiragino Sans W6" pitchFamily="34" charset="0"/>
                <a:ea typeface="Hiragino Sans W6" pitchFamily="34" charset="-122"/>
                <a:cs typeface="Hiragino Sans W6" pitchFamily="34" charset="-120"/>
              </a:rPr>
              <a:t>ポイント</a:t>
            </a:r>
            <a:endParaRPr lang="en-US" sz="1600" dirty="0"/>
          </a:p>
        </p:txBody>
      </p:sp>
      <p:sp>
        <p:nvSpPr>
          <p:cNvPr id="58" name="Text 56"/>
          <p:cNvSpPr/>
          <p:nvPr/>
        </p:nvSpPr>
        <p:spPr>
          <a:xfrm>
            <a:off x="749808" y="5349240"/>
            <a:ext cx="13130784" cy="731520"/>
          </a:xfrm>
          <a:prstGeom prst="rect">
            <a:avLst/>
          </a:prstGeom>
          <a:noFill/>
          <a:ln/>
        </p:spPr>
        <p:txBody>
          <a:bodyPr wrap="square" lIns="0" tIns="0" rIns="0" bIns="0" rtlCol="0" anchor="ctr"/>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各ステップに「理想→日常→注意→危険」の4層を定義。AIが支援行動をリアルタイム分析し、危険パスへの逸脱を自動検知。虐待予防と支援品質の同時実現。</a:t>
            </a:r>
            <a:endParaRPr lang="en-US" sz="1500" dirty="0"/>
          </a:p>
        </p:txBody>
      </p:sp>
      <p:sp>
        <p:nvSpPr>
          <p:cNvPr id="59" name="Text 57"/>
          <p:cNvSpPr/>
          <p:nvPr/>
        </p:nvSpPr>
        <p:spPr>
          <a:xfrm>
            <a:off x="749808" y="6126480"/>
            <a:ext cx="13130784" cy="914400"/>
          </a:xfrm>
          <a:prstGeom prst="rect">
            <a:avLst/>
          </a:prstGeom>
          <a:noFill/>
          <a:ln/>
        </p:spPr>
        <p:txBody>
          <a:bodyPr wrap="square" lIns="0" tIns="0" rIns="0" bIns="0" rtlCol="0" anchor="ctr"/>
          <a:lstStyle/>
          <a:p>
            <a:pPr marL="0" indent="0">
              <a:buNone/>
            </a:pPr>
            <a:r>
              <a:rPr lang="en-US" sz="1500" b="1" dirty="0">
                <a:solidFill>
                  <a:srgbClr val="4A90D9"/>
                </a:solidFill>
                <a:latin typeface="Hiragino Sans W6" pitchFamily="34" charset="0"/>
                <a:ea typeface="Hiragino Sans W6" pitchFamily="34" charset="-122"/>
                <a:cs typeface="Hiragino Sans W6" pitchFamily="34" charset="-120"/>
              </a:rPr>
              <a:t>他社との違い: </a:t>
            </a:r>
            <a:r>
              <a:rPr lang="en-US" sz="1500" dirty="0">
                <a:solidFill>
                  <a:srgbClr val="4A4A45"/>
                </a:solidFill>
                <a:latin typeface="Hiragino Sans W3" pitchFamily="34" charset="0"/>
                <a:ea typeface="Hiragino Sans W3" pitchFamily="34" charset="-122"/>
                <a:cs typeface="Hiragino Sans W3" pitchFamily="34" charset="-120"/>
              </a:rPr>
              <a:t>他社のケア記録システムは「箱」を提供するだけ。中身は現場任せ。私たちは</a:t>
            </a:r>
            <a:r>
              <a:rPr lang="en-US" sz="1500" b="1" dirty="0">
                <a:solidFill>
                  <a:srgbClr val="282824"/>
                </a:solidFill>
                <a:latin typeface="Hiragino Sans W6" pitchFamily="34" charset="0"/>
                <a:ea typeface="Hiragino Sans W6" pitchFamily="34" charset="-122"/>
                <a:cs typeface="Hiragino Sans W6" pitchFamily="34" charset="-120"/>
              </a:rPr>
              <a:t>箱の中に6年分の知恵を詰めて出荷する</a:t>
            </a:r>
            <a:r>
              <a:rPr lang="en-US" sz="1500" dirty="0">
                <a:solidFill>
                  <a:srgbClr val="4A4A45"/>
                </a:solidFill>
                <a:latin typeface="Hiragino Sans W3" pitchFamily="34" charset="0"/>
                <a:ea typeface="Hiragino Sans W3" pitchFamily="34" charset="-122"/>
                <a:cs typeface="Hiragino Sans W3" pitchFamily="34" charset="-120"/>
              </a:rPr>
              <a:t>。導入初日から意味のある記録が取れる。</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マトリックスを支える独自ツール群</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サンライズが6年間現場で磨いたアナログツールをそのままデジタル化</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紙ツール → デジタル → AI分析 の変換マップ</a:t>
            </a:r>
            <a:endParaRPr lang="en-US" sz="2000" dirty="0"/>
          </a:p>
        </p:txBody>
      </p:sp>
      <p:sp>
        <p:nvSpPr>
          <p:cNvPr id="6" name="Shape 4"/>
          <p:cNvSpPr/>
          <p:nvPr/>
        </p:nvSpPr>
        <p:spPr>
          <a:xfrm>
            <a:off x="749808" y="2331720"/>
            <a:ext cx="13130784" cy="640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749808" y="2331720"/>
            <a:ext cx="54864" cy="640080"/>
          </a:xfrm>
          <a:prstGeom prst="rect">
            <a:avLst/>
          </a:prstGeom>
          <a:solidFill>
            <a:srgbClr val="4A90D9"/>
          </a:solidFill>
          <a:ln/>
        </p:spPr>
        <p:txBody>
          <a:bodyPr/>
          <a:lstStyle/>
          <a:p>
            <a:endParaRPr lang="ja-JP" altLang="en-US"/>
          </a:p>
        </p:txBody>
      </p:sp>
      <p:sp>
        <p:nvSpPr>
          <p:cNvPr id="8" name="Text 6"/>
          <p:cNvSpPr/>
          <p:nvPr/>
        </p:nvSpPr>
        <p:spPr>
          <a:xfrm>
            <a:off x="978408" y="2331720"/>
            <a:ext cx="2560320" cy="640080"/>
          </a:xfrm>
          <a:prstGeom prst="rect">
            <a:avLst/>
          </a:prstGeom>
          <a:noFill/>
          <a:ln/>
        </p:spPr>
        <p:txBody>
          <a:bodyPr wrap="square" lIns="0" tIns="0" rIns="0" bIns="0" rtlCol="0" anchor="ctr"/>
          <a:lstStyle/>
          <a:p>
            <a:pPr marL="0" indent="0" algn="l">
              <a:buNone/>
            </a:pPr>
            <a:r>
              <a:rPr lang="en-US" sz="1600" b="1" dirty="0">
                <a:solidFill>
                  <a:srgbClr val="282824"/>
                </a:solidFill>
                <a:latin typeface="Hiragino Sans W6" pitchFamily="34" charset="0"/>
                <a:ea typeface="Hiragino Sans W6" pitchFamily="34" charset="-122"/>
                <a:cs typeface="Hiragino Sans W6" pitchFamily="34" charset="-120"/>
              </a:rPr>
              <a:t>支援カルテ</a:t>
            </a:r>
            <a:endParaRPr lang="en-US" sz="1600" dirty="0"/>
          </a:p>
        </p:txBody>
      </p:sp>
      <p:sp>
        <p:nvSpPr>
          <p:cNvPr id="9" name="Text 7"/>
          <p:cNvSpPr/>
          <p:nvPr/>
        </p:nvSpPr>
        <p:spPr>
          <a:xfrm>
            <a:off x="3675888" y="2331720"/>
            <a:ext cx="457200" cy="640080"/>
          </a:xfrm>
          <a:prstGeom prst="rect">
            <a:avLst/>
          </a:prstGeom>
          <a:noFill/>
          <a:ln/>
        </p:spPr>
        <p:txBody>
          <a:bodyPr wrap="square" lIns="0" tIns="0" rIns="0" bIns="0" rtlCol="0" anchor="ctr"/>
          <a:lstStyle/>
          <a:p>
            <a:pPr marL="0" indent="0" algn="ctr">
              <a:buNone/>
            </a:pPr>
            <a:r>
              <a:rPr lang="en-US" sz="2000" dirty="0">
                <a:solidFill>
                  <a:srgbClr val="4A90D9"/>
                </a:solidFill>
                <a:latin typeface="Hiragino Sans W6" pitchFamily="34" charset="0"/>
                <a:ea typeface="Hiragino Sans W6" pitchFamily="34" charset="-122"/>
                <a:cs typeface="Hiragino Sans W6" pitchFamily="34" charset="-120"/>
              </a:rPr>
              <a:t>→</a:t>
            </a:r>
            <a:endParaRPr lang="en-US" sz="2000" dirty="0"/>
          </a:p>
        </p:txBody>
      </p:sp>
      <p:sp>
        <p:nvSpPr>
          <p:cNvPr id="10" name="Text 8"/>
          <p:cNvSpPr/>
          <p:nvPr/>
        </p:nvSpPr>
        <p:spPr>
          <a:xfrm>
            <a:off x="4224528" y="2331720"/>
            <a:ext cx="5029200" cy="640080"/>
          </a:xfrm>
          <a:prstGeom prst="rect">
            <a:avLst/>
          </a:prstGeom>
          <a:noFill/>
          <a:ln/>
        </p:spPr>
        <p:txBody>
          <a:bodyPr wrap="square" lIns="0" tIns="0" rIns="0" bIns="0" rtlCol="0" anchor="ctr"/>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面談・傾聴の構造化記録</a:t>
            </a:r>
            <a:endParaRPr lang="en-US" sz="1500" dirty="0"/>
          </a:p>
        </p:txBody>
      </p:sp>
      <p:sp>
        <p:nvSpPr>
          <p:cNvPr id="11" name="Text 9"/>
          <p:cNvSpPr/>
          <p:nvPr/>
        </p:nvSpPr>
        <p:spPr>
          <a:xfrm>
            <a:off x="9436608" y="2331720"/>
            <a:ext cx="1828800" cy="640080"/>
          </a:xfrm>
          <a:prstGeom prst="rect">
            <a:avLst/>
          </a:prstGeom>
          <a:noFill/>
          <a:ln/>
        </p:spPr>
        <p:txBody>
          <a:bodyPr wrap="square" lIns="0" tIns="0" rIns="0" bIns="0" rtlCol="0" anchor="ctr"/>
          <a:lstStyle/>
          <a:p>
            <a:pPr marL="0" indent="0" algn="ctr">
              <a:buNone/>
            </a:pPr>
            <a:r>
              <a:rPr lang="en-US" sz="1400" b="1" dirty="0">
                <a:solidFill>
                  <a:srgbClr val="4A90D9"/>
                </a:solidFill>
                <a:latin typeface="Hiragino Sans W6" pitchFamily="34" charset="0"/>
                <a:ea typeface="Hiragino Sans W6" pitchFamily="34" charset="-122"/>
                <a:cs typeface="Hiragino Sans W6" pitchFamily="34" charset="-120"/>
              </a:rPr>
              <a:t>Step 1-2</a:t>
            </a:r>
            <a:endParaRPr lang="en-US" sz="1400" dirty="0"/>
          </a:p>
        </p:txBody>
      </p:sp>
      <p:sp>
        <p:nvSpPr>
          <p:cNvPr id="12" name="Text 10"/>
          <p:cNvSpPr/>
          <p:nvPr/>
        </p:nvSpPr>
        <p:spPr>
          <a:xfrm>
            <a:off x="11356848" y="2331720"/>
            <a:ext cx="1828800" cy="640080"/>
          </a:xfrm>
          <a:prstGeom prst="rect">
            <a:avLst/>
          </a:prstGeom>
          <a:noFill/>
          <a:ln/>
        </p:spPr>
        <p:txBody>
          <a:bodyPr wrap="square" lIns="0" tIns="0" rIns="0" bIns="0" rtlCol="0" anchor="ctr"/>
          <a:lstStyle/>
          <a:p>
            <a:pPr marL="0" indent="0" algn="ctr">
              <a:buNone/>
            </a:pPr>
            <a:r>
              <a:rPr lang="en-US" sz="1400" b="1" dirty="0">
                <a:solidFill>
                  <a:srgbClr val="27AE60"/>
                </a:solidFill>
                <a:latin typeface="Hiragino Sans W6" pitchFamily="34" charset="0"/>
                <a:ea typeface="Hiragino Sans W6" pitchFamily="34" charset="-122"/>
                <a:cs typeface="Hiragino Sans W6" pitchFamily="34" charset="-120"/>
              </a:rPr>
              <a:t>デジタル化済</a:t>
            </a:r>
            <a:endParaRPr lang="en-US" sz="1400" dirty="0"/>
          </a:p>
        </p:txBody>
      </p:sp>
      <p:sp>
        <p:nvSpPr>
          <p:cNvPr id="13" name="Shape 11"/>
          <p:cNvSpPr/>
          <p:nvPr/>
        </p:nvSpPr>
        <p:spPr>
          <a:xfrm>
            <a:off x="749808" y="3081528"/>
            <a:ext cx="13130784" cy="640080"/>
          </a:xfrm>
          <a:prstGeom prst="rect">
            <a:avLst/>
          </a:prstGeom>
          <a:solidFill>
            <a:srgbClr val="F9F6F0"/>
          </a:solidFill>
          <a:ln/>
          <a:effectLst>
            <a:outerShdw blurRad="76200" dist="25400" dir="8100000" algn="bl" rotWithShape="0">
              <a:srgbClr val="000000">
                <a:alpha val="12000"/>
              </a:srgbClr>
            </a:outerShdw>
          </a:effectLst>
        </p:spPr>
        <p:txBody>
          <a:bodyPr/>
          <a:lstStyle/>
          <a:p>
            <a:endParaRPr lang="ja-JP" altLang="en-US"/>
          </a:p>
        </p:txBody>
      </p:sp>
      <p:sp>
        <p:nvSpPr>
          <p:cNvPr id="14" name="Shape 12"/>
          <p:cNvSpPr/>
          <p:nvPr/>
        </p:nvSpPr>
        <p:spPr>
          <a:xfrm>
            <a:off x="749808" y="3081528"/>
            <a:ext cx="54864" cy="640080"/>
          </a:xfrm>
          <a:prstGeom prst="rect">
            <a:avLst/>
          </a:prstGeom>
          <a:solidFill>
            <a:srgbClr val="4A90D9"/>
          </a:solidFill>
          <a:ln/>
        </p:spPr>
        <p:txBody>
          <a:bodyPr/>
          <a:lstStyle/>
          <a:p>
            <a:endParaRPr lang="ja-JP" altLang="en-US"/>
          </a:p>
        </p:txBody>
      </p:sp>
      <p:sp>
        <p:nvSpPr>
          <p:cNvPr id="15" name="Text 13"/>
          <p:cNvSpPr/>
          <p:nvPr/>
        </p:nvSpPr>
        <p:spPr>
          <a:xfrm>
            <a:off x="978408" y="3081528"/>
            <a:ext cx="2560320" cy="640080"/>
          </a:xfrm>
          <a:prstGeom prst="rect">
            <a:avLst/>
          </a:prstGeom>
          <a:noFill/>
          <a:ln/>
        </p:spPr>
        <p:txBody>
          <a:bodyPr wrap="square" lIns="0" tIns="0" rIns="0" bIns="0" rtlCol="0" anchor="ctr"/>
          <a:lstStyle/>
          <a:p>
            <a:pPr marL="0" indent="0" algn="l">
              <a:buNone/>
            </a:pPr>
            <a:r>
              <a:rPr lang="en-US" sz="1600" b="1" dirty="0">
                <a:solidFill>
                  <a:srgbClr val="282824"/>
                </a:solidFill>
                <a:latin typeface="Hiragino Sans W6" pitchFamily="34" charset="0"/>
                <a:ea typeface="Hiragino Sans W6" pitchFamily="34" charset="-122"/>
                <a:cs typeface="Hiragino Sans W6" pitchFamily="34" charset="-120"/>
              </a:rPr>
              <a:t>なるほどカード</a:t>
            </a:r>
            <a:endParaRPr lang="en-US" sz="1600" dirty="0"/>
          </a:p>
        </p:txBody>
      </p:sp>
      <p:sp>
        <p:nvSpPr>
          <p:cNvPr id="16" name="Text 14"/>
          <p:cNvSpPr/>
          <p:nvPr/>
        </p:nvSpPr>
        <p:spPr>
          <a:xfrm>
            <a:off x="3675888" y="3081528"/>
            <a:ext cx="457200" cy="640080"/>
          </a:xfrm>
          <a:prstGeom prst="rect">
            <a:avLst/>
          </a:prstGeom>
          <a:noFill/>
          <a:ln/>
        </p:spPr>
        <p:txBody>
          <a:bodyPr wrap="square" lIns="0" tIns="0" rIns="0" bIns="0" rtlCol="0" anchor="ctr"/>
          <a:lstStyle/>
          <a:p>
            <a:pPr marL="0" indent="0" algn="ctr">
              <a:buNone/>
            </a:pPr>
            <a:r>
              <a:rPr lang="en-US" sz="2000" dirty="0">
                <a:solidFill>
                  <a:srgbClr val="4A90D9"/>
                </a:solidFill>
                <a:latin typeface="Hiragino Sans W6" pitchFamily="34" charset="0"/>
                <a:ea typeface="Hiragino Sans W6" pitchFamily="34" charset="-122"/>
                <a:cs typeface="Hiragino Sans W6" pitchFamily="34" charset="-120"/>
              </a:rPr>
              <a:t>→</a:t>
            </a:r>
            <a:endParaRPr lang="en-US" sz="2000" dirty="0"/>
          </a:p>
        </p:txBody>
      </p:sp>
      <p:sp>
        <p:nvSpPr>
          <p:cNvPr id="17" name="Text 15"/>
          <p:cNvSpPr/>
          <p:nvPr/>
        </p:nvSpPr>
        <p:spPr>
          <a:xfrm>
            <a:off x="4224528" y="3081528"/>
            <a:ext cx="5029200" cy="640080"/>
          </a:xfrm>
          <a:prstGeom prst="rect">
            <a:avLst/>
          </a:prstGeom>
          <a:noFill/>
          <a:ln/>
        </p:spPr>
        <p:txBody>
          <a:bodyPr wrap="square" lIns="0" tIns="0" rIns="0" bIns="0" rtlCol="0" anchor="ctr"/>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利用者の気づき・強みを言語化</a:t>
            </a:r>
            <a:endParaRPr lang="en-US" sz="1500" dirty="0"/>
          </a:p>
        </p:txBody>
      </p:sp>
      <p:sp>
        <p:nvSpPr>
          <p:cNvPr id="18" name="Text 16"/>
          <p:cNvSpPr/>
          <p:nvPr/>
        </p:nvSpPr>
        <p:spPr>
          <a:xfrm>
            <a:off x="9436608" y="3081528"/>
            <a:ext cx="1828800" cy="640080"/>
          </a:xfrm>
          <a:prstGeom prst="rect">
            <a:avLst/>
          </a:prstGeom>
          <a:noFill/>
          <a:ln/>
        </p:spPr>
        <p:txBody>
          <a:bodyPr wrap="square" lIns="0" tIns="0" rIns="0" bIns="0" rtlCol="0" anchor="ctr"/>
          <a:lstStyle/>
          <a:p>
            <a:pPr marL="0" indent="0" algn="ctr">
              <a:buNone/>
            </a:pPr>
            <a:r>
              <a:rPr lang="en-US" sz="1400" b="1" dirty="0">
                <a:solidFill>
                  <a:srgbClr val="4A90D9"/>
                </a:solidFill>
                <a:latin typeface="Hiragino Sans W6" pitchFamily="34" charset="0"/>
                <a:ea typeface="Hiragino Sans W6" pitchFamily="34" charset="-122"/>
                <a:cs typeface="Hiragino Sans W6" pitchFamily="34" charset="-120"/>
              </a:rPr>
              <a:t>Step 5</a:t>
            </a:r>
            <a:endParaRPr lang="en-US" sz="1400" dirty="0"/>
          </a:p>
        </p:txBody>
      </p:sp>
      <p:sp>
        <p:nvSpPr>
          <p:cNvPr id="19" name="Text 17"/>
          <p:cNvSpPr/>
          <p:nvPr/>
        </p:nvSpPr>
        <p:spPr>
          <a:xfrm>
            <a:off x="11356848" y="3081528"/>
            <a:ext cx="1828800" cy="640080"/>
          </a:xfrm>
          <a:prstGeom prst="rect">
            <a:avLst/>
          </a:prstGeom>
          <a:noFill/>
          <a:ln/>
        </p:spPr>
        <p:txBody>
          <a:bodyPr wrap="square" lIns="0" tIns="0" rIns="0" bIns="0" rtlCol="0" anchor="ctr"/>
          <a:lstStyle/>
          <a:p>
            <a:pPr marL="0" indent="0" algn="ctr">
              <a:buNone/>
            </a:pPr>
            <a:r>
              <a:rPr lang="en-US" sz="1400" b="1" dirty="0">
                <a:solidFill>
                  <a:srgbClr val="27AE60"/>
                </a:solidFill>
                <a:latin typeface="Hiragino Sans W6" pitchFamily="34" charset="0"/>
                <a:ea typeface="Hiragino Sans W6" pitchFamily="34" charset="-122"/>
                <a:cs typeface="Hiragino Sans W6" pitchFamily="34" charset="-120"/>
              </a:rPr>
              <a:t>デジタル化済</a:t>
            </a:r>
            <a:endParaRPr lang="en-US" sz="1400" dirty="0"/>
          </a:p>
        </p:txBody>
      </p:sp>
      <p:sp>
        <p:nvSpPr>
          <p:cNvPr id="20" name="Shape 18"/>
          <p:cNvSpPr/>
          <p:nvPr/>
        </p:nvSpPr>
        <p:spPr>
          <a:xfrm>
            <a:off x="749808" y="3831336"/>
            <a:ext cx="13130784" cy="640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1" name="Shape 19"/>
          <p:cNvSpPr/>
          <p:nvPr/>
        </p:nvSpPr>
        <p:spPr>
          <a:xfrm>
            <a:off x="749808" y="3831336"/>
            <a:ext cx="54864" cy="640080"/>
          </a:xfrm>
          <a:prstGeom prst="rect">
            <a:avLst/>
          </a:prstGeom>
          <a:solidFill>
            <a:srgbClr val="4A90D9"/>
          </a:solidFill>
          <a:ln/>
        </p:spPr>
        <p:txBody>
          <a:bodyPr/>
          <a:lstStyle/>
          <a:p>
            <a:endParaRPr lang="ja-JP" altLang="en-US"/>
          </a:p>
        </p:txBody>
      </p:sp>
      <p:sp>
        <p:nvSpPr>
          <p:cNvPr id="22" name="Text 20"/>
          <p:cNvSpPr/>
          <p:nvPr/>
        </p:nvSpPr>
        <p:spPr>
          <a:xfrm>
            <a:off x="978408" y="3831336"/>
            <a:ext cx="2560320" cy="640080"/>
          </a:xfrm>
          <a:prstGeom prst="rect">
            <a:avLst/>
          </a:prstGeom>
          <a:noFill/>
          <a:ln/>
        </p:spPr>
        <p:txBody>
          <a:bodyPr wrap="square" lIns="0" tIns="0" rIns="0" bIns="0" rtlCol="0" anchor="ctr"/>
          <a:lstStyle/>
          <a:p>
            <a:pPr marL="0" indent="0" algn="l">
              <a:buNone/>
            </a:pPr>
            <a:r>
              <a:rPr lang="en-US" sz="1600" b="1" dirty="0">
                <a:solidFill>
                  <a:srgbClr val="282824"/>
                </a:solidFill>
                <a:latin typeface="Hiragino Sans W6" pitchFamily="34" charset="0"/>
                <a:ea typeface="Hiragino Sans W6" pitchFamily="34" charset="-122"/>
                <a:cs typeface="Hiragino Sans W6" pitchFamily="34" charset="-120"/>
              </a:rPr>
              <a:t>できるカード</a:t>
            </a:r>
            <a:endParaRPr lang="en-US" sz="1600" dirty="0"/>
          </a:p>
        </p:txBody>
      </p:sp>
      <p:sp>
        <p:nvSpPr>
          <p:cNvPr id="23" name="Text 21"/>
          <p:cNvSpPr/>
          <p:nvPr/>
        </p:nvSpPr>
        <p:spPr>
          <a:xfrm>
            <a:off x="3675888" y="3831336"/>
            <a:ext cx="457200" cy="640080"/>
          </a:xfrm>
          <a:prstGeom prst="rect">
            <a:avLst/>
          </a:prstGeom>
          <a:noFill/>
          <a:ln/>
        </p:spPr>
        <p:txBody>
          <a:bodyPr wrap="square" lIns="0" tIns="0" rIns="0" bIns="0" rtlCol="0" anchor="ctr"/>
          <a:lstStyle/>
          <a:p>
            <a:pPr marL="0" indent="0" algn="ctr">
              <a:buNone/>
            </a:pPr>
            <a:r>
              <a:rPr lang="en-US" sz="2000" dirty="0">
                <a:solidFill>
                  <a:srgbClr val="4A90D9"/>
                </a:solidFill>
                <a:latin typeface="Hiragino Sans W6" pitchFamily="34" charset="0"/>
                <a:ea typeface="Hiragino Sans W6" pitchFamily="34" charset="-122"/>
                <a:cs typeface="Hiragino Sans W6" pitchFamily="34" charset="-120"/>
              </a:rPr>
              <a:t>→</a:t>
            </a:r>
            <a:endParaRPr lang="en-US" sz="2000" dirty="0"/>
          </a:p>
        </p:txBody>
      </p:sp>
      <p:sp>
        <p:nvSpPr>
          <p:cNvPr id="24" name="Text 22"/>
          <p:cNvSpPr/>
          <p:nvPr/>
        </p:nvSpPr>
        <p:spPr>
          <a:xfrm>
            <a:off x="4224528" y="3831336"/>
            <a:ext cx="5029200" cy="640080"/>
          </a:xfrm>
          <a:prstGeom prst="rect">
            <a:avLst/>
          </a:prstGeom>
          <a:noFill/>
          <a:ln/>
        </p:spPr>
        <p:txBody>
          <a:bodyPr wrap="square" lIns="0" tIns="0" rIns="0" bIns="0" rtlCol="0" anchor="ctr"/>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「できた！」瞬間を記録・共有</a:t>
            </a:r>
            <a:endParaRPr lang="en-US" sz="1500" dirty="0"/>
          </a:p>
        </p:txBody>
      </p:sp>
      <p:sp>
        <p:nvSpPr>
          <p:cNvPr id="25" name="Text 23"/>
          <p:cNvSpPr/>
          <p:nvPr/>
        </p:nvSpPr>
        <p:spPr>
          <a:xfrm>
            <a:off x="9436608" y="3831336"/>
            <a:ext cx="1828800" cy="640080"/>
          </a:xfrm>
          <a:prstGeom prst="rect">
            <a:avLst/>
          </a:prstGeom>
          <a:noFill/>
          <a:ln/>
        </p:spPr>
        <p:txBody>
          <a:bodyPr wrap="square" lIns="0" tIns="0" rIns="0" bIns="0" rtlCol="0" anchor="ctr"/>
          <a:lstStyle/>
          <a:p>
            <a:pPr marL="0" indent="0" algn="ctr">
              <a:buNone/>
            </a:pPr>
            <a:r>
              <a:rPr lang="en-US" sz="1400" b="1" dirty="0">
                <a:solidFill>
                  <a:srgbClr val="4A90D9"/>
                </a:solidFill>
                <a:latin typeface="Hiragino Sans W6" pitchFamily="34" charset="0"/>
                <a:ea typeface="Hiragino Sans W6" pitchFamily="34" charset="-122"/>
                <a:cs typeface="Hiragino Sans W6" pitchFamily="34" charset="-120"/>
              </a:rPr>
              <a:t>Step 7, 9</a:t>
            </a:r>
            <a:endParaRPr lang="en-US" sz="1400" dirty="0"/>
          </a:p>
        </p:txBody>
      </p:sp>
      <p:sp>
        <p:nvSpPr>
          <p:cNvPr id="26" name="Text 24"/>
          <p:cNvSpPr/>
          <p:nvPr/>
        </p:nvSpPr>
        <p:spPr>
          <a:xfrm>
            <a:off x="11356848" y="3831336"/>
            <a:ext cx="1828800" cy="640080"/>
          </a:xfrm>
          <a:prstGeom prst="rect">
            <a:avLst/>
          </a:prstGeom>
          <a:noFill/>
          <a:ln/>
        </p:spPr>
        <p:txBody>
          <a:bodyPr wrap="square" lIns="0" tIns="0" rIns="0" bIns="0" rtlCol="0" anchor="ctr"/>
          <a:lstStyle/>
          <a:p>
            <a:pPr marL="0" indent="0" algn="ctr">
              <a:buNone/>
            </a:pPr>
            <a:r>
              <a:rPr lang="en-US" sz="1400" b="1" dirty="0">
                <a:solidFill>
                  <a:srgbClr val="27AE60"/>
                </a:solidFill>
                <a:latin typeface="Hiragino Sans W6" pitchFamily="34" charset="0"/>
                <a:ea typeface="Hiragino Sans W6" pitchFamily="34" charset="-122"/>
                <a:cs typeface="Hiragino Sans W6" pitchFamily="34" charset="-120"/>
              </a:rPr>
              <a:t>デジタル化済</a:t>
            </a:r>
            <a:endParaRPr lang="en-US" sz="1400" dirty="0"/>
          </a:p>
        </p:txBody>
      </p:sp>
      <p:sp>
        <p:nvSpPr>
          <p:cNvPr id="27" name="Shape 25"/>
          <p:cNvSpPr/>
          <p:nvPr/>
        </p:nvSpPr>
        <p:spPr>
          <a:xfrm>
            <a:off x="749808" y="4581144"/>
            <a:ext cx="13130784" cy="640080"/>
          </a:xfrm>
          <a:prstGeom prst="rect">
            <a:avLst/>
          </a:prstGeom>
          <a:solidFill>
            <a:srgbClr val="F9F6F0"/>
          </a:solidFill>
          <a:ln/>
          <a:effectLst>
            <a:outerShdw blurRad="76200" dist="25400" dir="8100000" algn="bl" rotWithShape="0">
              <a:srgbClr val="000000">
                <a:alpha val="12000"/>
              </a:srgbClr>
            </a:outerShdw>
          </a:effectLst>
        </p:spPr>
        <p:txBody>
          <a:bodyPr/>
          <a:lstStyle/>
          <a:p>
            <a:endParaRPr lang="ja-JP" altLang="en-US"/>
          </a:p>
        </p:txBody>
      </p:sp>
      <p:sp>
        <p:nvSpPr>
          <p:cNvPr id="28" name="Shape 26"/>
          <p:cNvSpPr/>
          <p:nvPr/>
        </p:nvSpPr>
        <p:spPr>
          <a:xfrm>
            <a:off x="749808" y="4581144"/>
            <a:ext cx="54864" cy="640080"/>
          </a:xfrm>
          <a:prstGeom prst="rect">
            <a:avLst/>
          </a:prstGeom>
          <a:solidFill>
            <a:srgbClr val="4A90D9"/>
          </a:solidFill>
          <a:ln/>
        </p:spPr>
        <p:txBody>
          <a:bodyPr/>
          <a:lstStyle/>
          <a:p>
            <a:endParaRPr lang="ja-JP" altLang="en-US"/>
          </a:p>
        </p:txBody>
      </p:sp>
      <p:sp>
        <p:nvSpPr>
          <p:cNvPr id="29" name="Text 27"/>
          <p:cNvSpPr/>
          <p:nvPr/>
        </p:nvSpPr>
        <p:spPr>
          <a:xfrm>
            <a:off x="978408" y="4581144"/>
            <a:ext cx="2560320" cy="640080"/>
          </a:xfrm>
          <a:prstGeom prst="rect">
            <a:avLst/>
          </a:prstGeom>
          <a:noFill/>
          <a:ln/>
        </p:spPr>
        <p:txBody>
          <a:bodyPr wrap="square" lIns="0" tIns="0" rIns="0" bIns="0" rtlCol="0" anchor="ctr"/>
          <a:lstStyle/>
          <a:p>
            <a:pPr marL="0" indent="0" algn="l">
              <a:buNone/>
            </a:pPr>
            <a:r>
              <a:rPr lang="en-US" sz="1600" b="1" dirty="0">
                <a:solidFill>
                  <a:srgbClr val="282824"/>
                </a:solidFill>
                <a:latin typeface="Hiragino Sans W6" pitchFamily="34" charset="0"/>
                <a:ea typeface="Hiragino Sans W6" pitchFamily="34" charset="-122"/>
                <a:cs typeface="Hiragino Sans W6" pitchFamily="34" charset="-120"/>
              </a:rPr>
              <a:t>日常生活達成シート</a:t>
            </a:r>
            <a:endParaRPr lang="en-US" sz="1600" dirty="0"/>
          </a:p>
        </p:txBody>
      </p:sp>
      <p:sp>
        <p:nvSpPr>
          <p:cNvPr id="30" name="Text 28"/>
          <p:cNvSpPr/>
          <p:nvPr/>
        </p:nvSpPr>
        <p:spPr>
          <a:xfrm>
            <a:off x="3675888" y="4581144"/>
            <a:ext cx="457200" cy="640080"/>
          </a:xfrm>
          <a:prstGeom prst="rect">
            <a:avLst/>
          </a:prstGeom>
          <a:noFill/>
          <a:ln/>
        </p:spPr>
        <p:txBody>
          <a:bodyPr wrap="square" lIns="0" tIns="0" rIns="0" bIns="0" rtlCol="0" anchor="ctr"/>
          <a:lstStyle/>
          <a:p>
            <a:pPr marL="0" indent="0" algn="ctr">
              <a:buNone/>
            </a:pPr>
            <a:r>
              <a:rPr lang="en-US" sz="2000" dirty="0">
                <a:solidFill>
                  <a:srgbClr val="4A90D9"/>
                </a:solidFill>
                <a:latin typeface="Hiragino Sans W6" pitchFamily="34" charset="0"/>
                <a:ea typeface="Hiragino Sans W6" pitchFamily="34" charset="-122"/>
                <a:cs typeface="Hiragino Sans W6" pitchFamily="34" charset="-120"/>
              </a:rPr>
              <a:t>→</a:t>
            </a:r>
            <a:endParaRPr lang="en-US" sz="2000" dirty="0"/>
          </a:p>
        </p:txBody>
      </p:sp>
      <p:sp>
        <p:nvSpPr>
          <p:cNvPr id="31" name="Text 29"/>
          <p:cNvSpPr/>
          <p:nvPr/>
        </p:nvSpPr>
        <p:spPr>
          <a:xfrm>
            <a:off x="4224528" y="4581144"/>
            <a:ext cx="5029200" cy="640080"/>
          </a:xfrm>
          <a:prstGeom prst="rect">
            <a:avLst/>
          </a:prstGeom>
          <a:noFill/>
          <a:ln/>
        </p:spPr>
        <p:txBody>
          <a:bodyPr wrap="square" lIns="0" tIns="0" rIns="0" bIns="0" rtlCol="0" anchor="ctr"/>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日常動作の自立度を定期評価</a:t>
            </a:r>
            <a:endParaRPr lang="en-US" sz="1500" dirty="0"/>
          </a:p>
        </p:txBody>
      </p:sp>
      <p:sp>
        <p:nvSpPr>
          <p:cNvPr id="32" name="Text 30"/>
          <p:cNvSpPr/>
          <p:nvPr/>
        </p:nvSpPr>
        <p:spPr>
          <a:xfrm>
            <a:off x="9436608" y="4581144"/>
            <a:ext cx="1828800" cy="640080"/>
          </a:xfrm>
          <a:prstGeom prst="rect">
            <a:avLst/>
          </a:prstGeom>
          <a:noFill/>
          <a:ln/>
        </p:spPr>
        <p:txBody>
          <a:bodyPr wrap="square" lIns="0" tIns="0" rIns="0" bIns="0" rtlCol="0" anchor="ctr"/>
          <a:lstStyle/>
          <a:p>
            <a:pPr marL="0" indent="0" algn="ctr">
              <a:buNone/>
            </a:pPr>
            <a:r>
              <a:rPr lang="en-US" sz="1400" b="1" dirty="0">
                <a:solidFill>
                  <a:srgbClr val="4A90D9"/>
                </a:solidFill>
                <a:latin typeface="Hiragino Sans W6" pitchFamily="34" charset="0"/>
                <a:ea typeface="Hiragino Sans W6" pitchFamily="34" charset="-122"/>
                <a:cs typeface="Hiragino Sans W6" pitchFamily="34" charset="-120"/>
              </a:rPr>
              <a:t>Step 10</a:t>
            </a:r>
            <a:endParaRPr lang="en-US" sz="1400" dirty="0"/>
          </a:p>
        </p:txBody>
      </p:sp>
      <p:sp>
        <p:nvSpPr>
          <p:cNvPr id="33" name="Text 31"/>
          <p:cNvSpPr/>
          <p:nvPr/>
        </p:nvSpPr>
        <p:spPr>
          <a:xfrm>
            <a:off x="11356848" y="4581144"/>
            <a:ext cx="1828800" cy="640080"/>
          </a:xfrm>
          <a:prstGeom prst="rect">
            <a:avLst/>
          </a:prstGeom>
          <a:noFill/>
          <a:ln/>
        </p:spPr>
        <p:txBody>
          <a:bodyPr wrap="square" lIns="0" tIns="0" rIns="0" bIns="0" rtlCol="0" anchor="ctr"/>
          <a:lstStyle/>
          <a:p>
            <a:pPr marL="0" indent="0" algn="ctr">
              <a:buNone/>
            </a:pPr>
            <a:r>
              <a:rPr lang="en-US" sz="1400" b="1" dirty="0">
                <a:solidFill>
                  <a:srgbClr val="27AE60"/>
                </a:solidFill>
                <a:latin typeface="Hiragino Sans W6" pitchFamily="34" charset="0"/>
                <a:ea typeface="Hiragino Sans W6" pitchFamily="34" charset="-122"/>
                <a:cs typeface="Hiragino Sans W6" pitchFamily="34" charset="-120"/>
              </a:rPr>
              <a:t>デジタル化済</a:t>
            </a:r>
            <a:endParaRPr lang="en-US" sz="1400" dirty="0"/>
          </a:p>
        </p:txBody>
      </p:sp>
      <p:sp>
        <p:nvSpPr>
          <p:cNvPr id="34" name="Shape 32"/>
          <p:cNvSpPr/>
          <p:nvPr/>
        </p:nvSpPr>
        <p:spPr>
          <a:xfrm>
            <a:off x="749808" y="5330952"/>
            <a:ext cx="13130784" cy="640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35" name="Shape 33"/>
          <p:cNvSpPr/>
          <p:nvPr/>
        </p:nvSpPr>
        <p:spPr>
          <a:xfrm>
            <a:off x="749808" y="5330952"/>
            <a:ext cx="54864" cy="640080"/>
          </a:xfrm>
          <a:prstGeom prst="rect">
            <a:avLst/>
          </a:prstGeom>
          <a:solidFill>
            <a:srgbClr val="4A90D9"/>
          </a:solidFill>
          <a:ln/>
        </p:spPr>
        <p:txBody>
          <a:bodyPr/>
          <a:lstStyle/>
          <a:p>
            <a:endParaRPr lang="ja-JP" altLang="en-US"/>
          </a:p>
        </p:txBody>
      </p:sp>
      <p:sp>
        <p:nvSpPr>
          <p:cNvPr id="36" name="Text 34"/>
          <p:cNvSpPr/>
          <p:nvPr/>
        </p:nvSpPr>
        <p:spPr>
          <a:xfrm>
            <a:off x="978408" y="5330952"/>
            <a:ext cx="2560320" cy="640080"/>
          </a:xfrm>
          <a:prstGeom prst="rect">
            <a:avLst/>
          </a:prstGeom>
          <a:noFill/>
          <a:ln/>
        </p:spPr>
        <p:txBody>
          <a:bodyPr wrap="square" lIns="0" tIns="0" rIns="0" bIns="0" rtlCol="0" anchor="ctr"/>
          <a:lstStyle/>
          <a:p>
            <a:pPr marL="0" indent="0" algn="l">
              <a:buNone/>
            </a:pPr>
            <a:r>
              <a:rPr lang="en-US" sz="1600" b="1" dirty="0">
                <a:solidFill>
                  <a:srgbClr val="282824"/>
                </a:solidFill>
                <a:latin typeface="Hiragino Sans W6" pitchFamily="34" charset="0"/>
                <a:ea typeface="Hiragino Sans W6" pitchFamily="34" charset="-122"/>
                <a:cs typeface="Hiragino Sans W6" pitchFamily="34" charset="-120"/>
              </a:rPr>
              <a:t>社会生活達成シート</a:t>
            </a:r>
            <a:endParaRPr lang="en-US" sz="1600" dirty="0"/>
          </a:p>
        </p:txBody>
      </p:sp>
      <p:sp>
        <p:nvSpPr>
          <p:cNvPr id="37" name="Text 35"/>
          <p:cNvSpPr/>
          <p:nvPr/>
        </p:nvSpPr>
        <p:spPr>
          <a:xfrm>
            <a:off x="3675888" y="5330952"/>
            <a:ext cx="457200" cy="640080"/>
          </a:xfrm>
          <a:prstGeom prst="rect">
            <a:avLst/>
          </a:prstGeom>
          <a:noFill/>
          <a:ln/>
        </p:spPr>
        <p:txBody>
          <a:bodyPr wrap="square" lIns="0" tIns="0" rIns="0" bIns="0" rtlCol="0" anchor="ctr"/>
          <a:lstStyle/>
          <a:p>
            <a:pPr marL="0" indent="0" algn="ctr">
              <a:buNone/>
            </a:pPr>
            <a:r>
              <a:rPr lang="en-US" sz="2000" dirty="0">
                <a:solidFill>
                  <a:srgbClr val="4A90D9"/>
                </a:solidFill>
                <a:latin typeface="Hiragino Sans W6" pitchFamily="34" charset="0"/>
                <a:ea typeface="Hiragino Sans W6" pitchFamily="34" charset="-122"/>
                <a:cs typeface="Hiragino Sans W6" pitchFamily="34" charset="-120"/>
              </a:rPr>
              <a:t>→</a:t>
            </a:r>
            <a:endParaRPr lang="en-US" sz="2000" dirty="0"/>
          </a:p>
        </p:txBody>
      </p:sp>
      <p:sp>
        <p:nvSpPr>
          <p:cNvPr id="38" name="Text 36"/>
          <p:cNvSpPr/>
          <p:nvPr/>
        </p:nvSpPr>
        <p:spPr>
          <a:xfrm>
            <a:off x="4224528" y="5330952"/>
            <a:ext cx="5029200" cy="640080"/>
          </a:xfrm>
          <a:prstGeom prst="rect">
            <a:avLst/>
          </a:prstGeom>
          <a:noFill/>
          <a:ln/>
        </p:spPr>
        <p:txBody>
          <a:bodyPr wrap="square" lIns="0" tIns="0" rIns="0" bIns="0" rtlCol="0" anchor="ctr"/>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社会参加スキルの継続評価</a:t>
            </a:r>
            <a:endParaRPr lang="en-US" sz="1500" dirty="0"/>
          </a:p>
        </p:txBody>
      </p:sp>
      <p:sp>
        <p:nvSpPr>
          <p:cNvPr id="39" name="Text 37"/>
          <p:cNvSpPr/>
          <p:nvPr/>
        </p:nvSpPr>
        <p:spPr>
          <a:xfrm>
            <a:off x="9436608" y="5330952"/>
            <a:ext cx="1828800" cy="640080"/>
          </a:xfrm>
          <a:prstGeom prst="rect">
            <a:avLst/>
          </a:prstGeom>
          <a:noFill/>
          <a:ln/>
        </p:spPr>
        <p:txBody>
          <a:bodyPr wrap="square" lIns="0" tIns="0" rIns="0" bIns="0" rtlCol="0" anchor="ctr"/>
          <a:lstStyle/>
          <a:p>
            <a:pPr marL="0" indent="0" algn="ctr">
              <a:buNone/>
            </a:pPr>
            <a:r>
              <a:rPr lang="en-US" sz="1400" b="1" dirty="0">
                <a:solidFill>
                  <a:srgbClr val="4A90D9"/>
                </a:solidFill>
                <a:latin typeface="Hiragino Sans W6" pitchFamily="34" charset="0"/>
                <a:ea typeface="Hiragino Sans W6" pitchFamily="34" charset="-122"/>
                <a:cs typeface="Hiragino Sans W6" pitchFamily="34" charset="-120"/>
              </a:rPr>
              <a:t>Step 11-12</a:t>
            </a:r>
            <a:endParaRPr lang="en-US" sz="1400" dirty="0"/>
          </a:p>
        </p:txBody>
      </p:sp>
      <p:sp>
        <p:nvSpPr>
          <p:cNvPr id="40" name="Text 38"/>
          <p:cNvSpPr/>
          <p:nvPr/>
        </p:nvSpPr>
        <p:spPr>
          <a:xfrm>
            <a:off x="11356848" y="5330952"/>
            <a:ext cx="1828800" cy="640080"/>
          </a:xfrm>
          <a:prstGeom prst="rect">
            <a:avLst/>
          </a:prstGeom>
          <a:noFill/>
          <a:ln/>
        </p:spPr>
        <p:txBody>
          <a:bodyPr wrap="square" lIns="0" tIns="0" rIns="0" bIns="0" rtlCol="0" anchor="ctr"/>
          <a:lstStyle/>
          <a:p>
            <a:pPr marL="0" indent="0" algn="ctr">
              <a:buNone/>
            </a:pPr>
            <a:r>
              <a:rPr lang="en-US" sz="1400" b="1" dirty="0">
                <a:solidFill>
                  <a:srgbClr val="27AE60"/>
                </a:solidFill>
                <a:latin typeface="Hiragino Sans W6" pitchFamily="34" charset="0"/>
                <a:ea typeface="Hiragino Sans W6" pitchFamily="34" charset="-122"/>
                <a:cs typeface="Hiragino Sans W6" pitchFamily="34" charset="-120"/>
              </a:rPr>
              <a:t>デジタル化済</a:t>
            </a:r>
            <a:endParaRPr lang="en-US" sz="1400" dirty="0"/>
          </a:p>
        </p:txBody>
      </p:sp>
      <p:sp>
        <p:nvSpPr>
          <p:cNvPr id="41" name="Shape 39"/>
          <p:cNvSpPr/>
          <p:nvPr/>
        </p:nvSpPr>
        <p:spPr>
          <a:xfrm>
            <a:off x="749808" y="6080760"/>
            <a:ext cx="13130784" cy="640080"/>
          </a:xfrm>
          <a:prstGeom prst="rect">
            <a:avLst/>
          </a:prstGeom>
          <a:solidFill>
            <a:srgbClr val="F9F6F0"/>
          </a:solidFill>
          <a:ln/>
          <a:effectLst>
            <a:outerShdw blurRad="76200" dist="25400" dir="8100000" algn="bl" rotWithShape="0">
              <a:srgbClr val="000000">
                <a:alpha val="12000"/>
              </a:srgbClr>
            </a:outerShdw>
          </a:effectLst>
        </p:spPr>
        <p:txBody>
          <a:bodyPr/>
          <a:lstStyle/>
          <a:p>
            <a:endParaRPr lang="ja-JP" altLang="en-US"/>
          </a:p>
        </p:txBody>
      </p:sp>
      <p:sp>
        <p:nvSpPr>
          <p:cNvPr id="42" name="Shape 40"/>
          <p:cNvSpPr/>
          <p:nvPr/>
        </p:nvSpPr>
        <p:spPr>
          <a:xfrm>
            <a:off x="749808" y="6080760"/>
            <a:ext cx="54864" cy="640080"/>
          </a:xfrm>
          <a:prstGeom prst="rect">
            <a:avLst/>
          </a:prstGeom>
          <a:solidFill>
            <a:srgbClr val="4A90D9"/>
          </a:solidFill>
          <a:ln/>
        </p:spPr>
        <p:txBody>
          <a:bodyPr/>
          <a:lstStyle/>
          <a:p>
            <a:endParaRPr lang="ja-JP" altLang="en-US"/>
          </a:p>
        </p:txBody>
      </p:sp>
      <p:sp>
        <p:nvSpPr>
          <p:cNvPr id="43" name="Text 41"/>
          <p:cNvSpPr/>
          <p:nvPr/>
        </p:nvSpPr>
        <p:spPr>
          <a:xfrm>
            <a:off x="978408" y="6080760"/>
            <a:ext cx="2560320" cy="640080"/>
          </a:xfrm>
          <a:prstGeom prst="rect">
            <a:avLst/>
          </a:prstGeom>
          <a:noFill/>
          <a:ln/>
        </p:spPr>
        <p:txBody>
          <a:bodyPr wrap="square" lIns="0" tIns="0" rIns="0" bIns="0" rtlCol="0" anchor="ctr"/>
          <a:lstStyle/>
          <a:p>
            <a:pPr marL="0" indent="0" algn="l">
              <a:buNone/>
            </a:pPr>
            <a:r>
              <a:rPr lang="en-US" sz="1600" b="1" dirty="0">
                <a:solidFill>
                  <a:srgbClr val="282824"/>
                </a:solidFill>
                <a:latin typeface="Hiragino Sans W6" pitchFamily="34" charset="0"/>
                <a:ea typeface="Hiragino Sans W6" pitchFamily="34" charset="-122"/>
                <a:cs typeface="Hiragino Sans W6" pitchFamily="34" charset="-120"/>
              </a:rPr>
              <a:t>やるじゃんボード</a:t>
            </a:r>
            <a:endParaRPr lang="en-US" sz="1600" dirty="0"/>
          </a:p>
        </p:txBody>
      </p:sp>
      <p:sp>
        <p:nvSpPr>
          <p:cNvPr id="44" name="Text 42"/>
          <p:cNvSpPr/>
          <p:nvPr/>
        </p:nvSpPr>
        <p:spPr>
          <a:xfrm>
            <a:off x="3675888" y="6080760"/>
            <a:ext cx="457200" cy="640080"/>
          </a:xfrm>
          <a:prstGeom prst="rect">
            <a:avLst/>
          </a:prstGeom>
          <a:noFill/>
          <a:ln/>
        </p:spPr>
        <p:txBody>
          <a:bodyPr wrap="square" lIns="0" tIns="0" rIns="0" bIns="0" rtlCol="0" anchor="ctr"/>
          <a:lstStyle/>
          <a:p>
            <a:pPr marL="0" indent="0" algn="ctr">
              <a:buNone/>
            </a:pPr>
            <a:r>
              <a:rPr lang="en-US" sz="2000" dirty="0">
                <a:solidFill>
                  <a:srgbClr val="4A90D9"/>
                </a:solidFill>
                <a:latin typeface="Hiragino Sans W6" pitchFamily="34" charset="0"/>
                <a:ea typeface="Hiragino Sans W6" pitchFamily="34" charset="-122"/>
                <a:cs typeface="Hiragino Sans W6" pitchFamily="34" charset="-120"/>
              </a:rPr>
              <a:t>→</a:t>
            </a:r>
            <a:endParaRPr lang="en-US" sz="2000" dirty="0"/>
          </a:p>
        </p:txBody>
      </p:sp>
      <p:sp>
        <p:nvSpPr>
          <p:cNvPr id="45" name="Text 43"/>
          <p:cNvSpPr/>
          <p:nvPr/>
        </p:nvSpPr>
        <p:spPr>
          <a:xfrm>
            <a:off x="4224528" y="6080760"/>
            <a:ext cx="5029200" cy="640080"/>
          </a:xfrm>
          <a:prstGeom prst="rect">
            <a:avLst/>
          </a:prstGeom>
          <a:noFill/>
          <a:ln/>
        </p:spPr>
        <p:txBody>
          <a:bodyPr wrap="square" lIns="0" tIns="0" rIns="0" bIns="0" rtlCol="0" anchor="ctr"/>
          <a:lstStyle/>
          <a:p>
            <a:pPr marL="0" indent="0" algn="l">
              <a:buNone/>
            </a:pPr>
            <a:r>
              <a:rPr lang="en-US" sz="1500" dirty="0">
                <a:solidFill>
                  <a:srgbClr val="4A4A45"/>
                </a:solidFill>
                <a:latin typeface="Hiragino Sans W3" pitchFamily="34" charset="0"/>
                <a:ea typeface="Hiragino Sans W3" pitchFamily="34" charset="-122"/>
                <a:cs typeface="Hiragino Sans W3" pitchFamily="34" charset="-120"/>
              </a:rPr>
              <a:t>チーム全体の成果を可視化・共有</a:t>
            </a:r>
            <a:endParaRPr lang="en-US" sz="1500" dirty="0"/>
          </a:p>
        </p:txBody>
      </p:sp>
      <p:sp>
        <p:nvSpPr>
          <p:cNvPr id="46" name="Text 44"/>
          <p:cNvSpPr/>
          <p:nvPr/>
        </p:nvSpPr>
        <p:spPr>
          <a:xfrm>
            <a:off x="9436608" y="6080760"/>
            <a:ext cx="1828800" cy="640080"/>
          </a:xfrm>
          <a:prstGeom prst="rect">
            <a:avLst/>
          </a:prstGeom>
          <a:noFill/>
          <a:ln/>
        </p:spPr>
        <p:txBody>
          <a:bodyPr wrap="square" lIns="0" tIns="0" rIns="0" bIns="0" rtlCol="0" anchor="ctr"/>
          <a:lstStyle/>
          <a:p>
            <a:pPr marL="0" indent="0" algn="ctr">
              <a:buNone/>
            </a:pPr>
            <a:r>
              <a:rPr lang="en-US" sz="1400" b="1" dirty="0">
                <a:solidFill>
                  <a:srgbClr val="4A90D9"/>
                </a:solidFill>
                <a:latin typeface="Hiragino Sans W6" pitchFamily="34" charset="0"/>
                <a:ea typeface="Hiragino Sans W6" pitchFamily="34" charset="-122"/>
                <a:cs typeface="Hiragino Sans W6" pitchFamily="34" charset="-120"/>
              </a:rPr>
              <a:t>全Step</a:t>
            </a:r>
            <a:endParaRPr lang="en-US" sz="1400" dirty="0"/>
          </a:p>
        </p:txBody>
      </p:sp>
      <p:sp>
        <p:nvSpPr>
          <p:cNvPr id="47" name="Text 45"/>
          <p:cNvSpPr/>
          <p:nvPr/>
        </p:nvSpPr>
        <p:spPr>
          <a:xfrm>
            <a:off x="11356848" y="6080760"/>
            <a:ext cx="1828800" cy="640080"/>
          </a:xfrm>
          <a:prstGeom prst="rect">
            <a:avLst/>
          </a:prstGeom>
          <a:noFill/>
          <a:ln/>
        </p:spPr>
        <p:txBody>
          <a:bodyPr wrap="square" lIns="0" tIns="0" rIns="0" bIns="0" rtlCol="0" anchor="ctr"/>
          <a:lstStyle/>
          <a:p>
            <a:pPr marL="0" indent="0" algn="ctr">
              <a:buNone/>
            </a:pPr>
            <a:r>
              <a:rPr lang="en-US" sz="1400" b="1" dirty="0">
                <a:solidFill>
                  <a:srgbClr val="27AE60"/>
                </a:solidFill>
                <a:latin typeface="Hiragino Sans W6" pitchFamily="34" charset="0"/>
                <a:ea typeface="Hiragino Sans W6" pitchFamily="34" charset="-122"/>
                <a:cs typeface="Hiragino Sans W6" pitchFamily="34" charset="-120"/>
              </a:rPr>
              <a:t>デジタル化済</a:t>
            </a:r>
            <a:endParaRPr lang="en-US" sz="1400" dirty="0"/>
          </a:p>
        </p:txBody>
      </p:sp>
      <p:sp>
        <p:nvSpPr>
          <p:cNvPr id="48" name="Text 46"/>
          <p:cNvSpPr/>
          <p:nvPr/>
        </p:nvSpPr>
        <p:spPr>
          <a:xfrm>
            <a:off x="475488" y="7132320"/>
            <a:ext cx="13679424" cy="365760"/>
          </a:xfrm>
          <a:prstGeom prst="rect">
            <a:avLst/>
          </a:prstGeom>
          <a:noFill/>
          <a:ln/>
        </p:spPr>
        <p:txBody>
          <a:bodyPr wrap="square" lIns="0" tIns="0" rIns="0" bIns="0" rtlCol="0" anchor="ctr"/>
          <a:lstStyle/>
          <a:p>
            <a:pPr marL="0" indent="0" algn="ctr">
              <a:buNone/>
            </a:pPr>
            <a:r>
              <a:rPr lang="en-US" sz="1500" i="1" dirty="0">
                <a:solidFill>
                  <a:srgbClr val="746558"/>
                </a:solidFill>
                <a:latin typeface="Hiragino Sans W3" pitchFamily="34" charset="0"/>
                <a:ea typeface="Hiragino Sans W3" pitchFamily="34" charset="-122"/>
                <a:cs typeface="Hiragino Sans W3" pitchFamily="34" charset="-120"/>
              </a:rPr>
              <a:t>現場で6年間磨かれたアナログツールだからこそ、デジタル化した瞬間にAIの燃料になる</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4つのロールに最適化された画面設計</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HOW — すべてのユーザーが迷わず使えるUI/UX</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全47画面 × 4ロール × マトリックス対応</a:t>
            </a:r>
            <a:endParaRPr lang="en-US" sz="2000" dirty="0"/>
          </a:p>
        </p:txBody>
      </p:sp>
      <p:sp>
        <p:nvSpPr>
          <p:cNvPr id="6" name="Shape 4"/>
          <p:cNvSpPr/>
          <p:nvPr/>
        </p:nvSpPr>
        <p:spPr>
          <a:xfrm>
            <a:off x="749808" y="2331720"/>
            <a:ext cx="3154680" cy="4114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749808" y="2331720"/>
            <a:ext cx="3154680" cy="54864"/>
          </a:xfrm>
          <a:prstGeom prst="rect">
            <a:avLst/>
          </a:prstGeom>
          <a:solidFill>
            <a:srgbClr val="4A90D9"/>
          </a:solidFill>
          <a:ln/>
        </p:spPr>
        <p:txBody>
          <a:bodyPr/>
          <a:lstStyle/>
          <a:p>
            <a:endParaRPr lang="ja-JP" altLang="en-US"/>
          </a:p>
        </p:txBody>
      </p:sp>
      <p:sp>
        <p:nvSpPr>
          <p:cNvPr id="8" name="Text 6"/>
          <p:cNvSpPr/>
          <p:nvPr/>
        </p:nvSpPr>
        <p:spPr>
          <a:xfrm>
            <a:off x="841248" y="2514600"/>
            <a:ext cx="2971800" cy="640080"/>
          </a:xfrm>
          <a:prstGeom prst="rect">
            <a:avLst/>
          </a:prstGeom>
          <a:noFill/>
          <a:ln/>
        </p:spPr>
        <p:txBody>
          <a:bodyPr wrap="square" lIns="0" tIns="0" rIns="0" bIns="0" rtlCol="0" anchor="ctr"/>
          <a:lstStyle/>
          <a:p>
            <a:pPr marL="0" indent="0" algn="ctr">
              <a:buNone/>
            </a:pPr>
            <a:r>
              <a:rPr lang="en-US" sz="3400" b="1" dirty="0">
                <a:solidFill>
                  <a:srgbClr val="4A90D9"/>
                </a:solidFill>
                <a:latin typeface="Hiragino Sans W6" pitchFamily="34" charset="0"/>
                <a:ea typeface="Hiragino Sans W6" pitchFamily="34" charset="-122"/>
                <a:cs typeface="Hiragino Sans W6" pitchFamily="34" charset="-120"/>
              </a:rPr>
              <a:t>23画面</a:t>
            </a:r>
            <a:endParaRPr lang="en-US" sz="3400" dirty="0"/>
          </a:p>
        </p:txBody>
      </p:sp>
      <p:sp>
        <p:nvSpPr>
          <p:cNvPr id="9" name="Text 7"/>
          <p:cNvSpPr/>
          <p:nvPr/>
        </p:nvSpPr>
        <p:spPr>
          <a:xfrm>
            <a:off x="841248" y="3200400"/>
            <a:ext cx="2971800" cy="365760"/>
          </a:xfrm>
          <a:prstGeom prst="rect">
            <a:avLst/>
          </a:prstGeom>
          <a:noFill/>
          <a:ln/>
        </p:spPr>
        <p:txBody>
          <a:bodyPr wrap="square" lIns="0" tIns="0" rIns="0" bIns="0" rtlCol="0" anchor="ctr"/>
          <a:lstStyle/>
          <a:p>
            <a:pPr marL="0" indent="0" algn="ctr">
              <a:buNone/>
            </a:pPr>
            <a:r>
              <a:rPr lang="en-US" sz="1500" b="1" dirty="0">
                <a:solidFill>
                  <a:srgbClr val="282824"/>
                </a:solidFill>
                <a:latin typeface="Hiragino Sans W6" pitchFamily="34" charset="0"/>
                <a:ea typeface="Hiragino Sans W6" pitchFamily="34" charset="-122"/>
                <a:cs typeface="Hiragino Sans W6" pitchFamily="34" charset="-120"/>
              </a:rPr>
              <a:t>施設職員（PC）</a:t>
            </a:r>
            <a:endParaRPr lang="en-US" sz="1500" dirty="0"/>
          </a:p>
        </p:txBody>
      </p:sp>
      <p:sp>
        <p:nvSpPr>
          <p:cNvPr id="10" name="Text 8"/>
          <p:cNvSpPr/>
          <p:nvPr/>
        </p:nvSpPr>
        <p:spPr>
          <a:xfrm>
            <a:off x="841248" y="3566160"/>
            <a:ext cx="2971800" cy="274320"/>
          </a:xfrm>
          <a:prstGeom prst="rect">
            <a:avLst/>
          </a:prstGeom>
          <a:noFill/>
          <a:ln/>
        </p:spPr>
        <p:txBody>
          <a:bodyPr wrap="square" lIns="0" tIns="0" rIns="0" bIns="0" rtlCol="0" anchor="ctr"/>
          <a:lstStyle/>
          <a:p>
            <a:pPr marL="0" indent="0" algn="ctr">
              <a:buNone/>
            </a:pPr>
            <a:r>
              <a:rPr lang="en-US" sz="1300" dirty="0">
                <a:solidFill>
                  <a:srgbClr val="746558"/>
                </a:solidFill>
                <a:latin typeface="Hiragino Sans W3" pitchFamily="34" charset="0"/>
                <a:ea typeface="Hiragino Sans W3" pitchFamily="34" charset="-122"/>
                <a:cs typeface="Hiragino Sans W3" pitchFamily="34" charset="-120"/>
              </a:rPr>
              <a:t>施設長・事務員</a:t>
            </a:r>
            <a:endParaRPr lang="en-US" sz="1300" dirty="0"/>
          </a:p>
        </p:txBody>
      </p:sp>
      <p:sp>
        <p:nvSpPr>
          <p:cNvPr id="11" name="Shape 9"/>
          <p:cNvSpPr/>
          <p:nvPr/>
        </p:nvSpPr>
        <p:spPr>
          <a:xfrm>
            <a:off x="1024128" y="3977640"/>
            <a:ext cx="2606040" cy="0"/>
          </a:xfrm>
          <a:prstGeom prst="line">
            <a:avLst/>
          </a:prstGeom>
          <a:noFill/>
          <a:ln w="12700">
            <a:solidFill>
              <a:srgbClr val="E0D8CE"/>
            </a:solidFill>
            <a:prstDash val="solid"/>
          </a:ln>
        </p:spPr>
        <p:txBody>
          <a:bodyPr/>
          <a:lstStyle/>
          <a:p>
            <a:endParaRPr lang="ja-JP" altLang="en-US"/>
          </a:p>
        </p:txBody>
      </p:sp>
      <p:sp>
        <p:nvSpPr>
          <p:cNvPr id="12" name="Text 10"/>
          <p:cNvSpPr/>
          <p:nvPr/>
        </p:nvSpPr>
        <p:spPr>
          <a:xfrm>
            <a:off x="886968" y="4114800"/>
            <a:ext cx="2880360" cy="1463040"/>
          </a:xfrm>
          <a:prstGeom prst="rect">
            <a:avLst/>
          </a:prstGeom>
          <a:noFill/>
          <a:ln/>
        </p:spPr>
        <p:txBody>
          <a:bodyPr wrap="square" lIns="0" tIns="0" rIns="0" bIns="0" rtlCol="0" anchor="t"/>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ダッシュボード、利用者管理、</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記録管理、支援カルテ、</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AI分析、行政レポート</a:t>
            </a:r>
            <a:endParaRPr lang="en-US" sz="1400" dirty="0"/>
          </a:p>
        </p:txBody>
      </p:sp>
      <p:sp>
        <p:nvSpPr>
          <p:cNvPr id="13" name="Text 11"/>
          <p:cNvSpPr/>
          <p:nvPr/>
        </p:nvSpPr>
        <p:spPr>
          <a:xfrm>
            <a:off x="841248" y="5806440"/>
            <a:ext cx="2971800" cy="365760"/>
          </a:xfrm>
          <a:prstGeom prst="rect">
            <a:avLst/>
          </a:prstGeom>
          <a:noFill/>
          <a:ln/>
        </p:spPr>
        <p:txBody>
          <a:bodyPr wrap="square" lIns="0" tIns="0" rIns="0" bIns="0" rtlCol="0" anchor="ctr"/>
          <a:lstStyle/>
          <a:p>
            <a:pPr marL="0" indent="0" algn="ctr">
              <a:buNone/>
            </a:pPr>
            <a:r>
              <a:rPr lang="en-US" sz="1300" dirty="0">
                <a:solidFill>
                  <a:srgbClr val="746558"/>
                </a:solidFill>
                <a:latin typeface="Hiragino Sans W3" pitchFamily="34" charset="0"/>
                <a:ea typeface="Hiragino Sans W3" pitchFamily="34" charset="-122"/>
                <a:cs typeface="Hiragino Sans W3" pitchFamily="34" charset="-120"/>
              </a:rPr>
              <a:t>デスクトップPC</a:t>
            </a:r>
            <a:endParaRPr lang="en-US" sz="1300" dirty="0"/>
          </a:p>
        </p:txBody>
      </p:sp>
      <p:sp>
        <p:nvSpPr>
          <p:cNvPr id="14" name="Shape 12"/>
          <p:cNvSpPr/>
          <p:nvPr/>
        </p:nvSpPr>
        <p:spPr>
          <a:xfrm>
            <a:off x="4178808" y="2331720"/>
            <a:ext cx="3154680" cy="4114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5" name="Shape 13"/>
          <p:cNvSpPr/>
          <p:nvPr/>
        </p:nvSpPr>
        <p:spPr>
          <a:xfrm>
            <a:off x="4178808" y="2331720"/>
            <a:ext cx="3154680" cy="54864"/>
          </a:xfrm>
          <a:prstGeom prst="rect">
            <a:avLst/>
          </a:prstGeom>
          <a:solidFill>
            <a:srgbClr val="27AE60"/>
          </a:solidFill>
          <a:ln/>
        </p:spPr>
        <p:txBody>
          <a:bodyPr/>
          <a:lstStyle/>
          <a:p>
            <a:endParaRPr lang="ja-JP" altLang="en-US"/>
          </a:p>
        </p:txBody>
      </p:sp>
      <p:sp>
        <p:nvSpPr>
          <p:cNvPr id="16" name="Text 14"/>
          <p:cNvSpPr/>
          <p:nvPr/>
        </p:nvSpPr>
        <p:spPr>
          <a:xfrm>
            <a:off x="4270248" y="2514600"/>
            <a:ext cx="2971800" cy="640080"/>
          </a:xfrm>
          <a:prstGeom prst="rect">
            <a:avLst/>
          </a:prstGeom>
          <a:noFill/>
          <a:ln/>
        </p:spPr>
        <p:txBody>
          <a:bodyPr wrap="square" lIns="0" tIns="0" rIns="0" bIns="0" rtlCol="0" anchor="ctr"/>
          <a:lstStyle/>
          <a:p>
            <a:pPr marL="0" indent="0" algn="ctr">
              <a:buNone/>
            </a:pPr>
            <a:r>
              <a:rPr lang="en-US" sz="3400" b="1" dirty="0">
                <a:solidFill>
                  <a:srgbClr val="27AE60"/>
                </a:solidFill>
                <a:latin typeface="Hiragino Sans W6" pitchFamily="34" charset="0"/>
                <a:ea typeface="Hiragino Sans W6" pitchFamily="34" charset="-122"/>
                <a:cs typeface="Hiragino Sans W6" pitchFamily="34" charset="-120"/>
              </a:rPr>
              <a:t>12画面</a:t>
            </a:r>
            <a:endParaRPr lang="en-US" sz="3400" dirty="0"/>
          </a:p>
        </p:txBody>
      </p:sp>
      <p:sp>
        <p:nvSpPr>
          <p:cNvPr id="17" name="Text 15"/>
          <p:cNvSpPr/>
          <p:nvPr/>
        </p:nvSpPr>
        <p:spPr>
          <a:xfrm>
            <a:off x="4270248" y="3200400"/>
            <a:ext cx="2971800" cy="365760"/>
          </a:xfrm>
          <a:prstGeom prst="rect">
            <a:avLst/>
          </a:prstGeom>
          <a:noFill/>
          <a:ln/>
        </p:spPr>
        <p:txBody>
          <a:bodyPr wrap="square" lIns="0" tIns="0" rIns="0" bIns="0" rtlCol="0" anchor="ctr"/>
          <a:lstStyle/>
          <a:p>
            <a:pPr marL="0" indent="0" algn="ctr">
              <a:buNone/>
            </a:pPr>
            <a:r>
              <a:rPr lang="en-US" sz="1500" b="1" dirty="0">
                <a:solidFill>
                  <a:srgbClr val="282824"/>
                </a:solidFill>
                <a:latin typeface="Hiragino Sans W6" pitchFamily="34" charset="0"/>
                <a:ea typeface="Hiragino Sans W6" pitchFamily="34" charset="-122"/>
                <a:cs typeface="Hiragino Sans W6" pitchFamily="34" charset="-120"/>
              </a:rPr>
              <a:t>支援スタッフ（タブレット）</a:t>
            </a:r>
            <a:endParaRPr lang="en-US" sz="1500" dirty="0"/>
          </a:p>
        </p:txBody>
      </p:sp>
      <p:sp>
        <p:nvSpPr>
          <p:cNvPr id="18" name="Text 16"/>
          <p:cNvSpPr/>
          <p:nvPr/>
        </p:nvSpPr>
        <p:spPr>
          <a:xfrm>
            <a:off x="4270248" y="3566160"/>
            <a:ext cx="2971800" cy="274320"/>
          </a:xfrm>
          <a:prstGeom prst="rect">
            <a:avLst/>
          </a:prstGeom>
          <a:noFill/>
          <a:ln/>
        </p:spPr>
        <p:txBody>
          <a:bodyPr wrap="square" lIns="0" tIns="0" rIns="0" bIns="0" rtlCol="0" anchor="ctr"/>
          <a:lstStyle/>
          <a:p>
            <a:pPr marL="0" indent="0" algn="ctr">
              <a:buNone/>
            </a:pPr>
            <a:r>
              <a:rPr lang="en-US" sz="1300" dirty="0">
                <a:solidFill>
                  <a:srgbClr val="746558"/>
                </a:solidFill>
                <a:latin typeface="Hiragino Sans W3" pitchFamily="34" charset="0"/>
                <a:ea typeface="Hiragino Sans W3" pitchFamily="34" charset="-122"/>
                <a:cs typeface="Hiragino Sans W3" pitchFamily="34" charset="-120"/>
              </a:rPr>
              <a:t>現場支援員</a:t>
            </a:r>
            <a:endParaRPr lang="en-US" sz="1300" dirty="0"/>
          </a:p>
        </p:txBody>
      </p:sp>
      <p:sp>
        <p:nvSpPr>
          <p:cNvPr id="19" name="Shape 17"/>
          <p:cNvSpPr/>
          <p:nvPr/>
        </p:nvSpPr>
        <p:spPr>
          <a:xfrm>
            <a:off x="4453128" y="3977640"/>
            <a:ext cx="2606040" cy="0"/>
          </a:xfrm>
          <a:prstGeom prst="line">
            <a:avLst/>
          </a:prstGeom>
          <a:noFill/>
          <a:ln w="12700">
            <a:solidFill>
              <a:srgbClr val="E0D8CE"/>
            </a:solidFill>
            <a:prstDash val="solid"/>
          </a:ln>
        </p:spPr>
        <p:txBody>
          <a:bodyPr/>
          <a:lstStyle/>
          <a:p>
            <a:endParaRPr lang="ja-JP" altLang="en-US"/>
          </a:p>
        </p:txBody>
      </p:sp>
      <p:sp>
        <p:nvSpPr>
          <p:cNvPr id="20" name="Text 18"/>
          <p:cNvSpPr/>
          <p:nvPr/>
        </p:nvSpPr>
        <p:spPr>
          <a:xfrm>
            <a:off x="4315968" y="4114800"/>
            <a:ext cx="2880360" cy="1463040"/>
          </a:xfrm>
          <a:prstGeom prst="rect">
            <a:avLst/>
          </a:prstGeom>
          <a:noFill/>
          <a:ln/>
        </p:spPr>
        <p:txBody>
          <a:bodyPr wrap="square" lIns="0" tIns="0" rIns="0" bIns="0" rtlCol="0" anchor="t"/>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食事・排泄・バイタル・服薬</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音声入力対応の経過記録</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個人記録・チェックリスト</a:t>
            </a:r>
            <a:endParaRPr lang="en-US" sz="1400" dirty="0"/>
          </a:p>
        </p:txBody>
      </p:sp>
      <p:sp>
        <p:nvSpPr>
          <p:cNvPr id="21" name="Text 19"/>
          <p:cNvSpPr/>
          <p:nvPr/>
        </p:nvSpPr>
        <p:spPr>
          <a:xfrm>
            <a:off x="4270248" y="5806440"/>
            <a:ext cx="2971800" cy="365760"/>
          </a:xfrm>
          <a:prstGeom prst="rect">
            <a:avLst/>
          </a:prstGeom>
          <a:noFill/>
          <a:ln/>
        </p:spPr>
        <p:txBody>
          <a:bodyPr wrap="square" lIns="0" tIns="0" rIns="0" bIns="0" rtlCol="0" anchor="ctr"/>
          <a:lstStyle/>
          <a:p>
            <a:pPr marL="0" indent="0" algn="ctr">
              <a:buNone/>
            </a:pPr>
            <a:r>
              <a:rPr lang="en-US" sz="1300" dirty="0">
                <a:solidFill>
                  <a:srgbClr val="746558"/>
                </a:solidFill>
                <a:latin typeface="Hiragino Sans W3" pitchFamily="34" charset="0"/>
                <a:ea typeface="Hiragino Sans W3" pitchFamily="34" charset="-122"/>
                <a:cs typeface="Hiragino Sans W3" pitchFamily="34" charset="-120"/>
              </a:rPr>
              <a:t>iPad</a:t>
            </a:r>
            <a:endParaRPr lang="en-US" sz="1300" dirty="0"/>
          </a:p>
        </p:txBody>
      </p:sp>
      <p:sp>
        <p:nvSpPr>
          <p:cNvPr id="22" name="Shape 20"/>
          <p:cNvSpPr/>
          <p:nvPr/>
        </p:nvSpPr>
        <p:spPr>
          <a:xfrm>
            <a:off x="7607808" y="2331720"/>
            <a:ext cx="3154680" cy="4114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3" name="Shape 21"/>
          <p:cNvSpPr/>
          <p:nvPr/>
        </p:nvSpPr>
        <p:spPr>
          <a:xfrm>
            <a:off x="7607808" y="2331720"/>
            <a:ext cx="3154680" cy="54864"/>
          </a:xfrm>
          <a:prstGeom prst="rect">
            <a:avLst/>
          </a:prstGeom>
          <a:solidFill>
            <a:srgbClr val="F39C12"/>
          </a:solidFill>
          <a:ln/>
        </p:spPr>
        <p:txBody>
          <a:bodyPr/>
          <a:lstStyle/>
          <a:p>
            <a:endParaRPr lang="ja-JP" altLang="en-US"/>
          </a:p>
        </p:txBody>
      </p:sp>
      <p:sp>
        <p:nvSpPr>
          <p:cNvPr id="24" name="Text 22"/>
          <p:cNvSpPr/>
          <p:nvPr/>
        </p:nvSpPr>
        <p:spPr>
          <a:xfrm>
            <a:off x="7699248" y="2514600"/>
            <a:ext cx="2971800" cy="640080"/>
          </a:xfrm>
          <a:prstGeom prst="rect">
            <a:avLst/>
          </a:prstGeom>
          <a:noFill/>
          <a:ln/>
        </p:spPr>
        <p:txBody>
          <a:bodyPr wrap="square" lIns="0" tIns="0" rIns="0" bIns="0" rtlCol="0" anchor="ctr"/>
          <a:lstStyle/>
          <a:p>
            <a:pPr marL="0" indent="0" algn="ctr">
              <a:buNone/>
            </a:pPr>
            <a:r>
              <a:rPr lang="en-US" sz="3400" b="1" dirty="0">
                <a:solidFill>
                  <a:srgbClr val="F39C12"/>
                </a:solidFill>
                <a:latin typeface="Hiragino Sans W6" pitchFamily="34" charset="0"/>
                <a:ea typeface="Hiragino Sans W6" pitchFamily="34" charset="-122"/>
                <a:cs typeface="Hiragino Sans W6" pitchFamily="34" charset="-120"/>
              </a:rPr>
              <a:t>4画面</a:t>
            </a:r>
            <a:endParaRPr lang="en-US" sz="3400" dirty="0"/>
          </a:p>
        </p:txBody>
      </p:sp>
      <p:sp>
        <p:nvSpPr>
          <p:cNvPr id="25" name="Text 23"/>
          <p:cNvSpPr/>
          <p:nvPr/>
        </p:nvSpPr>
        <p:spPr>
          <a:xfrm>
            <a:off x="7699248" y="3200400"/>
            <a:ext cx="2971800" cy="365760"/>
          </a:xfrm>
          <a:prstGeom prst="rect">
            <a:avLst/>
          </a:prstGeom>
          <a:noFill/>
          <a:ln/>
        </p:spPr>
        <p:txBody>
          <a:bodyPr wrap="square" lIns="0" tIns="0" rIns="0" bIns="0" rtlCol="0" anchor="ctr"/>
          <a:lstStyle/>
          <a:p>
            <a:pPr marL="0" indent="0" algn="ctr">
              <a:buNone/>
            </a:pPr>
            <a:r>
              <a:rPr lang="en-US" sz="1500" b="1" dirty="0">
                <a:solidFill>
                  <a:srgbClr val="282824"/>
                </a:solidFill>
                <a:latin typeface="Hiragino Sans W6" pitchFamily="34" charset="0"/>
                <a:ea typeface="Hiragino Sans W6" pitchFamily="34" charset="-122"/>
                <a:cs typeface="Hiragino Sans W6" pitchFamily="34" charset="-120"/>
              </a:rPr>
              <a:t>保護者（スマホ）</a:t>
            </a:r>
            <a:endParaRPr lang="en-US" sz="1500" dirty="0"/>
          </a:p>
        </p:txBody>
      </p:sp>
      <p:sp>
        <p:nvSpPr>
          <p:cNvPr id="26" name="Text 24"/>
          <p:cNvSpPr/>
          <p:nvPr/>
        </p:nvSpPr>
        <p:spPr>
          <a:xfrm>
            <a:off x="7699248" y="3566160"/>
            <a:ext cx="2971800" cy="274320"/>
          </a:xfrm>
          <a:prstGeom prst="rect">
            <a:avLst/>
          </a:prstGeom>
          <a:noFill/>
          <a:ln/>
        </p:spPr>
        <p:txBody>
          <a:bodyPr wrap="square" lIns="0" tIns="0" rIns="0" bIns="0" rtlCol="0" anchor="ctr"/>
          <a:lstStyle/>
          <a:p>
            <a:pPr marL="0" indent="0" algn="ctr">
              <a:buNone/>
            </a:pPr>
            <a:r>
              <a:rPr lang="en-US" sz="1300" dirty="0">
                <a:solidFill>
                  <a:srgbClr val="746558"/>
                </a:solidFill>
                <a:latin typeface="Hiragino Sans W3" pitchFamily="34" charset="0"/>
                <a:ea typeface="Hiragino Sans W3" pitchFamily="34" charset="-122"/>
                <a:cs typeface="Hiragino Sans W3" pitchFamily="34" charset="-120"/>
              </a:rPr>
              <a:t>保護者・家族</a:t>
            </a:r>
            <a:endParaRPr lang="en-US" sz="1300" dirty="0"/>
          </a:p>
        </p:txBody>
      </p:sp>
      <p:sp>
        <p:nvSpPr>
          <p:cNvPr id="27" name="Shape 25"/>
          <p:cNvSpPr/>
          <p:nvPr/>
        </p:nvSpPr>
        <p:spPr>
          <a:xfrm>
            <a:off x="7882128" y="3977640"/>
            <a:ext cx="2606040" cy="0"/>
          </a:xfrm>
          <a:prstGeom prst="line">
            <a:avLst/>
          </a:prstGeom>
          <a:noFill/>
          <a:ln w="12700">
            <a:solidFill>
              <a:srgbClr val="E0D8CE"/>
            </a:solidFill>
            <a:prstDash val="solid"/>
          </a:ln>
        </p:spPr>
        <p:txBody>
          <a:bodyPr/>
          <a:lstStyle/>
          <a:p>
            <a:endParaRPr lang="ja-JP" altLang="en-US"/>
          </a:p>
        </p:txBody>
      </p:sp>
      <p:sp>
        <p:nvSpPr>
          <p:cNvPr id="28" name="Text 26"/>
          <p:cNvSpPr/>
          <p:nvPr/>
        </p:nvSpPr>
        <p:spPr>
          <a:xfrm>
            <a:off x="7744968" y="4114800"/>
            <a:ext cx="2880360" cy="1463040"/>
          </a:xfrm>
          <a:prstGeom prst="rect">
            <a:avLst/>
          </a:prstGeom>
          <a:noFill/>
          <a:ln/>
        </p:spPr>
        <p:txBody>
          <a:bodyPr wrap="square" lIns="0" tIns="0" rIns="0" bIns="0" rtlCol="0" anchor="t"/>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生活記録閲覧、連絡ノート</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金銭管理、面会予約</a:t>
            </a:r>
            <a:endParaRPr lang="en-US" sz="1400" dirty="0"/>
          </a:p>
        </p:txBody>
      </p:sp>
      <p:sp>
        <p:nvSpPr>
          <p:cNvPr id="29" name="Text 27"/>
          <p:cNvSpPr/>
          <p:nvPr/>
        </p:nvSpPr>
        <p:spPr>
          <a:xfrm>
            <a:off x="7699248" y="5806440"/>
            <a:ext cx="2971800" cy="365760"/>
          </a:xfrm>
          <a:prstGeom prst="rect">
            <a:avLst/>
          </a:prstGeom>
          <a:noFill/>
          <a:ln/>
        </p:spPr>
        <p:txBody>
          <a:bodyPr wrap="square" lIns="0" tIns="0" rIns="0" bIns="0" rtlCol="0" anchor="ctr"/>
          <a:lstStyle/>
          <a:p>
            <a:pPr marL="0" indent="0" algn="ctr">
              <a:buNone/>
            </a:pPr>
            <a:r>
              <a:rPr lang="en-US" sz="1300" dirty="0">
                <a:solidFill>
                  <a:srgbClr val="746558"/>
                </a:solidFill>
                <a:latin typeface="Hiragino Sans W3" pitchFamily="34" charset="0"/>
                <a:ea typeface="Hiragino Sans W3" pitchFamily="34" charset="-122"/>
                <a:cs typeface="Hiragino Sans W3" pitchFamily="34" charset="-120"/>
              </a:rPr>
              <a:t>スマートフォン</a:t>
            </a:r>
            <a:endParaRPr lang="en-US" sz="1300" dirty="0"/>
          </a:p>
        </p:txBody>
      </p:sp>
      <p:sp>
        <p:nvSpPr>
          <p:cNvPr id="30" name="Shape 28"/>
          <p:cNvSpPr/>
          <p:nvPr/>
        </p:nvSpPr>
        <p:spPr>
          <a:xfrm>
            <a:off x="11036808" y="2331720"/>
            <a:ext cx="3154680" cy="4114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31" name="Shape 29"/>
          <p:cNvSpPr/>
          <p:nvPr/>
        </p:nvSpPr>
        <p:spPr>
          <a:xfrm>
            <a:off x="11036808" y="2331720"/>
            <a:ext cx="3154680" cy="54864"/>
          </a:xfrm>
          <a:prstGeom prst="rect">
            <a:avLst/>
          </a:prstGeom>
          <a:solidFill>
            <a:srgbClr val="9B59B6"/>
          </a:solidFill>
          <a:ln/>
        </p:spPr>
        <p:txBody>
          <a:bodyPr/>
          <a:lstStyle/>
          <a:p>
            <a:endParaRPr lang="ja-JP" altLang="en-US"/>
          </a:p>
        </p:txBody>
      </p:sp>
      <p:sp>
        <p:nvSpPr>
          <p:cNvPr id="32" name="Text 30"/>
          <p:cNvSpPr/>
          <p:nvPr/>
        </p:nvSpPr>
        <p:spPr>
          <a:xfrm>
            <a:off x="11128248" y="2514600"/>
            <a:ext cx="2971800" cy="640080"/>
          </a:xfrm>
          <a:prstGeom prst="rect">
            <a:avLst/>
          </a:prstGeom>
          <a:noFill/>
          <a:ln/>
        </p:spPr>
        <p:txBody>
          <a:bodyPr wrap="square" lIns="0" tIns="0" rIns="0" bIns="0" rtlCol="0" anchor="ctr"/>
          <a:lstStyle/>
          <a:p>
            <a:pPr marL="0" indent="0" algn="ctr">
              <a:buNone/>
            </a:pPr>
            <a:r>
              <a:rPr lang="en-US" sz="3400" b="1" dirty="0">
                <a:solidFill>
                  <a:srgbClr val="9B59B6"/>
                </a:solidFill>
                <a:latin typeface="Hiragino Sans W6" pitchFamily="34" charset="0"/>
                <a:ea typeface="Hiragino Sans W6" pitchFamily="34" charset="-122"/>
                <a:cs typeface="Hiragino Sans W6" pitchFamily="34" charset="-120"/>
              </a:rPr>
              <a:t>3画面</a:t>
            </a:r>
            <a:endParaRPr lang="en-US" sz="3400" dirty="0"/>
          </a:p>
        </p:txBody>
      </p:sp>
      <p:sp>
        <p:nvSpPr>
          <p:cNvPr id="33" name="Text 31"/>
          <p:cNvSpPr/>
          <p:nvPr/>
        </p:nvSpPr>
        <p:spPr>
          <a:xfrm>
            <a:off x="11128248" y="3200400"/>
            <a:ext cx="2971800" cy="365760"/>
          </a:xfrm>
          <a:prstGeom prst="rect">
            <a:avLst/>
          </a:prstGeom>
          <a:noFill/>
          <a:ln/>
        </p:spPr>
        <p:txBody>
          <a:bodyPr wrap="square" lIns="0" tIns="0" rIns="0" bIns="0" rtlCol="0" anchor="ctr"/>
          <a:lstStyle/>
          <a:p>
            <a:pPr marL="0" indent="0" algn="ctr">
              <a:buNone/>
            </a:pPr>
            <a:r>
              <a:rPr lang="en-US" sz="1500" b="1" dirty="0">
                <a:solidFill>
                  <a:srgbClr val="282824"/>
                </a:solidFill>
                <a:latin typeface="Hiragino Sans W6" pitchFamily="34" charset="0"/>
                <a:ea typeface="Hiragino Sans W6" pitchFamily="34" charset="-122"/>
                <a:cs typeface="Hiragino Sans W6" pitchFamily="34" charset="-120"/>
              </a:rPr>
              <a:t>利用者（タブレット）</a:t>
            </a:r>
            <a:endParaRPr lang="en-US" sz="1500" dirty="0"/>
          </a:p>
        </p:txBody>
      </p:sp>
      <p:sp>
        <p:nvSpPr>
          <p:cNvPr id="34" name="Text 32"/>
          <p:cNvSpPr/>
          <p:nvPr/>
        </p:nvSpPr>
        <p:spPr>
          <a:xfrm>
            <a:off x="11128248" y="3566160"/>
            <a:ext cx="2971800" cy="274320"/>
          </a:xfrm>
          <a:prstGeom prst="rect">
            <a:avLst/>
          </a:prstGeom>
          <a:noFill/>
          <a:ln/>
        </p:spPr>
        <p:txBody>
          <a:bodyPr wrap="square" lIns="0" tIns="0" rIns="0" bIns="0" rtlCol="0" anchor="ctr"/>
          <a:lstStyle/>
          <a:p>
            <a:pPr marL="0" indent="0" algn="ctr">
              <a:buNone/>
            </a:pPr>
            <a:r>
              <a:rPr lang="en-US" sz="1300" dirty="0">
                <a:solidFill>
                  <a:srgbClr val="746558"/>
                </a:solidFill>
                <a:latin typeface="Hiragino Sans W3" pitchFamily="34" charset="0"/>
                <a:ea typeface="Hiragino Sans W3" pitchFamily="34" charset="-122"/>
                <a:cs typeface="Hiragino Sans W3" pitchFamily="34" charset="-120"/>
              </a:rPr>
              <a:t>利用者ご本人</a:t>
            </a:r>
            <a:endParaRPr lang="en-US" sz="1300" dirty="0"/>
          </a:p>
        </p:txBody>
      </p:sp>
      <p:sp>
        <p:nvSpPr>
          <p:cNvPr id="35" name="Shape 33"/>
          <p:cNvSpPr/>
          <p:nvPr/>
        </p:nvSpPr>
        <p:spPr>
          <a:xfrm>
            <a:off x="11311128" y="3977640"/>
            <a:ext cx="2606040" cy="0"/>
          </a:xfrm>
          <a:prstGeom prst="line">
            <a:avLst/>
          </a:prstGeom>
          <a:noFill/>
          <a:ln w="12700">
            <a:solidFill>
              <a:srgbClr val="E0D8CE"/>
            </a:solidFill>
            <a:prstDash val="solid"/>
          </a:ln>
        </p:spPr>
        <p:txBody>
          <a:bodyPr/>
          <a:lstStyle/>
          <a:p>
            <a:endParaRPr lang="ja-JP" altLang="en-US"/>
          </a:p>
        </p:txBody>
      </p:sp>
      <p:sp>
        <p:nvSpPr>
          <p:cNvPr id="36" name="Text 34"/>
          <p:cNvSpPr/>
          <p:nvPr/>
        </p:nvSpPr>
        <p:spPr>
          <a:xfrm>
            <a:off x="11173968" y="4114800"/>
            <a:ext cx="2880360" cy="1463040"/>
          </a:xfrm>
          <a:prstGeom prst="rect">
            <a:avLst/>
          </a:prstGeom>
          <a:noFill/>
          <a:ln/>
        </p:spPr>
        <p:txBody>
          <a:bodyPr wrap="square" lIns="0" tIns="0" rIns="0" bIns="0" rtlCol="0" anchor="t"/>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きょうのよてい</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きもちきろく</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ひらがな・大きなボタン</a:t>
            </a:r>
            <a:endParaRPr lang="en-US" sz="1400" dirty="0"/>
          </a:p>
        </p:txBody>
      </p:sp>
      <p:sp>
        <p:nvSpPr>
          <p:cNvPr id="37" name="Text 35"/>
          <p:cNvSpPr/>
          <p:nvPr/>
        </p:nvSpPr>
        <p:spPr>
          <a:xfrm>
            <a:off x="11128248" y="5806440"/>
            <a:ext cx="2971800" cy="365760"/>
          </a:xfrm>
          <a:prstGeom prst="rect">
            <a:avLst/>
          </a:prstGeom>
          <a:noFill/>
          <a:ln/>
        </p:spPr>
        <p:txBody>
          <a:bodyPr wrap="square" lIns="0" tIns="0" rIns="0" bIns="0" rtlCol="0" anchor="ctr"/>
          <a:lstStyle/>
          <a:p>
            <a:pPr marL="0" indent="0" algn="ctr">
              <a:buNone/>
            </a:pPr>
            <a:r>
              <a:rPr lang="en-US" sz="1300" dirty="0">
                <a:solidFill>
                  <a:srgbClr val="746558"/>
                </a:solidFill>
                <a:latin typeface="Hiragino Sans W3" pitchFamily="34" charset="0"/>
                <a:ea typeface="Hiragino Sans W3" pitchFamily="34" charset="-122"/>
                <a:cs typeface="Hiragino Sans W3" pitchFamily="34" charset="-120"/>
              </a:rPr>
              <a:t>タブレット</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「話すだけ」で記録が完了する音声ファーストUI</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紙に書く時間をケアの時間に変える — 支援員の負担を劇的に削減</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音声入力の3段階進化</a:t>
            </a:r>
            <a:endParaRPr lang="en-US" sz="2000" dirty="0"/>
          </a:p>
        </p:txBody>
      </p:sp>
      <p:sp>
        <p:nvSpPr>
          <p:cNvPr id="6" name="Shape 4"/>
          <p:cNvSpPr/>
          <p:nvPr/>
        </p:nvSpPr>
        <p:spPr>
          <a:xfrm>
            <a:off x="658368" y="2377440"/>
            <a:ext cx="6217920" cy="1463040"/>
          </a:xfrm>
          <a:prstGeom prst="rect">
            <a:avLst/>
          </a:prstGeom>
          <a:solidFill>
            <a:srgbClr val="FBE8E8"/>
          </a:solidFill>
          <a:ln/>
          <a:effectLst>
            <a:outerShdw blurRad="76200" dist="25400" dir="8100000" algn="bl" rotWithShape="0">
              <a:srgbClr val="000000">
                <a:alpha val="12000"/>
              </a:srgbClr>
            </a:outerShdw>
          </a:effectLst>
        </p:spPr>
        <p:txBody>
          <a:bodyPr/>
          <a:lstStyle/>
          <a:p>
            <a:endParaRPr lang="ja-JP" altLang="en-US"/>
          </a:p>
        </p:txBody>
      </p:sp>
      <p:sp>
        <p:nvSpPr>
          <p:cNvPr id="7" name="Text 5"/>
          <p:cNvSpPr/>
          <p:nvPr/>
        </p:nvSpPr>
        <p:spPr>
          <a:xfrm>
            <a:off x="841248" y="2468880"/>
            <a:ext cx="5852160" cy="320040"/>
          </a:xfrm>
          <a:prstGeom prst="rect">
            <a:avLst/>
          </a:prstGeom>
          <a:noFill/>
          <a:ln/>
        </p:spPr>
        <p:txBody>
          <a:bodyPr wrap="square" lIns="0" tIns="0" rIns="0" bIns="0" rtlCol="0" anchor="ctr"/>
          <a:lstStyle/>
          <a:p>
            <a:pPr marL="0" indent="0">
              <a:buNone/>
            </a:pPr>
            <a:r>
              <a:rPr lang="en-US" sz="1600" b="1" dirty="0">
                <a:solidFill>
                  <a:srgbClr val="C0392B"/>
                </a:solidFill>
                <a:latin typeface="Hiragino Sans W6" pitchFamily="34" charset="0"/>
                <a:ea typeface="Hiragino Sans W6" pitchFamily="34" charset="-122"/>
                <a:cs typeface="Hiragino Sans W6" pitchFamily="34" charset="-120"/>
              </a:rPr>
              <a:t>Before：紙の世界</a:t>
            </a:r>
            <a:endParaRPr lang="en-US" sz="1600" dirty="0"/>
          </a:p>
        </p:txBody>
      </p:sp>
      <p:sp>
        <p:nvSpPr>
          <p:cNvPr id="8" name="Text 6"/>
          <p:cNvSpPr/>
          <p:nvPr/>
        </p:nvSpPr>
        <p:spPr>
          <a:xfrm>
            <a:off x="841248" y="2834640"/>
            <a:ext cx="5852160" cy="868680"/>
          </a:xfrm>
          <a:prstGeom prst="rect">
            <a:avLst/>
          </a:prstGeom>
          <a:noFill/>
          <a:ln/>
        </p:spPr>
        <p:txBody>
          <a:bodyPr wrap="square" lIns="0" tIns="0" rIns="0" bIns="0"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手書きで記録（15分）→ 事務所でPC転記（10分）</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 ファイリング → 翌日やっと共有 → 情報の断絶</a:t>
            </a:r>
            <a:endParaRPr lang="en-US" sz="1400" dirty="0"/>
          </a:p>
        </p:txBody>
      </p:sp>
      <p:sp>
        <p:nvSpPr>
          <p:cNvPr id="9" name="Shape 7"/>
          <p:cNvSpPr/>
          <p:nvPr/>
        </p:nvSpPr>
        <p:spPr>
          <a:xfrm>
            <a:off x="7333488" y="2377440"/>
            <a:ext cx="6400800" cy="1463040"/>
          </a:xfrm>
          <a:prstGeom prst="rect">
            <a:avLst/>
          </a:prstGeom>
          <a:solidFill>
            <a:srgbClr val="E8F5E8"/>
          </a:solidFill>
          <a:ln/>
          <a:effectLst>
            <a:outerShdw blurRad="76200" dist="25400" dir="8100000" algn="bl" rotWithShape="0">
              <a:srgbClr val="000000">
                <a:alpha val="12000"/>
              </a:srgbClr>
            </a:outerShdw>
          </a:effectLst>
        </p:spPr>
        <p:txBody>
          <a:bodyPr/>
          <a:lstStyle/>
          <a:p>
            <a:endParaRPr lang="ja-JP" altLang="en-US"/>
          </a:p>
        </p:txBody>
      </p:sp>
      <p:sp>
        <p:nvSpPr>
          <p:cNvPr id="10" name="Text 8"/>
          <p:cNvSpPr/>
          <p:nvPr/>
        </p:nvSpPr>
        <p:spPr>
          <a:xfrm>
            <a:off x="7516368" y="2468880"/>
            <a:ext cx="6035040" cy="320040"/>
          </a:xfrm>
          <a:prstGeom prst="rect">
            <a:avLst/>
          </a:prstGeom>
          <a:noFill/>
          <a:ln/>
        </p:spPr>
        <p:txBody>
          <a:bodyPr wrap="square" lIns="0" tIns="0" rIns="0" bIns="0" rtlCol="0" anchor="ctr"/>
          <a:lstStyle/>
          <a:p>
            <a:pPr marL="0" indent="0">
              <a:buNone/>
            </a:pPr>
            <a:r>
              <a:rPr lang="en-US" sz="1600" b="1" dirty="0">
                <a:solidFill>
                  <a:srgbClr val="27AE60"/>
                </a:solidFill>
                <a:latin typeface="Hiragino Sans W6" pitchFamily="34" charset="0"/>
                <a:ea typeface="Hiragino Sans W6" pitchFamily="34" charset="-122"/>
                <a:cs typeface="Hiragino Sans W6" pitchFamily="34" charset="-120"/>
              </a:rPr>
              <a:t>After：音声の世界</a:t>
            </a:r>
            <a:endParaRPr lang="en-US" sz="1600" dirty="0"/>
          </a:p>
        </p:txBody>
      </p:sp>
      <p:sp>
        <p:nvSpPr>
          <p:cNvPr id="11" name="Text 9"/>
          <p:cNvSpPr/>
          <p:nvPr/>
        </p:nvSpPr>
        <p:spPr>
          <a:xfrm>
            <a:off x="7516368" y="2834640"/>
            <a:ext cx="6035040" cy="868680"/>
          </a:xfrm>
          <a:prstGeom prst="rect">
            <a:avLst/>
          </a:prstGeom>
          <a:noFill/>
          <a:ln/>
        </p:spPr>
        <p:txBody>
          <a:bodyPr wrap="square" lIns="0" tIns="0" rIns="0" bIns="0"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その場で話す（2分）→ AI自動構造化</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 チーム全員に即共有 → リアルタイム支援</a:t>
            </a:r>
            <a:endParaRPr lang="en-US" sz="1400" dirty="0"/>
          </a:p>
        </p:txBody>
      </p:sp>
      <p:sp>
        <p:nvSpPr>
          <p:cNvPr id="12" name="Shape 10"/>
          <p:cNvSpPr/>
          <p:nvPr/>
        </p:nvSpPr>
        <p:spPr>
          <a:xfrm>
            <a:off x="658368" y="4206240"/>
            <a:ext cx="4206240" cy="3108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3" name="Shape 11"/>
          <p:cNvSpPr/>
          <p:nvPr/>
        </p:nvSpPr>
        <p:spPr>
          <a:xfrm>
            <a:off x="658368" y="4206240"/>
            <a:ext cx="4206240" cy="54864"/>
          </a:xfrm>
          <a:prstGeom prst="rect">
            <a:avLst/>
          </a:prstGeom>
          <a:solidFill>
            <a:srgbClr val="4A90D9"/>
          </a:solidFill>
          <a:ln/>
        </p:spPr>
        <p:txBody>
          <a:bodyPr/>
          <a:lstStyle/>
          <a:p>
            <a:endParaRPr lang="ja-JP" altLang="en-US"/>
          </a:p>
        </p:txBody>
      </p:sp>
      <p:sp>
        <p:nvSpPr>
          <p:cNvPr id="14" name="Text 12"/>
          <p:cNvSpPr/>
          <p:nvPr/>
        </p:nvSpPr>
        <p:spPr>
          <a:xfrm>
            <a:off x="795528" y="4389120"/>
            <a:ext cx="3931920" cy="320040"/>
          </a:xfrm>
          <a:prstGeom prst="rect">
            <a:avLst/>
          </a:prstGeom>
          <a:noFill/>
          <a:ln/>
        </p:spPr>
        <p:txBody>
          <a:bodyPr wrap="square" lIns="0" tIns="0" rIns="0" bIns="0" rtlCol="0" anchor="ctr"/>
          <a:lstStyle/>
          <a:p>
            <a:pPr marL="0" indent="0">
              <a:buNone/>
            </a:pPr>
            <a:r>
              <a:rPr lang="en-US" sz="1500" dirty="0">
                <a:solidFill>
                  <a:srgbClr val="4A90D9"/>
                </a:solidFill>
                <a:latin typeface="Hiragino Sans W3" pitchFamily="34" charset="0"/>
                <a:ea typeface="Hiragino Sans W3" pitchFamily="34" charset="-122"/>
                <a:cs typeface="Hiragino Sans W3" pitchFamily="34" charset="-120"/>
              </a:rPr>
              <a:t>Phase 1</a:t>
            </a:r>
            <a:endParaRPr lang="en-US" sz="1500" dirty="0"/>
          </a:p>
        </p:txBody>
      </p:sp>
      <p:sp>
        <p:nvSpPr>
          <p:cNvPr id="15" name="Text 13"/>
          <p:cNvSpPr/>
          <p:nvPr/>
        </p:nvSpPr>
        <p:spPr>
          <a:xfrm>
            <a:off x="795528" y="4709160"/>
            <a:ext cx="3931920" cy="365760"/>
          </a:xfrm>
          <a:prstGeom prst="rect">
            <a:avLst/>
          </a:prstGeom>
          <a:noFill/>
          <a:ln/>
        </p:spPr>
        <p:txBody>
          <a:bodyPr wrap="square" lIns="0" tIns="0" rIns="0" bIns="0" rtlCol="0" anchor="ctr"/>
          <a:lstStyle/>
          <a:p>
            <a:pPr marL="0" indent="0">
              <a:buNone/>
            </a:pPr>
            <a:r>
              <a:rPr lang="en-US" sz="1800" b="1" dirty="0">
                <a:solidFill>
                  <a:srgbClr val="282824"/>
                </a:solidFill>
                <a:latin typeface="Hiragino Sans W6" pitchFamily="34" charset="0"/>
                <a:ea typeface="Hiragino Sans W6" pitchFamily="34" charset="-122"/>
                <a:cs typeface="Hiragino Sans W6" pitchFamily="34" charset="-120"/>
              </a:rPr>
              <a:t>録音→テキスト化</a:t>
            </a:r>
            <a:endParaRPr lang="en-US" sz="1800" dirty="0"/>
          </a:p>
        </p:txBody>
      </p:sp>
      <p:sp>
        <p:nvSpPr>
          <p:cNvPr id="16" name="Text 14"/>
          <p:cNvSpPr/>
          <p:nvPr/>
        </p:nvSpPr>
        <p:spPr>
          <a:xfrm>
            <a:off x="795528" y="5120640"/>
            <a:ext cx="3931920" cy="640080"/>
          </a:xfrm>
          <a:prstGeom prst="rect">
            <a:avLst/>
          </a:prstGeom>
          <a:noFill/>
          <a:ln/>
        </p:spPr>
        <p:txBody>
          <a:bodyPr wrap="square" lIns="0" tIns="0" rIns="0" bIns="0" rtlCol="0" anchor="ctr"/>
          <a:lstStyle/>
          <a:p>
            <a:pPr marL="0" indent="0" algn="ctr">
              <a:buNone/>
            </a:pPr>
            <a:r>
              <a:rPr lang="en-US" sz="4000" b="1" dirty="0">
                <a:solidFill>
                  <a:srgbClr val="4A90D9"/>
                </a:solidFill>
                <a:latin typeface="Hiragino Sans W6" pitchFamily="34" charset="0"/>
                <a:ea typeface="Hiragino Sans W6" pitchFamily="34" charset="-122"/>
                <a:cs typeface="Hiragino Sans W6" pitchFamily="34" charset="-120"/>
              </a:rPr>
              <a:t>80%</a:t>
            </a:r>
            <a:endParaRPr lang="en-US" sz="4000" dirty="0"/>
          </a:p>
        </p:txBody>
      </p:sp>
      <p:sp>
        <p:nvSpPr>
          <p:cNvPr id="17" name="Text 15"/>
          <p:cNvSpPr/>
          <p:nvPr/>
        </p:nvSpPr>
        <p:spPr>
          <a:xfrm>
            <a:off x="795528" y="5806440"/>
            <a:ext cx="3931920" cy="1005840"/>
          </a:xfrm>
          <a:prstGeom prst="rect">
            <a:avLst/>
          </a:prstGeom>
          <a:noFill/>
          <a:ln/>
        </p:spPr>
        <p:txBody>
          <a:bodyPr wrap="square" lIns="0" tIns="0" rIns="0" bIns="0"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音声認識で即テキスト化。</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手動修正後に保存。</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これだけで記録時間80%削減。</a:t>
            </a:r>
            <a:endParaRPr lang="en-US" sz="1400" dirty="0"/>
          </a:p>
        </p:txBody>
      </p:sp>
      <p:sp>
        <p:nvSpPr>
          <p:cNvPr id="18" name="Text 16"/>
          <p:cNvSpPr/>
          <p:nvPr/>
        </p:nvSpPr>
        <p:spPr>
          <a:xfrm>
            <a:off x="795528" y="6858000"/>
            <a:ext cx="3931920" cy="320040"/>
          </a:xfrm>
          <a:prstGeom prst="rect">
            <a:avLst/>
          </a:prstGeom>
          <a:noFill/>
          <a:ln/>
        </p:spPr>
        <p:txBody>
          <a:bodyPr wrap="square" lIns="0" tIns="0" rIns="0" bIns="0" rtlCol="0" anchor="ctr"/>
          <a:lstStyle/>
          <a:p>
            <a:pPr marL="0" indent="0" algn="ctr">
              <a:buNone/>
            </a:pPr>
            <a:r>
              <a:rPr lang="en-US" sz="1400" b="1" dirty="0">
                <a:solidFill>
                  <a:srgbClr val="746558"/>
                </a:solidFill>
                <a:latin typeface="Hiragino Sans W6" pitchFamily="34" charset="0"/>
                <a:ea typeface="Hiragino Sans W6" pitchFamily="34" charset="-122"/>
                <a:cs typeface="Hiragino Sans W6" pitchFamily="34" charset="-120"/>
              </a:rPr>
              <a:t>記録時間削減</a:t>
            </a:r>
            <a:endParaRPr lang="en-US" sz="1400" dirty="0"/>
          </a:p>
        </p:txBody>
      </p:sp>
      <p:sp>
        <p:nvSpPr>
          <p:cNvPr id="19" name="Shape 17"/>
          <p:cNvSpPr/>
          <p:nvPr/>
        </p:nvSpPr>
        <p:spPr>
          <a:xfrm>
            <a:off x="5212080" y="4206240"/>
            <a:ext cx="4206240" cy="3108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0" name="Shape 18"/>
          <p:cNvSpPr/>
          <p:nvPr/>
        </p:nvSpPr>
        <p:spPr>
          <a:xfrm>
            <a:off x="5212080" y="4206240"/>
            <a:ext cx="4206240" cy="54864"/>
          </a:xfrm>
          <a:prstGeom prst="rect">
            <a:avLst/>
          </a:prstGeom>
          <a:solidFill>
            <a:srgbClr val="4A90D9"/>
          </a:solidFill>
          <a:ln/>
        </p:spPr>
        <p:txBody>
          <a:bodyPr/>
          <a:lstStyle/>
          <a:p>
            <a:endParaRPr lang="ja-JP" altLang="en-US"/>
          </a:p>
        </p:txBody>
      </p:sp>
      <p:sp>
        <p:nvSpPr>
          <p:cNvPr id="21" name="Text 19"/>
          <p:cNvSpPr/>
          <p:nvPr/>
        </p:nvSpPr>
        <p:spPr>
          <a:xfrm>
            <a:off x="5349240" y="4389120"/>
            <a:ext cx="3931920" cy="320040"/>
          </a:xfrm>
          <a:prstGeom prst="rect">
            <a:avLst/>
          </a:prstGeom>
          <a:noFill/>
          <a:ln/>
        </p:spPr>
        <p:txBody>
          <a:bodyPr wrap="square" lIns="0" tIns="0" rIns="0" bIns="0" rtlCol="0" anchor="ctr"/>
          <a:lstStyle/>
          <a:p>
            <a:pPr marL="0" indent="0">
              <a:buNone/>
            </a:pPr>
            <a:r>
              <a:rPr lang="en-US" sz="1500" dirty="0">
                <a:solidFill>
                  <a:srgbClr val="4A90D9"/>
                </a:solidFill>
                <a:latin typeface="Hiragino Sans W3" pitchFamily="34" charset="0"/>
                <a:ea typeface="Hiragino Sans W3" pitchFamily="34" charset="-122"/>
                <a:cs typeface="Hiragino Sans W3" pitchFamily="34" charset="-120"/>
              </a:rPr>
              <a:t>Phase 2</a:t>
            </a:r>
            <a:endParaRPr lang="en-US" sz="1500" dirty="0"/>
          </a:p>
        </p:txBody>
      </p:sp>
      <p:sp>
        <p:nvSpPr>
          <p:cNvPr id="22" name="Text 20"/>
          <p:cNvSpPr/>
          <p:nvPr/>
        </p:nvSpPr>
        <p:spPr>
          <a:xfrm>
            <a:off x="5349240" y="4709160"/>
            <a:ext cx="3931920" cy="365760"/>
          </a:xfrm>
          <a:prstGeom prst="rect">
            <a:avLst/>
          </a:prstGeom>
          <a:noFill/>
          <a:ln/>
        </p:spPr>
        <p:txBody>
          <a:bodyPr wrap="square" lIns="0" tIns="0" rIns="0" bIns="0" rtlCol="0" anchor="ctr"/>
          <a:lstStyle/>
          <a:p>
            <a:pPr marL="0" indent="0">
              <a:buNone/>
            </a:pPr>
            <a:r>
              <a:rPr lang="en-US" sz="1800" b="1" dirty="0">
                <a:solidFill>
                  <a:srgbClr val="282824"/>
                </a:solidFill>
                <a:latin typeface="Hiragino Sans W6" pitchFamily="34" charset="0"/>
                <a:ea typeface="Hiragino Sans W6" pitchFamily="34" charset="-122"/>
                <a:cs typeface="Hiragino Sans W6" pitchFamily="34" charset="-120"/>
              </a:rPr>
              <a:t>AI自動分類</a:t>
            </a:r>
            <a:endParaRPr lang="en-US" sz="1800" dirty="0"/>
          </a:p>
        </p:txBody>
      </p:sp>
      <p:sp>
        <p:nvSpPr>
          <p:cNvPr id="23" name="Text 21"/>
          <p:cNvSpPr/>
          <p:nvPr/>
        </p:nvSpPr>
        <p:spPr>
          <a:xfrm>
            <a:off x="5349240" y="5120640"/>
            <a:ext cx="3931920" cy="640080"/>
          </a:xfrm>
          <a:prstGeom prst="rect">
            <a:avLst/>
          </a:prstGeom>
          <a:noFill/>
          <a:ln/>
        </p:spPr>
        <p:txBody>
          <a:bodyPr wrap="square" lIns="0" tIns="0" rIns="0" bIns="0" rtlCol="0" anchor="ctr"/>
          <a:lstStyle/>
          <a:p>
            <a:pPr marL="0" indent="0" algn="ctr">
              <a:buNone/>
            </a:pPr>
            <a:r>
              <a:rPr lang="en-US" sz="4000" b="1" dirty="0">
                <a:solidFill>
                  <a:srgbClr val="4A90D9"/>
                </a:solidFill>
                <a:latin typeface="Hiragino Sans W6" pitchFamily="34" charset="0"/>
                <a:ea typeface="Hiragino Sans W6" pitchFamily="34" charset="-122"/>
                <a:cs typeface="Hiragino Sans W6" pitchFamily="34" charset="-120"/>
              </a:rPr>
              <a:t>AI</a:t>
            </a:r>
            <a:endParaRPr lang="en-US" sz="4000" dirty="0"/>
          </a:p>
        </p:txBody>
      </p:sp>
      <p:sp>
        <p:nvSpPr>
          <p:cNvPr id="24" name="Text 22"/>
          <p:cNvSpPr/>
          <p:nvPr/>
        </p:nvSpPr>
        <p:spPr>
          <a:xfrm>
            <a:off x="5349240" y="5806440"/>
            <a:ext cx="3931920" cy="1005840"/>
          </a:xfrm>
          <a:prstGeom prst="rect">
            <a:avLst/>
          </a:prstGeom>
          <a:noFill/>
          <a:ln/>
        </p:spPr>
        <p:txBody>
          <a:bodyPr wrap="square" lIns="0" tIns="0" rIns="0" bIns="0"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内容/アセスメント自動分離。</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フィールド自動振り分け。</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X行・矢印記法も自動判定。</a:t>
            </a:r>
            <a:endParaRPr lang="en-US" sz="1400" dirty="0"/>
          </a:p>
        </p:txBody>
      </p:sp>
      <p:sp>
        <p:nvSpPr>
          <p:cNvPr id="25" name="Text 23"/>
          <p:cNvSpPr/>
          <p:nvPr/>
        </p:nvSpPr>
        <p:spPr>
          <a:xfrm>
            <a:off x="5349240" y="6858000"/>
            <a:ext cx="3931920" cy="320040"/>
          </a:xfrm>
          <a:prstGeom prst="rect">
            <a:avLst/>
          </a:prstGeom>
          <a:noFill/>
          <a:ln/>
        </p:spPr>
        <p:txBody>
          <a:bodyPr wrap="square" lIns="0" tIns="0" rIns="0" bIns="0" rtlCol="0" anchor="ctr"/>
          <a:lstStyle/>
          <a:p>
            <a:pPr marL="0" indent="0" algn="ctr">
              <a:buNone/>
            </a:pPr>
            <a:r>
              <a:rPr lang="en-US" sz="1400" b="1" dirty="0">
                <a:solidFill>
                  <a:srgbClr val="746558"/>
                </a:solidFill>
                <a:latin typeface="Hiragino Sans W6" pitchFamily="34" charset="0"/>
                <a:ea typeface="Hiragino Sans W6" pitchFamily="34" charset="-122"/>
                <a:cs typeface="Hiragino Sans W6" pitchFamily="34" charset="-120"/>
              </a:rPr>
              <a:t>構造化エンジン</a:t>
            </a:r>
            <a:endParaRPr lang="en-US" sz="1400" dirty="0"/>
          </a:p>
        </p:txBody>
      </p:sp>
      <p:sp>
        <p:nvSpPr>
          <p:cNvPr id="26" name="Shape 24"/>
          <p:cNvSpPr/>
          <p:nvPr/>
        </p:nvSpPr>
        <p:spPr>
          <a:xfrm>
            <a:off x="9765792" y="4206240"/>
            <a:ext cx="4206240" cy="3108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7" name="Shape 25"/>
          <p:cNvSpPr/>
          <p:nvPr/>
        </p:nvSpPr>
        <p:spPr>
          <a:xfrm>
            <a:off x="9765792" y="4206240"/>
            <a:ext cx="4206240" cy="54864"/>
          </a:xfrm>
          <a:prstGeom prst="rect">
            <a:avLst/>
          </a:prstGeom>
          <a:solidFill>
            <a:srgbClr val="4A90D9"/>
          </a:solidFill>
          <a:ln/>
        </p:spPr>
        <p:txBody>
          <a:bodyPr/>
          <a:lstStyle/>
          <a:p>
            <a:endParaRPr lang="ja-JP" altLang="en-US"/>
          </a:p>
        </p:txBody>
      </p:sp>
      <p:sp>
        <p:nvSpPr>
          <p:cNvPr id="28" name="Text 26"/>
          <p:cNvSpPr/>
          <p:nvPr/>
        </p:nvSpPr>
        <p:spPr>
          <a:xfrm>
            <a:off x="9902952" y="4389120"/>
            <a:ext cx="3931920" cy="320040"/>
          </a:xfrm>
          <a:prstGeom prst="rect">
            <a:avLst/>
          </a:prstGeom>
          <a:noFill/>
          <a:ln/>
        </p:spPr>
        <p:txBody>
          <a:bodyPr wrap="square" lIns="0" tIns="0" rIns="0" bIns="0" rtlCol="0" anchor="ctr"/>
          <a:lstStyle/>
          <a:p>
            <a:pPr marL="0" indent="0">
              <a:buNone/>
            </a:pPr>
            <a:r>
              <a:rPr lang="en-US" sz="1500" dirty="0">
                <a:solidFill>
                  <a:srgbClr val="4A90D9"/>
                </a:solidFill>
                <a:latin typeface="Hiragino Sans W3" pitchFamily="34" charset="0"/>
                <a:ea typeface="Hiragino Sans W3" pitchFamily="34" charset="-122"/>
                <a:cs typeface="Hiragino Sans W3" pitchFamily="34" charset="-120"/>
              </a:rPr>
              <a:t>Phase 3</a:t>
            </a:r>
            <a:endParaRPr lang="en-US" sz="1500" dirty="0"/>
          </a:p>
        </p:txBody>
      </p:sp>
      <p:sp>
        <p:nvSpPr>
          <p:cNvPr id="29" name="Text 27"/>
          <p:cNvSpPr/>
          <p:nvPr/>
        </p:nvSpPr>
        <p:spPr>
          <a:xfrm>
            <a:off x="9902952" y="4709160"/>
            <a:ext cx="3931920" cy="365760"/>
          </a:xfrm>
          <a:prstGeom prst="rect">
            <a:avLst/>
          </a:prstGeom>
          <a:noFill/>
          <a:ln/>
        </p:spPr>
        <p:txBody>
          <a:bodyPr wrap="square" lIns="0" tIns="0" rIns="0" bIns="0" rtlCol="0" anchor="ctr"/>
          <a:lstStyle/>
          <a:p>
            <a:pPr marL="0" indent="0">
              <a:buNone/>
            </a:pPr>
            <a:r>
              <a:rPr lang="en-US" sz="1800" b="1" dirty="0">
                <a:solidFill>
                  <a:srgbClr val="282824"/>
                </a:solidFill>
                <a:latin typeface="Hiragino Sans W6" pitchFamily="34" charset="0"/>
                <a:ea typeface="Hiragino Sans W6" pitchFamily="34" charset="-122"/>
                <a:cs typeface="Hiragino Sans W6" pitchFamily="34" charset="-120"/>
              </a:rPr>
              <a:t>定型文サジェスト</a:t>
            </a:r>
            <a:endParaRPr lang="en-US" sz="1800" dirty="0"/>
          </a:p>
        </p:txBody>
      </p:sp>
      <p:sp>
        <p:nvSpPr>
          <p:cNvPr id="30" name="Text 28"/>
          <p:cNvSpPr/>
          <p:nvPr/>
        </p:nvSpPr>
        <p:spPr>
          <a:xfrm>
            <a:off x="9902952" y="5120640"/>
            <a:ext cx="3931920" cy="640080"/>
          </a:xfrm>
          <a:prstGeom prst="rect">
            <a:avLst/>
          </a:prstGeom>
          <a:noFill/>
          <a:ln/>
        </p:spPr>
        <p:txBody>
          <a:bodyPr wrap="square" lIns="0" tIns="0" rIns="0" bIns="0" rtlCol="0" anchor="ctr"/>
          <a:lstStyle/>
          <a:p>
            <a:pPr marL="0" indent="0" algn="ctr">
              <a:buNone/>
            </a:pPr>
            <a:r>
              <a:rPr lang="en-US" sz="4000" b="1" dirty="0">
                <a:solidFill>
                  <a:srgbClr val="4A90D9"/>
                </a:solidFill>
                <a:latin typeface="Hiragino Sans W6" pitchFamily="34" charset="0"/>
                <a:ea typeface="Hiragino Sans W6" pitchFamily="34" charset="-122"/>
                <a:cs typeface="Hiragino Sans W6" pitchFamily="34" charset="-120"/>
              </a:rPr>
              <a:t>+</a:t>
            </a:r>
            <a:endParaRPr lang="en-US" sz="4000" dirty="0"/>
          </a:p>
        </p:txBody>
      </p:sp>
      <p:sp>
        <p:nvSpPr>
          <p:cNvPr id="31" name="Text 29"/>
          <p:cNvSpPr/>
          <p:nvPr/>
        </p:nvSpPr>
        <p:spPr>
          <a:xfrm>
            <a:off x="9902952" y="5806440"/>
            <a:ext cx="3931920" cy="1005840"/>
          </a:xfrm>
          <a:prstGeom prst="rect">
            <a:avLst/>
          </a:prstGeom>
          <a:noFill/>
          <a:ln/>
        </p:spPr>
        <p:txBody>
          <a:bodyPr wrap="square" lIns="0" tIns="0" rIns="0" bIns="0"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過去記録からの候補提示。</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日次サマリー自動生成。</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支援カルテ一括登録。</a:t>
            </a:r>
            <a:endParaRPr lang="en-US" sz="1400" dirty="0"/>
          </a:p>
        </p:txBody>
      </p:sp>
      <p:sp>
        <p:nvSpPr>
          <p:cNvPr id="32" name="Text 30"/>
          <p:cNvSpPr/>
          <p:nvPr/>
        </p:nvSpPr>
        <p:spPr>
          <a:xfrm>
            <a:off x="9902952" y="6858000"/>
            <a:ext cx="3931920" cy="320040"/>
          </a:xfrm>
          <a:prstGeom prst="rect">
            <a:avLst/>
          </a:prstGeom>
          <a:noFill/>
          <a:ln/>
        </p:spPr>
        <p:txBody>
          <a:bodyPr wrap="square" lIns="0" tIns="0" rIns="0" bIns="0" rtlCol="0" anchor="ctr"/>
          <a:lstStyle/>
          <a:p>
            <a:pPr marL="0" indent="0" algn="ctr">
              <a:buNone/>
            </a:pPr>
            <a:r>
              <a:rPr lang="en-US" sz="1400" b="1" dirty="0">
                <a:solidFill>
                  <a:srgbClr val="746558"/>
                </a:solidFill>
                <a:latin typeface="Hiragino Sans W6" pitchFamily="34" charset="0"/>
                <a:ea typeface="Hiragino Sans W6" pitchFamily="34" charset="-122"/>
                <a:cs typeface="Hiragino Sans W6" pitchFamily="34" charset="-120"/>
              </a:rPr>
              <a:t>学習する記録</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データが支援を進化させるAI好循環サイクル</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使えば使うほど賢くなり、支援品質が上がり続ける</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AI好循環: データ蓄積 → 分析 → 品質向上 → さらなるデータ蓄積</a:t>
            </a:r>
            <a:endParaRPr lang="en-US" sz="2000" dirty="0"/>
          </a:p>
        </p:txBody>
      </p:sp>
      <p:sp>
        <p:nvSpPr>
          <p:cNvPr id="6" name="Shape 4"/>
          <p:cNvSpPr/>
          <p:nvPr/>
        </p:nvSpPr>
        <p:spPr>
          <a:xfrm>
            <a:off x="1024128" y="2423160"/>
            <a:ext cx="29260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2212848" y="2606040"/>
            <a:ext cx="548640" cy="548640"/>
          </a:xfrm>
          <a:prstGeom prst="ellipse">
            <a:avLst/>
          </a:prstGeom>
          <a:solidFill>
            <a:srgbClr val="4A90D9"/>
          </a:solidFill>
          <a:ln/>
        </p:spPr>
        <p:txBody>
          <a:bodyPr/>
          <a:lstStyle/>
          <a:p>
            <a:endParaRPr lang="ja-JP" altLang="en-US"/>
          </a:p>
        </p:txBody>
      </p:sp>
      <p:sp>
        <p:nvSpPr>
          <p:cNvPr id="8" name="Text 6"/>
          <p:cNvSpPr/>
          <p:nvPr/>
        </p:nvSpPr>
        <p:spPr>
          <a:xfrm>
            <a:off x="2212848" y="260604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Hiragino Sans W6" pitchFamily="34" charset="0"/>
                <a:ea typeface="Hiragino Sans W6" pitchFamily="34" charset="-122"/>
                <a:cs typeface="Hiragino Sans W6" pitchFamily="34" charset="-120"/>
              </a:rPr>
              <a:t>1</a:t>
            </a:r>
            <a:endParaRPr lang="en-US" sz="2400" dirty="0"/>
          </a:p>
        </p:txBody>
      </p:sp>
      <p:sp>
        <p:nvSpPr>
          <p:cNvPr id="9" name="Text 7"/>
          <p:cNvSpPr/>
          <p:nvPr/>
        </p:nvSpPr>
        <p:spPr>
          <a:xfrm>
            <a:off x="1115568" y="3291840"/>
            <a:ext cx="2743200" cy="365760"/>
          </a:xfrm>
          <a:prstGeom prst="rect">
            <a:avLst/>
          </a:prstGeom>
          <a:noFill/>
          <a:ln/>
        </p:spPr>
        <p:txBody>
          <a:bodyPr wrap="square" lIns="0" tIns="0" rIns="0" bIns="0" rtlCol="0" anchor="ctr"/>
          <a:lstStyle/>
          <a:p>
            <a:pPr marL="0" indent="0" algn="ctr">
              <a:buNone/>
            </a:pPr>
            <a:r>
              <a:rPr lang="en-US" sz="1800" b="1" dirty="0">
                <a:solidFill>
                  <a:srgbClr val="282824"/>
                </a:solidFill>
                <a:latin typeface="Hiragino Sans W6" pitchFamily="34" charset="0"/>
                <a:ea typeface="Hiragino Sans W6" pitchFamily="34" charset="-122"/>
                <a:cs typeface="Hiragino Sans W6" pitchFamily="34" charset="-120"/>
              </a:rPr>
              <a:t>データ蓄積</a:t>
            </a:r>
            <a:endParaRPr lang="en-US" sz="1800" dirty="0"/>
          </a:p>
        </p:txBody>
      </p:sp>
      <p:sp>
        <p:nvSpPr>
          <p:cNvPr id="10" name="Text 8"/>
          <p:cNvSpPr/>
          <p:nvPr/>
        </p:nvSpPr>
        <p:spPr>
          <a:xfrm>
            <a:off x="1115568" y="3749040"/>
            <a:ext cx="2743200" cy="822960"/>
          </a:xfrm>
          <a:prstGeom prst="rect">
            <a:avLst/>
          </a:prstGeom>
          <a:noFill/>
          <a:ln/>
        </p:spPr>
        <p:txBody>
          <a:bodyPr wrap="square" lIns="0" tIns="0" rIns="0" bIns="0" rtlCol="0" anchor="ctr"/>
          <a:lstStyle/>
          <a:p>
            <a:pPr marL="0" indent="0" algn="ctr">
              <a:buNone/>
            </a:pPr>
            <a:r>
              <a:rPr lang="en-US" sz="1400" dirty="0">
                <a:solidFill>
                  <a:srgbClr val="4A4A45"/>
                </a:solidFill>
                <a:latin typeface="Hiragino Sans W3" pitchFamily="34" charset="0"/>
                <a:ea typeface="Hiragino Sans W3" pitchFamily="34" charset="-122"/>
                <a:cs typeface="Hiragino Sans W3" pitchFamily="34" charset="-120"/>
              </a:rPr>
              <a:t>音声入力・自動記録で</a:t>
            </a:r>
            <a:endParaRPr lang="en-US" sz="1400" dirty="0"/>
          </a:p>
          <a:p>
            <a:pPr marL="0" indent="0" algn="ctr">
              <a:buNone/>
            </a:pPr>
            <a:r>
              <a:rPr lang="en-US" sz="1400" dirty="0">
                <a:solidFill>
                  <a:srgbClr val="4A4A45"/>
                </a:solidFill>
                <a:latin typeface="Hiragino Sans W3" pitchFamily="34" charset="0"/>
                <a:ea typeface="Hiragino Sans W3" pitchFamily="34" charset="-122"/>
                <a:cs typeface="Hiragino Sans W3" pitchFamily="34" charset="-120"/>
              </a:rPr>
              <a:t>日々のデータが蓄積</a:t>
            </a:r>
            <a:endParaRPr lang="en-US" sz="1400" dirty="0"/>
          </a:p>
        </p:txBody>
      </p:sp>
      <p:sp>
        <p:nvSpPr>
          <p:cNvPr id="11" name="Text 9"/>
          <p:cNvSpPr/>
          <p:nvPr/>
        </p:nvSpPr>
        <p:spPr>
          <a:xfrm>
            <a:off x="3950208" y="3154680"/>
            <a:ext cx="365760" cy="457200"/>
          </a:xfrm>
          <a:prstGeom prst="rect">
            <a:avLst/>
          </a:prstGeom>
          <a:noFill/>
          <a:ln/>
        </p:spPr>
        <p:txBody>
          <a:bodyPr wrap="square" lIns="0" tIns="0" rIns="0" bIns="0" rtlCol="0" anchor="ctr"/>
          <a:lstStyle/>
          <a:p>
            <a:pPr marL="0" indent="0" algn="ctr">
              <a:buNone/>
            </a:pPr>
            <a:r>
              <a:rPr lang="en-US" sz="2000" dirty="0">
                <a:solidFill>
                  <a:srgbClr val="746558"/>
                </a:solidFill>
                <a:latin typeface="Hiragino Sans W6" pitchFamily="34" charset="0"/>
                <a:ea typeface="Hiragino Sans W6" pitchFamily="34" charset="-122"/>
                <a:cs typeface="Hiragino Sans W6" pitchFamily="34" charset="-120"/>
              </a:rPr>
              <a:t>&gt;&gt;&gt;</a:t>
            </a:r>
            <a:endParaRPr lang="en-US" sz="2000" dirty="0"/>
          </a:p>
        </p:txBody>
      </p:sp>
      <p:sp>
        <p:nvSpPr>
          <p:cNvPr id="12" name="Shape 10"/>
          <p:cNvSpPr/>
          <p:nvPr/>
        </p:nvSpPr>
        <p:spPr>
          <a:xfrm>
            <a:off x="4315968" y="2423160"/>
            <a:ext cx="29260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3" name="Shape 11"/>
          <p:cNvSpPr/>
          <p:nvPr/>
        </p:nvSpPr>
        <p:spPr>
          <a:xfrm>
            <a:off x="5504688" y="2606040"/>
            <a:ext cx="548640" cy="548640"/>
          </a:xfrm>
          <a:prstGeom prst="ellipse">
            <a:avLst/>
          </a:prstGeom>
          <a:solidFill>
            <a:srgbClr val="27AE60"/>
          </a:solidFill>
          <a:ln/>
        </p:spPr>
        <p:txBody>
          <a:bodyPr/>
          <a:lstStyle/>
          <a:p>
            <a:endParaRPr lang="ja-JP" altLang="en-US"/>
          </a:p>
        </p:txBody>
      </p:sp>
      <p:sp>
        <p:nvSpPr>
          <p:cNvPr id="14" name="Text 12"/>
          <p:cNvSpPr/>
          <p:nvPr/>
        </p:nvSpPr>
        <p:spPr>
          <a:xfrm>
            <a:off x="5504688" y="260604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Hiragino Sans W6" pitchFamily="34" charset="0"/>
                <a:ea typeface="Hiragino Sans W6" pitchFamily="34" charset="-122"/>
                <a:cs typeface="Hiragino Sans W6" pitchFamily="34" charset="-120"/>
              </a:rPr>
              <a:t>2</a:t>
            </a:r>
            <a:endParaRPr lang="en-US" sz="2400" dirty="0"/>
          </a:p>
        </p:txBody>
      </p:sp>
      <p:sp>
        <p:nvSpPr>
          <p:cNvPr id="15" name="Text 13"/>
          <p:cNvSpPr/>
          <p:nvPr/>
        </p:nvSpPr>
        <p:spPr>
          <a:xfrm>
            <a:off x="4407408" y="3291840"/>
            <a:ext cx="2743200" cy="365760"/>
          </a:xfrm>
          <a:prstGeom prst="rect">
            <a:avLst/>
          </a:prstGeom>
          <a:noFill/>
          <a:ln/>
        </p:spPr>
        <p:txBody>
          <a:bodyPr wrap="square" lIns="0" tIns="0" rIns="0" bIns="0" rtlCol="0" anchor="ctr"/>
          <a:lstStyle/>
          <a:p>
            <a:pPr marL="0" indent="0" algn="ctr">
              <a:buNone/>
            </a:pPr>
            <a:r>
              <a:rPr lang="en-US" sz="1800" b="1" dirty="0">
                <a:solidFill>
                  <a:srgbClr val="282824"/>
                </a:solidFill>
                <a:latin typeface="Hiragino Sans W6" pitchFamily="34" charset="0"/>
                <a:ea typeface="Hiragino Sans W6" pitchFamily="34" charset="-122"/>
                <a:cs typeface="Hiragino Sans W6" pitchFamily="34" charset="-120"/>
              </a:rPr>
              <a:t>AI分析</a:t>
            </a:r>
            <a:endParaRPr lang="en-US" sz="1800" dirty="0"/>
          </a:p>
        </p:txBody>
      </p:sp>
      <p:sp>
        <p:nvSpPr>
          <p:cNvPr id="16" name="Text 14"/>
          <p:cNvSpPr/>
          <p:nvPr/>
        </p:nvSpPr>
        <p:spPr>
          <a:xfrm>
            <a:off x="4407408" y="3749040"/>
            <a:ext cx="2743200" cy="822960"/>
          </a:xfrm>
          <a:prstGeom prst="rect">
            <a:avLst/>
          </a:prstGeom>
          <a:noFill/>
          <a:ln/>
        </p:spPr>
        <p:txBody>
          <a:bodyPr wrap="square" lIns="0" tIns="0" rIns="0" bIns="0" rtlCol="0" anchor="ctr"/>
          <a:lstStyle/>
          <a:p>
            <a:pPr marL="0" indent="0" algn="ctr">
              <a:buNone/>
            </a:pPr>
            <a:r>
              <a:rPr lang="en-US" sz="1400" dirty="0">
                <a:solidFill>
                  <a:srgbClr val="4A4A45"/>
                </a:solidFill>
                <a:latin typeface="Hiragino Sans W3" pitchFamily="34" charset="0"/>
                <a:ea typeface="Hiragino Sans W3" pitchFamily="34" charset="-122"/>
                <a:cs typeface="Hiragino Sans W3" pitchFamily="34" charset="-120"/>
              </a:rPr>
              <a:t>パターン認識・危険パス検知</a:t>
            </a:r>
            <a:endParaRPr lang="en-US" sz="1400" dirty="0"/>
          </a:p>
          <a:p>
            <a:pPr marL="0" indent="0" algn="ctr">
              <a:buNone/>
            </a:pPr>
            <a:r>
              <a:rPr lang="en-US" sz="1400" dirty="0">
                <a:solidFill>
                  <a:srgbClr val="4A4A45"/>
                </a:solidFill>
                <a:latin typeface="Hiragino Sans W3" pitchFamily="34" charset="0"/>
                <a:ea typeface="Hiragino Sans W3" pitchFamily="34" charset="-122"/>
                <a:cs typeface="Hiragino Sans W3" pitchFamily="34" charset="-120"/>
              </a:rPr>
              <a:t>排泄予測・傾向分析</a:t>
            </a:r>
            <a:endParaRPr lang="en-US" sz="1400" dirty="0"/>
          </a:p>
        </p:txBody>
      </p:sp>
      <p:sp>
        <p:nvSpPr>
          <p:cNvPr id="17" name="Text 15"/>
          <p:cNvSpPr/>
          <p:nvPr/>
        </p:nvSpPr>
        <p:spPr>
          <a:xfrm>
            <a:off x="7242048" y="3154680"/>
            <a:ext cx="365760" cy="457200"/>
          </a:xfrm>
          <a:prstGeom prst="rect">
            <a:avLst/>
          </a:prstGeom>
          <a:noFill/>
          <a:ln/>
        </p:spPr>
        <p:txBody>
          <a:bodyPr wrap="square" lIns="0" tIns="0" rIns="0" bIns="0" rtlCol="0" anchor="ctr"/>
          <a:lstStyle/>
          <a:p>
            <a:pPr marL="0" indent="0" algn="ctr">
              <a:buNone/>
            </a:pPr>
            <a:r>
              <a:rPr lang="en-US" sz="2000" dirty="0">
                <a:solidFill>
                  <a:srgbClr val="746558"/>
                </a:solidFill>
                <a:latin typeface="Hiragino Sans W6" pitchFamily="34" charset="0"/>
                <a:ea typeface="Hiragino Sans W6" pitchFamily="34" charset="-122"/>
                <a:cs typeface="Hiragino Sans W6" pitchFamily="34" charset="-120"/>
              </a:rPr>
              <a:t>&gt;&gt;&gt;</a:t>
            </a:r>
            <a:endParaRPr lang="en-US" sz="2000" dirty="0"/>
          </a:p>
        </p:txBody>
      </p:sp>
      <p:sp>
        <p:nvSpPr>
          <p:cNvPr id="18" name="Shape 16"/>
          <p:cNvSpPr/>
          <p:nvPr/>
        </p:nvSpPr>
        <p:spPr>
          <a:xfrm>
            <a:off x="7607808" y="2423160"/>
            <a:ext cx="29260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9" name="Shape 17"/>
          <p:cNvSpPr/>
          <p:nvPr/>
        </p:nvSpPr>
        <p:spPr>
          <a:xfrm>
            <a:off x="8796528" y="2606040"/>
            <a:ext cx="548640" cy="548640"/>
          </a:xfrm>
          <a:prstGeom prst="ellipse">
            <a:avLst/>
          </a:prstGeom>
          <a:solidFill>
            <a:srgbClr val="9B59B6"/>
          </a:solidFill>
          <a:ln/>
        </p:spPr>
        <p:txBody>
          <a:bodyPr/>
          <a:lstStyle/>
          <a:p>
            <a:endParaRPr lang="ja-JP" altLang="en-US"/>
          </a:p>
        </p:txBody>
      </p:sp>
      <p:sp>
        <p:nvSpPr>
          <p:cNvPr id="20" name="Text 18"/>
          <p:cNvSpPr/>
          <p:nvPr/>
        </p:nvSpPr>
        <p:spPr>
          <a:xfrm>
            <a:off x="8796528" y="260604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Hiragino Sans W6" pitchFamily="34" charset="0"/>
                <a:ea typeface="Hiragino Sans W6" pitchFamily="34" charset="-122"/>
                <a:cs typeface="Hiragino Sans W6" pitchFamily="34" charset="-120"/>
              </a:rPr>
              <a:t>3</a:t>
            </a:r>
            <a:endParaRPr lang="en-US" sz="2400" dirty="0"/>
          </a:p>
        </p:txBody>
      </p:sp>
      <p:sp>
        <p:nvSpPr>
          <p:cNvPr id="21" name="Text 19"/>
          <p:cNvSpPr/>
          <p:nvPr/>
        </p:nvSpPr>
        <p:spPr>
          <a:xfrm>
            <a:off x="7699248" y="3291840"/>
            <a:ext cx="2743200" cy="365760"/>
          </a:xfrm>
          <a:prstGeom prst="rect">
            <a:avLst/>
          </a:prstGeom>
          <a:noFill/>
          <a:ln/>
        </p:spPr>
        <p:txBody>
          <a:bodyPr wrap="square" lIns="0" tIns="0" rIns="0" bIns="0" rtlCol="0" anchor="ctr"/>
          <a:lstStyle/>
          <a:p>
            <a:pPr marL="0" indent="0" algn="ctr">
              <a:buNone/>
            </a:pPr>
            <a:r>
              <a:rPr lang="en-US" sz="1800" b="1" dirty="0">
                <a:solidFill>
                  <a:srgbClr val="282824"/>
                </a:solidFill>
                <a:latin typeface="Hiragino Sans W6" pitchFamily="34" charset="0"/>
                <a:ea typeface="Hiragino Sans W6" pitchFamily="34" charset="-122"/>
                <a:cs typeface="Hiragino Sans W6" pitchFamily="34" charset="-120"/>
              </a:rPr>
              <a:t>支援品質向上</a:t>
            </a:r>
            <a:endParaRPr lang="en-US" sz="1800" dirty="0"/>
          </a:p>
        </p:txBody>
      </p:sp>
      <p:sp>
        <p:nvSpPr>
          <p:cNvPr id="22" name="Text 20"/>
          <p:cNvSpPr/>
          <p:nvPr/>
        </p:nvSpPr>
        <p:spPr>
          <a:xfrm>
            <a:off x="7699248" y="3749040"/>
            <a:ext cx="2743200" cy="822960"/>
          </a:xfrm>
          <a:prstGeom prst="rect">
            <a:avLst/>
          </a:prstGeom>
          <a:noFill/>
          <a:ln/>
        </p:spPr>
        <p:txBody>
          <a:bodyPr wrap="square" lIns="0" tIns="0" rIns="0" bIns="0" rtlCol="0" anchor="ctr"/>
          <a:lstStyle/>
          <a:p>
            <a:pPr marL="0" indent="0" algn="ctr">
              <a:buNone/>
            </a:pPr>
            <a:r>
              <a:rPr lang="en-US" sz="1400" dirty="0">
                <a:solidFill>
                  <a:srgbClr val="4A4A45"/>
                </a:solidFill>
                <a:latin typeface="Hiragino Sans W3" pitchFamily="34" charset="0"/>
                <a:ea typeface="Hiragino Sans W3" pitchFamily="34" charset="-122"/>
                <a:cs typeface="Hiragino Sans W3" pitchFamily="34" charset="-120"/>
              </a:rPr>
              <a:t>個別最適化された支援</a:t>
            </a:r>
            <a:endParaRPr lang="en-US" sz="1400" dirty="0"/>
          </a:p>
          <a:p>
            <a:pPr marL="0" indent="0" algn="ctr">
              <a:buNone/>
            </a:pPr>
            <a:r>
              <a:rPr lang="en-US" sz="1400" dirty="0">
                <a:solidFill>
                  <a:srgbClr val="4A4A45"/>
                </a:solidFill>
                <a:latin typeface="Hiragino Sans W3" pitchFamily="34" charset="0"/>
                <a:ea typeface="Hiragino Sans W3" pitchFamily="34" charset="-122"/>
                <a:cs typeface="Hiragino Sans W3" pitchFamily="34" charset="-120"/>
              </a:rPr>
              <a:t>虐待予防・早期発見</a:t>
            </a:r>
            <a:endParaRPr lang="en-US" sz="1400" dirty="0"/>
          </a:p>
        </p:txBody>
      </p:sp>
      <p:sp>
        <p:nvSpPr>
          <p:cNvPr id="23" name="Text 21"/>
          <p:cNvSpPr/>
          <p:nvPr/>
        </p:nvSpPr>
        <p:spPr>
          <a:xfrm>
            <a:off x="10533888" y="3154680"/>
            <a:ext cx="365760" cy="457200"/>
          </a:xfrm>
          <a:prstGeom prst="rect">
            <a:avLst/>
          </a:prstGeom>
          <a:noFill/>
          <a:ln/>
        </p:spPr>
        <p:txBody>
          <a:bodyPr wrap="square" lIns="0" tIns="0" rIns="0" bIns="0" rtlCol="0" anchor="ctr"/>
          <a:lstStyle/>
          <a:p>
            <a:pPr marL="0" indent="0" algn="ctr">
              <a:buNone/>
            </a:pPr>
            <a:r>
              <a:rPr lang="en-US" sz="2000" dirty="0">
                <a:solidFill>
                  <a:srgbClr val="746558"/>
                </a:solidFill>
                <a:latin typeface="Hiragino Sans W6" pitchFamily="34" charset="0"/>
                <a:ea typeface="Hiragino Sans W6" pitchFamily="34" charset="-122"/>
                <a:cs typeface="Hiragino Sans W6" pitchFamily="34" charset="-120"/>
              </a:rPr>
              <a:t>&gt;&gt;&gt;</a:t>
            </a:r>
            <a:endParaRPr lang="en-US" sz="2000" dirty="0"/>
          </a:p>
        </p:txBody>
      </p:sp>
      <p:sp>
        <p:nvSpPr>
          <p:cNvPr id="24" name="Shape 22"/>
          <p:cNvSpPr/>
          <p:nvPr/>
        </p:nvSpPr>
        <p:spPr>
          <a:xfrm>
            <a:off x="10899648" y="2423160"/>
            <a:ext cx="29260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5" name="Shape 23"/>
          <p:cNvSpPr/>
          <p:nvPr/>
        </p:nvSpPr>
        <p:spPr>
          <a:xfrm>
            <a:off x="12088368" y="2606040"/>
            <a:ext cx="548640" cy="548640"/>
          </a:xfrm>
          <a:prstGeom prst="ellipse">
            <a:avLst/>
          </a:prstGeom>
          <a:solidFill>
            <a:srgbClr val="F39C12"/>
          </a:solidFill>
          <a:ln/>
        </p:spPr>
        <p:txBody>
          <a:bodyPr/>
          <a:lstStyle/>
          <a:p>
            <a:endParaRPr lang="ja-JP" altLang="en-US"/>
          </a:p>
        </p:txBody>
      </p:sp>
      <p:sp>
        <p:nvSpPr>
          <p:cNvPr id="26" name="Text 24"/>
          <p:cNvSpPr/>
          <p:nvPr/>
        </p:nvSpPr>
        <p:spPr>
          <a:xfrm>
            <a:off x="12088368" y="260604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Hiragino Sans W6" pitchFamily="34" charset="0"/>
                <a:ea typeface="Hiragino Sans W6" pitchFamily="34" charset="-122"/>
                <a:cs typeface="Hiragino Sans W6" pitchFamily="34" charset="-120"/>
              </a:rPr>
              <a:t>4</a:t>
            </a:r>
            <a:endParaRPr lang="en-US" sz="2400" dirty="0"/>
          </a:p>
        </p:txBody>
      </p:sp>
      <p:sp>
        <p:nvSpPr>
          <p:cNvPr id="27" name="Text 25"/>
          <p:cNvSpPr/>
          <p:nvPr/>
        </p:nvSpPr>
        <p:spPr>
          <a:xfrm>
            <a:off x="10991088" y="3291840"/>
            <a:ext cx="2743200" cy="365760"/>
          </a:xfrm>
          <a:prstGeom prst="rect">
            <a:avLst/>
          </a:prstGeom>
          <a:noFill/>
          <a:ln/>
        </p:spPr>
        <p:txBody>
          <a:bodyPr wrap="square" lIns="0" tIns="0" rIns="0" bIns="0" rtlCol="0" anchor="ctr"/>
          <a:lstStyle/>
          <a:p>
            <a:pPr marL="0" indent="0" algn="ctr">
              <a:buNone/>
            </a:pPr>
            <a:r>
              <a:rPr lang="en-US" sz="1800" b="1" dirty="0">
                <a:solidFill>
                  <a:srgbClr val="282824"/>
                </a:solidFill>
                <a:latin typeface="Hiragino Sans W6" pitchFamily="34" charset="0"/>
                <a:ea typeface="Hiragino Sans W6" pitchFamily="34" charset="-122"/>
                <a:cs typeface="Hiragino Sans W6" pitchFamily="34" charset="-120"/>
              </a:rPr>
              <a:t>職員スキル向上</a:t>
            </a:r>
            <a:endParaRPr lang="en-US" sz="1800" dirty="0"/>
          </a:p>
        </p:txBody>
      </p:sp>
      <p:sp>
        <p:nvSpPr>
          <p:cNvPr id="28" name="Text 26"/>
          <p:cNvSpPr/>
          <p:nvPr/>
        </p:nvSpPr>
        <p:spPr>
          <a:xfrm>
            <a:off x="10991088" y="3749040"/>
            <a:ext cx="2743200" cy="822960"/>
          </a:xfrm>
          <a:prstGeom prst="rect">
            <a:avLst/>
          </a:prstGeom>
          <a:noFill/>
          <a:ln/>
        </p:spPr>
        <p:txBody>
          <a:bodyPr wrap="square" lIns="0" tIns="0" rIns="0" bIns="0" rtlCol="0" anchor="ctr"/>
          <a:lstStyle/>
          <a:p>
            <a:pPr marL="0" indent="0" algn="ctr">
              <a:buNone/>
            </a:pPr>
            <a:r>
              <a:rPr lang="en-US" sz="1400" dirty="0">
                <a:solidFill>
                  <a:srgbClr val="4A4A45"/>
                </a:solidFill>
                <a:latin typeface="Hiragino Sans W3" pitchFamily="34" charset="0"/>
                <a:ea typeface="Hiragino Sans W3" pitchFamily="34" charset="-122"/>
                <a:cs typeface="Hiragino Sans W3" pitchFamily="34" charset="-120"/>
              </a:rPr>
              <a:t>ゲーミフィケーション研修</a:t>
            </a:r>
            <a:endParaRPr lang="en-US" sz="1400" dirty="0"/>
          </a:p>
          <a:p>
            <a:pPr marL="0" indent="0" algn="ctr">
              <a:buNone/>
            </a:pPr>
            <a:r>
              <a:rPr lang="en-US" sz="1400" dirty="0">
                <a:solidFill>
                  <a:srgbClr val="4A4A45"/>
                </a:solidFill>
                <a:latin typeface="Hiragino Sans W3" pitchFamily="34" charset="0"/>
                <a:ea typeface="Hiragino Sans W3" pitchFamily="34" charset="-122"/>
                <a:cs typeface="Hiragino Sans W3" pitchFamily="34" charset="-120"/>
              </a:rPr>
              <a:t>マトリックス定着</a:t>
            </a:r>
            <a:endParaRPr lang="en-US" sz="1400" dirty="0"/>
          </a:p>
        </p:txBody>
      </p:sp>
      <p:sp>
        <p:nvSpPr>
          <p:cNvPr id="29" name="Shape 27"/>
          <p:cNvSpPr/>
          <p:nvPr/>
        </p:nvSpPr>
        <p:spPr>
          <a:xfrm>
            <a:off x="658368" y="5257800"/>
            <a:ext cx="4206240" cy="1645920"/>
          </a:xfrm>
          <a:prstGeom prst="rect">
            <a:avLst/>
          </a:prstGeom>
          <a:solidFill>
            <a:srgbClr val="F9F6F0"/>
          </a:solidFill>
          <a:ln/>
          <a:effectLst>
            <a:outerShdw blurRad="76200" dist="25400" dir="8100000" algn="bl" rotWithShape="0">
              <a:srgbClr val="000000">
                <a:alpha val="12000"/>
              </a:srgbClr>
            </a:outerShdw>
          </a:effectLst>
        </p:spPr>
        <p:txBody>
          <a:bodyPr/>
          <a:lstStyle/>
          <a:p>
            <a:endParaRPr lang="ja-JP" altLang="en-US"/>
          </a:p>
        </p:txBody>
      </p:sp>
      <p:sp>
        <p:nvSpPr>
          <p:cNvPr id="30" name="Text 28"/>
          <p:cNvSpPr/>
          <p:nvPr/>
        </p:nvSpPr>
        <p:spPr>
          <a:xfrm>
            <a:off x="841248" y="5349240"/>
            <a:ext cx="3840480" cy="365760"/>
          </a:xfrm>
          <a:prstGeom prst="rect">
            <a:avLst/>
          </a:prstGeom>
          <a:noFill/>
          <a:ln/>
        </p:spPr>
        <p:txBody>
          <a:bodyPr wrap="square" lIns="0" tIns="0" rIns="0" bIns="0" rtlCol="0" anchor="ctr"/>
          <a:lstStyle/>
          <a:p>
            <a:pPr marL="0" indent="0">
              <a:buNone/>
            </a:pPr>
            <a:r>
              <a:rPr lang="en-US" sz="1500" b="1" dirty="0">
                <a:solidFill>
                  <a:srgbClr val="4A90D9"/>
                </a:solidFill>
                <a:latin typeface="Hiragino Sans W6" pitchFamily="34" charset="0"/>
                <a:ea typeface="Hiragino Sans W6" pitchFamily="34" charset="-122"/>
                <a:cs typeface="Hiragino Sans W6" pitchFamily="34" charset="-120"/>
              </a:rPr>
              <a:t>マトリックス × AI</a:t>
            </a:r>
            <a:endParaRPr lang="en-US" sz="1500" dirty="0"/>
          </a:p>
        </p:txBody>
      </p:sp>
      <p:sp>
        <p:nvSpPr>
          <p:cNvPr id="31" name="Text 29"/>
          <p:cNvSpPr/>
          <p:nvPr/>
        </p:nvSpPr>
        <p:spPr>
          <a:xfrm>
            <a:off x="841248" y="5760720"/>
            <a:ext cx="3840480" cy="1005840"/>
          </a:xfrm>
          <a:prstGeom prst="rect">
            <a:avLst/>
          </a:prstGeom>
          <a:noFill/>
          <a:ln/>
        </p:spPr>
        <p:txBody>
          <a:bodyPr wrap="square" lIns="0" tIns="0" rIns="0" bIns="0"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13段階×4層の支援フレームワークが</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AI分析の評価軸として機能。</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理想パスからの逸脱を自動検知。</a:t>
            </a:r>
            <a:endParaRPr lang="en-US" sz="1400" dirty="0"/>
          </a:p>
        </p:txBody>
      </p:sp>
      <p:sp>
        <p:nvSpPr>
          <p:cNvPr id="32" name="Shape 30"/>
          <p:cNvSpPr/>
          <p:nvPr/>
        </p:nvSpPr>
        <p:spPr>
          <a:xfrm>
            <a:off x="5212080" y="5257800"/>
            <a:ext cx="4206240" cy="1645920"/>
          </a:xfrm>
          <a:prstGeom prst="rect">
            <a:avLst/>
          </a:prstGeom>
          <a:solidFill>
            <a:srgbClr val="F9F6F0"/>
          </a:solidFill>
          <a:ln/>
          <a:effectLst>
            <a:outerShdw blurRad="76200" dist="25400" dir="8100000" algn="bl" rotWithShape="0">
              <a:srgbClr val="000000">
                <a:alpha val="12000"/>
              </a:srgbClr>
            </a:outerShdw>
          </a:effectLst>
        </p:spPr>
        <p:txBody>
          <a:bodyPr/>
          <a:lstStyle/>
          <a:p>
            <a:endParaRPr lang="ja-JP" altLang="en-US"/>
          </a:p>
        </p:txBody>
      </p:sp>
      <p:sp>
        <p:nvSpPr>
          <p:cNvPr id="33" name="Text 31"/>
          <p:cNvSpPr/>
          <p:nvPr/>
        </p:nvSpPr>
        <p:spPr>
          <a:xfrm>
            <a:off x="5394960" y="5349240"/>
            <a:ext cx="3840480" cy="365760"/>
          </a:xfrm>
          <a:prstGeom prst="rect">
            <a:avLst/>
          </a:prstGeom>
          <a:noFill/>
          <a:ln/>
        </p:spPr>
        <p:txBody>
          <a:bodyPr wrap="square" lIns="0" tIns="0" rIns="0" bIns="0" rtlCol="0" anchor="ctr"/>
          <a:lstStyle/>
          <a:p>
            <a:pPr marL="0" indent="0">
              <a:buNone/>
            </a:pPr>
            <a:r>
              <a:rPr lang="en-US" sz="1500" b="1" dirty="0">
                <a:solidFill>
                  <a:srgbClr val="4A90D9"/>
                </a:solidFill>
                <a:latin typeface="Hiragino Sans W6" pitchFamily="34" charset="0"/>
                <a:ea typeface="Hiragino Sans W6" pitchFamily="34" charset="-122"/>
                <a:cs typeface="Hiragino Sans W6" pitchFamily="34" charset="-120"/>
              </a:rPr>
              <a:t>データ駆動の支援改善</a:t>
            </a:r>
            <a:endParaRPr lang="en-US" sz="1500" dirty="0"/>
          </a:p>
        </p:txBody>
      </p:sp>
      <p:sp>
        <p:nvSpPr>
          <p:cNvPr id="34" name="Text 32"/>
          <p:cNvSpPr/>
          <p:nvPr/>
        </p:nvSpPr>
        <p:spPr>
          <a:xfrm>
            <a:off x="5394960" y="5760720"/>
            <a:ext cx="3840480" cy="1005840"/>
          </a:xfrm>
          <a:prstGeom prst="rect">
            <a:avLst/>
          </a:prstGeom>
          <a:noFill/>
          <a:ln/>
        </p:spPr>
        <p:txBody>
          <a:bodyPr wrap="square" lIns="0" tIns="0" rIns="0" bIns="0"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「なるほどカード」「できるカード」の</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デジタル蓄積がAI学習データに。</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個別最適化された支援を提案。</a:t>
            </a:r>
            <a:endParaRPr lang="en-US" sz="1400" dirty="0"/>
          </a:p>
        </p:txBody>
      </p:sp>
      <p:sp>
        <p:nvSpPr>
          <p:cNvPr id="35" name="Shape 33"/>
          <p:cNvSpPr/>
          <p:nvPr/>
        </p:nvSpPr>
        <p:spPr>
          <a:xfrm>
            <a:off x="9765792" y="5257800"/>
            <a:ext cx="4206240" cy="1645920"/>
          </a:xfrm>
          <a:prstGeom prst="rect">
            <a:avLst/>
          </a:prstGeom>
          <a:solidFill>
            <a:srgbClr val="F9F6F0"/>
          </a:solidFill>
          <a:ln/>
          <a:effectLst>
            <a:outerShdw blurRad="76200" dist="25400" dir="8100000" algn="bl" rotWithShape="0">
              <a:srgbClr val="000000">
                <a:alpha val="12000"/>
              </a:srgbClr>
            </a:outerShdw>
          </a:effectLst>
        </p:spPr>
        <p:txBody>
          <a:bodyPr/>
          <a:lstStyle/>
          <a:p>
            <a:endParaRPr lang="ja-JP" altLang="en-US"/>
          </a:p>
        </p:txBody>
      </p:sp>
      <p:sp>
        <p:nvSpPr>
          <p:cNvPr id="36" name="Text 34"/>
          <p:cNvSpPr/>
          <p:nvPr/>
        </p:nvSpPr>
        <p:spPr>
          <a:xfrm>
            <a:off x="9948672" y="5349240"/>
            <a:ext cx="3840480" cy="365760"/>
          </a:xfrm>
          <a:prstGeom prst="rect">
            <a:avLst/>
          </a:prstGeom>
          <a:noFill/>
          <a:ln/>
        </p:spPr>
        <p:txBody>
          <a:bodyPr wrap="square" lIns="0" tIns="0" rIns="0" bIns="0" rtlCol="0" anchor="ctr"/>
          <a:lstStyle/>
          <a:p>
            <a:pPr marL="0" indent="0">
              <a:buNone/>
            </a:pPr>
            <a:r>
              <a:rPr lang="en-US" sz="1500" b="1" dirty="0">
                <a:solidFill>
                  <a:srgbClr val="4A90D9"/>
                </a:solidFill>
                <a:latin typeface="Hiragino Sans W6" pitchFamily="34" charset="0"/>
                <a:ea typeface="Hiragino Sans W6" pitchFamily="34" charset="-122"/>
                <a:cs typeface="Hiragino Sans W6" pitchFamily="34" charset="-120"/>
              </a:rPr>
              <a:t>全国展開への基盤</a:t>
            </a:r>
            <a:endParaRPr lang="en-US" sz="1500" dirty="0"/>
          </a:p>
        </p:txBody>
      </p:sp>
      <p:sp>
        <p:nvSpPr>
          <p:cNvPr id="37" name="Text 35"/>
          <p:cNvSpPr/>
          <p:nvPr/>
        </p:nvSpPr>
        <p:spPr>
          <a:xfrm>
            <a:off x="9948672" y="5760720"/>
            <a:ext cx="3840480" cy="1005840"/>
          </a:xfrm>
          <a:prstGeom prst="rect">
            <a:avLst/>
          </a:prstGeom>
          <a:noFill/>
          <a:ln/>
        </p:spPr>
        <p:txBody>
          <a:bodyPr wrap="square" lIns="0" tIns="0" rIns="0" bIns="0"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データが増えるほどAIが賢くなる。</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施設が増えるほど知見が蓄積。</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ネットワーク効果で価値が加速。</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AIが「危険パス」を自動検知し虐待を未然に防ぐ</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マトリックスのL4（危険パス）をAIがモニタリング — 事故・虐待の予防</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虐待予防 × AI × マトリックス</a:t>
            </a:r>
            <a:endParaRPr lang="en-US" sz="2000" dirty="0"/>
          </a:p>
        </p:txBody>
      </p:sp>
      <p:sp>
        <p:nvSpPr>
          <p:cNvPr id="6" name="Shape 4"/>
          <p:cNvSpPr/>
          <p:nvPr/>
        </p:nvSpPr>
        <p:spPr>
          <a:xfrm>
            <a:off x="658368" y="2377440"/>
            <a:ext cx="4206240" cy="3108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658368" y="2377440"/>
            <a:ext cx="4206240" cy="54864"/>
          </a:xfrm>
          <a:prstGeom prst="rect">
            <a:avLst/>
          </a:prstGeom>
          <a:solidFill>
            <a:srgbClr val="C0392B"/>
          </a:solidFill>
          <a:ln/>
        </p:spPr>
        <p:txBody>
          <a:bodyPr/>
          <a:lstStyle/>
          <a:p>
            <a:endParaRPr lang="ja-JP" altLang="en-US"/>
          </a:p>
        </p:txBody>
      </p:sp>
      <p:sp>
        <p:nvSpPr>
          <p:cNvPr id="8" name="Text 6"/>
          <p:cNvSpPr/>
          <p:nvPr/>
        </p:nvSpPr>
        <p:spPr>
          <a:xfrm>
            <a:off x="795528" y="2560320"/>
            <a:ext cx="3931920" cy="365760"/>
          </a:xfrm>
          <a:prstGeom prst="rect">
            <a:avLst/>
          </a:prstGeom>
          <a:noFill/>
          <a:ln/>
        </p:spPr>
        <p:txBody>
          <a:bodyPr wrap="square" lIns="0" tIns="0" rIns="0" bIns="0" rtlCol="0" anchor="ctr"/>
          <a:lstStyle/>
          <a:p>
            <a:pPr marL="0" indent="0">
              <a:buNone/>
            </a:pPr>
            <a:r>
              <a:rPr lang="en-US" sz="1800" b="1" dirty="0">
                <a:solidFill>
                  <a:srgbClr val="C0392B"/>
                </a:solidFill>
                <a:latin typeface="Hiragino Sans W6" pitchFamily="34" charset="0"/>
                <a:ea typeface="Hiragino Sans W6" pitchFamily="34" charset="-122"/>
                <a:cs typeface="Hiragino Sans W6" pitchFamily="34" charset="-120"/>
              </a:rPr>
              <a:t>魔の支援ループ</a:t>
            </a:r>
            <a:endParaRPr lang="en-US" sz="1800" dirty="0"/>
          </a:p>
        </p:txBody>
      </p:sp>
      <p:sp>
        <p:nvSpPr>
          <p:cNvPr id="9" name="Text 7"/>
          <p:cNvSpPr/>
          <p:nvPr/>
        </p:nvSpPr>
        <p:spPr>
          <a:xfrm>
            <a:off x="795528" y="3017520"/>
            <a:ext cx="3931920" cy="548640"/>
          </a:xfrm>
          <a:prstGeom prst="rect">
            <a:avLst/>
          </a:prstGeom>
          <a:noFill/>
          <a:ln/>
        </p:spPr>
        <p:txBody>
          <a:bodyPr wrap="square" lIns="0" tIns="0" rIns="0" bIns="0"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偏見の醸成 → 抑圧 → 強引 → 強要 → 虐待</a:t>
            </a:r>
            <a:endParaRPr lang="en-US" sz="1300" dirty="0"/>
          </a:p>
        </p:txBody>
      </p:sp>
      <p:sp>
        <p:nvSpPr>
          <p:cNvPr id="10" name="Shape 8"/>
          <p:cNvSpPr/>
          <p:nvPr/>
        </p:nvSpPr>
        <p:spPr>
          <a:xfrm>
            <a:off x="749808" y="3749040"/>
            <a:ext cx="4023360" cy="1554480"/>
          </a:xfrm>
          <a:prstGeom prst="rect">
            <a:avLst/>
          </a:prstGeom>
          <a:solidFill>
            <a:srgbClr val="F5F7FA"/>
          </a:solidFill>
          <a:ln/>
        </p:spPr>
        <p:txBody>
          <a:bodyPr/>
          <a:lstStyle/>
          <a:p>
            <a:endParaRPr lang="ja-JP" altLang="en-US"/>
          </a:p>
        </p:txBody>
      </p:sp>
      <p:sp>
        <p:nvSpPr>
          <p:cNvPr id="11" name="Text 9"/>
          <p:cNvSpPr/>
          <p:nvPr/>
        </p:nvSpPr>
        <p:spPr>
          <a:xfrm>
            <a:off x="841248" y="3794760"/>
            <a:ext cx="3840480" cy="274320"/>
          </a:xfrm>
          <a:prstGeom prst="rect">
            <a:avLst/>
          </a:prstGeom>
          <a:noFill/>
          <a:ln/>
        </p:spPr>
        <p:txBody>
          <a:bodyPr wrap="square" lIns="0" tIns="0" rIns="0" bIns="0" rtlCol="0" anchor="ctr"/>
          <a:lstStyle/>
          <a:p>
            <a:pPr marL="0" indent="0">
              <a:buNone/>
            </a:pPr>
            <a:r>
              <a:rPr lang="en-US" sz="1300" b="1" dirty="0">
                <a:solidFill>
                  <a:srgbClr val="4A90D9"/>
                </a:solidFill>
                <a:latin typeface="Hiragino Sans W6" pitchFamily="34" charset="0"/>
                <a:ea typeface="Hiragino Sans W6" pitchFamily="34" charset="-122"/>
                <a:cs typeface="Hiragino Sans W6" pitchFamily="34" charset="-120"/>
              </a:rPr>
              <a:t>AI検知シグナル</a:t>
            </a:r>
            <a:endParaRPr lang="en-US" sz="1300" dirty="0"/>
          </a:p>
        </p:txBody>
      </p:sp>
      <p:sp>
        <p:nvSpPr>
          <p:cNvPr id="12" name="Text 10"/>
          <p:cNvSpPr/>
          <p:nvPr/>
        </p:nvSpPr>
        <p:spPr>
          <a:xfrm>
            <a:off x="841248" y="4114800"/>
            <a:ext cx="3840480" cy="1097280"/>
          </a:xfrm>
          <a:prstGeom prst="rect">
            <a:avLst/>
          </a:prstGeom>
          <a:noFill/>
          <a:ln/>
        </p:spPr>
        <p:txBody>
          <a:bodyPr wrap="square" lIns="0" tIns="0" rIns="0" bIns="0"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記録パターンの偏り検知</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特定利用者への対応頻度異常</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否定的表現の増加傾向</a:t>
            </a:r>
            <a:endParaRPr lang="en-US" sz="1300" dirty="0"/>
          </a:p>
        </p:txBody>
      </p:sp>
      <p:sp>
        <p:nvSpPr>
          <p:cNvPr id="13" name="Shape 11"/>
          <p:cNvSpPr/>
          <p:nvPr/>
        </p:nvSpPr>
        <p:spPr>
          <a:xfrm>
            <a:off x="5212080" y="2377440"/>
            <a:ext cx="4206240" cy="3108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4" name="Shape 12"/>
          <p:cNvSpPr/>
          <p:nvPr/>
        </p:nvSpPr>
        <p:spPr>
          <a:xfrm>
            <a:off x="5212080" y="2377440"/>
            <a:ext cx="4206240" cy="54864"/>
          </a:xfrm>
          <a:prstGeom prst="rect">
            <a:avLst/>
          </a:prstGeom>
          <a:solidFill>
            <a:srgbClr val="F39C12"/>
          </a:solidFill>
          <a:ln/>
        </p:spPr>
        <p:txBody>
          <a:bodyPr/>
          <a:lstStyle/>
          <a:p>
            <a:endParaRPr lang="ja-JP" altLang="en-US"/>
          </a:p>
        </p:txBody>
      </p:sp>
      <p:sp>
        <p:nvSpPr>
          <p:cNvPr id="15" name="Text 13"/>
          <p:cNvSpPr/>
          <p:nvPr/>
        </p:nvSpPr>
        <p:spPr>
          <a:xfrm>
            <a:off x="5349240" y="2560320"/>
            <a:ext cx="3931920" cy="365760"/>
          </a:xfrm>
          <a:prstGeom prst="rect">
            <a:avLst/>
          </a:prstGeom>
          <a:noFill/>
          <a:ln/>
        </p:spPr>
        <p:txBody>
          <a:bodyPr wrap="square" lIns="0" tIns="0" rIns="0" bIns="0" rtlCol="0" anchor="ctr"/>
          <a:lstStyle/>
          <a:p>
            <a:pPr marL="0" indent="0">
              <a:buNone/>
            </a:pPr>
            <a:r>
              <a:rPr lang="en-US" sz="1800" b="1" dirty="0">
                <a:solidFill>
                  <a:srgbClr val="F39C12"/>
                </a:solidFill>
                <a:latin typeface="Hiragino Sans W6" pitchFamily="34" charset="0"/>
                <a:ea typeface="Hiragino Sans W6" pitchFamily="34" charset="-122"/>
                <a:cs typeface="Hiragino Sans W6" pitchFamily="34" charset="-120"/>
              </a:rPr>
              <a:t>作業増量ループ</a:t>
            </a:r>
            <a:endParaRPr lang="en-US" sz="1800" dirty="0"/>
          </a:p>
        </p:txBody>
      </p:sp>
      <p:sp>
        <p:nvSpPr>
          <p:cNvPr id="16" name="Text 14"/>
          <p:cNvSpPr/>
          <p:nvPr/>
        </p:nvSpPr>
        <p:spPr>
          <a:xfrm>
            <a:off x="5349240" y="3017520"/>
            <a:ext cx="3931920" cy="548640"/>
          </a:xfrm>
          <a:prstGeom prst="rect">
            <a:avLst/>
          </a:prstGeom>
          <a:noFill/>
          <a:ln/>
        </p:spPr>
        <p:txBody>
          <a:bodyPr wrap="square" lIns="0" tIns="0" rIns="0" bIns="0"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自立支援量 → 作業量 → 7つのムダ → 支援品質低下</a:t>
            </a:r>
            <a:endParaRPr lang="en-US" sz="1300" dirty="0"/>
          </a:p>
        </p:txBody>
      </p:sp>
      <p:sp>
        <p:nvSpPr>
          <p:cNvPr id="17" name="Shape 15"/>
          <p:cNvSpPr/>
          <p:nvPr/>
        </p:nvSpPr>
        <p:spPr>
          <a:xfrm>
            <a:off x="5303520" y="3749040"/>
            <a:ext cx="4023360" cy="1554480"/>
          </a:xfrm>
          <a:prstGeom prst="rect">
            <a:avLst/>
          </a:prstGeom>
          <a:solidFill>
            <a:srgbClr val="F5F7FA"/>
          </a:solidFill>
          <a:ln/>
        </p:spPr>
        <p:txBody>
          <a:bodyPr/>
          <a:lstStyle/>
          <a:p>
            <a:endParaRPr lang="ja-JP" altLang="en-US"/>
          </a:p>
        </p:txBody>
      </p:sp>
      <p:sp>
        <p:nvSpPr>
          <p:cNvPr id="18" name="Text 16"/>
          <p:cNvSpPr/>
          <p:nvPr/>
        </p:nvSpPr>
        <p:spPr>
          <a:xfrm>
            <a:off x="5394960" y="3794760"/>
            <a:ext cx="3840480" cy="274320"/>
          </a:xfrm>
          <a:prstGeom prst="rect">
            <a:avLst/>
          </a:prstGeom>
          <a:noFill/>
          <a:ln/>
        </p:spPr>
        <p:txBody>
          <a:bodyPr wrap="square" lIns="0" tIns="0" rIns="0" bIns="0" rtlCol="0" anchor="ctr"/>
          <a:lstStyle/>
          <a:p>
            <a:pPr marL="0" indent="0">
              <a:buNone/>
            </a:pPr>
            <a:r>
              <a:rPr lang="en-US" sz="1300" b="1" dirty="0">
                <a:solidFill>
                  <a:srgbClr val="4A90D9"/>
                </a:solidFill>
                <a:latin typeface="Hiragino Sans W6" pitchFamily="34" charset="0"/>
                <a:ea typeface="Hiragino Sans W6" pitchFamily="34" charset="-122"/>
                <a:cs typeface="Hiragino Sans W6" pitchFamily="34" charset="-120"/>
              </a:rPr>
              <a:t>AI検知シグナル</a:t>
            </a:r>
            <a:endParaRPr lang="en-US" sz="1300" dirty="0"/>
          </a:p>
        </p:txBody>
      </p:sp>
      <p:sp>
        <p:nvSpPr>
          <p:cNvPr id="19" name="Text 17"/>
          <p:cNvSpPr/>
          <p:nvPr/>
        </p:nvSpPr>
        <p:spPr>
          <a:xfrm>
            <a:off x="5394960" y="4114800"/>
            <a:ext cx="3840480" cy="1097280"/>
          </a:xfrm>
          <a:prstGeom prst="rect">
            <a:avLst/>
          </a:prstGeom>
          <a:noFill/>
          <a:ln/>
        </p:spPr>
        <p:txBody>
          <a:bodyPr wrap="square" lIns="0" tIns="0" rIns="0" bIns="0"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業務量と支援記録の乖離</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ルーティン作業の増加</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個別支援記録の減少</a:t>
            </a:r>
            <a:endParaRPr lang="en-US" sz="1300" dirty="0"/>
          </a:p>
        </p:txBody>
      </p:sp>
      <p:sp>
        <p:nvSpPr>
          <p:cNvPr id="20" name="Shape 18"/>
          <p:cNvSpPr/>
          <p:nvPr/>
        </p:nvSpPr>
        <p:spPr>
          <a:xfrm>
            <a:off x="9765792" y="2377440"/>
            <a:ext cx="4206240" cy="31089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1" name="Shape 19"/>
          <p:cNvSpPr/>
          <p:nvPr/>
        </p:nvSpPr>
        <p:spPr>
          <a:xfrm>
            <a:off x="9765792" y="2377440"/>
            <a:ext cx="4206240" cy="54864"/>
          </a:xfrm>
          <a:prstGeom prst="rect">
            <a:avLst/>
          </a:prstGeom>
          <a:solidFill>
            <a:srgbClr val="E67E22"/>
          </a:solidFill>
          <a:ln/>
        </p:spPr>
        <p:txBody>
          <a:bodyPr/>
          <a:lstStyle/>
          <a:p>
            <a:endParaRPr lang="ja-JP" altLang="en-US"/>
          </a:p>
        </p:txBody>
      </p:sp>
      <p:sp>
        <p:nvSpPr>
          <p:cNvPr id="22" name="Text 20"/>
          <p:cNvSpPr/>
          <p:nvPr/>
        </p:nvSpPr>
        <p:spPr>
          <a:xfrm>
            <a:off x="9902952" y="2560320"/>
            <a:ext cx="3931920" cy="365760"/>
          </a:xfrm>
          <a:prstGeom prst="rect">
            <a:avLst/>
          </a:prstGeom>
          <a:noFill/>
          <a:ln/>
        </p:spPr>
        <p:txBody>
          <a:bodyPr wrap="square" lIns="0" tIns="0" rIns="0" bIns="0" rtlCol="0" anchor="ctr"/>
          <a:lstStyle/>
          <a:p>
            <a:pPr marL="0" indent="0">
              <a:buNone/>
            </a:pPr>
            <a:r>
              <a:rPr lang="en-US" sz="1800" b="1" dirty="0">
                <a:solidFill>
                  <a:srgbClr val="E67E22"/>
                </a:solidFill>
                <a:latin typeface="Hiragino Sans W6" pitchFamily="34" charset="0"/>
                <a:ea typeface="Hiragino Sans W6" pitchFamily="34" charset="-122"/>
                <a:cs typeface="Hiragino Sans W6" pitchFamily="34" charset="-120"/>
              </a:rPr>
              <a:t>推測支援サイクル</a:t>
            </a:r>
            <a:endParaRPr lang="en-US" sz="1800" dirty="0"/>
          </a:p>
        </p:txBody>
      </p:sp>
      <p:sp>
        <p:nvSpPr>
          <p:cNvPr id="23" name="Text 21"/>
          <p:cNvSpPr/>
          <p:nvPr/>
        </p:nvSpPr>
        <p:spPr>
          <a:xfrm>
            <a:off x="9902952" y="3017520"/>
            <a:ext cx="3931920" cy="548640"/>
          </a:xfrm>
          <a:prstGeom prst="rect">
            <a:avLst/>
          </a:prstGeom>
          <a:noFill/>
          <a:ln/>
        </p:spPr>
        <p:txBody>
          <a:bodyPr wrap="square" lIns="0" tIns="0" rIns="0" bIns="0"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推測支援 → 記録しない → だろう支援 → 事故リスク</a:t>
            </a:r>
            <a:endParaRPr lang="en-US" sz="1300" dirty="0"/>
          </a:p>
        </p:txBody>
      </p:sp>
      <p:sp>
        <p:nvSpPr>
          <p:cNvPr id="24" name="Shape 22"/>
          <p:cNvSpPr/>
          <p:nvPr/>
        </p:nvSpPr>
        <p:spPr>
          <a:xfrm>
            <a:off x="9857232" y="3749040"/>
            <a:ext cx="4023360" cy="1554480"/>
          </a:xfrm>
          <a:prstGeom prst="rect">
            <a:avLst/>
          </a:prstGeom>
          <a:solidFill>
            <a:srgbClr val="F5F7FA"/>
          </a:solidFill>
          <a:ln/>
        </p:spPr>
        <p:txBody>
          <a:bodyPr/>
          <a:lstStyle/>
          <a:p>
            <a:endParaRPr lang="ja-JP" altLang="en-US"/>
          </a:p>
        </p:txBody>
      </p:sp>
      <p:sp>
        <p:nvSpPr>
          <p:cNvPr id="25" name="Text 23"/>
          <p:cNvSpPr/>
          <p:nvPr/>
        </p:nvSpPr>
        <p:spPr>
          <a:xfrm>
            <a:off x="9948672" y="3794760"/>
            <a:ext cx="3840480" cy="274320"/>
          </a:xfrm>
          <a:prstGeom prst="rect">
            <a:avLst/>
          </a:prstGeom>
          <a:noFill/>
          <a:ln/>
        </p:spPr>
        <p:txBody>
          <a:bodyPr wrap="square" lIns="0" tIns="0" rIns="0" bIns="0" rtlCol="0" anchor="ctr"/>
          <a:lstStyle/>
          <a:p>
            <a:pPr marL="0" indent="0">
              <a:buNone/>
            </a:pPr>
            <a:r>
              <a:rPr lang="en-US" sz="1300" b="1" dirty="0">
                <a:solidFill>
                  <a:srgbClr val="4A90D9"/>
                </a:solidFill>
                <a:latin typeface="Hiragino Sans W6" pitchFamily="34" charset="0"/>
                <a:ea typeface="Hiragino Sans W6" pitchFamily="34" charset="-122"/>
                <a:cs typeface="Hiragino Sans W6" pitchFamily="34" charset="-120"/>
              </a:rPr>
              <a:t>AI検知シグナル</a:t>
            </a:r>
            <a:endParaRPr lang="en-US" sz="1300" dirty="0"/>
          </a:p>
        </p:txBody>
      </p:sp>
      <p:sp>
        <p:nvSpPr>
          <p:cNvPr id="26" name="Text 24"/>
          <p:cNvSpPr/>
          <p:nvPr/>
        </p:nvSpPr>
        <p:spPr>
          <a:xfrm>
            <a:off x="9948672" y="4114800"/>
            <a:ext cx="3840480" cy="1097280"/>
          </a:xfrm>
          <a:prstGeom prst="rect">
            <a:avLst/>
          </a:prstGeom>
          <a:noFill/>
          <a:ln/>
        </p:spPr>
        <p:txBody>
          <a:bodyPr wrap="square" lIns="0" tIns="0" rIns="0" bIns="0"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記録空白期間の検出</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「だろう」表現の自動検出</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未観察期間アラート</a:t>
            </a:r>
            <a:endParaRPr lang="en-US" sz="1300" dirty="0"/>
          </a:p>
        </p:txBody>
      </p:sp>
      <p:sp>
        <p:nvSpPr>
          <p:cNvPr id="27" name="Text 25"/>
          <p:cNvSpPr/>
          <p:nvPr/>
        </p:nvSpPr>
        <p:spPr>
          <a:xfrm>
            <a:off x="658368" y="5852160"/>
            <a:ext cx="13313664" cy="320040"/>
          </a:xfrm>
          <a:prstGeom prst="rect">
            <a:avLst/>
          </a:prstGeom>
          <a:noFill/>
          <a:ln/>
        </p:spPr>
        <p:txBody>
          <a:bodyPr wrap="square" lIns="0" tIns="0" rIns="0" bIns="0" rtlCol="0" anchor="ctr"/>
          <a:lstStyle/>
          <a:p>
            <a:pPr marL="0" indent="0">
              <a:buNone/>
            </a:pPr>
            <a:r>
              <a:rPr lang="en-US" sz="1500" b="1" dirty="0">
                <a:solidFill>
                  <a:srgbClr val="C0392B"/>
                </a:solidFill>
                <a:latin typeface="Hiragino Sans W6" pitchFamily="34" charset="0"/>
                <a:ea typeface="Hiragino Sans W6" pitchFamily="34" charset="-122"/>
                <a:cs typeface="Hiragino Sans W6" pitchFamily="34" charset="-120"/>
              </a:rPr>
              <a:t>虐待の5類型（障害者虐待防止法）すべてをAIモニタリング対象に</a:t>
            </a:r>
            <a:endParaRPr lang="en-US" sz="1500" dirty="0"/>
          </a:p>
        </p:txBody>
      </p:sp>
      <p:sp>
        <p:nvSpPr>
          <p:cNvPr id="28" name="Shape 26"/>
          <p:cNvSpPr/>
          <p:nvPr/>
        </p:nvSpPr>
        <p:spPr>
          <a:xfrm>
            <a:off x="749808" y="6309360"/>
            <a:ext cx="2377440" cy="548640"/>
          </a:xfrm>
          <a:prstGeom prst="rect">
            <a:avLst/>
          </a:prstGeom>
          <a:solidFill>
            <a:srgbClr val="FADBD8"/>
          </a:solidFill>
          <a:ln/>
        </p:spPr>
        <p:txBody>
          <a:bodyPr/>
          <a:lstStyle/>
          <a:p>
            <a:endParaRPr lang="ja-JP" altLang="en-US"/>
          </a:p>
        </p:txBody>
      </p:sp>
      <p:sp>
        <p:nvSpPr>
          <p:cNvPr id="29" name="Text 27"/>
          <p:cNvSpPr/>
          <p:nvPr/>
        </p:nvSpPr>
        <p:spPr>
          <a:xfrm>
            <a:off x="749808" y="6309360"/>
            <a:ext cx="2377440" cy="548640"/>
          </a:xfrm>
          <a:prstGeom prst="rect">
            <a:avLst/>
          </a:prstGeom>
          <a:noFill/>
          <a:ln/>
        </p:spPr>
        <p:txBody>
          <a:bodyPr wrap="square" lIns="0" tIns="0" rIns="0" bIns="0" rtlCol="0" anchor="ctr"/>
          <a:lstStyle/>
          <a:p>
            <a:pPr marL="0" indent="0" algn="ctr">
              <a:buNone/>
            </a:pPr>
            <a:r>
              <a:rPr lang="en-US" sz="1300" b="1" dirty="0">
                <a:solidFill>
                  <a:srgbClr val="C0392B"/>
                </a:solidFill>
                <a:latin typeface="Hiragino Sans W6" pitchFamily="34" charset="0"/>
                <a:ea typeface="Hiragino Sans W6" pitchFamily="34" charset="-122"/>
                <a:cs typeface="Hiragino Sans W6" pitchFamily="34" charset="-120"/>
              </a:rPr>
              <a:t>身体的虐待</a:t>
            </a:r>
            <a:endParaRPr lang="en-US" sz="1300" dirty="0"/>
          </a:p>
        </p:txBody>
      </p:sp>
      <p:sp>
        <p:nvSpPr>
          <p:cNvPr id="30" name="Shape 28"/>
          <p:cNvSpPr/>
          <p:nvPr/>
        </p:nvSpPr>
        <p:spPr>
          <a:xfrm>
            <a:off x="3401568" y="6309360"/>
            <a:ext cx="2377440" cy="548640"/>
          </a:xfrm>
          <a:prstGeom prst="rect">
            <a:avLst/>
          </a:prstGeom>
          <a:solidFill>
            <a:srgbClr val="FADBD8"/>
          </a:solidFill>
          <a:ln/>
        </p:spPr>
        <p:txBody>
          <a:bodyPr/>
          <a:lstStyle/>
          <a:p>
            <a:endParaRPr lang="ja-JP" altLang="en-US"/>
          </a:p>
        </p:txBody>
      </p:sp>
      <p:sp>
        <p:nvSpPr>
          <p:cNvPr id="31" name="Text 29"/>
          <p:cNvSpPr/>
          <p:nvPr/>
        </p:nvSpPr>
        <p:spPr>
          <a:xfrm>
            <a:off x="3401568" y="6309360"/>
            <a:ext cx="2377440" cy="548640"/>
          </a:xfrm>
          <a:prstGeom prst="rect">
            <a:avLst/>
          </a:prstGeom>
          <a:noFill/>
          <a:ln/>
        </p:spPr>
        <p:txBody>
          <a:bodyPr wrap="square" lIns="0" tIns="0" rIns="0" bIns="0" rtlCol="0" anchor="ctr"/>
          <a:lstStyle/>
          <a:p>
            <a:pPr marL="0" indent="0" algn="ctr">
              <a:buNone/>
            </a:pPr>
            <a:r>
              <a:rPr lang="en-US" sz="1300" b="1" dirty="0">
                <a:solidFill>
                  <a:srgbClr val="C0392B"/>
                </a:solidFill>
                <a:latin typeface="Hiragino Sans W6" pitchFamily="34" charset="0"/>
                <a:ea typeface="Hiragino Sans W6" pitchFamily="34" charset="-122"/>
                <a:cs typeface="Hiragino Sans W6" pitchFamily="34" charset="-120"/>
              </a:rPr>
              <a:t>放棄・放任</a:t>
            </a:r>
            <a:endParaRPr lang="en-US" sz="1300" dirty="0"/>
          </a:p>
          <a:p>
            <a:pPr marL="0" indent="0" algn="ctr">
              <a:buNone/>
            </a:pPr>
            <a:r>
              <a:rPr lang="en-US" sz="1300" b="1" dirty="0">
                <a:solidFill>
                  <a:srgbClr val="C0392B"/>
                </a:solidFill>
                <a:latin typeface="Hiragino Sans W6" pitchFamily="34" charset="0"/>
                <a:ea typeface="Hiragino Sans W6" pitchFamily="34" charset="-122"/>
                <a:cs typeface="Hiragino Sans W6" pitchFamily="34" charset="-120"/>
              </a:rPr>
              <a:t>（ネグレクト）</a:t>
            </a:r>
            <a:endParaRPr lang="en-US" sz="1300" dirty="0"/>
          </a:p>
        </p:txBody>
      </p:sp>
      <p:sp>
        <p:nvSpPr>
          <p:cNvPr id="32" name="Shape 30"/>
          <p:cNvSpPr/>
          <p:nvPr/>
        </p:nvSpPr>
        <p:spPr>
          <a:xfrm>
            <a:off x="6053328" y="6309360"/>
            <a:ext cx="2377440" cy="548640"/>
          </a:xfrm>
          <a:prstGeom prst="rect">
            <a:avLst/>
          </a:prstGeom>
          <a:solidFill>
            <a:srgbClr val="FADBD8"/>
          </a:solidFill>
          <a:ln/>
        </p:spPr>
        <p:txBody>
          <a:bodyPr/>
          <a:lstStyle/>
          <a:p>
            <a:endParaRPr lang="ja-JP" altLang="en-US"/>
          </a:p>
        </p:txBody>
      </p:sp>
      <p:sp>
        <p:nvSpPr>
          <p:cNvPr id="33" name="Text 31"/>
          <p:cNvSpPr/>
          <p:nvPr/>
        </p:nvSpPr>
        <p:spPr>
          <a:xfrm>
            <a:off x="6053328" y="6309360"/>
            <a:ext cx="2377440" cy="548640"/>
          </a:xfrm>
          <a:prstGeom prst="rect">
            <a:avLst/>
          </a:prstGeom>
          <a:noFill/>
          <a:ln/>
        </p:spPr>
        <p:txBody>
          <a:bodyPr wrap="square" lIns="0" tIns="0" rIns="0" bIns="0" rtlCol="0" anchor="ctr"/>
          <a:lstStyle/>
          <a:p>
            <a:pPr marL="0" indent="0" algn="ctr">
              <a:buNone/>
            </a:pPr>
            <a:r>
              <a:rPr lang="en-US" sz="1300" b="1" dirty="0">
                <a:solidFill>
                  <a:srgbClr val="C0392B"/>
                </a:solidFill>
                <a:latin typeface="Hiragino Sans W6" pitchFamily="34" charset="0"/>
                <a:ea typeface="Hiragino Sans W6" pitchFamily="34" charset="-122"/>
                <a:cs typeface="Hiragino Sans W6" pitchFamily="34" charset="-120"/>
              </a:rPr>
              <a:t>心理的虐待</a:t>
            </a:r>
            <a:endParaRPr lang="en-US" sz="1300" dirty="0"/>
          </a:p>
        </p:txBody>
      </p:sp>
      <p:sp>
        <p:nvSpPr>
          <p:cNvPr id="34" name="Shape 32"/>
          <p:cNvSpPr/>
          <p:nvPr/>
        </p:nvSpPr>
        <p:spPr>
          <a:xfrm>
            <a:off x="8705088" y="6309360"/>
            <a:ext cx="2377440" cy="548640"/>
          </a:xfrm>
          <a:prstGeom prst="rect">
            <a:avLst/>
          </a:prstGeom>
          <a:solidFill>
            <a:srgbClr val="FADBD8"/>
          </a:solidFill>
          <a:ln/>
        </p:spPr>
        <p:txBody>
          <a:bodyPr/>
          <a:lstStyle/>
          <a:p>
            <a:endParaRPr lang="ja-JP" altLang="en-US"/>
          </a:p>
        </p:txBody>
      </p:sp>
      <p:sp>
        <p:nvSpPr>
          <p:cNvPr id="35" name="Text 33"/>
          <p:cNvSpPr/>
          <p:nvPr/>
        </p:nvSpPr>
        <p:spPr>
          <a:xfrm>
            <a:off x="8705088" y="6309360"/>
            <a:ext cx="2377440" cy="548640"/>
          </a:xfrm>
          <a:prstGeom prst="rect">
            <a:avLst/>
          </a:prstGeom>
          <a:noFill/>
          <a:ln/>
        </p:spPr>
        <p:txBody>
          <a:bodyPr wrap="square" lIns="0" tIns="0" rIns="0" bIns="0" rtlCol="0" anchor="ctr"/>
          <a:lstStyle/>
          <a:p>
            <a:pPr marL="0" indent="0" algn="ctr">
              <a:buNone/>
            </a:pPr>
            <a:r>
              <a:rPr lang="en-US" sz="1300" b="1" dirty="0">
                <a:solidFill>
                  <a:srgbClr val="C0392B"/>
                </a:solidFill>
                <a:latin typeface="Hiragino Sans W6" pitchFamily="34" charset="0"/>
                <a:ea typeface="Hiragino Sans W6" pitchFamily="34" charset="-122"/>
                <a:cs typeface="Hiragino Sans W6" pitchFamily="34" charset="-120"/>
              </a:rPr>
              <a:t>性的虐待</a:t>
            </a:r>
            <a:endParaRPr lang="en-US" sz="1300" dirty="0"/>
          </a:p>
        </p:txBody>
      </p:sp>
      <p:sp>
        <p:nvSpPr>
          <p:cNvPr id="36" name="Shape 34"/>
          <p:cNvSpPr/>
          <p:nvPr/>
        </p:nvSpPr>
        <p:spPr>
          <a:xfrm>
            <a:off x="11356848" y="6309360"/>
            <a:ext cx="2377440" cy="548640"/>
          </a:xfrm>
          <a:prstGeom prst="rect">
            <a:avLst/>
          </a:prstGeom>
          <a:solidFill>
            <a:srgbClr val="FADBD8"/>
          </a:solidFill>
          <a:ln/>
        </p:spPr>
        <p:txBody>
          <a:bodyPr/>
          <a:lstStyle/>
          <a:p>
            <a:endParaRPr lang="ja-JP" altLang="en-US"/>
          </a:p>
        </p:txBody>
      </p:sp>
      <p:sp>
        <p:nvSpPr>
          <p:cNvPr id="37" name="Text 35"/>
          <p:cNvSpPr/>
          <p:nvPr/>
        </p:nvSpPr>
        <p:spPr>
          <a:xfrm>
            <a:off x="11356848" y="6309360"/>
            <a:ext cx="2377440" cy="548640"/>
          </a:xfrm>
          <a:prstGeom prst="rect">
            <a:avLst/>
          </a:prstGeom>
          <a:noFill/>
          <a:ln/>
        </p:spPr>
        <p:txBody>
          <a:bodyPr wrap="square" lIns="0" tIns="0" rIns="0" bIns="0" rtlCol="0" anchor="ctr"/>
          <a:lstStyle/>
          <a:p>
            <a:pPr marL="0" indent="0" algn="ctr">
              <a:buNone/>
            </a:pPr>
            <a:r>
              <a:rPr lang="en-US" sz="1300" b="1" dirty="0">
                <a:solidFill>
                  <a:srgbClr val="C0392B"/>
                </a:solidFill>
                <a:latin typeface="Hiragino Sans W6" pitchFamily="34" charset="0"/>
                <a:ea typeface="Hiragino Sans W6" pitchFamily="34" charset="-122"/>
                <a:cs typeface="Hiragino Sans W6" pitchFamily="34" charset="-120"/>
              </a:rPr>
              <a:t>経済的虐待</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AIが「危険パス」を自動検知し虐待を未然に防ぐ</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支援の質が低下する3つのパターンをリアルタイムで監視</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3つの危険ループとAI検知 — 虐待予防はテクノロジーの責務</a:t>
            </a:r>
            <a:endParaRPr lang="en-US" sz="2000" dirty="0"/>
          </a:p>
        </p:txBody>
      </p:sp>
      <p:sp>
        <p:nvSpPr>
          <p:cNvPr id="6" name="Shape 4"/>
          <p:cNvSpPr/>
          <p:nvPr/>
        </p:nvSpPr>
        <p:spPr>
          <a:xfrm>
            <a:off x="566928" y="2377440"/>
            <a:ext cx="13496544" cy="1325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566928" y="2377440"/>
            <a:ext cx="73152" cy="1325880"/>
          </a:xfrm>
          <a:prstGeom prst="rect">
            <a:avLst/>
          </a:prstGeom>
          <a:solidFill>
            <a:srgbClr val="C0392B"/>
          </a:solidFill>
          <a:ln/>
        </p:spPr>
        <p:txBody>
          <a:bodyPr/>
          <a:lstStyle/>
          <a:p>
            <a:endParaRPr lang="ja-JP" altLang="en-US"/>
          </a:p>
        </p:txBody>
      </p:sp>
      <p:sp>
        <p:nvSpPr>
          <p:cNvPr id="8" name="Text 6"/>
          <p:cNvSpPr/>
          <p:nvPr/>
        </p:nvSpPr>
        <p:spPr>
          <a:xfrm>
            <a:off x="841248" y="2468880"/>
            <a:ext cx="2743200" cy="365760"/>
          </a:xfrm>
          <a:prstGeom prst="rect">
            <a:avLst/>
          </a:prstGeom>
          <a:noFill/>
          <a:ln/>
        </p:spPr>
        <p:txBody>
          <a:bodyPr wrap="square" lIns="0" tIns="0" rIns="0" bIns="0" rtlCol="0" anchor="ctr"/>
          <a:lstStyle/>
          <a:p>
            <a:pPr marL="0" indent="0">
              <a:buNone/>
            </a:pPr>
            <a:r>
              <a:rPr lang="en-US" sz="1800" b="1" dirty="0">
                <a:solidFill>
                  <a:srgbClr val="C0392B"/>
                </a:solidFill>
                <a:latin typeface="Hiragino Sans W6" pitchFamily="34" charset="0"/>
                <a:ea typeface="Hiragino Sans W6" pitchFamily="34" charset="-122"/>
                <a:cs typeface="Hiragino Sans W6" pitchFamily="34" charset="-120"/>
              </a:rPr>
              <a:t>魔の支援ループ</a:t>
            </a:r>
            <a:endParaRPr lang="en-US" sz="1800" dirty="0"/>
          </a:p>
        </p:txBody>
      </p:sp>
      <p:sp>
        <p:nvSpPr>
          <p:cNvPr id="9" name="Text 7"/>
          <p:cNvSpPr/>
          <p:nvPr/>
        </p:nvSpPr>
        <p:spPr>
          <a:xfrm>
            <a:off x="841248" y="2880360"/>
            <a:ext cx="12947904" cy="320040"/>
          </a:xfrm>
          <a:prstGeom prst="rect">
            <a:avLst/>
          </a:prstGeom>
          <a:noFill/>
          <a:ln/>
        </p:spPr>
        <p:txBody>
          <a:bodyPr wrap="square" lIns="0" tIns="0" rIns="0" bIns="0" rtlCol="0" anchor="ctr"/>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進行: 偏見の醸成 → 抑圧 → 強引 → 強要 → 虐待</a:t>
            </a:r>
            <a:endParaRPr lang="en-US" sz="1500" dirty="0"/>
          </a:p>
        </p:txBody>
      </p:sp>
      <p:sp>
        <p:nvSpPr>
          <p:cNvPr id="10" name="Text 8"/>
          <p:cNvSpPr/>
          <p:nvPr/>
        </p:nvSpPr>
        <p:spPr>
          <a:xfrm>
            <a:off x="841248" y="3246120"/>
            <a:ext cx="12947904" cy="320040"/>
          </a:xfrm>
          <a:prstGeom prst="rect">
            <a:avLst/>
          </a:prstGeom>
          <a:noFill/>
          <a:ln/>
        </p:spPr>
        <p:txBody>
          <a:bodyPr wrap="square" lIns="0" tIns="0" rIns="0" bIns="0" rtlCol="0" anchor="ctr"/>
          <a:lstStyle/>
          <a:p>
            <a:pPr marL="0" indent="0">
              <a:buNone/>
            </a:pPr>
            <a:r>
              <a:rPr lang="en-US" sz="1400" dirty="0">
                <a:solidFill>
                  <a:srgbClr val="4A90D9"/>
                </a:solidFill>
                <a:latin typeface="Hiragino Sans W3" pitchFamily="34" charset="0"/>
                <a:ea typeface="Hiragino Sans W3" pitchFamily="34" charset="-122"/>
                <a:cs typeface="Hiragino Sans W3" pitchFamily="34" charset="-120"/>
              </a:rPr>
              <a:t>AI検知シグナル: 記録の否定的語彙の増加、利用者との接触時間の減少パターン</a:t>
            </a:r>
            <a:endParaRPr lang="en-US" sz="1400" dirty="0"/>
          </a:p>
        </p:txBody>
      </p:sp>
      <p:sp>
        <p:nvSpPr>
          <p:cNvPr id="11" name="Shape 9"/>
          <p:cNvSpPr/>
          <p:nvPr/>
        </p:nvSpPr>
        <p:spPr>
          <a:xfrm>
            <a:off x="566928" y="3886200"/>
            <a:ext cx="13496544" cy="1325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2" name="Shape 10"/>
          <p:cNvSpPr/>
          <p:nvPr/>
        </p:nvSpPr>
        <p:spPr>
          <a:xfrm>
            <a:off x="566928" y="3886200"/>
            <a:ext cx="73152" cy="1325880"/>
          </a:xfrm>
          <a:prstGeom prst="rect">
            <a:avLst/>
          </a:prstGeom>
          <a:solidFill>
            <a:srgbClr val="F39C12"/>
          </a:solidFill>
          <a:ln/>
        </p:spPr>
        <p:txBody>
          <a:bodyPr/>
          <a:lstStyle/>
          <a:p>
            <a:endParaRPr lang="ja-JP" altLang="en-US"/>
          </a:p>
        </p:txBody>
      </p:sp>
      <p:sp>
        <p:nvSpPr>
          <p:cNvPr id="13" name="Text 11"/>
          <p:cNvSpPr/>
          <p:nvPr/>
        </p:nvSpPr>
        <p:spPr>
          <a:xfrm>
            <a:off x="841248" y="3977640"/>
            <a:ext cx="2743200" cy="365760"/>
          </a:xfrm>
          <a:prstGeom prst="rect">
            <a:avLst/>
          </a:prstGeom>
          <a:noFill/>
          <a:ln/>
        </p:spPr>
        <p:txBody>
          <a:bodyPr wrap="square" lIns="0" tIns="0" rIns="0" bIns="0" rtlCol="0" anchor="ctr"/>
          <a:lstStyle/>
          <a:p>
            <a:pPr marL="0" indent="0">
              <a:buNone/>
            </a:pPr>
            <a:r>
              <a:rPr lang="en-US" sz="1800" b="1" dirty="0">
                <a:solidFill>
                  <a:srgbClr val="F39C12"/>
                </a:solidFill>
                <a:latin typeface="Hiragino Sans W6" pitchFamily="34" charset="0"/>
                <a:ea typeface="Hiragino Sans W6" pitchFamily="34" charset="-122"/>
                <a:cs typeface="Hiragino Sans W6" pitchFamily="34" charset="-120"/>
              </a:rPr>
              <a:t>作業増量ループ</a:t>
            </a:r>
            <a:endParaRPr lang="en-US" sz="1800" dirty="0"/>
          </a:p>
        </p:txBody>
      </p:sp>
      <p:sp>
        <p:nvSpPr>
          <p:cNvPr id="14" name="Text 12"/>
          <p:cNvSpPr/>
          <p:nvPr/>
        </p:nvSpPr>
        <p:spPr>
          <a:xfrm>
            <a:off x="841248" y="4389120"/>
            <a:ext cx="12947904" cy="320040"/>
          </a:xfrm>
          <a:prstGeom prst="rect">
            <a:avLst/>
          </a:prstGeom>
          <a:noFill/>
          <a:ln/>
        </p:spPr>
        <p:txBody>
          <a:bodyPr wrap="square" lIns="0" tIns="0" rIns="0" bIns="0" rtlCol="0" anchor="ctr"/>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進行: 自立支援量↑ → 作業量↑ → 7つのムダ → 品質低下</a:t>
            </a:r>
            <a:endParaRPr lang="en-US" sz="1500" dirty="0"/>
          </a:p>
        </p:txBody>
      </p:sp>
      <p:sp>
        <p:nvSpPr>
          <p:cNvPr id="15" name="Text 13"/>
          <p:cNvSpPr/>
          <p:nvPr/>
        </p:nvSpPr>
        <p:spPr>
          <a:xfrm>
            <a:off x="841248" y="4754880"/>
            <a:ext cx="12947904" cy="320040"/>
          </a:xfrm>
          <a:prstGeom prst="rect">
            <a:avLst/>
          </a:prstGeom>
          <a:noFill/>
          <a:ln/>
        </p:spPr>
        <p:txBody>
          <a:bodyPr wrap="square" lIns="0" tIns="0" rIns="0" bIns="0" rtlCol="0" anchor="ctr"/>
          <a:lstStyle/>
          <a:p>
            <a:pPr marL="0" indent="0">
              <a:buNone/>
            </a:pPr>
            <a:r>
              <a:rPr lang="en-US" sz="1400" dirty="0">
                <a:solidFill>
                  <a:srgbClr val="4A90D9"/>
                </a:solidFill>
                <a:latin typeface="Hiragino Sans W3" pitchFamily="34" charset="0"/>
                <a:ea typeface="Hiragino Sans W3" pitchFamily="34" charset="-122"/>
                <a:cs typeface="Hiragino Sans W3" pitchFamily="34" charset="-120"/>
              </a:rPr>
              <a:t>AI検知シグナル: 残業時間の増加、チェックリスト未完了率の上昇</a:t>
            </a:r>
            <a:endParaRPr lang="en-US" sz="1400" dirty="0"/>
          </a:p>
        </p:txBody>
      </p:sp>
      <p:sp>
        <p:nvSpPr>
          <p:cNvPr id="16" name="Shape 14"/>
          <p:cNvSpPr/>
          <p:nvPr/>
        </p:nvSpPr>
        <p:spPr>
          <a:xfrm>
            <a:off x="566928" y="5394960"/>
            <a:ext cx="13496544" cy="1325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7" name="Shape 15"/>
          <p:cNvSpPr/>
          <p:nvPr/>
        </p:nvSpPr>
        <p:spPr>
          <a:xfrm>
            <a:off x="566928" y="5394960"/>
            <a:ext cx="73152" cy="1325880"/>
          </a:xfrm>
          <a:prstGeom prst="rect">
            <a:avLst/>
          </a:prstGeom>
          <a:solidFill>
            <a:srgbClr val="E67E22"/>
          </a:solidFill>
          <a:ln/>
        </p:spPr>
        <p:txBody>
          <a:bodyPr/>
          <a:lstStyle/>
          <a:p>
            <a:endParaRPr lang="ja-JP" altLang="en-US"/>
          </a:p>
        </p:txBody>
      </p:sp>
      <p:sp>
        <p:nvSpPr>
          <p:cNvPr id="18" name="Text 16"/>
          <p:cNvSpPr/>
          <p:nvPr/>
        </p:nvSpPr>
        <p:spPr>
          <a:xfrm>
            <a:off x="841248" y="5486400"/>
            <a:ext cx="2743200" cy="365760"/>
          </a:xfrm>
          <a:prstGeom prst="rect">
            <a:avLst/>
          </a:prstGeom>
          <a:noFill/>
          <a:ln/>
        </p:spPr>
        <p:txBody>
          <a:bodyPr wrap="square" lIns="0" tIns="0" rIns="0" bIns="0" rtlCol="0" anchor="ctr"/>
          <a:lstStyle/>
          <a:p>
            <a:pPr marL="0" indent="0">
              <a:buNone/>
            </a:pPr>
            <a:r>
              <a:rPr lang="en-US" sz="1800" b="1" dirty="0">
                <a:solidFill>
                  <a:srgbClr val="E67E22"/>
                </a:solidFill>
                <a:latin typeface="Hiragino Sans W6" pitchFamily="34" charset="0"/>
                <a:ea typeface="Hiragino Sans W6" pitchFamily="34" charset="-122"/>
                <a:cs typeface="Hiragino Sans W6" pitchFamily="34" charset="-120"/>
              </a:rPr>
              <a:t>推測支援サイクル</a:t>
            </a:r>
            <a:endParaRPr lang="en-US" sz="1800" dirty="0"/>
          </a:p>
        </p:txBody>
      </p:sp>
      <p:sp>
        <p:nvSpPr>
          <p:cNvPr id="19" name="Text 17"/>
          <p:cNvSpPr/>
          <p:nvPr/>
        </p:nvSpPr>
        <p:spPr>
          <a:xfrm>
            <a:off x="841248" y="5897880"/>
            <a:ext cx="12947904" cy="320040"/>
          </a:xfrm>
          <a:prstGeom prst="rect">
            <a:avLst/>
          </a:prstGeom>
          <a:noFill/>
          <a:ln/>
        </p:spPr>
        <p:txBody>
          <a:bodyPr wrap="square" lIns="0" tIns="0" rIns="0" bIns="0" rtlCol="0" anchor="ctr"/>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進行: 推測支援 → 記録しない → だろう支援 → 事故</a:t>
            </a:r>
            <a:endParaRPr lang="en-US" sz="1500" dirty="0"/>
          </a:p>
        </p:txBody>
      </p:sp>
      <p:sp>
        <p:nvSpPr>
          <p:cNvPr id="20" name="Text 18"/>
          <p:cNvSpPr/>
          <p:nvPr/>
        </p:nvSpPr>
        <p:spPr>
          <a:xfrm>
            <a:off x="841248" y="6263640"/>
            <a:ext cx="12947904" cy="320040"/>
          </a:xfrm>
          <a:prstGeom prst="rect">
            <a:avLst/>
          </a:prstGeom>
          <a:noFill/>
          <a:ln/>
        </p:spPr>
        <p:txBody>
          <a:bodyPr wrap="square" lIns="0" tIns="0" rIns="0" bIns="0" rtlCol="0" anchor="ctr"/>
          <a:lstStyle/>
          <a:p>
            <a:pPr marL="0" indent="0">
              <a:buNone/>
            </a:pPr>
            <a:r>
              <a:rPr lang="en-US" sz="1400" dirty="0">
                <a:solidFill>
                  <a:srgbClr val="4A90D9"/>
                </a:solidFill>
                <a:latin typeface="Hiragino Sans W3" pitchFamily="34" charset="0"/>
                <a:ea typeface="Hiragino Sans W3" pitchFamily="34" charset="-122"/>
                <a:cs typeface="Hiragino Sans W3" pitchFamily="34" charset="-120"/>
              </a:rPr>
              <a:t>AI検知シグナル: 記録入力頻度の低下、バイタル未計測の連続発生</a:t>
            </a:r>
            <a:endParaRPr lang="en-US" sz="1400" dirty="0"/>
          </a:p>
        </p:txBody>
      </p:sp>
      <p:sp>
        <p:nvSpPr>
          <p:cNvPr id="21" name="Shape 19"/>
          <p:cNvSpPr/>
          <p:nvPr/>
        </p:nvSpPr>
        <p:spPr>
          <a:xfrm>
            <a:off x="566928" y="7218748"/>
            <a:ext cx="13496544" cy="365760"/>
          </a:xfrm>
          <a:prstGeom prst="rect">
            <a:avLst/>
          </a:prstGeom>
          <a:solidFill>
            <a:srgbClr val="FADBD8"/>
          </a:solidFill>
          <a:ln/>
        </p:spPr>
        <p:txBody>
          <a:bodyPr/>
          <a:lstStyle/>
          <a:p>
            <a:endParaRPr lang="ja-JP" altLang="en-US"/>
          </a:p>
        </p:txBody>
      </p:sp>
      <p:sp>
        <p:nvSpPr>
          <p:cNvPr id="22" name="Text 20"/>
          <p:cNvSpPr/>
          <p:nvPr/>
        </p:nvSpPr>
        <p:spPr>
          <a:xfrm>
            <a:off x="749808" y="6830442"/>
            <a:ext cx="13130784" cy="365760"/>
          </a:xfrm>
          <a:prstGeom prst="rect">
            <a:avLst/>
          </a:prstGeom>
          <a:noFill/>
          <a:ln/>
        </p:spPr>
        <p:txBody>
          <a:bodyPr wrap="square" lIns="0" tIns="0" rIns="0" bIns="0" rtlCol="0" anchor="ctr"/>
          <a:lstStyle/>
          <a:p>
            <a:pPr marL="0" indent="0">
              <a:buNone/>
            </a:pPr>
            <a:r>
              <a:rPr lang="en-US" sz="1400" b="1" dirty="0">
                <a:solidFill>
                  <a:srgbClr val="8B1A1A"/>
                </a:solidFill>
                <a:latin typeface="Hiragino Sans W6" pitchFamily="34" charset="0"/>
                <a:ea typeface="Hiragino Sans W6" pitchFamily="34" charset="-122"/>
                <a:cs typeface="Hiragino Sans W6" pitchFamily="34" charset="-120"/>
              </a:rPr>
              <a:t>社会的意義: 虐待は「見下す心」から始まる。マトリックスの危険パスをAIが常時監視し、兆候段階で管理者にアラート。</a:t>
            </a:r>
            <a:endParaRPr lang="en-US" sz="1400" dirty="0"/>
          </a:p>
        </p:txBody>
      </p:sp>
      <p:sp>
        <p:nvSpPr>
          <p:cNvPr id="23" name="Text 21"/>
          <p:cNvSpPr/>
          <p:nvPr/>
        </p:nvSpPr>
        <p:spPr>
          <a:xfrm>
            <a:off x="475488" y="7241922"/>
            <a:ext cx="13679424" cy="365760"/>
          </a:xfrm>
          <a:prstGeom prst="rect">
            <a:avLst/>
          </a:prstGeom>
          <a:noFill/>
          <a:ln/>
        </p:spPr>
        <p:txBody>
          <a:bodyPr wrap="square" lIns="0" tIns="0" rIns="0" bIns="0" rtlCol="0" anchor="ctr"/>
          <a:lstStyle/>
          <a:p>
            <a:pPr marL="0" indent="0" algn="ctr">
              <a:buNone/>
            </a:pPr>
            <a:r>
              <a:rPr lang="en-US" sz="1500" b="1" dirty="0">
                <a:solidFill>
                  <a:srgbClr val="8B1A1A"/>
                </a:solidFill>
                <a:latin typeface="Hiragino Sans W6" pitchFamily="34" charset="0"/>
                <a:ea typeface="Hiragino Sans W6" pitchFamily="34" charset="-122"/>
                <a:cs typeface="Hiragino Sans W6" pitchFamily="34" charset="-120"/>
              </a:rPr>
              <a:t>虐待の5類型（身体的・放棄放任・心理的・性的・経済的）すべてにAI早期警戒を実装</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ゲーミフィケーションで支援哲学を「体得」させる</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マトリックスは壁に貼るだけでは身につかない — 反復体験が鍵</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「わかるじゃんトレーニング」— マトリックス体得ゲーム</a:t>
            </a:r>
            <a:endParaRPr lang="en-US" sz="2000" dirty="0"/>
          </a:p>
        </p:txBody>
      </p:sp>
      <p:sp>
        <p:nvSpPr>
          <p:cNvPr id="6" name="Shape 4"/>
          <p:cNvSpPr/>
          <p:nvPr/>
        </p:nvSpPr>
        <p:spPr>
          <a:xfrm>
            <a:off x="749808" y="2377440"/>
            <a:ext cx="3154680"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2052828" y="2560320"/>
            <a:ext cx="548640" cy="548640"/>
          </a:xfrm>
          <a:prstGeom prst="ellipse">
            <a:avLst/>
          </a:prstGeom>
          <a:solidFill>
            <a:srgbClr val="4A90D9"/>
          </a:solidFill>
          <a:ln/>
        </p:spPr>
        <p:txBody>
          <a:bodyPr/>
          <a:lstStyle/>
          <a:p>
            <a:endParaRPr lang="ja-JP" altLang="en-US"/>
          </a:p>
        </p:txBody>
      </p:sp>
      <p:sp>
        <p:nvSpPr>
          <p:cNvPr id="8" name="Text 6"/>
          <p:cNvSpPr/>
          <p:nvPr/>
        </p:nvSpPr>
        <p:spPr>
          <a:xfrm>
            <a:off x="2052828" y="256032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Hiragino Sans W6" pitchFamily="34" charset="0"/>
                <a:ea typeface="Hiragino Sans W6" pitchFamily="34" charset="-122"/>
                <a:cs typeface="Hiragino Sans W6" pitchFamily="34" charset="-120"/>
              </a:rPr>
              <a:t>S</a:t>
            </a:r>
            <a:endParaRPr lang="en-US" sz="2400" dirty="0"/>
          </a:p>
        </p:txBody>
      </p:sp>
      <p:sp>
        <p:nvSpPr>
          <p:cNvPr id="9" name="Text 7"/>
          <p:cNvSpPr/>
          <p:nvPr/>
        </p:nvSpPr>
        <p:spPr>
          <a:xfrm>
            <a:off x="841248" y="3246120"/>
            <a:ext cx="2971800"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ストーリーモード</a:t>
            </a:r>
            <a:endParaRPr lang="en-US" sz="1600" dirty="0"/>
          </a:p>
        </p:txBody>
      </p:sp>
      <p:sp>
        <p:nvSpPr>
          <p:cNvPr id="10" name="Text 8"/>
          <p:cNvSpPr/>
          <p:nvPr/>
        </p:nvSpPr>
        <p:spPr>
          <a:xfrm>
            <a:off x="886968" y="3703320"/>
            <a:ext cx="2880360" cy="100584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Step 1→13を順に体験。</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各場面で正しい支援行動を選択。</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分岐シナリオで深い学び。</a:t>
            </a:r>
            <a:endParaRPr lang="en-US" sz="1400" dirty="0"/>
          </a:p>
        </p:txBody>
      </p:sp>
      <p:sp>
        <p:nvSpPr>
          <p:cNvPr id="11" name="Shape 9"/>
          <p:cNvSpPr/>
          <p:nvPr/>
        </p:nvSpPr>
        <p:spPr>
          <a:xfrm>
            <a:off x="4178808" y="2377440"/>
            <a:ext cx="3154680"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2" name="Shape 10"/>
          <p:cNvSpPr/>
          <p:nvPr/>
        </p:nvSpPr>
        <p:spPr>
          <a:xfrm>
            <a:off x="5481828" y="2560320"/>
            <a:ext cx="548640" cy="548640"/>
          </a:xfrm>
          <a:prstGeom prst="ellipse">
            <a:avLst/>
          </a:prstGeom>
          <a:solidFill>
            <a:srgbClr val="4A90D9"/>
          </a:solidFill>
          <a:ln/>
        </p:spPr>
        <p:txBody>
          <a:bodyPr/>
          <a:lstStyle/>
          <a:p>
            <a:endParaRPr lang="ja-JP" altLang="en-US"/>
          </a:p>
        </p:txBody>
      </p:sp>
      <p:sp>
        <p:nvSpPr>
          <p:cNvPr id="13" name="Text 11"/>
          <p:cNvSpPr/>
          <p:nvPr/>
        </p:nvSpPr>
        <p:spPr>
          <a:xfrm>
            <a:off x="5481828" y="256032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Hiragino Sans W6" pitchFamily="34" charset="0"/>
                <a:ea typeface="Hiragino Sans W6" pitchFamily="34" charset="-122"/>
                <a:cs typeface="Hiragino Sans W6" pitchFamily="34" charset="-120"/>
              </a:rPr>
              <a:t>R</a:t>
            </a:r>
            <a:endParaRPr lang="en-US" sz="2400" dirty="0"/>
          </a:p>
        </p:txBody>
      </p:sp>
      <p:sp>
        <p:nvSpPr>
          <p:cNvPr id="14" name="Text 12"/>
          <p:cNvSpPr/>
          <p:nvPr/>
        </p:nvSpPr>
        <p:spPr>
          <a:xfrm>
            <a:off x="4270248" y="3246120"/>
            <a:ext cx="2971800"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ランダムモード</a:t>
            </a:r>
            <a:endParaRPr lang="en-US" sz="1600" dirty="0"/>
          </a:p>
        </p:txBody>
      </p:sp>
      <p:sp>
        <p:nvSpPr>
          <p:cNvPr id="15" name="Text 13"/>
          <p:cNvSpPr/>
          <p:nvPr/>
        </p:nvSpPr>
        <p:spPr>
          <a:xfrm>
            <a:off x="4315968" y="3703320"/>
            <a:ext cx="2880360" cy="100584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無限パターンの状況を体験。</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テンプレート×ランダム生成で</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同じ問題は二度と出ない。</a:t>
            </a:r>
            <a:endParaRPr lang="en-US" sz="1400" dirty="0"/>
          </a:p>
        </p:txBody>
      </p:sp>
      <p:sp>
        <p:nvSpPr>
          <p:cNvPr id="16" name="Shape 14"/>
          <p:cNvSpPr/>
          <p:nvPr/>
        </p:nvSpPr>
        <p:spPr>
          <a:xfrm>
            <a:off x="7607808" y="2377440"/>
            <a:ext cx="3154680"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7" name="Shape 15"/>
          <p:cNvSpPr/>
          <p:nvPr/>
        </p:nvSpPr>
        <p:spPr>
          <a:xfrm>
            <a:off x="8910828" y="2560320"/>
            <a:ext cx="548640" cy="548640"/>
          </a:xfrm>
          <a:prstGeom prst="ellipse">
            <a:avLst/>
          </a:prstGeom>
          <a:solidFill>
            <a:srgbClr val="4A90D9"/>
          </a:solidFill>
          <a:ln/>
        </p:spPr>
        <p:txBody>
          <a:bodyPr/>
          <a:lstStyle/>
          <a:p>
            <a:endParaRPr lang="ja-JP" altLang="en-US"/>
          </a:p>
        </p:txBody>
      </p:sp>
      <p:sp>
        <p:nvSpPr>
          <p:cNvPr id="18" name="Text 16"/>
          <p:cNvSpPr/>
          <p:nvPr/>
        </p:nvSpPr>
        <p:spPr>
          <a:xfrm>
            <a:off x="8910828" y="256032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Hiragino Sans W6" pitchFamily="34" charset="0"/>
                <a:ea typeface="Hiragino Sans W6" pitchFamily="34" charset="-122"/>
                <a:cs typeface="Hiragino Sans W6" pitchFamily="34" charset="-120"/>
              </a:rPr>
              <a:t>T</a:t>
            </a:r>
            <a:endParaRPr lang="en-US" sz="2400" dirty="0"/>
          </a:p>
        </p:txBody>
      </p:sp>
      <p:sp>
        <p:nvSpPr>
          <p:cNvPr id="19" name="Text 17"/>
          <p:cNvSpPr/>
          <p:nvPr/>
        </p:nvSpPr>
        <p:spPr>
          <a:xfrm>
            <a:off x="7699248" y="3246120"/>
            <a:ext cx="2971800"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タイムアタック</a:t>
            </a:r>
            <a:endParaRPr lang="en-US" sz="1600" dirty="0"/>
          </a:p>
        </p:txBody>
      </p:sp>
      <p:sp>
        <p:nvSpPr>
          <p:cNvPr id="20" name="Text 18"/>
          <p:cNvSpPr/>
          <p:nvPr/>
        </p:nvSpPr>
        <p:spPr>
          <a:xfrm>
            <a:off x="7744968" y="3703320"/>
            <a:ext cx="2880360" cy="100584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90秒間で何問正解できるか。</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瞬時の判断力を鍛える。</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ランキングでチーム競争。</a:t>
            </a:r>
            <a:endParaRPr lang="en-US" sz="1400" dirty="0"/>
          </a:p>
        </p:txBody>
      </p:sp>
      <p:sp>
        <p:nvSpPr>
          <p:cNvPr id="21" name="Shape 19"/>
          <p:cNvSpPr/>
          <p:nvPr/>
        </p:nvSpPr>
        <p:spPr>
          <a:xfrm>
            <a:off x="11036808" y="2377440"/>
            <a:ext cx="3154680"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2" name="Shape 20"/>
          <p:cNvSpPr/>
          <p:nvPr/>
        </p:nvSpPr>
        <p:spPr>
          <a:xfrm>
            <a:off x="12339828" y="2560320"/>
            <a:ext cx="548640" cy="548640"/>
          </a:xfrm>
          <a:prstGeom prst="ellipse">
            <a:avLst/>
          </a:prstGeom>
          <a:solidFill>
            <a:srgbClr val="4A90D9"/>
          </a:solidFill>
          <a:ln/>
        </p:spPr>
        <p:txBody>
          <a:bodyPr/>
          <a:lstStyle/>
          <a:p>
            <a:endParaRPr lang="ja-JP" altLang="en-US"/>
          </a:p>
        </p:txBody>
      </p:sp>
      <p:sp>
        <p:nvSpPr>
          <p:cNvPr id="23" name="Text 21"/>
          <p:cNvSpPr/>
          <p:nvPr/>
        </p:nvSpPr>
        <p:spPr>
          <a:xfrm>
            <a:off x="12339828" y="256032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Hiragino Sans W6" pitchFamily="34" charset="0"/>
                <a:ea typeface="Hiragino Sans W6" pitchFamily="34" charset="-122"/>
                <a:cs typeface="Hiragino Sans W6" pitchFamily="34" charset="-120"/>
              </a:rPr>
              <a:t>W</a:t>
            </a:r>
            <a:endParaRPr lang="en-US" sz="2400" dirty="0"/>
          </a:p>
        </p:txBody>
      </p:sp>
      <p:sp>
        <p:nvSpPr>
          <p:cNvPr id="24" name="Text 22"/>
          <p:cNvSpPr/>
          <p:nvPr/>
        </p:nvSpPr>
        <p:spPr>
          <a:xfrm>
            <a:off x="11128248" y="3246120"/>
            <a:ext cx="2971800"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弱点強化モード</a:t>
            </a:r>
            <a:endParaRPr lang="en-US" sz="1600" dirty="0"/>
          </a:p>
        </p:txBody>
      </p:sp>
      <p:sp>
        <p:nvSpPr>
          <p:cNvPr id="25" name="Text 23"/>
          <p:cNvSpPr/>
          <p:nvPr/>
        </p:nvSpPr>
        <p:spPr>
          <a:xfrm>
            <a:off x="11173968" y="3703320"/>
            <a:ext cx="2880360" cy="100584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AIが弱点ステップを自動検出。</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苦手分野を集中トレーニング。</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個別最適化された学習。</a:t>
            </a:r>
            <a:endParaRPr lang="en-US" sz="1400" dirty="0"/>
          </a:p>
        </p:txBody>
      </p:sp>
      <p:sp>
        <p:nvSpPr>
          <p:cNvPr id="26" name="Shape 24"/>
          <p:cNvSpPr/>
          <p:nvPr/>
        </p:nvSpPr>
        <p:spPr>
          <a:xfrm>
            <a:off x="749808" y="5303520"/>
            <a:ext cx="2468880" cy="1371600"/>
          </a:xfrm>
          <a:prstGeom prst="rect">
            <a:avLst/>
          </a:prstGeom>
          <a:solidFill>
            <a:srgbClr val="F9F6F0"/>
          </a:solidFill>
          <a:ln/>
          <a:effectLst>
            <a:outerShdw blurRad="76200" dist="25400" dir="8100000" algn="bl" rotWithShape="0">
              <a:srgbClr val="000000">
                <a:alpha val="12000"/>
              </a:srgbClr>
            </a:outerShdw>
          </a:effectLst>
        </p:spPr>
        <p:txBody>
          <a:bodyPr/>
          <a:lstStyle/>
          <a:p>
            <a:endParaRPr lang="ja-JP" altLang="en-US"/>
          </a:p>
        </p:txBody>
      </p:sp>
      <p:sp>
        <p:nvSpPr>
          <p:cNvPr id="27" name="Text 25"/>
          <p:cNvSpPr/>
          <p:nvPr/>
        </p:nvSpPr>
        <p:spPr>
          <a:xfrm>
            <a:off x="841248" y="5394960"/>
            <a:ext cx="2286000" cy="320040"/>
          </a:xfrm>
          <a:prstGeom prst="rect">
            <a:avLst/>
          </a:prstGeom>
          <a:noFill/>
          <a:ln/>
        </p:spPr>
        <p:txBody>
          <a:bodyPr wrap="square" lIns="0" tIns="0" rIns="0" bIns="0" rtlCol="0" anchor="ctr"/>
          <a:lstStyle/>
          <a:p>
            <a:pPr marL="0" indent="0" algn="ctr">
              <a:buNone/>
            </a:pPr>
            <a:r>
              <a:rPr lang="en-US" sz="1500" b="1" dirty="0">
                <a:solidFill>
                  <a:srgbClr val="4A90D9"/>
                </a:solidFill>
                <a:latin typeface="Hiragino Sans W6" pitchFamily="34" charset="0"/>
                <a:ea typeface="Hiragino Sans W6" pitchFamily="34" charset="-122"/>
                <a:cs typeface="Hiragino Sans W6" pitchFamily="34" charset="-120"/>
              </a:rPr>
              <a:t>レベルシステム</a:t>
            </a:r>
            <a:endParaRPr lang="en-US" sz="1500" dirty="0"/>
          </a:p>
        </p:txBody>
      </p:sp>
      <p:sp>
        <p:nvSpPr>
          <p:cNvPr id="28" name="Text 26"/>
          <p:cNvSpPr/>
          <p:nvPr/>
        </p:nvSpPr>
        <p:spPr>
          <a:xfrm>
            <a:off x="841248" y="5760720"/>
            <a:ext cx="2286000" cy="777240"/>
          </a:xfrm>
          <a:prstGeom prst="rect">
            <a:avLst/>
          </a:prstGeom>
          <a:noFill/>
          <a:ln/>
        </p:spPr>
        <p:txBody>
          <a:bodyPr wrap="square" lIns="0" tIns="0" rIns="0" bIns="0" rtlCol="0" anchor="ctr"/>
          <a:lstStyle/>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10段階のレベルアップ</a:t>
            </a:r>
            <a:endParaRPr lang="en-US" sz="1300" dirty="0"/>
          </a:p>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XP蓄積で成長を実感</a:t>
            </a:r>
            <a:endParaRPr lang="en-US" sz="1300" dirty="0"/>
          </a:p>
        </p:txBody>
      </p:sp>
      <p:sp>
        <p:nvSpPr>
          <p:cNvPr id="29" name="Shape 27"/>
          <p:cNvSpPr/>
          <p:nvPr/>
        </p:nvSpPr>
        <p:spPr>
          <a:xfrm>
            <a:off x="3447288" y="5303520"/>
            <a:ext cx="2468880" cy="1371600"/>
          </a:xfrm>
          <a:prstGeom prst="rect">
            <a:avLst/>
          </a:prstGeom>
          <a:solidFill>
            <a:srgbClr val="F9F6F0"/>
          </a:solidFill>
          <a:ln/>
          <a:effectLst>
            <a:outerShdw blurRad="76200" dist="25400" dir="8100000" algn="bl" rotWithShape="0">
              <a:srgbClr val="000000">
                <a:alpha val="12000"/>
              </a:srgbClr>
            </a:outerShdw>
          </a:effectLst>
        </p:spPr>
        <p:txBody>
          <a:bodyPr/>
          <a:lstStyle/>
          <a:p>
            <a:endParaRPr lang="ja-JP" altLang="en-US"/>
          </a:p>
        </p:txBody>
      </p:sp>
      <p:sp>
        <p:nvSpPr>
          <p:cNvPr id="30" name="Text 28"/>
          <p:cNvSpPr/>
          <p:nvPr/>
        </p:nvSpPr>
        <p:spPr>
          <a:xfrm>
            <a:off x="3538728" y="5394960"/>
            <a:ext cx="2286000" cy="320040"/>
          </a:xfrm>
          <a:prstGeom prst="rect">
            <a:avLst/>
          </a:prstGeom>
          <a:noFill/>
          <a:ln/>
        </p:spPr>
        <p:txBody>
          <a:bodyPr wrap="square" lIns="0" tIns="0" rIns="0" bIns="0" rtlCol="0" anchor="ctr"/>
          <a:lstStyle/>
          <a:p>
            <a:pPr marL="0" indent="0" algn="ctr">
              <a:buNone/>
            </a:pPr>
            <a:r>
              <a:rPr lang="en-US" sz="1500" b="1" dirty="0">
                <a:solidFill>
                  <a:srgbClr val="4A90D9"/>
                </a:solidFill>
                <a:latin typeface="Hiragino Sans W6" pitchFamily="34" charset="0"/>
                <a:ea typeface="Hiragino Sans W6" pitchFamily="34" charset="-122"/>
                <a:cs typeface="Hiragino Sans W6" pitchFamily="34" charset="-120"/>
              </a:rPr>
              <a:t>バッジ収集</a:t>
            </a:r>
            <a:endParaRPr lang="en-US" sz="1500" dirty="0"/>
          </a:p>
        </p:txBody>
      </p:sp>
      <p:sp>
        <p:nvSpPr>
          <p:cNvPr id="31" name="Text 29"/>
          <p:cNvSpPr/>
          <p:nvPr/>
        </p:nvSpPr>
        <p:spPr>
          <a:xfrm>
            <a:off x="3538728" y="5760720"/>
            <a:ext cx="2286000" cy="777240"/>
          </a:xfrm>
          <a:prstGeom prst="rect">
            <a:avLst/>
          </a:prstGeom>
          <a:noFill/>
          <a:ln/>
        </p:spPr>
        <p:txBody>
          <a:bodyPr wrap="square" lIns="0" tIns="0" rIns="0" bIns="0" rtlCol="0" anchor="ctr"/>
          <a:lstStyle/>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10種のバッジ</a:t>
            </a:r>
            <a:endParaRPr lang="en-US" sz="1300" dirty="0"/>
          </a:p>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条件達成で自動付与</a:t>
            </a:r>
            <a:endParaRPr lang="en-US" sz="1300" dirty="0"/>
          </a:p>
        </p:txBody>
      </p:sp>
      <p:sp>
        <p:nvSpPr>
          <p:cNvPr id="32" name="Shape 30"/>
          <p:cNvSpPr/>
          <p:nvPr/>
        </p:nvSpPr>
        <p:spPr>
          <a:xfrm>
            <a:off x="6144768" y="5303520"/>
            <a:ext cx="2468880" cy="1371600"/>
          </a:xfrm>
          <a:prstGeom prst="rect">
            <a:avLst/>
          </a:prstGeom>
          <a:solidFill>
            <a:srgbClr val="F9F6F0"/>
          </a:solidFill>
          <a:ln/>
          <a:effectLst>
            <a:outerShdw blurRad="76200" dist="25400" dir="8100000" algn="bl" rotWithShape="0">
              <a:srgbClr val="000000">
                <a:alpha val="12000"/>
              </a:srgbClr>
            </a:outerShdw>
          </a:effectLst>
        </p:spPr>
        <p:txBody>
          <a:bodyPr/>
          <a:lstStyle/>
          <a:p>
            <a:endParaRPr lang="ja-JP" altLang="en-US"/>
          </a:p>
        </p:txBody>
      </p:sp>
      <p:sp>
        <p:nvSpPr>
          <p:cNvPr id="33" name="Text 31"/>
          <p:cNvSpPr/>
          <p:nvPr/>
        </p:nvSpPr>
        <p:spPr>
          <a:xfrm>
            <a:off x="6236208" y="5394960"/>
            <a:ext cx="2286000" cy="320040"/>
          </a:xfrm>
          <a:prstGeom prst="rect">
            <a:avLst/>
          </a:prstGeom>
          <a:noFill/>
          <a:ln/>
        </p:spPr>
        <p:txBody>
          <a:bodyPr wrap="square" lIns="0" tIns="0" rIns="0" bIns="0" rtlCol="0" anchor="ctr"/>
          <a:lstStyle/>
          <a:p>
            <a:pPr marL="0" indent="0" algn="ctr">
              <a:buNone/>
            </a:pPr>
            <a:r>
              <a:rPr lang="en-US" sz="1500" b="1" dirty="0">
                <a:solidFill>
                  <a:srgbClr val="4A90D9"/>
                </a:solidFill>
                <a:latin typeface="Hiragino Sans W6" pitchFamily="34" charset="0"/>
                <a:ea typeface="Hiragino Sans W6" pitchFamily="34" charset="-122"/>
                <a:cs typeface="Hiragino Sans W6" pitchFamily="34" charset="-120"/>
              </a:rPr>
              <a:t>分岐シナリオ</a:t>
            </a:r>
            <a:endParaRPr lang="en-US" sz="1500" dirty="0"/>
          </a:p>
        </p:txBody>
      </p:sp>
      <p:sp>
        <p:nvSpPr>
          <p:cNvPr id="34" name="Text 32"/>
          <p:cNvSpPr/>
          <p:nvPr/>
        </p:nvSpPr>
        <p:spPr>
          <a:xfrm>
            <a:off x="6236208" y="5760720"/>
            <a:ext cx="2286000" cy="777240"/>
          </a:xfrm>
          <a:prstGeom prst="rect">
            <a:avLst/>
          </a:prstGeom>
          <a:noFill/>
          <a:ln/>
        </p:spPr>
        <p:txBody>
          <a:bodyPr wrap="square" lIns="0" tIns="0" rIns="0" bIns="0" rtlCol="0" anchor="ctr"/>
          <a:lstStyle/>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正解/不正解で展開が変化</a:t>
            </a:r>
            <a:endParaRPr lang="en-US" sz="1300" dirty="0"/>
          </a:p>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無限に近いパターン</a:t>
            </a:r>
            <a:endParaRPr lang="en-US" sz="1300" dirty="0"/>
          </a:p>
        </p:txBody>
      </p:sp>
      <p:sp>
        <p:nvSpPr>
          <p:cNvPr id="35" name="Shape 33"/>
          <p:cNvSpPr/>
          <p:nvPr/>
        </p:nvSpPr>
        <p:spPr>
          <a:xfrm>
            <a:off x="8842248" y="5303520"/>
            <a:ext cx="2468880" cy="1371600"/>
          </a:xfrm>
          <a:prstGeom prst="rect">
            <a:avLst/>
          </a:prstGeom>
          <a:solidFill>
            <a:srgbClr val="F9F6F0"/>
          </a:solidFill>
          <a:ln/>
          <a:effectLst>
            <a:outerShdw blurRad="76200" dist="25400" dir="8100000" algn="bl" rotWithShape="0">
              <a:srgbClr val="000000">
                <a:alpha val="12000"/>
              </a:srgbClr>
            </a:outerShdw>
          </a:effectLst>
        </p:spPr>
        <p:txBody>
          <a:bodyPr/>
          <a:lstStyle/>
          <a:p>
            <a:endParaRPr lang="ja-JP" altLang="en-US"/>
          </a:p>
        </p:txBody>
      </p:sp>
      <p:sp>
        <p:nvSpPr>
          <p:cNvPr id="36" name="Text 34"/>
          <p:cNvSpPr/>
          <p:nvPr/>
        </p:nvSpPr>
        <p:spPr>
          <a:xfrm>
            <a:off x="8933688" y="5394960"/>
            <a:ext cx="2286000" cy="320040"/>
          </a:xfrm>
          <a:prstGeom prst="rect">
            <a:avLst/>
          </a:prstGeom>
          <a:noFill/>
          <a:ln/>
        </p:spPr>
        <p:txBody>
          <a:bodyPr wrap="square" lIns="0" tIns="0" rIns="0" bIns="0" rtlCol="0" anchor="ctr"/>
          <a:lstStyle/>
          <a:p>
            <a:pPr marL="0" indent="0" algn="ctr">
              <a:buNone/>
            </a:pPr>
            <a:r>
              <a:rPr lang="en-US" sz="1500" b="1" dirty="0">
                <a:solidFill>
                  <a:srgbClr val="4A90D9"/>
                </a:solidFill>
                <a:latin typeface="Hiragino Sans W6" pitchFamily="34" charset="0"/>
                <a:ea typeface="Hiragino Sans W6" pitchFamily="34" charset="-122"/>
                <a:cs typeface="Hiragino Sans W6" pitchFamily="34" charset="-120"/>
              </a:rPr>
              <a:t>SVGアニメーション</a:t>
            </a:r>
            <a:endParaRPr lang="en-US" sz="1500" dirty="0"/>
          </a:p>
        </p:txBody>
      </p:sp>
      <p:sp>
        <p:nvSpPr>
          <p:cNvPr id="37" name="Text 35"/>
          <p:cNvSpPr/>
          <p:nvPr/>
        </p:nvSpPr>
        <p:spPr>
          <a:xfrm>
            <a:off x="8933688" y="5760720"/>
            <a:ext cx="2286000" cy="777240"/>
          </a:xfrm>
          <a:prstGeom prst="rect">
            <a:avLst/>
          </a:prstGeom>
          <a:noFill/>
          <a:ln/>
        </p:spPr>
        <p:txBody>
          <a:bodyPr wrap="square" lIns="0" tIns="0" rIns="0" bIns="0" rtlCol="0" anchor="ctr"/>
          <a:lstStyle/>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場面に応じたイラスト</a:t>
            </a:r>
            <a:endParaRPr lang="en-US" sz="1300" dirty="0"/>
          </a:p>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パーティクル演出</a:t>
            </a:r>
            <a:endParaRPr lang="en-US" sz="1300" dirty="0"/>
          </a:p>
        </p:txBody>
      </p:sp>
      <p:sp>
        <p:nvSpPr>
          <p:cNvPr id="38" name="Shape 36"/>
          <p:cNvSpPr/>
          <p:nvPr/>
        </p:nvSpPr>
        <p:spPr>
          <a:xfrm>
            <a:off x="11539728" y="5303520"/>
            <a:ext cx="2468880" cy="1371600"/>
          </a:xfrm>
          <a:prstGeom prst="rect">
            <a:avLst/>
          </a:prstGeom>
          <a:solidFill>
            <a:srgbClr val="F9F6F0"/>
          </a:solidFill>
          <a:ln/>
          <a:effectLst>
            <a:outerShdw blurRad="76200" dist="25400" dir="8100000" algn="bl" rotWithShape="0">
              <a:srgbClr val="000000">
                <a:alpha val="12000"/>
              </a:srgbClr>
            </a:outerShdw>
          </a:effectLst>
        </p:spPr>
        <p:txBody>
          <a:bodyPr/>
          <a:lstStyle/>
          <a:p>
            <a:endParaRPr lang="ja-JP" altLang="en-US"/>
          </a:p>
        </p:txBody>
      </p:sp>
      <p:sp>
        <p:nvSpPr>
          <p:cNvPr id="39" name="Text 37"/>
          <p:cNvSpPr/>
          <p:nvPr/>
        </p:nvSpPr>
        <p:spPr>
          <a:xfrm>
            <a:off x="11631168" y="5394960"/>
            <a:ext cx="2286000" cy="320040"/>
          </a:xfrm>
          <a:prstGeom prst="rect">
            <a:avLst/>
          </a:prstGeom>
          <a:noFill/>
          <a:ln/>
        </p:spPr>
        <p:txBody>
          <a:bodyPr wrap="square" lIns="0" tIns="0" rIns="0" bIns="0" rtlCol="0" anchor="ctr"/>
          <a:lstStyle/>
          <a:p>
            <a:pPr marL="0" indent="0" algn="ctr">
              <a:buNone/>
            </a:pPr>
            <a:r>
              <a:rPr lang="en-US" sz="1500" b="1" dirty="0">
                <a:solidFill>
                  <a:srgbClr val="4A90D9"/>
                </a:solidFill>
                <a:latin typeface="Hiragino Sans W6" pitchFamily="34" charset="0"/>
                <a:ea typeface="Hiragino Sans W6" pitchFamily="34" charset="-122"/>
                <a:cs typeface="Hiragino Sans W6" pitchFamily="34" charset="-120"/>
              </a:rPr>
              <a:t>弱点AI分析</a:t>
            </a:r>
            <a:endParaRPr lang="en-US" sz="1500" dirty="0"/>
          </a:p>
        </p:txBody>
      </p:sp>
      <p:sp>
        <p:nvSpPr>
          <p:cNvPr id="40" name="Text 38"/>
          <p:cNvSpPr/>
          <p:nvPr/>
        </p:nvSpPr>
        <p:spPr>
          <a:xfrm>
            <a:off x="11631168" y="5760720"/>
            <a:ext cx="2286000" cy="777240"/>
          </a:xfrm>
          <a:prstGeom prst="rect">
            <a:avLst/>
          </a:prstGeom>
          <a:noFill/>
          <a:ln/>
        </p:spPr>
        <p:txBody>
          <a:bodyPr wrap="square" lIns="0" tIns="0" rIns="0" bIns="0" rtlCol="0" anchor="ctr"/>
          <a:lstStyle/>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苦手ステップを自動検出</a:t>
            </a:r>
            <a:endParaRPr lang="en-US" sz="1300" dirty="0"/>
          </a:p>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重点出題で克服</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段階的な導入で確実に成果を積み上げる</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3フェーズ × 18ヶ月 — 自社実証 → 他施設展開 → 全国展開</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実装ロードマップ</a:t>
            </a:r>
            <a:endParaRPr lang="en-US" sz="2000" dirty="0"/>
          </a:p>
        </p:txBody>
      </p:sp>
      <p:sp>
        <p:nvSpPr>
          <p:cNvPr id="6" name="Shape 4"/>
          <p:cNvSpPr/>
          <p:nvPr/>
        </p:nvSpPr>
        <p:spPr>
          <a:xfrm>
            <a:off x="658368" y="2377440"/>
            <a:ext cx="4206240" cy="4572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658368" y="2377440"/>
            <a:ext cx="4206240" cy="822960"/>
          </a:xfrm>
          <a:prstGeom prst="rect">
            <a:avLst/>
          </a:prstGeom>
          <a:solidFill>
            <a:srgbClr val="4A90D9"/>
          </a:solidFill>
          <a:ln/>
        </p:spPr>
        <p:txBody>
          <a:bodyPr/>
          <a:lstStyle/>
          <a:p>
            <a:endParaRPr lang="ja-JP" altLang="en-US"/>
          </a:p>
        </p:txBody>
      </p:sp>
      <p:sp>
        <p:nvSpPr>
          <p:cNvPr id="8" name="Text 6"/>
          <p:cNvSpPr/>
          <p:nvPr/>
        </p:nvSpPr>
        <p:spPr>
          <a:xfrm>
            <a:off x="795528" y="2423160"/>
            <a:ext cx="3931920" cy="320040"/>
          </a:xfrm>
          <a:prstGeom prst="rect">
            <a:avLst/>
          </a:prstGeom>
          <a:noFill/>
          <a:ln/>
        </p:spPr>
        <p:txBody>
          <a:bodyPr wrap="square" lIns="0" tIns="0" rIns="0" bIns="0" rtlCol="0" anchor="ctr"/>
          <a:lstStyle/>
          <a:p>
            <a:pPr marL="0" indent="0">
              <a:buNone/>
            </a:pPr>
            <a:r>
              <a:rPr lang="en-US" sz="1500" dirty="0">
                <a:solidFill>
                  <a:srgbClr val="FFFFFF"/>
                </a:solidFill>
                <a:latin typeface="Hiragino Sans W3" pitchFamily="34" charset="0"/>
                <a:ea typeface="Hiragino Sans W3" pitchFamily="34" charset="-122"/>
                <a:cs typeface="Hiragino Sans W3" pitchFamily="34" charset="-120"/>
              </a:rPr>
              <a:t>Phase 1</a:t>
            </a:r>
            <a:endParaRPr lang="en-US" sz="1500" dirty="0"/>
          </a:p>
        </p:txBody>
      </p:sp>
      <p:sp>
        <p:nvSpPr>
          <p:cNvPr id="9" name="Text 7"/>
          <p:cNvSpPr/>
          <p:nvPr/>
        </p:nvSpPr>
        <p:spPr>
          <a:xfrm>
            <a:off x="795528" y="2697480"/>
            <a:ext cx="2560320" cy="411480"/>
          </a:xfrm>
          <a:prstGeom prst="rect">
            <a:avLst/>
          </a:prstGeom>
          <a:noFill/>
          <a:ln/>
        </p:spPr>
        <p:txBody>
          <a:bodyPr wrap="square" lIns="0" tIns="0" rIns="0" bIns="0" rtlCol="0" anchor="ctr"/>
          <a:lstStyle/>
          <a:p>
            <a:pPr marL="0" indent="0">
              <a:buNone/>
            </a:pPr>
            <a:r>
              <a:rPr lang="en-US" sz="1800" b="1" dirty="0">
                <a:solidFill>
                  <a:srgbClr val="FFFFFF"/>
                </a:solidFill>
                <a:latin typeface="Hiragino Sans W6" pitchFamily="34" charset="0"/>
                <a:ea typeface="Hiragino Sans W6" pitchFamily="34" charset="-122"/>
                <a:cs typeface="Hiragino Sans W6" pitchFamily="34" charset="-120"/>
              </a:rPr>
              <a:t>サンライズ実証</a:t>
            </a:r>
            <a:endParaRPr lang="en-US" sz="1800" dirty="0"/>
          </a:p>
        </p:txBody>
      </p:sp>
      <p:sp>
        <p:nvSpPr>
          <p:cNvPr id="10" name="Text 8"/>
          <p:cNvSpPr/>
          <p:nvPr/>
        </p:nvSpPr>
        <p:spPr>
          <a:xfrm>
            <a:off x="3218688" y="2697480"/>
            <a:ext cx="1508760" cy="411480"/>
          </a:xfrm>
          <a:prstGeom prst="rect">
            <a:avLst/>
          </a:prstGeom>
          <a:noFill/>
          <a:ln/>
        </p:spPr>
        <p:txBody>
          <a:bodyPr wrap="square" lIns="0" tIns="0" rIns="0" bIns="0" rtlCol="0" anchor="ctr"/>
          <a:lstStyle/>
          <a:p>
            <a:pPr marL="0" indent="0" algn="r">
              <a:buNone/>
            </a:pPr>
            <a:r>
              <a:rPr lang="en-US" sz="1400" dirty="0">
                <a:solidFill>
                  <a:srgbClr val="FFFFFF"/>
                </a:solidFill>
                <a:latin typeface="Hiragino Sans W3" pitchFamily="34" charset="0"/>
                <a:ea typeface="Hiragino Sans W3" pitchFamily="34" charset="-122"/>
                <a:cs typeface="Hiragino Sans W3" pitchFamily="34" charset="-120"/>
              </a:rPr>
              <a:t>Month 1-6</a:t>
            </a:r>
            <a:endParaRPr lang="en-US" sz="1400" dirty="0"/>
          </a:p>
        </p:txBody>
      </p:sp>
      <p:sp>
        <p:nvSpPr>
          <p:cNvPr id="11" name="Text 9"/>
          <p:cNvSpPr/>
          <p:nvPr/>
        </p:nvSpPr>
        <p:spPr>
          <a:xfrm>
            <a:off x="795528" y="3337560"/>
            <a:ext cx="3931920" cy="274320"/>
          </a:xfrm>
          <a:prstGeom prst="rect">
            <a:avLst/>
          </a:prstGeom>
          <a:noFill/>
          <a:ln/>
        </p:spPr>
        <p:txBody>
          <a:bodyPr wrap="square" lIns="0" tIns="0" rIns="0" bIns="0" rtlCol="0" anchor="ctr"/>
          <a:lstStyle/>
          <a:p>
            <a:pPr marL="0" indent="0">
              <a:buNone/>
            </a:pPr>
            <a:r>
              <a:rPr lang="en-US" sz="1300" b="1" dirty="0">
                <a:solidFill>
                  <a:srgbClr val="746558"/>
                </a:solidFill>
                <a:latin typeface="Hiragino Sans W6" pitchFamily="34" charset="0"/>
                <a:ea typeface="Hiragino Sans W6" pitchFamily="34" charset="-122"/>
                <a:cs typeface="Hiragino Sans W6" pitchFamily="34" charset="-120"/>
              </a:rPr>
              <a:t>主要実装</a:t>
            </a:r>
            <a:endParaRPr lang="en-US" sz="1300" dirty="0"/>
          </a:p>
        </p:txBody>
      </p:sp>
      <p:sp>
        <p:nvSpPr>
          <p:cNvPr id="12" name="Text 10"/>
          <p:cNvSpPr/>
          <p:nvPr/>
        </p:nvSpPr>
        <p:spPr>
          <a:xfrm>
            <a:off x="795528" y="3611880"/>
            <a:ext cx="3931920" cy="1188720"/>
          </a:xfrm>
          <a:prstGeom prst="rect">
            <a:avLst/>
          </a:prstGeom>
          <a:noFill/>
          <a:ln/>
        </p:spPr>
        <p:txBody>
          <a:bodyPr wrap="square" lIns="0" tIns="0" rIns="0" bIns="0"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音声入力・記録デジタル化</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38テーブルDB構築</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47画面UI実装</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マトリックス研修ゲーム導入</a:t>
            </a:r>
            <a:endParaRPr lang="en-US" sz="1400" dirty="0"/>
          </a:p>
        </p:txBody>
      </p:sp>
      <p:sp>
        <p:nvSpPr>
          <p:cNvPr id="13" name="Shape 11"/>
          <p:cNvSpPr/>
          <p:nvPr/>
        </p:nvSpPr>
        <p:spPr>
          <a:xfrm>
            <a:off x="749808" y="4937760"/>
            <a:ext cx="4023360" cy="1005840"/>
          </a:xfrm>
          <a:prstGeom prst="rect">
            <a:avLst/>
          </a:prstGeom>
          <a:solidFill>
            <a:srgbClr val="F5F7FA"/>
          </a:solidFill>
          <a:ln/>
        </p:spPr>
        <p:txBody>
          <a:bodyPr/>
          <a:lstStyle/>
          <a:p>
            <a:endParaRPr lang="ja-JP" altLang="en-US"/>
          </a:p>
        </p:txBody>
      </p:sp>
      <p:sp>
        <p:nvSpPr>
          <p:cNvPr id="14" name="Text 12"/>
          <p:cNvSpPr/>
          <p:nvPr/>
        </p:nvSpPr>
        <p:spPr>
          <a:xfrm>
            <a:off x="841248" y="4983480"/>
            <a:ext cx="3840480" cy="228600"/>
          </a:xfrm>
          <a:prstGeom prst="rect">
            <a:avLst/>
          </a:prstGeom>
          <a:noFill/>
          <a:ln/>
        </p:spPr>
        <p:txBody>
          <a:bodyPr wrap="square" lIns="0" tIns="0" rIns="0" bIns="0" rtlCol="0" anchor="ctr"/>
          <a:lstStyle/>
          <a:p>
            <a:pPr marL="0" indent="0">
              <a:buNone/>
            </a:pPr>
            <a:r>
              <a:rPr lang="en-US" sz="1300" b="1" dirty="0">
                <a:solidFill>
                  <a:srgbClr val="4A90D9"/>
                </a:solidFill>
                <a:latin typeface="Hiragino Sans W6" pitchFamily="34" charset="0"/>
                <a:ea typeface="Hiragino Sans W6" pitchFamily="34" charset="-122"/>
                <a:cs typeface="Hiragino Sans W6" pitchFamily="34" charset="-120"/>
              </a:rPr>
              <a:t>KPI</a:t>
            </a:r>
            <a:endParaRPr lang="en-US" sz="1300" dirty="0"/>
          </a:p>
        </p:txBody>
      </p:sp>
      <p:sp>
        <p:nvSpPr>
          <p:cNvPr id="15" name="Text 13"/>
          <p:cNvSpPr/>
          <p:nvPr/>
        </p:nvSpPr>
        <p:spPr>
          <a:xfrm>
            <a:off x="841248" y="5212080"/>
            <a:ext cx="3840480" cy="640080"/>
          </a:xfrm>
          <a:prstGeom prst="rect">
            <a:avLst/>
          </a:prstGeom>
          <a:noFill/>
          <a:ln/>
        </p:spPr>
        <p:txBody>
          <a:bodyPr wrap="square" lIns="0" tIns="0" rIns="0" bIns="0"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記録時間80%削減</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紙使用量90%削減</a:t>
            </a:r>
            <a:endParaRPr lang="en-US" sz="1300" dirty="0"/>
          </a:p>
        </p:txBody>
      </p:sp>
      <p:sp>
        <p:nvSpPr>
          <p:cNvPr id="16" name="Text 14"/>
          <p:cNvSpPr/>
          <p:nvPr/>
        </p:nvSpPr>
        <p:spPr>
          <a:xfrm>
            <a:off x="795528" y="6309360"/>
            <a:ext cx="3931920" cy="365760"/>
          </a:xfrm>
          <a:prstGeom prst="rect">
            <a:avLst/>
          </a:prstGeom>
          <a:noFill/>
          <a:ln/>
        </p:spPr>
        <p:txBody>
          <a:bodyPr wrap="square" lIns="0" tIns="0" rIns="0" bIns="0" rtlCol="0" anchor="ctr"/>
          <a:lstStyle/>
          <a:p>
            <a:pPr marL="0" indent="0" algn="ctr">
              <a:buNone/>
            </a:pPr>
            <a:r>
              <a:rPr lang="en-US" sz="1400" b="1" dirty="0">
                <a:solidFill>
                  <a:srgbClr val="4A90D9"/>
                </a:solidFill>
                <a:latin typeface="Hiragino Sans W6" pitchFamily="34" charset="0"/>
                <a:ea typeface="Hiragino Sans W6" pitchFamily="34" charset="-122"/>
                <a:cs typeface="Hiragino Sans W6" pitchFamily="34" charset="-120"/>
              </a:rPr>
              <a:t>22テーブル / 34画面</a:t>
            </a:r>
            <a:endParaRPr lang="en-US" sz="1400" dirty="0"/>
          </a:p>
        </p:txBody>
      </p:sp>
      <p:sp>
        <p:nvSpPr>
          <p:cNvPr id="17" name="Shape 15"/>
          <p:cNvSpPr/>
          <p:nvPr/>
        </p:nvSpPr>
        <p:spPr>
          <a:xfrm>
            <a:off x="5212080" y="2377440"/>
            <a:ext cx="4206240" cy="4572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8" name="Shape 16"/>
          <p:cNvSpPr/>
          <p:nvPr/>
        </p:nvSpPr>
        <p:spPr>
          <a:xfrm>
            <a:off x="5212080" y="2377440"/>
            <a:ext cx="4206240" cy="822960"/>
          </a:xfrm>
          <a:prstGeom prst="rect">
            <a:avLst/>
          </a:prstGeom>
          <a:solidFill>
            <a:srgbClr val="27AE60"/>
          </a:solidFill>
          <a:ln/>
        </p:spPr>
        <p:txBody>
          <a:bodyPr/>
          <a:lstStyle/>
          <a:p>
            <a:endParaRPr lang="ja-JP" altLang="en-US"/>
          </a:p>
        </p:txBody>
      </p:sp>
      <p:sp>
        <p:nvSpPr>
          <p:cNvPr id="19" name="Text 17"/>
          <p:cNvSpPr/>
          <p:nvPr/>
        </p:nvSpPr>
        <p:spPr>
          <a:xfrm>
            <a:off x="5349240" y="2423160"/>
            <a:ext cx="3931920" cy="320040"/>
          </a:xfrm>
          <a:prstGeom prst="rect">
            <a:avLst/>
          </a:prstGeom>
          <a:noFill/>
          <a:ln/>
        </p:spPr>
        <p:txBody>
          <a:bodyPr wrap="square" lIns="0" tIns="0" rIns="0" bIns="0" rtlCol="0" anchor="ctr"/>
          <a:lstStyle/>
          <a:p>
            <a:pPr marL="0" indent="0">
              <a:buNone/>
            </a:pPr>
            <a:r>
              <a:rPr lang="en-US" sz="1500" dirty="0">
                <a:solidFill>
                  <a:srgbClr val="FFFFFF"/>
                </a:solidFill>
                <a:latin typeface="Hiragino Sans W3" pitchFamily="34" charset="0"/>
                <a:ea typeface="Hiragino Sans W3" pitchFamily="34" charset="-122"/>
                <a:cs typeface="Hiragino Sans W3" pitchFamily="34" charset="-120"/>
              </a:rPr>
              <a:t>Phase 2</a:t>
            </a:r>
            <a:endParaRPr lang="en-US" sz="1500" dirty="0"/>
          </a:p>
        </p:txBody>
      </p:sp>
      <p:sp>
        <p:nvSpPr>
          <p:cNvPr id="20" name="Text 18"/>
          <p:cNvSpPr/>
          <p:nvPr/>
        </p:nvSpPr>
        <p:spPr>
          <a:xfrm>
            <a:off x="5349240" y="2697480"/>
            <a:ext cx="2560320" cy="411480"/>
          </a:xfrm>
          <a:prstGeom prst="rect">
            <a:avLst/>
          </a:prstGeom>
          <a:noFill/>
          <a:ln/>
        </p:spPr>
        <p:txBody>
          <a:bodyPr wrap="square" lIns="0" tIns="0" rIns="0" bIns="0" rtlCol="0" anchor="ctr"/>
          <a:lstStyle/>
          <a:p>
            <a:pPr marL="0" indent="0">
              <a:buNone/>
            </a:pPr>
            <a:r>
              <a:rPr lang="en-US" sz="1800" b="1" dirty="0">
                <a:solidFill>
                  <a:srgbClr val="FFFFFF"/>
                </a:solidFill>
                <a:latin typeface="Hiragino Sans W6" pitchFamily="34" charset="0"/>
                <a:ea typeface="Hiragino Sans W6" pitchFamily="34" charset="-122"/>
                <a:cs typeface="Hiragino Sans W6" pitchFamily="34" charset="-120"/>
              </a:rPr>
              <a:t>AI搭載・施設間連携</a:t>
            </a:r>
            <a:endParaRPr lang="en-US" sz="1800" dirty="0"/>
          </a:p>
        </p:txBody>
      </p:sp>
      <p:sp>
        <p:nvSpPr>
          <p:cNvPr id="21" name="Text 19"/>
          <p:cNvSpPr/>
          <p:nvPr/>
        </p:nvSpPr>
        <p:spPr>
          <a:xfrm>
            <a:off x="7772400" y="2697480"/>
            <a:ext cx="1508760" cy="411480"/>
          </a:xfrm>
          <a:prstGeom prst="rect">
            <a:avLst/>
          </a:prstGeom>
          <a:noFill/>
          <a:ln/>
        </p:spPr>
        <p:txBody>
          <a:bodyPr wrap="square" lIns="0" tIns="0" rIns="0" bIns="0" rtlCol="0" anchor="ctr"/>
          <a:lstStyle/>
          <a:p>
            <a:pPr marL="0" indent="0" algn="r">
              <a:buNone/>
            </a:pPr>
            <a:r>
              <a:rPr lang="en-US" sz="1400" dirty="0">
                <a:solidFill>
                  <a:srgbClr val="FFFFFF"/>
                </a:solidFill>
                <a:latin typeface="Hiragino Sans W3" pitchFamily="34" charset="0"/>
                <a:ea typeface="Hiragino Sans W3" pitchFamily="34" charset="-122"/>
                <a:cs typeface="Hiragino Sans W3" pitchFamily="34" charset="-120"/>
              </a:rPr>
              <a:t>Month 7-12</a:t>
            </a:r>
            <a:endParaRPr lang="en-US" sz="1400" dirty="0"/>
          </a:p>
        </p:txBody>
      </p:sp>
      <p:sp>
        <p:nvSpPr>
          <p:cNvPr id="22" name="Text 20"/>
          <p:cNvSpPr/>
          <p:nvPr/>
        </p:nvSpPr>
        <p:spPr>
          <a:xfrm>
            <a:off x="5349240" y="3337560"/>
            <a:ext cx="3931920" cy="274320"/>
          </a:xfrm>
          <a:prstGeom prst="rect">
            <a:avLst/>
          </a:prstGeom>
          <a:noFill/>
          <a:ln/>
        </p:spPr>
        <p:txBody>
          <a:bodyPr wrap="square" lIns="0" tIns="0" rIns="0" bIns="0" rtlCol="0" anchor="ctr"/>
          <a:lstStyle/>
          <a:p>
            <a:pPr marL="0" indent="0">
              <a:buNone/>
            </a:pPr>
            <a:r>
              <a:rPr lang="en-US" sz="1300" b="1" dirty="0">
                <a:solidFill>
                  <a:srgbClr val="746558"/>
                </a:solidFill>
                <a:latin typeface="Hiragino Sans W6" pitchFamily="34" charset="0"/>
                <a:ea typeface="Hiragino Sans W6" pitchFamily="34" charset="-122"/>
                <a:cs typeface="Hiragino Sans W6" pitchFamily="34" charset="-120"/>
              </a:rPr>
              <a:t>主要実装</a:t>
            </a:r>
            <a:endParaRPr lang="en-US" sz="1300" dirty="0"/>
          </a:p>
        </p:txBody>
      </p:sp>
      <p:sp>
        <p:nvSpPr>
          <p:cNvPr id="23" name="Text 21"/>
          <p:cNvSpPr/>
          <p:nvPr/>
        </p:nvSpPr>
        <p:spPr>
          <a:xfrm>
            <a:off x="5349240" y="3611880"/>
            <a:ext cx="3931920" cy="1188720"/>
          </a:xfrm>
          <a:prstGeom prst="rect">
            <a:avLst/>
          </a:prstGeom>
          <a:noFill/>
          <a:ln/>
        </p:spPr>
        <p:txBody>
          <a:bodyPr wrap="square" lIns="0" tIns="0" rIns="0" bIns="0"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AI自動分類エンジン</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ユニバーサルID稼働</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危険パス検知AI</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保護者・利用者ポータル</a:t>
            </a:r>
            <a:endParaRPr lang="en-US" sz="1400" dirty="0"/>
          </a:p>
        </p:txBody>
      </p:sp>
      <p:sp>
        <p:nvSpPr>
          <p:cNvPr id="24" name="Shape 22"/>
          <p:cNvSpPr/>
          <p:nvPr/>
        </p:nvSpPr>
        <p:spPr>
          <a:xfrm>
            <a:off x="5303520" y="4937760"/>
            <a:ext cx="4023360" cy="1005840"/>
          </a:xfrm>
          <a:prstGeom prst="rect">
            <a:avLst/>
          </a:prstGeom>
          <a:solidFill>
            <a:srgbClr val="F5F7FA"/>
          </a:solidFill>
          <a:ln/>
        </p:spPr>
        <p:txBody>
          <a:bodyPr/>
          <a:lstStyle/>
          <a:p>
            <a:endParaRPr lang="ja-JP" altLang="en-US"/>
          </a:p>
        </p:txBody>
      </p:sp>
      <p:sp>
        <p:nvSpPr>
          <p:cNvPr id="25" name="Text 23"/>
          <p:cNvSpPr/>
          <p:nvPr/>
        </p:nvSpPr>
        <p:spPr>
          <a:xfrm>
            <a:off x="5394960" y="4983480"/>
            <a:ext cx="3840480" cy="228600"/>
          </a:xfrm>
          <a:prstGeom prst="rect">
            <a:avLst/>
          </a:prstGeom>
          <a:noFill/>
          <a:ln/>
        </p:spPr>
        <p:txBody>
          <a:bodyPr wrap="square" lIns="0" tIns="0" rIns="0" bIns="0" rtlCol="0" anchor="ctr"/>
          <a:lstStyle/>
          <a:p>
            <a:pPr marL="0" indent="0">
              <a:buNone/>
            </a:pPr>
            <a:r>
              <a:rPr lang="en-US" sz="1300" b="1" dirty="0">
                <a:solidFill>
                  <a:srgbClr val="4A90D9"/>
                </a:solidFill>
                <a:latin typeface="Hiragino Sans W6" pitchFamily="34" charset="0"/>
                <a:ea typeface="Hiragino Sans W6" pitchFamily="34" charset="-122"/>
                <a:cs typeface="Hiragino Sans W6" pitchFamily="34" charset="-120"/>
              </a:rPr>
              <a:t>KPI</a:t>
            </a:r>
            <a:endParaRPr lang="en-US" sz="1300" dirty="0"/>
          </a:p>
        </p:txBody>
      </p:sp>
      <p:sp>
        <p:nvSpPr>
          <p:cNvPr id="26" name="Text 24"/>
          <p:cNvSpPr/>
          <p:nvPr/>
        </p:nvSpPr>
        <p:spPr>
          <a:xfrm>
            <a:off x="5394960" y="5212080"/>
            <a:ext cx="3840480" cy="640080"/>
          </a:xfrm>
          <a:prstGeom prst="rect">
            <a:avLst/>
          </a:prstGeom>
          <a:noFill/>
          <a:ln/>
        </p:spPr>
        <p:txBody>
          <a:bodyPr wrap="square" lIns="0" tIns="0" rIns="0" bIns="0"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支援品質スコア30%向上</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虐待兆候の早期発見</a:t>
            </a:r>
            <a:endParaRPr lang="en-US" sz="1300" dirty="0"/>
          </a:p>
        </p:txBody>
      </p:sp>
      <p:sp>
        <p:nvSpPr>
          <p:cNvPr id="27" name="Text 25"/>
          <p:cNvSpPr/>
          <p:nvPr/>
        </p:nvSpPr>
        <p:spPr>
          <a:xfrm>
            <a:off x="5349240" y="6309360"/>
            <a:ext cx="3931920" cy="365760"/>
          </a:xfrm>
          <a:prstGeom prst="rect">
            <a:avLst/>
          </a:prstGeom>
          <a:noFill/>
          <a:ln/>
        </p:spPr>
        <p:txBody>
          <a:bodyPr wrap="square" lIns="0" tIns="0" rIns="0" bIns="0" rtlCol="0" anchor="ctr"/>
          <a:lstStyle/>
          <a:p>
            <a:pPr marL="0" indent="0" algn="ctr">
              <a:buNone/>
            </a:pPr>
            <a:r>
              <a:rPr lang="en-US" sz="1400" b="1" dirty="0">
                <a:solidFill>
                  <a:srgbClr val="27AE60"/>
                </a:solidFill>
                <a:latin typeface="Hiragino Sans W6" pitchFamily="34" charset="0"/>
                <a:ea typeface="Hiragino Sans W6" pitchFamily="34" charset="-122"/>
                <a:cs typeface="Hiragino Sans W6" pitchFamily="34" charset="-120"/>
              </a:rPr>
              <a:t>35テーブル / 47画面</a:t>
            </a:r>
            <a:endParaRPr lang="en-US" sz="1400" dirty="0"/>
          </a:p>
        </p:txBody>
      </p:sp>
      <p:sp>
        <p:nvSpPr>
          <p:cNvPr id="28" name="Shape 26"/>
          <p:cNvSpPr/>
          <p:nvPr/>
        </p:nvSpPr>
        <p:spPr>
          <a:xfrm>
            <a:off x="9765792" y="2377440"/>
            <a:ext cx="4206240" cy="4572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9" name="Shape 27"/>
          <p:cNvSpPr/>
          <p:nvPr/>
        </p:nvSpPr>
        <p:spPr>
          <a:xfrm>
            <a:off x="9765792" y="2377440"/>
            <a:ext cx="4206240" cy="822960"/>
          </a:xfrm>
          <a:prstGeom prst="rect">
            <a:avLst/>
          </a:prstGeom>
          <a:solidFill>
            <a:srgbClr val="9B59B6"/>
          </a:solidFill>
          <a:ln/>
        </p:spPr>
        <p:txBody>
          <a:bodyPr/>
          <a:lstStyle/>
          <a:p>
            <a:endParaRPr lang="ja-JP" altLang="en-US"/>
          </a:p>
        </p:txBody>
      </p:sp>
      <p:sp>
        <p:nvSpPr>
          <p:cNvPr id="30" name="Text 28"/>
          <p:cNvSpPr/>
          <p:nvPr/>
        </p:nvSpPr>
        <p:spPr>
          <a:xfrm>
            <a:off x="9902952" y="2423160"/>
            <a:ext cx="3931920" cy="320040"/>
          </a:xfrm>
          <a:prstGeom prst="rect">
            <a:avLst/>
          </a:prstGeom>
          <a:noFill/>
          <a:ln/>
        </p:spPr>
        <p:txBody>
          <a:bodyPr wrap="square" lIns="0" tIns="0" rIns="0" bIns="0" rtlCol="0" anchor="ctr"/>
          <a:lstStyle/>
          <a:p>
            <a:pPr marL="0" indent="0">
              <a:buNone/>
            </a:pPr>
            <a:r>
              <a:rPr lang="en-US" sz="1500" dirty="0">
                <a:solidFill>
                  <a:srgbClr val="FFFFFF"/>
                </a:solidFill>
                <a:latin typeface="Hiragino Sans W3" pitchFamily="34" charset="0"/>
                <a:ea typeface="Hiragino Sans W3" pitchFamily="34" charset="-122"/>
                <a:cs typeface="Hiragino Sans W3" pitchFamily="34" charset="-120"/>
              </a:rPr>
              <a:t>Phase 3</a:t>
            </a:r>
            <a:endParaRPr lang="en-US" sz="1500" dirty="0"/>
          </a:p>
        </p:txBody>
      </p:sp>
      <p:sp>
        <p:nvSpPr>
          <p:cNvPr id="31" name="Text 29"/>
          <p:cNvSpPr/>
          <p:nvPr/>
        </p:nvSpPr>
        <p:spPr>
          <a:xfrm>
            <a:off x="9902952" y="2697480"/>
            <a:ext cx="2560320" cy="411480"/>
          </a:xfrm>
          <a:prstGeom prst="rect">
            <a:avLst/>
          </a:prstGeom>
          <a:noFill/>
          <a:ln/>
        </p:spPr>
        <p:txBody>
          <a:bodyPr wrap="square" lIns="0" tIns="0" rIns="0" bIns="0" rtlCol="0" anchor="ctr"/>
          <a:lstStyle/>
          <a:p>
            <a:pPr marL="0" indent="0">
              <a:buNone/>
            </a:pPr>
            <a:r>
              <a:rPr lang="en-US" sz="1800" b="1" dirty="0">
                <a:solidFill>
                  <a:srgbClr val="FFFFFF"/>
                </a:solidFill>
                <a:latin typeface="Hiragino Sans W6" pitchFamily="34" charset="0"/>
                <a:ea typeface="Hiragino Sans W6" pitchFamily="34" charset="-122"/>
                <a:cs typeface="Hiragino Sans W6" pitchFamily="34" charset="-120"/>
              </a:rPr>
              <a:t>全国展開準備</a:t>
            </a:r>
            <a:endParaRPr lang="en-US" sz="1800" dirty="0"/>
          </a:p>
        </p:txBody>
      </p:sp>
      <p:sp>
        <p:nvSpPr>
          <p:cNvPr id="32" name="Text 30"/>
          <p:cNvSpPr/>
          <p:nvPr/>
        </p:nvSpPr>
        <p:spPr>
          <a:xfrm>
            <a:off x="12326112" y="2697480"/>
            <a:ext cx="1508760" cy="411480"/>
          </a:xfrm>
          <a:prstGeom prst="rect">
            <a:avLst/>
          </a:prstGeom>
          <a:noFill/>
          <a:ln/>
        </p:spPr>
        <p:txBody>
          <a:bodyPr wrap="square" lIns="0" tIns="0" rIns="0" bIns="0" rtlCol="0" anchor="ctr"/>
          <a:lstStyle/>
          <a:p>
            <a:pPr marL="0" indent="0" algn="r">
              <a:buNone/>
            </a:pPr>
            <a:r>
              <a:rPr lang="en-US" sz="1400" dirty="0">
                <a:solidFill>
                  <a:srgbClr val="FFFFFF"/>
                </a:solidFill>
                <a:latin typeface="Hiragino Sans W3" pitchFamily="34" charset="0"/>
                <a:ea typeface="Hiragino Sans W3" pitchFamily="34" charset="-122"/>
                <a:cs typeface="Hiragino Sans W3" pitchFamily="34" charset="-120"/>
              </a:rPr>
              <a:t>Month 13-18</a:t>
            </a:r>
            <a:endParaRPr lang="en-US" sz="1400" dirty="0"/>
          </a:p>
        </p:txBody>
      </p:sp>
      <p:sp>
        <p:nvSpPr>
          <p:cNvPr id="33" name="Text 31"/>
          <p:cNvSpPr/>
          <p:nvPr/>
        </p:nvSpPr>
        <p:spPr>
          <a:xfrm>
            <a:off x="9902952" y="3337560"/>
            <a:ext cx="3931920" cy="274320"/>
          </a:xfrm>
          <a:prstGeom prst="rect">
            <a:avLst/>
          </a:prstGeom>
          <a:noFill/>
          <a:ln/>
        </p:spPr>
        <p:txBody>
          <a:bodyPr wrap="square" lIns="0" tIns="0" rIns="0" bIns="0" rtlCol="0" anchor="ctr"/>
          <a:lstStyle/>
          <a:p>
            <a:pPr marL="0" indent="0">
              <a:buNone/>
            </a:pPr>
            <a:r>
              <a:rPr lang="en-US" sz="1300" b="1" dirty="0">
                <a:solidFill>
                  <a:srgbClr val="746558"/>
                </a:solidFill>
                <a:latin typeface="Hiragino Sans W6" pitchFamily="34" charset="0"/>
                <a:ea typeface="Hiragino Sans W6" pitchFamily="34" charset="-122"/>
                <a:cs typeface="Hiragino Sans W6" pitchFamily="34" charset="-120"/>
              </a:rPr>
              <a:t>主要実装</a:t>
            </a:r>
            <a:endParaRPr lang="en-US" sz="1300" dirty="0"/>
          </a:p>
        </p:txBody>
      </p:sp>
      <p:sp>
        <p:nvSpPr>
          <p:cNvPr id="34" name="Text 32"/>
          <p:cNvSpPr/>
          <p:nvPr/>
        </p:nvSpPr>
        <p:spPr>
          <a:xfrm>
            <a:off x="9902952" y="3611880"/>
            <a:ext cx="3931920" cy="1188720"/>
          </a:xfrm>
          <a:prstGeom prst="rect">
            <a:avLst/>
          </a:prstGeom>
          <a:noFill/>
          <a:ln/>
        </p:spPr>
        <p:txBody>
          <a:bodyPr wrap="square" lIns="0" tIns="0" rIns="0" bIns="0"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マルチテナント対応</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行政レポート自動生成</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定型文サジェストAI</a:t>
            </a:r>
            <a:endParaRPr lang="en-US" sz="1400" dirty="0"/>
          </a:p>
          <a:p>
            <a:pPr marL="0" indent="0">
              <a:buNone/>
            </a:pPr>
            <a:r>
              <a:rPr lang="en-US" sz="1400" dirty="0">
                <a:solidFill>
                  <a:srgbClr val="4A4A45"/>
                </a:solidFill>
                <a:latin typeface="Hiragino Sans W3" pitchFamily="34" charset="0"/>
                <a:ea typeface="Hiragino Sans W3" pitchFamily="34" charset="-122"/>
                <a:cs typeface="Hiragino Sans W3" pitchFamily="34" charset="-120"/>
              </a:rPr>
              <a:t>地域連携ネットワーク</a:t>
            </a:r>
            <a:endParaRPr lang="en-US" sz="1400" dirty="0"/>
          </a:p>
        </p:txBody>
      </p:sp>
      <p:sp>
        <p:nvSpPr>
          <p:cNvPr id="35" name="Shape 33"/>
          <p:cNvSpPr/>
          <p:nvPr/>
        </p:nvSpPr>
        <p:spPr>
          <a:xfrm>
            <a:off x="9857232" y="4937760"/>
            <a:ext cx="4023360" cy="1005840"/>
          </a:xfrm>
          <a:prstGeom prst="rect">
            <a:avLst/>
          </a:prstGeom>
          <a:solidFill>
            <a:srgbClr val="F5F7FA"/>
          </a:solidFill>
          <a:ln/>
        </p:spPr>
        <p:txBody>
          <a:bodyPr/>
          <a:lstStyle/>
          <a:p>
            <a:endParaRPr lang="ja-JP" altLang="en-US"/>
          </a:p>
        </p:txBody>
      </p:sp>
      <p:sp>
        <p:nvSpPr>
          <p:cNvPr id="36" name="Text 34"/>
          <p:cNvSpPr/>
          <p:nvPr/>
        </p:nvSpPr>
        <p:spPr>
          <a:xfrm>
            <a:off x="9948672" y="4983480"/>
            <a:ext cx="3840480" cy="228600"/>
          </a:xfrm>
          <a:prstGeom prst="rect">
            <a:avLst/>
          </a:prstGeom>
          <a:noFill/>
          <a:ln/>
        </p:spPr>
        <p:txBody>
          <a:bodyPr wrap="square" lIns="0" tIns="0" rIns="0" bIns="0" rtlCol="0" anchor="ctr"/>
          <a:lstStyle/>
          <a:p>
            <a:pPr marL="0" indent="0">
              <a:buNone/>
            </a:pPr>
            <a:r>
              <a:rPr lang="en-US" sz="1300" b="1" dirty="0">
                <a:solidFill>
                  <a:srgbClr val="4A90D9"/>
                </a:solidFill>
                <a:latin typeface="Hiragino Sans W6" pitchFamily="34" charset="0"/>
                <a:ea typeface="Hiragino Sans W6" pitchFamily="34" charset="-122"/>
                <a:cs typeface="Hiragino Sans W6" pitchFamily="34" charset="-120"/>
              </a:rPr>
              <a:t>KPI</a:t>
            </a:r>
            <a:endParaRPr lang="en-US" sz="1300" dirty="0"/>
          </a:p>
        </p:txBody>
      </p:sp>
      <p:sp>
        <p:nvSpPr>
          <p:cNvPr id="37" name="Text 35"/>
          <p:cNvSpPr/>
          <p:nvPr/>
        </p:nvSpPr>
        <p:spPr>
          <a:xfrm>
            <a:off x="9948672" y="5212080"/>
            <a:ext cx="3840480" cy="640080"/>
          </a:xfrm>
          <a:prstGeom prst="rect">
            <a:avLst/>
          </a:prstGeom>
          <a:noFill/>
          <a:ln/>
        </p:spPr>
        <p:txBody>
          <a:bodyPr wrap="square" lIns="0" tIns="0" rIns="0" bIns="0"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パートナー施設への導入開始</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全国展開・政策提言への活用</a:t>
            </a:r>
            <a:endParaRPr lang="en-US" sz="1300" dirty="0"/>
          </a:p>
        </p:txBody>
      </p:sp>
      <p:sp>
        <p:nvSpPr>
          <p:cNvPr id="38" name="Text 36"/>
          <p:cNvSpPr/>
          <p:nvPr/>
        </p:nvSpPr>
        <p:spPr>
          <a:xfrm>
            <a:off x="9902952" y="6309360"/>
            <a:ext cx="3931920" cy="365760"/>
          </a:xfrm>
          <a:prstGeom prst="rect">
            <a:avLst/>
          </a:prstGeom>
          <a:noFill/>
          <a:ln/>
        </p:spPr>
        <p:txBody>
          <a:bodyPr wrap="square" lIns="0" tIns="0" rIns="0" bIns="0" rtlCol="0" anchor="ctr"/>
          <a:lstStyle/>
          <a:p>
            <a:pPr marL="0" indent="0" algn="ctr">
              <a:buNone/>
            </a:pPr>
            <a:r>
              <a:rPr lang="en-US" sz="1400" b="1" dirty="0">
                <a:solidFill>
                  <a:srgbClr val="9B59B6"/>
                </a:solidFill>
                <a:latin typeface="Hiragino Sans W6" pitchFamily="34" charset="0"/>
                <a:ea typeface="Hiragino Sans W6" pitchFamily="34" charset="-122"/>
                <a:cs typeface="Hiragino Sans W6" pitchFamily="34" charset="-120"/>
              </a:rPr>
              <a:t>38テーブル / 47+画面</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持続可能な運営モデルで継続的な開発投資を実現</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情報開示インセンティブモデル — 開示するほど安くなる仕組み</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事業規模シミュレーション</a:t>
            </a:r>
            <a:endParaRPr lang="en-US" sz="2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13441680" cy="1737360"/>
        </p:xfrm>
        <a:graphic>
          <a:graphicData uri="http://schemas.openxmlformats.org/drawingml/2006/table">
            <a:tbl>
              <a:tblPr/>
              <a:tblGrid>
                <a:gridCol w="41148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411480">
                <a:tc>
                  <a:txBody>
                    <a:bodyP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項目</a:t>
                      </a:r>
                      <a:endParaRPr lang="en-US" sz="14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484237"/>
                    </a:solidFill>
                  </a:tcPr>
                </a:tc>
                <a:tc>
                  <a:txBody>
                    <a:bodyP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1施設</a:t>
                      </a:r>
                      <a:endParaRPr lang="en-US" sz="14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484237"/>
                    </a:solidFill>
                  </a:tcPr>
                </a:tc>
                <a:tc>
                  <a:txBody>
                    <a:bodyP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10施設</a:t>
                      </a:r>
                      <a:endParaRPr lang="en-US" sz="14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484237"/>
                    </a:solidFill>
                  </a:tcPr>
                </a:tc>
                <a:tc>
                  <a:txBody>
                    <a:bodyP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50施設</a:t>
                      </a:r>
                      <a:endParaRPr lang="en-US" sz="14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484237"/>
                    </a:solidFill>
                  </a:tcPr>
                </a:tc>
                <a:tc>
                  <a:txBody>
                    <a:bodyPr/>
                    <a:lstStyle/>
                    <a:p>
                      <a:pPr marL="0" indent="0" algn="ctr">
                        <a:buNone/>
                      </a:pPr>
                      <a:r>
                        <a:rPr lang="en-US" sz="1400" b="1" dirty="0">
                          <a:solidFill>
                            <a:srgbClr val="FFFFFF"/>
                          </a:solidFill>
                          <a:latin typeface="Hiragino Sans W6" pitchFamily="34" charset="0"/>
                          <a:ea typeface="Hiragino Sans W6" pitchFamily="34" charset="-122"/>
                          <a:cs typeface="Hiragino Sans W6" pitchFamily="34" charset="-120"/>
                        </a:rPr>
                        <a:t>100施設</a:t>
                      </a:r>
                      <a:endParaRPr lang="en-US" sz="14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484237"/>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rgbClr val="000000"/>
                          </a:solidFill>
                          <a:latin typeface="Hiragino Sans W3" pitchFamily="34" charset="0"/>
                          <a:ea typeface="Hiragino Sans W3" pitchFamily="34" charset="-122"/>
                          <a:cs typeface="Hiragino Sans W3" pitchFamily="34" charset="-120"/>
                        </a:rPr>
                        <a:t>利用者数（平均30名/施設）</a:t>
                      </a:r>
                      <a:endParaRPr lang="en-US" sz="1400" dirty="0">
                        <a:latin typeface="Hiragino Sans W3" charset="0"/>
                        <a:ea typeface="Hiragino Sans W3" charset="0"/>
                        <a:cs typeface="Hiragino Sans W3"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lgn="r">
                        <a:buNone/>
                      </a:pPr>
                      <a:r>
                        <a:rPr lang="en-US" sz="1400" dirty="0">
                          <a:solidFill>
                            <a:srgbClr val="000000"/>
                          </a:solidFill>
                          <a:latin typeface="Hiragino Sans W3" pitchFamily="34" charset="0"/>
                          <a:ea typeface="Hiragino Sans W3" pitchFamily="34" charset="-122"/>
                          <a:cs typeface="Hiragino Sans W3" pitchFamily="34" charset="-120"/>
                        </a:rPr>
                        <a:t>30名</a:t>
                      </a:r>
                      <a:endParaRPr lang="en-US" sz="1400" dirty="0">
                        <a:latin typeface="Hiragino Sans W3" charset="0"/>
                        <a:ea typeface="Hiragino Sans W3" charset="0"/>
                        <a:cs typeface="Hiragino Sans W3"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lgn="r">
                        <a:buNone/>
                      </a:pPr>
                      <a:r>
                        <a:rPr lang="en-US" sz="1400" dirty="0">
                          <a:solidFill>
                            <a:srgbClr val="000000"/>
                          </a:solidFill>
                          <a:latin typeface="Hiragino Sans W3" pitchFamily="34" charset="0"/>
                          <a:ea typeface="Hiragino Sans W3" pitchFamily="34" charset="-122"/>
                          <a:cs typeface="Hiragino Sans W3" pitchFamily="34" charset="-120"/>
                        </a:rPr>
                        <a:t>300名</a:t>
                      </a:r>
                      <a:endParaRPr lang="en-US" sz="1400" dirty="0">
                        <a:latin typeface="Hiragino Sans W3" charset="0"/>
                        <a:ea typeface="Hiragino Sans W3" charset="0"/>
                        <a:cs typeface="Hiragino Sans W3"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lgn="r">
                        <a:buNone/>
                      </a:pPr>
                      <a:r>
                        <a:rPr lang="en-US" sz="1400" dirty="0">
                          <a:solidFill>
                            <a:srgbClr val="000000"/>
                          </a:solidFill>
                          <a:latin typeface="Hiragino Sans W3" pitchFamily="34" charset="0"/>
                          <a:ea typeface="Hiragino Sans W3" pitchFamily="34" charset="-122"/>
                          <a:cs typeface="Hiragino Sans W3" pitchFamily="34" charset="-120"/>
                        </a:rPr>
                        <a:t>1,500名</a:t>
                      </a:r>
                      <a:endParaRPr lang="en-US" sz="1400" dirty="0">
                        <a:latin typeface="Hiragino Sans W3" charset="0"/>
                        <a:ea typeface="Hiragino Sans W3" charset="0"/>
                        <a:cs typeface="Hiragino Sans W3"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lgn="r">
                        <a:buNone/>
                      </a:pPr>
                      <a:r>
                        <a:rPr lang="en-US" sz="1400" dirty="0">
                          <a:solidFill>
                            <a:srgbClr val="000000"/>
                          </a:solidFill>
                          <a:latin typeface="Hiragino Sans W3" pitchFamily="34" charset="0"/>
                          <a:ea typeface="Hiragino Sans W3" pitchFamily="34" charset="-122"/>
                          <a:cs typeface="Hiragino Sans W3" pitchFamily="34" charset="-120"/>
                        </a:rPr>
                        <a:t>3,000名</a:t>
                      </a:r>
                      <a:endParaRPr lang="en-US" sz="1400" dirty="0">
                        <a:latin typeface="Hiragino Sans W3" charset="0"/>
                        <a:ea typeface="Hiragino Sans W3" charset="0"/>
                        <a:cs typeface="Hiragino Sans W3"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rgbClr val="000000"/>
                          </a:solidFill>
                          <a:latin typeface="Hiragino Sans W3" pitchFamily="34" charset="0"/>
                          <a:ea typeface="Hiragino Sans W3" pitchFamily="34" charset="-122"/>
                          <a:cs typeface="Hiragino Sans W3" pitchFamily="34" charset="-120"/>
                        </a:rPr>
                        <a:t>月額利用料規模（L3平均 ¥350/人/日）</a:t>
                      </a:r>
                      <a:endParaRPr lang="en-US" sz="1400" dirty="0">
                        <a:latin typeface="Hiragino Sans W3" charset="0"/>
                        <a:ea typeface="Hiragino Sans W3" charset="0"/>
                        <a:cs typeface="Hiragino Sans W3"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9F6F0"/>
                    </a:solidFill>
                  </a:tcPr>
                </a:tc>
                <a:tc>
                  <a:txBody>
                    <a:bodyPr/>
                    <a:lstStyle/>
                    <a:p>
                      <a:pPr marL="0" indent="0" algn="r">
                        <a:buNone/>
                      </a:pPr>
                      <a:r>
                        <a:rPr lang="en-US" sz="1400" dirty="0">
                          <a:solidFill>
                            <a:srgbClr val="4A90D9"/>
                          </a:solidFill>
                          <a:latin typeface="Hiragino Sans W6" pitchFamily="34" charset="0"/>
                          <a:ea typeface="Hiragino Sans W6" pitchFamily="34" charset="-122"/>
                          <a:cs typeface="Hiragino Sans W6" pitchFamily="34" charset="-120"/>
                        </a:rPr>
                        <a:t>¥315,000</a:t>
                      </a:r>
                      <a:endParaRPr lang="en-US" sz="14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9F6F0"/>
                    </a:solidFill>
                  </a:tcPr>
                </a:tc>
                <a:tc>
                  <a:txBody>
                    <a:bodyPr/>
                    <a:lstStyle/>
                    <a:p>
                      <a:pPr marL="0" indent="0" algn="r">
                        <a:buNone/>
                      </a:pPr>
                      <a:r>
                        <a:rPr lang="en-US" sz="1400" dirty="0">
                          <a:solidFill>
                            <a:srgbClr val="4A90D9"/>
                          </a:solidFill>
                          <a:latin typeface="Hiragino Sans W6" pitchFamily="34" charset="0"/>
                          <a:ea typeface="Hiragino Sans W6" pitchFamily="34" charset="-122"/>
                          <a:cs typeface="Hiragino Sans W6" pitchFamily="34" charset="-120"/>
                        </a:rPr>
                        <a:t>¥3,150,000</a:t>
                      </a:r>
                      <a:endParaRPr lang="en-US" sz="14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9F6F0"/>
                    </a:solidFill>
                  </a:tcPr>
                </a:tc>
                <a:tc>
                  <a:txBody>
                    <a:bodyPr/>
                    <a:lstStyle/>
                    <a:p>
                      <a:pPr marL="0" indent="0" algn="r">
                        <a:buNone/>
                      </a:pPr>
                      <a:r>
                        <a:rPr lang="en-US" sz="1400" dirty="0">
                          <a:solidFill>
                            <a:srgbClr val="4A90D9"/>
                          </a:solidFill>
                          <a:latin typeface="Hiragino Sans W6" pitchFamily="34" charset="0"/>
                          <a:ea typeface="Hiragino Sans W6" pitchFamily="34" charset="-122"/>
                          <a:cs typeface="Hiragino Sans W6" pitchFamily="34" charset="-120"/>
                        </a:rPr>
                        <a:t>¥15,750,000</a:t>
                      </a:r>
                      <a:endParaRPr lang="en-US" sz="14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9F6F0"/>
                    </a:solidFill>
                  </a:tcPr>
                </a:tc>
                <a:tc>
                  <a:txBody>
                    <a:bodyPr/>
                    <a:lstStyle/>
                    <a:p>
                      <a:pPr marL="0" indent="0" algn="r">
                        <a:buNone/>
                      </a:pPr>
                      <a:r>
                        <a:rPr lang="en-US" sz="1400" dirty="0">
                          <a:solidFill>
                            <a:srgbClr val="4A90D9"/>
                          </a:solidFill>
                          <a:latin typeface="Hiragino Sans W6" pitchFamily="34" charset="0"/>
                          <a:ea typeface="Hiragino Sans W6" pitchFamily="34" charset="-122"/>
                          <a:cs typeface="Hiragino Sans W6" pitchFamily="34" charset="-120"/>
                        </a:rPr>
                        <a:t>¥31,500,000</a:t>
                      </a:r>
                      <a:endParaRPr lang="en-US" sz="14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9F6F0"/>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000000"/>
                          </a:solidFill>
                          <a:latin typeface="Hiragino Sans W6" pitchFamily="34" charset="0"/>
                          <a:ea typeface="Hiragino Sans W6" pitchFamily="34" charset="-122"/>
                          <a:cs typeface="Hiragino Sans W6" pitchFamily="34" charset="-120"/>
                        </a:rPr>
                        <a:t>年間運営規模</a:t>
                      </a:r>
                      <a:endParaRPr lang="en-US" sz="14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lgn="r">
                        <a:buNone/>
                      </a:pPr>
                      <a:r>
                        <a:rPr lang="en-US" sz="1500" b="1" dirty="0">
                          <a:solidFill>
                            <a:srgbClr val="282824"/>
                          </a:solidFill>
                          <a:latin typeface="Hiragino Sans W6" pitchFamily="34" charset="0"/>
                          <a:ea typeface="Hiragino Sans W6" pitchFamily="34" charset="-122"/>
                          <a:cs typeface="Hiragino Sans W6" pitchFamily="34" charset="-120"/>
                        </a:rPr>
                        <a:t>¥3.8M</a:t>
                      </a:r>
                      <a:endParaRPr lang="en-US" sz="15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lgn="r">
                        <a:buNone/>
                      </a:pPr>
                      <a:r>
                        <a:rPr lang="en-US" sz="1500" b="1" dirty="0">
                          <a:solidFill>
                            <a:srgbClr val="282824"/>
                          </a:solidFill>
                          <a:latin typeface="Hiragino Sans W6" pitchFamily="34" charset="0"/>
                          <a:ea typeface="Hiragino Sans W6" pitchFamily="34" charset="-122"/>
                          <a:cs typeface="Hiragino Sans W6" pitchFamily="34" charset="-120"/>
                        </a:rPr>
                        <a:t>¥37.8M</a:t>
                      </a:r>
                      <a:endParaRPr lang="en-US" sz="15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lgn="r">
                        <a:buNone/>
                      </a:pPr>
                      <a:r>
                        <a:rPr lang="en-US" sz="1500" b="1" dirty="0">
                          <a:solidFill>
                            <a:srgbClr val="4A90D9"/>
                          </a:solidFill>
                          <a:latin typeface="Hiragino Sans W6" pitchFamily="34" charset="0"/>
                          <a:ea typeface="Hiragino Sans W6" pitchFamily="34" charset="-122"/>
                          <a:cs typeface="Hiragino Sans W6" pitchFamily="34" charset="-120"/>
                        </a:rPr>
                        <a:t>¥189M</a:t>
                      </a:r>
                      <a:endParaRPr lang="en-US" sz="15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tc>
                  <a:txBody>
                    <a:bodyPr/>
                    <a:lstStyle/>
                    <a:p>
                      <a:pPr marL="0" indent="0" algn="r">
                        <a:buNone/>
                      </a:pPr>
                      <a:r>
                        <a:rPr lang="en-US" sz="1500" b="1" dirty="0">
                          <a:solidFill>
                            <a:srgbClr val="4A90D9"/>
                          </a:solidFill>
                          <a:latin typeface="Hiragino Sans W6" pitchFamily="34" charset="0"/>
                          <a:ea typeface="Hiragino Sans W6" pitchFamily="34" charset="-122"/>
                          <a:cs typeface="Hiragino Sans W6" pitchFamily="34" charset="-120"/>
                        </a:rPr>
                        <a:t>¥378M</a:t>
                      </a:r>
                      <a:endParaRPr lang="en-US" sz="1500" dirty="0">
                        <a:latin typeface="Hiragino Sans W6" charset="0"/>
                        <a:ea typeface="Hiragino Sans W6" charset="0"/>
                        <a:cs typeface="Hiragino Sans W6" charset="0"/>
                      </a:endParaRPr>
                    </a:p>
                  </a:txBody>
                  <a:tcPr marL="101600" marR="101600" marT="50800" marB="50800">
                    <a:lnL w="6350" cap="flat" cmpd="sng" algn="ctr">
                      <a:solidFill>
                        <a:srgbClr val="D0C8BE"/>
                      </a:solidFill>
                      <a:prstDash val="solid"/>
                      <a:round/>
                      <a:headEnd type="none" w="med" len="med"/>
                      <a:tailEnd type="none" w="med" len="med"/>
                    </a:lnL>
                    <a:lnR w="6350" cap="flat" cmpd="sng" algn="ctr">
                      <a:solidFill>
                        <a:srgbClr val="D0C8BE"/>
                      </a:solidFill>
                      <a:prstDash val="solid"/>
                      <a:round/>
                      <a:headEnd type="none" w="med" len="med"/>
                      <a:tailEnd type="none" w="med" len="med"/>
                    </a:lnR>
                    <a:lnT w="6350" cap="flat" cmpd="sng" algn="ctr">
                      <a:solidFill>
                        <a:srgbClr val="D0C8BE"/>
                      </a:solidFill>
                      <a:prstDash val="solid"/>
                      <a:round/>
                      <a:headEnd type="none" w="med" len="med"/>
                      <a:tailEnd type="none" w="med" len="med"/>
                    </a:lnT>
                    <a:lnB w="6350" cap="flat" cmpd="sng" algn="ctr">
                      <a:solidFill>
                        <a:srgbClr val="D0C8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66928" y="4114800"/>
            <a:ext cx="13496544" cy="411480"/>
          </a:xfrm>
          <a:prstGeom prst="rect">
            <a:avLst/>
          </a:prstGeom>
          <a:solidFill>
            <a:srgbClr val="484237"/>
          </a:solidFill>
          <a:ln/>
        </p:spPr>
        <p:txBody>
          <a:bodyPr/>
          <a:lstStyle/>
          <a:p>
            <a:endParaRPr lang="ja-JP" altLang="en-US"/>
          </a:p>
        </p:txBody>
      </p:sp>
      <p:sp>
        <p:nvSpPr>
          <p:cNvPr id="8" name="Text 5"/>
          <p:cNvSpPr/>
          <p:nvPr/>
        </p:nvSpPr>
        <p:spPr>
          <a:xfrm>
            <a:off x="566928" y="4114800"/>
            <a:ext cx="13496544" cy="411480"/>
          </a:xfrm>
          <a:prstGeom prst="rect">
            <a:avLst/>
          </a:prstGeom>
          <a:noFill/>
          <a:ln/>
        </p:spPr>
        <p:txBody>
          <a:bodyPr wrap="square" lIns="457200" tIns="0" rIns="0" bIns="0" rtlCol="0" anchor="ctr"/>
          <a:lstStyle/>
          <a:p>
            <a:pPr marL="0" indent="0" algn="l">
              <a:buNone/>
            </a:pPr>
            <a:r>
              <a:rPr lang="en-US" sz="1600" b="1" dirty="0">
                <a:solidFill>
                  <a:srgbClr val="FFFFFF"/>
                </a:solidFill>
                <a:latin typeface="Hiragino Sans W6" pitchFamily="34" charset="0"/>
                <a:ea typeface="Hiragino Sans W6" pitchFamily="34" charset="-122"/>
                <a:cs typeface="Hiragino Sans W6" pitchFamily="34" charset="-120"/>
              </a:rPr>
              <a:t>JV体制 — 3社の強みを結集</a:t>
            </a:r>
            <a:endParaRPr lang="en-US" sz="1600" dirty="0"/>
          </a:p>
        </p:txBody>
      </p:sp>
      <p:sp>
        <p:nvSpPr>
          <p:cNvPr id="9" name="Shape 6"/>
          <p:cNvSpPr/>
          <p:nvPr/>
        </p:nvSpPr>
        <p:spPr>
          <a:xfrm>
            <a:off x="658368" y="4709160"/>
            <a:ext cx="420624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0" name="Shape 7"/>
          <p:cNvSpPr/>
          <p:nvPr/>
        </p:nvSpPr>
        <p:spPr>
          <a:xfrm>
            <a:off x="658368" y="4709160"/>
            <a:ext cx="4206240" cy="54864"/>
          </a:xfrm>
          <a:prstGeom prst="rect">
            <a:avLst/>
          </a:prstGeom>
          <a:solidFill>
            <a:srgbClr val="F39C12"/>
          </a:solidFill>
          <a:ln/>
        </p:spPr>
        <p:txBody>
          <a:bodyPr/>
          <a:lstStyle/>
          <a:p>
            <a:endParaRPr lang="ja-JP" altLang="en-US"/>
          </a:p>
        </p:txBody>
      </p:sp>
      <p:sp>
        <p:nvSpPr>
          <p:cNvPr id="11" name="Text 8"/>
          <p:cNvSpPr/>
          <p:nvPr/>
        </p:nvSpPr>
        <p:spPr>
          <a:xfrm>
            <a:off x="795528" y="4892040"/>
            <a:ext cx="3931920" cy="411480"/>
          </a:xfrm>
          <a:prstGeom prst="rect">
            <a:avLst/>
          </a:prstGeom>
          <a:noFill/>
          <a:ln/>
        </p:spPr>
        <p:txBody>
          <a:bodyPr wrap="square" lIns="0" tIns="0" rIns="0" bIns="0" rtlCol="0" anchor="ctr"/>
          <a:lstStyle/>
          <a:p>
            <a:pPr marL="0" indent="0" algn="ctr">
              <a:buNone/>
            </a:pPr>
            <a:r>
              <a:rPr lang="en-US" sz="2000" b="1" dirty="0">
                <a:solidFill>
                  <a:srgbClr val="282824"/>
                </a:solidFill>
                <a:latin typeface="Hiragino Sans W6" pitchFamily="34" charset="0"/>
                <a:ea typeface="Hiragino Sans W6" pitchFamily="34" charset="-122"/>
                <a:cs typeface="Hiragino Sans W6" pitchFamily="34" charset="-120"/>
              </a:rPr>
              <a:t>サンライズ</a:t>
            </a:r>
            <a:endParaRPr lang="en-US" sz="2000" dirty="0"/>
          </a:p>
        </p:txBody>
      </p:sp>
      <p:sp>
        <p:nvSpPr>
          <p:cNvPr id="12" name="Text 9"/>
          <p:cNvSpPr/>
          <p:nvPr/>
        </p:nvSpPr>
        <p:spPr>
          <a:xfrm>
            <a:off x="795528" y="5303520"/>
            <a:ext cx="3931920" cy="320040"/>
          </a:xfrm>
          <a:prstGeom prst="rect">
            <a:avLst/>
          </a:prstGeom>
          <a:noFill/>
          <a:ln/>
        </p:spPr>
        <p:txBody>
          <a:bodyPr wrap="square" lIns="0" tIns="0" rIns="0" bIns="0" rtlCol="0" anchor="ctr"/>
          <a:lstStyle/>
          <a:p>
            <a:pPr marL="0" indent="0" algn="ctr">
              <a:buNone/>
            </a:pPr>
            <a:r>
              <a:rPr lang="en-US" sz="1500" b="1" dirty="0">
                <a:solidFill>
                  <a:srgbClr val="F39C12"/>
                </a:solidFill>
                <a:latin typeface="Hiragino Sans W6" pitchFamily="34" charset="0"/>
                <a:ea typeface="Hiragino Sans W6" pitchFamily="34" charset="-122"/>
                <a:cs typeface="Hiragino Sans W6" pitchFamily="34" charset="-120"/>
              </a:rPr>
              <a:t>ドメインエキスパート</a:t>
            </a:r>
            <a:endParaRPr lang="en-US" sz="1500" dirty="0"/>
          </a:p>
        </p:txBody>
      </p:sp>
      <p:sp>
        <p:nvSpPr>
          <p:cNvPr id="13" name="Text 10"/>
          <p:cNvSpPr/>
          <p:nvPr/>
        </p:nvSpPr>
        <p:spPr>
          <a:xfrm>
            <a:off x="795528" y="5715000"/>
            <a:ext cx="3931920" cy="109728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2019年設立。本社:多摩市、事業所:横浜市。</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マトリックス考案。支援哲学の体系化。</a:t>
            </a:r>
            <a:endParaRPr lang="en-US" sz="1400" dirty="0"/>
          </a:p>
        </p:txBody>
      </p:sp>
      <p:sp>
        <p:nvSpPr>
          <p:cNvPr id="14" name="Shape 11"/>
          <p:cNvSpPr/>
          <p:nvPr/>
        </p:nvSpPr>
        <p:spPr>
          <a:xfrm>
            <a:off x="5212080" y="4709160"/>
            <a:ext cx="420624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5" name="Shape 12"/>
          <p:cNvSpPr/>
          <p:nvPr/>
        </p:nvSpPr>
        <p:spPr>
          <a:xfrm>
            <a:off x="5212080" y="4709160"/>
            <a:ext cx="4206240" cy="54864"/>
          </a:xfrm>
          <a:prstGeom prst="rect">
            <a:avLst/>
          </a:prstGeom>
          <a:solidFill>
            <a:srgbClr val="4A90D9"/>
          </a:solidFill>
          <a:ln/>
        </p:spPr>
        <p:txBody>
          <a:bodyPr/>
          <a:lstStyle/>
          <a:p>
            <a:endParaRPr lang="ja-JP" altLang="en-US"/>
          </a:p>
        </p:txBody>
      </p:sp>
      <p:sp>
        <p:nvSpPr>
          <p:cNvPr id="16" name="Text 13"/>
          <p:cNvSpPr/>
          <p:nvPr/>
        </p:nvSpPr>
        <p:spPr>
          <a:xfrm>
            <a:off x="5349240" y="4892040"/>
            <a:ext cx="3931920" cy="411480"/>
          </a:xfrm>
          <a:prstGeom prst="rect">
            <a:avLst/>
          </a:prstGeom>
          <a:noFill/>
          <a:ln/>
        </p:spPr>
        <p:txBody>
          <a:bodyPr wrap="square" lIns="0" tIns="0" rIns="0" bIns="0" rtlCol="0" anchor="ctr"/>
          <a:lstStyle/>
          <a:p>
            <a:pPr marL="0" indent="0" algn="ctr">
              <a:buNone/>
            </a:pPr>
            <a:r>
              <a:rPr lang="en-US" sz="2000" b="1" dirty="0">
                <a:solidFill>
                  <a:srgbClr val="282824"/>
                </a:solidFill>
                <a:latin typeface="Hiragino Sans W6" pitchFamily="34" charset="0"/>
                <a:ea typeface="Hiragino Sans W6" pitchFamily="34" charset="-122"/>
                <a:cs typeface="Hiragino Sans W6" pitchFamily="34" charset="-120"/>
              </a:rPr>
              <a:t>DataBee</a:t>
            </a:r>
            <a:endParaRPr lang="en-US" sz="2000" dirty="0"/>
          </a:p>
        </p:txBody>
      </p:sp>
      <p:sp>
        <p:nvSpPr>
          <p:cNvPr id="17" name="Text 14"/>
          <p:cNvSpPr/>
          <p:nvPr/>
        </p:nvSpPr>
        <p:spPr>
          <a:xfrm>
            <a:off x="5349240" y="5303520"/>
            <a:ext cx="3931920" cy="320040"/>
          </a:xfrm>
          <a:prstGeom prst="rect">
            <a:avLst/>
          </a:prstGeom>
          <a:noFill/>
          <a:ln/>
        </p:spPr>
        <p:txBody>
          <a:bodyPr wrap="square" lIns="0" tIns="0" rIns="0" bIns="0" rtlCol="0" anchor="ctr"/>
          <a:lstStyle/>
          <a:p>
            <a:pPr marL="0" indent="0" algn="ctr">
              <a:buNone/>
            </a:pPr>
            <a:r>
              <a:rPr lang="en-US" sz="1500" b="1" dirty="0">
                <a:solidFill>
                  <a:srgbClr val="4A90D9"/>
                </a:solidFill>
                <a:latin typeface="Hiragino Sans W6" pitchFamily="34" charset="0"/>
                <a:ea typeface="Hiragino Sans W6" pitchFamily="34" charset="-122"/>
                <a:cs typeface="Hiragino Sans W6" pitchFamily="34" charset="-120"/>
              </a:rPr>
              <a:t>システム開発</a:t>
            </a:r>
            <a:endParaRPr lang="en-US" sz="1500" dirty="0"/>
          </a:p>
        </p:txBody>
      </p:sp>
      <p:sp>
        <p:nvSpPr>
          <p:cNvPr id="18" name="Text 15"/>
          <p:cNvSpPr/>
          <p:nvPr/>
        </p:nvSpPr>
        <p:spPr>
          <a:xfrm>
            <a:off x="5349240" y="5715000"/>
            <a:ext cx="3931920" cy="109728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25年のIT実績。</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DB設計・UI開発・基盤構築。</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クラウドインフラ運用。</a:t>
            </a:r>
            <a:endParaRPr lang="en-US" sz="1400" dirty="0"/>
          </a:p>
        </p:txBody>
      </p:sp>
      <p:sp>
        <p:nvSpPr>
          <p:cNvPr id="6" name="Shape 16"/>
          <p:cNvSpPr/>
          <p:nvPr/>
        </p:nvSpPr>
        <p:spPr>
          <a:xfrm>
            <a:off x="9765792" y="4709160"/>
            <a:ext cx="420624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0" name="Shape 17"/>
          <p:cNvSpPr/>
          <p:nvPr/>
        </p:nvSpPr>
        <p:spPr>
          <a:xfrm>
            <a:off x="9765792" y="4709160"/>
            <a:ext cx="4206240" cy="54864"/>
          </a:xfrm>
          <a:prstGeom prst="rect">
            <a:avLst/>
          </a:prstGeom>
          <a:solidFill>
            <a:srgbClr val="27AE60"/>
          </a:solidFill>
          <a:ln/>
        </p:spPr>
        <p:txBody>
          <a:bodyPr/>
          <a:lstStyle/>
          <a:p>
            <a:endParaRPr lang="ja-JP" altLang="en-US"/>
          </a:p>
        </p:txBody>
      </p:sp>
      <p:sp>
        <p:nvSpPr>
          <p:cNvPr id="21" name="Text 18"/>
          <p:cNvSpPr/>
          <p:nvPr/>
        </p:nvSpPr>
        <p:spPr>
          <a:xfrm>
            <a:off x="9902952" y="4892040"/>
            <a:ext cx="3931920" cy="411480"/>
          </a:xfrm>
          <a:prstGeom prst="rect">
            <a:avLst/>
          </a:prstGeom>
          <a:noFill/>
          <a:ln/>
        </p:spPr>
        <p:txBody>
          <a:bodyPr wrap="square" lIns="0" tIns="0" rIns="0" bIns="0" rtlCol="0" anchor="ctr"/>
          <a:lstStyle/>
          <a:p>
            <a:pPr marL="0" indent="0" algn="ctr">
              <a:buNone/>
            </a:pPr>
            <a:r>
              <a:rPr lang="en-US" sz="2000" b="1" dirty="0">
                <a:solidFill>
                  <a:srgbClr val="282824"/>
                </a:solidFill>
                <a:latin typeface="Hiragino Sans W6" pitchFamily="34" charset="0"/>
                <a:ea typeface="Hiragino Sans W6" pitchFamily="34" charset="-122"/>
                <a:cs typeface="Hiragino Sans W6" pitchFamily="34" charset="-120"/>
              </a:rPr>
              <a:t>FDSi</a:t>
            </a:r>
            <a:endParaRPr lang="en-US" sz="2000" dirty="0"/>
          </a:p>
        </p:txBody>
      </p:sp>
      <p:sp>
        <p:nvSpPr>
          <p:cNvPr id="22" name="Text 19"/>
          <p:cNvSpPr/>
          <p:nvPr/>
        </p:nvSpPr>
        <p:spPr>
          <a:xfrm>
            <a:off x="9902952" y="5303520"/>
            <a:ext cx="3931920" cy="320040"/>
          </a:xfrm>
          <a:prstGeom prst="rect">
            <a:avLst/>
          </a:prstGeom>
          <a:noFill/>
          <a:ln/>
        </p:spPr>
        <p:txBody>
          <a:bodyPr wrap="square" lIns="0" tIns="0" rIns="0" bIns="0" rtlCol="0" anchor="ctr"/>
          <a:lstStyle/>
          <a:p>
            <a:pPr marL="0" indent="0" algn="ctr">
              <a:buNone/>
            </a:pPr>
            <a:r>
              <a:rPr lang="en-US" sz="1500" b="1" dirty="0">
                <a:solidFill>
                  <a:srgbClr val="27AE60"/>
                </a:solidFill>
                <a:latin typeface="Hiragino Sans W6" pitchFamily="34" charset="0"/>
                <a:ea typeface="Hiragino Sans W6" pitchFamily="34" charset="-122"/>
                <a:cs typeface="Hiragino Sans W6" pitchFamily="34" charset="-120"/>
              </a:rPr>
              <a:t>AI・分析エンジン</a:t>
            </a:r>
            <a:endParaRPr lang="en-US" sz="1500" dirty="0"/>
          </a:p>
        </p:txBody>
      </p:sp>
      <p:sp>
        <p:nvSpPr>
          <p:cNvPr id="23" name="Text 20"/>
          <p:cNvSpPr/>
          <p:nvPr/>
        </p:nvSpPr>
        <p:spPr>
          <a:xfrm>
            <a:off x="9902952" y="5715000"/>
            <a:ext cx="3931920" cy="1097280"/>
          </a:xfrm>
          <a:prstGeom prst="rect">
            <a:avLst/>
          </a:prstGeom>
          <a:noFill/>
          <a:ln/>
        </p:spPr>
        <p:txBody>
          <a:bodyPr wrap="square" lIns="0" tIns="0" rIns="0" bIns="0" rtlCol="0" anchor="ctr"/>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AI/ML専門。</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自然言語処理・予測モデル。</a:t>
            </a:r>
            <a:endParaRPr lang="en-US" sz="1400" dirty="0"/>
          </a:p>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データサイエンス。</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藤井議員の政策ビジョン × Universal Care OS</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「テクノロジーは全ての人々の可能性を広げ、選択肢を増やす」— 藤井あきら</a:t>
            </a:r>
            <a:endParaRPr lang="en-US" sz="1800" dirty="0"/>
          </a:p>
        </p:txBody>
      </p:sp>
      <p:sp>
        <p:nvSpPr>
          <p:cNvPr id="4" name="Shape 2"/>
          <p:cNvSpPr/>
          <p:nvPr/>
        </p:nvSpPr>
        <p:spPr>
          <a:xfrm>
            <a:off x="475488" y="1536192"/>
            <a:ext cx="13679424" cy="502920"/>
          </a:xfrm>
          <a:prstGeom prst="rect">
            <a:avLst/>
          </a:prstGeom>
          <a:solidFill>
            <a:srgbClr val="4A90D9"/>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1600" dirty="0">
                <a:solidFill>
                  <a:srgbClr val="FFFFFF"/>
                </a:solidFill>
                <a:latin typeface="Hiragino Sans W6" pitchFamily="34" charset="0"/>
                <a:ea typeface="Hiragino Sans W6" pitchFamily="34" charset="-122"/>
                <a:cs typeface="Hiragino Sans W6" pitchFamily="34" charset="-120"/>
              </a:rPr>
              <a:t>藤井議員が掲げる4つの政策すべてに、CareOSは直結しています</a:t>
            </a:r>
            <a:endParaRPr lang="en-US" sz="1600" dirty="0"/>
          </a:p>
        </p:txBody>
      </p:sp>
      <p:sp>
        <p:nvSpPr>
          <p:cNvPr id="6" name="Shape 4"/>
          <p:cNvSpPr/>
          <p:nvPr/>
        </p:nvSpPr>
        <p:spPr>
          <a:xfrm>
            <a:off x="749808" y="2377440"/>
            <a:ext cx="315468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749808" y="2377440"/>
            <a:ext cx="3154680" cy="54864"/>
          </a:xfrm>
          <a:prstGeom prst="rect">
            <a:avLst/>
          </a:prstGeom>
          <a:solidFill>
            <a:srgbClr val="4A90D9"/>
          </a:solidFill>
          <a:ln/>
        </p:spPr>
        <p:txBody>
          <a:bodyPr/>
          <a:lstStyle/>
          <a:p>
            <a:endParaRPr lang="ja-JP" altLang="en-US"/>
          </a:p>
        </p:txBody>
      </p:sp>
      <p:sp>
        <p:nvSpPr>
          <p:cNvPr id="8" name="Text 6"/>
          <p:cNvSpPr/>
          <p:nvPr/>
        </p:nvSpPr>
        <p:spPr>
          <a:xfrm>
            <a:off x="841248" y="2514600"/>
            <a:ext cx="2971800" cy="228600"/>
          </a:xfrm>
          <a:prstGeom prst="rect">
            <a:avLst/>
          </a:prstGeom>
          <a:noFill/>
          <a:ln/>
        </p:spPr>
        <p:txBody>
          <a:bodyPr wrap="square" lIns="0" tIns="0" rIns="0" bIns="0" rtlCol="0" anchor="ctr"/>
          <a:lstStyle/>
          <a:p>
            <a:pPr marL="0" indent="0" algn="ctr">
              <a:buNone/>
            </a:pPr>
            <a:r>
              <a:rPr lang="en-US" sz="1200" dirty="0">
                <a:solidFill>
                  <a:srgbClr val="746558"/>
                </a:solidFill>
                <a:latin typeface="Hiragino Sans W3" pitchFamily="34" charset="0"/>
                <a:ea typeface="Hiragino Sans W3" pitchFamily="34" charset="-122"/>
                <a:cs typeface="Hiragino Sans W3" pitchFamily="34" charset="-120"/>
              </a:rPr>
              <a:t>藤井議員の政策</a:t>
            </a:r>
            <a:endParaRPr lang="en-US" sz="1200" dirty="0"/>
          </a:p>
        </p:txBody>
      </p:sp>
      <p:sp>
        <p:nvSpPr>
          <p:cNvPr id="9" name="Text 7"/>
          <p:cNvSpPr/>
          <p:nvPr/>
        </p:nvSpPr>
        <p:spPr>
          <a:xfrm>
            <a:off x="841248" y="2743200"/>
            <a:ext cx="2971800"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デジタル化推進</a:t>
            </a:r>
            <a:endParaRPr lang="en-US" sz="1600" dirty="0"/>
          </a:p>
        </p:txBody>
      </p:sp>
      <p:sp>
        <p:nvSpPr>
          <p:cNvPr id="10" name="Text 8"/>
          <p:cNvSpPr/>
          <p:nvPr/>
        </p:nvSpPr>
        <p:spPr>
          <a:xfrm>
            <a:off x="841248" y="3154680"/>
            <a:ext cx="2971800" cy="822960"/>
          </a:xfrm>
          <a:prstGeom prst="rect">
            <a:avLst/>
          </a:prstGeom>
          <a:noFill/>
          <a:ln/>
        </p:spPr>
        <p:txBody>
          <a:bodyPr wrap="square" lIns="0" tIns="0" rIns="0" bIns="0" rtlCol="0" anchor="ctr"/>
          <a:lstStyle/>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「デジタル都議」として</a:t>
            </a:r>
            <a:endParaRPr lang="en-US" sz="1300" dirty="0"/>
          </a:p>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福祉・医療のICT活用を推進</a:t>
            </a:r>
            <a:endParaRPr lang="en-US" sz="1300" dirty="0"/>
          </a:p>
        </p:txBody>
      </p:sp>
      <p:sp>
        <p:nvSpPr>
          <p:cNvPr id="11" name="Text 9"/>
          <p:cNvSpPr/>
          <p:nvPr/>
        </p:nvSpPr>
        <p:spPr>
          <a:xfrm>
            <a:off x="2144268" y="4251960"/>
            <a:ext cx="365760" cy="320040"/>
          </a:xfrm>
          <a:prstGeom prst="rect">
            <a:avLst/>
          </a:prstGeom>
          <a:noFill/>
          <a:ln/>
        </p:spPr>
        <p:txBody>
          <a:bodyPr wrap="square" lIns="0" tIns="0" rIns="0" bIns="0" rtlCol="0" anchor="ctr"/>
          <a:lstStyle/>
          <a:p>
            <a:pPr marL="0" indent="0" algn="ctr">
              <a:buNone/>
            </a:pPr>
            <a:r>
              <a:rPr lang="en-US" sz="2000" dirty="0">
                <a:solidFill>
                  <a:srgbClr val="4A90D9"/>
                </a:solidFill>
                <a:latin typeface="Hiragino Sans W6" pitchFamily="34" charset="0"/>
                <a:ea typeface="Hiragino Sans W6" pitchFamily="34" charset="-122"/>
                <a:cs typeface="Hiragino Sans W6" pitchFamily="34" charset="-120"/>
              </a:rPr>
              <a:t>↓</a:t>
            </a:r>
            <a:endParaRPr lang="en-US" sz="2000" dirty="0"/>
          </a:p>
        </p:txBody>
      </p:sp>
      <p:sp>
        <p:nvSpPr>
          <p:cNvPr id="12" name="Shape 10"/>
          <p:cNvSpPr/>
          <p:nvPr/>
        </p:nvSpPr>
        <p:spPr>
          <a:xfrm>
            <a:off x="749808" y="4572000"/>
            <a:ext cx="3154680" cy="1828800"/>
          </a:xfrm>
          <a:prstGeom prst="rect">
            <a:avLst/>
          </a:prstGeom>
          <a:solidFill>
            <a:srgbClr val="4A90D9"/>
          </a:solidFill>
          <a:ln/>
          <a:effectLst>
            <a:outerShdw blurRad="76200" dist="25400" dir="8100000" algn="bl" rotWithShape="0">
              <a:srgbClr val="000000">
                <a:alpha val="12000"/>
              </a:srgbClr>
            </a:outerShdw>
          </a:effectLst>
        </p:spPr>
        <p:txBody>
          <a:bodyPr/>
          <a:lstStyle/>
          <a:p>
            <a:endParaRPr lang="ja-JP" altLang="en-US"/>
          </a:p>
        </p:txBody>
      </p:sp>
      <p:sp>
        <p:nvSpPr>
          <p:cNvPr id="13" name="Text 11"/>
          <p:cNvSpPr/>
          <p:nvPr/>
        </p:nvSpPr>
        <p:spPr>
          <a:xfrm>
            <a:off x="841248" y="4663440"/>
            <a:ext cx="297180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Hiragino Sans W3" pitchFamily="34" charset="0"/>
                <a:ea typeface="Hiragino Sans W3" pitchFamily="34" charset="-122"/>
                <a:cs typeface="Hiragino Sans W3" pitchFamily="34" charset="-120"/>
              </a:rPr>
              <a:t>CareOS が実現</a:t>
            </a:r>
            <a:endParaRPr lang="en-US" sz="1200" dirty="0"/>
          </a:p>
        </p:txBody>
      </p:sp>
      <p:sp>
        <p:nvSpPr>
          <p:cNvPr id="14" name="Text 12"/>
          <p:cNvSpPr/>
          <p:nvPr/>
        </p:nvSpPr>
        <p:spPr>
          <a:xfrm>
            <a:off x="841248" y="4892040"/>
            <a:ext cx="2971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Hiragino Sans W6" pitchFamily="34" charset="0"/>
                <a:ea typeface="Hiragino Sans W6" pitchFamily="34" charset="-122"/>
                <a:cs typeface="Hiragino Sans W6" pitchFamily="34" charset="-120"/>
              </a:rPr>
              <a:t>Universal Care OS</a:t>
            </a:r>
            <a:endParaRPr lang="en-US" sz="1600" dirty="0"/>
          </a:p>
        </p:txBody>
      </p:sp>
      <p:sp>
        <p:nvSpPr>
          <p:cNvPr id="15" name="Text 13"/>
          <p:cNvSpPr/>
          <p:nvPr/>
        </p:nvSpPr>
        <p:spPr>
          <a:xfrm>
            <a:off x="841248" y="5303520"/>
            <a:ext cx="2971800" cy="822960"/>
          </a:xfrm>
          <a:prstGeom prst="rect">
            <a:avLst/>
          </a:prstGeom>
          <a:noFill/>
          <a:ln/>
        </p:spPr>
        <p:txBody>
          <a:bodyPr wrap="square" lIns="0" tIns="0" rIns="0" bIns="0" rtlCol="0" anchor="ctr"/>
          <a:lstStyle/>
          <a:p>
            <a:pPr marL="0" indent="0" algn="ctr">
              <a:buNone/>
            </a:pPr>
            <a:r>
              <a:rPr lang="en-US" sz="1300" dirty="0">
                <a:solidFill>
                  <a:srgbClr val="FFFFFF"/>
                </a:solidFill>
                <a:latin typeface="Hiragino Sans W3" pitchFamily="34" charset="0"/>
                <a:ea typeface="Hiragino Sans W3" pitchFamily="34" charset="-122"/>
                <a:cs typeface="Hiragino Sans W3" pitchFamily="34" charset="-120"/>
              </a:rPr>
              <a:t>紙記録を音声入力＋AIで</a:t>
            </a:r>
            <a:endParaRPr lang="en-US" sz="1300" dirty="0"/>
          </a:p>
          <a:p>
            <a:pPr marL="0" indent="0" algn="ctr">
              <a:buNone/>
            </a:pPr>
            <a:r>
              <a:rPr lang="en-US" sz="1300" dirty="0">
                <a:solidFill>
                  <a:srgbClr val="FFFFFF"/>
                </a:solidFill>
                <a:latin typeface="Hiragino Sans W3" pitchFamily="34" charset="0"/>
                <a:ea typeface="Hiragino Sans W3" pitchFamily="34" charset="-122"/>
                <a:cs typeface="Hiragino Sans W3" pitchFamily="34" charset="-120"/>
              </a:rPr>
              <a:t>デジタル化。福祉DXの先駆</a:t>
            </a:r>
            <a:endParaRPr lang="en-US" sz="1300" dirty="0"/>
          </a:p>
        </p:txBody>
      </p:sp>
      <p:sp>
        <p:nvSpPr>
          <p:cNvPr id="16" name="Shape 14"/>
          <p:cNvSpPr/>
          <p:nvPr/>
        </p:nvSpPr>
        <p:spPr>
          <a:xfrm>
            <a:off x="4178808" y="2377440"/>
            <a:ext cx="315468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7" name="Shape 15"/>
          <p:cNvSpPr/>
          <p:nvPr/>
        </p:nvSpPr>
        <p:spPr>
          <a:xfrm>
            <a:off x="4178808" y="2377440"/>
            <a:ext cx="3154680" cy="54864"/>
          </a:xfrm>
          <a:prstGeom prst="rect">
            <a:avLst/>
          </a:prstGeom>
          <a:solidFill>
            <a:srgbClr val="27AE60"/>
          </a:solidFill>
          <a:ln/>
        </p:spPr>
        <p:txBody>
          <a:bodyPr/>
          <a:lstStyle/>
          <a:p>
            <a:endParaRPr lang="ja-JP" altLang="en-US"/>
          </a:p>
        </p:txBody>
      </p:sp>
      <p:sp>
        <p:nvSpPr>
          <p:cNvPr id="18" name="Text 16"/>
          <p:cNvSpPr/>
          <p:nvPr/>
        </p:nvSpPr>
        <p:spPr>
          <a:xfrm>
            <a:off x="4270248" y="2514600"/>
            <a:ext cx="2971800" cy="228600"/>
          </a:xfrm>
          <a:prstGeom prst="rect">
            <a:avLst/>
          </a:prstGeom>
          <a:noFill/>
          <a:ln/>
        </p:spPr>
        <p:txBody>
          <a:bodyPr wrap="square" lIns="0" tIns="0" rIns="0" bIns="0" rtlCol="0" anchor="ctr"/>
          <a:lstStyle/>
          <a:p>
            <a:pPr marL="0" indent="0" algn="ctr">
              <a:buNone/>
            </a:pPr>
            <a:r>
              <a:rPr lang="en-US" sz="1200" dirty="0">
                <a:solidFill>
                  <a:srgbClr val="746558"/>
                </a:solidFill>
                <a:latin typeface="Hiragino Sans W3" pitchFamily="34" charset="0"/>
                <a:ea typeface="Hiragino Sans W3" pitchFamily="34" charset="-122"/>
                <a:cs typeface="Hiragino Sans W3" pitchFamily="34" charset="-120"/>
              </a:rPr>
              <a:t>藤井議員の政策</a:t>
            </a:r>
            <a:endParaRPr lang="en-US" sz="1200" dirty="0"/>
          </a:p>
        </p:txBody>
      </p:sp>
      <p:sp>
        <p:nvSpPr>
          <p:cNvPr id="19" name="Text 17"/>
          <p:cNvSpPr/>
          <p:nvPr/>
        </p:nvSpPr>
        <p:spPr>
          <a:xfrm>
            <a:off x="4270248" y="2743200"/>
            <a:ext cx="2971800"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誰もが輝く多様性</a:t>
            </a:r>
            <a:endParaRPr lang="en-US" sz="1600" dirty="0"/>
          </a:p>
        </p:txBody>
      </p:sp>
      <p:sp>
        <p:nvSpPr>
          <p:cNvPr id="20" name="Text 18"/>
          <p:cNvSpPr/>
          <p:nvPr/>
        </p:nvSpPr>
        <p:spPr>
          <a:xfrm>
            <a:off x="4270248" y="3154680"/>
            <a:ext cx="2971800" cy="822960"/>
          </a:xfrm>
          <a:prstGeom prst="rect">
            <a:avLst/>
          </a:prstGeom>
          <a:noFill/>
          <a:ln/>
        </p:spPr>
        <p:txBody>
          <a:bodyPr wrap="square" lIns="0" tIns="0" rIns="0" bIns="0" rtlCol="0" anchor="ctr"/>
          <a:lstStyle/>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「障害を尊重し、誰もが</a:t>
            </a:r>
            <a:endParaRPr lang="en-US" sz="1300" dirty="0"/>
          </a:p>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活躍できる社会」の実現</a:t>
            </a:r>
            <a:endParaRPr lang="en-US" sz="1300" dirty="0"/>
          </a:p>
        </p:txBody>
      </p:sp>
      <p:sp>
        <p:nvSpPr>
          <p:cNvPr id="21" name="Text 19"/>
          <p:cNvSpPr/>
          <p:nvPr/>
        </p:nvSpPr>
        <p:spPr>
          <a:xfrm>
            <a:off x="5573268" y="4251960"/>
            <a:ext cx="365760" cy="320040"/>
          </a:xfrm>
          <a:prstGeom prst="rect">
            <a:avLst/>
          </a:prstGeom>
          <a:noFill/>
          <a:ln/>
        </p:spPr>
        <p:txBody>
          <a:bodyPr wrap="square" lIns="0" tIns="0" rIns="0" bIns="0" rtlCol="0" anchor="ctr"/>
          <a:lstStyle/>
          <a:p>
            <a:pPr marL="0" indent="0" algn="ctr">
              <a:buNone/>
            </a:pPr>
            <a:r>
              <a:rPr lang="en-US" sz="2000" dirty="0">
                <a:solidFill>
                  <a:srgbClr val="27AE60"/>
                </a:solidFill>
                <a:latin typeface="Hiragino Sans W6" pitchFamily="34" charset="0"/>
                <a:ea typeface="Hiragino Sans W6" pitchFamily="34" charset="-122"/>
                <a:cs typeface="Hiragino Sans W6" pitchFamily="34" charset="-120"/>
              </a:rPr>
              <a:t>↓</a:t>
            </a:r>
            <a:endParaRPr lang="en-US" sz="2000" dirty="0"/>
          </a:p>
        </p:txBody>
      </p:sp>
      <p:sp>
        <p:nvSpPr>
          <p:cNvPr id="22" name="Shape 20"/>
          <p:cNvSpPr/>
          <p:nvPr/>
        </p:nvSpPr>
        <p:spPr>
          <a:xfrm>
            <a:off x="4178808" y="4572000"/>
            <a:ext cx="3154680" cy="1828800"/>
          </a:xfrm>
          <a:prstGeom prst="rect">
            <a:avLst/>
          </a:prstGeom>
          <a:solidFill>
            <a:srgbClr val="27AE60"/>
          </a:solidFill>
          <a:ln/>
          <a:effectLst>
            <a:outerShdw blurRad="76200" dist="25400" dir="8100000" algn="bl" rotWithShape="0">
              <a:srgbClr val="000000">
                <a:alpha val="12000"/>
              </a:srgbClr>
            </a:outerShdw>
          </a:effectLst>
        </p:spPr>
        <p:txBody>
          <a:bodyPr/>
          <a:lstStyle/>
          <a:p>
            <a:endParaRPr lang="ja-JP" altLang="en-US"/>
          </a:p>
        </p:txBody>
      </p:sp>
      <p:sp>
        <p:nvSpPr>
          <p:cNvPr id="23" name="Text 21"/>
          <p:cNvSpPr/>
          <p:nvPr/>
        </p:nvSpPr>
        <p:spPr>
          <a:xfrm>
            <a:off x="4270248" y="4663440"/>
            <a:ext cx="297180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Hiragino Sans W3" pitchFamily="34" charset="0"/>
                <a:ea typeface="Hiragino Sans W3" pitchFamily="34" charset="-122"/>
                <a:cs typeface="Hiragino Sans W3" pitchFamily="34" charset="-120"/>
              </a:rPr>
              <a:t>CareOS が実現</a:t>
            </a:r>
            <a:endParaRPr lang="en-US" sz="1200" dirty="0"/>
          </a:p>
        </p:txBody>
      </p:sp>
      <p:sp>
        <p:nvSpPr>
          <p:cNvPr id="24" name="Text 22"/>
          <p:cNvSpPr/>
          <p:nvPr/>
        </p:nvSpPr>
        <p:spPr>
          <a:xfrm>
            <a:off x="4270248" y="4892040"/>
            <a:ext cx="2971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Hiragino Sans W6" pitchFamily="34" charset="0"/>
                <a:ea typeface="Hiragino Sans W6" pitchFamily="34" charset="-122"/>
                <a:cs typeface="Hiragino Sans W6" pitchFamily="34" charset="-120"/>
              </a:rPr>
              <a:t>自立支援マトリックス</a:t>
            </a:r>
            <a:endParaRPr lang="en-US" sz="1600" dirty="0"/>
          </a:p>
        </p:txBody>
      </p:sp>
      <p:sp>
        <p:nvSpPr>
          <p:cNvPr id="25" name="Text 23"/>
          <p:cNvSpPr/>
          <p:nvPr/>
        </p:nvSpPr>
        <p:spPr>
          <a:xfrm>
            <a:off x="4270248" y="5303520"/>
            <a:ext cx="2971800" cy="822960"/>
          </a:xfrm>
          <a:prstGeom prst="rect">
            <a:avLst/>
          </a:prstGeom>
          <a:noFill/>
          <a:ln/>
        </p:spPr>
        <p:txBody>
          <a:bodyPr wrap="square" lIns="0" tIns="0" rIns="0" bIns="0" rtlCol="0" anchor="ctr"/>
          <a:lstStyle/>
          <a:p>
            <a:pPr marL="0" indent="0" algn="ctr">
              <a:buNone/>
            </a:pPr>
            <a:r>
              <a:rPr lang="en-US" sz="1300" dirty="0">
                <a:solidFill>
                  <a:srgbClr val="FFFFFF"/>
                </a:solidFill>
                <a:latin typeface="Hiragino Sans W3" pitchFamily="34" charset="0"/>
                <a:ea typeface="Hiragino Sans W3" pitchFamily="34" charset="-122"/>
                <a:cs typeface="Hiragino Sans W3" pitchFamily="34" charset="-120"/>
              </a:rPr>
              <a:t>13段階×4層で利用者の</a:t>
            </a:r>
            <a:endParaRPr lang="en-US" sz="1300" dirty="0"/>
          </a:p>
          <a:p>
            <a:pPr marL="0" indent="0" algn="ctr">
              <a:buNone/>
            </a:pPr>
            <a:r>
              <a:rPr lang="en-US" sz="1300" dirty="0">
                <a:solidFill>
                  <a:srgbClr val="FFFFFF"/>
                </a:solidFill>
                <a:latin typeface="Hiragino Sans W3" pitchFamily="34" charset="0"/>
                <a:ea typeface="Hiragino Sans W3" pitchFamily="34" charset="-122"/>
                <a:cs typeface="Hiragino Sans W3" pitchFamily="34" charset="-120"/>
              </a:rPr>
              <a:t>「できる」を科学的に可視化</a:t>
            </a:r>
            <a:endParaRPr lang="en-US" sz="1300" dirty="0"/>
          </a:p>
        </p:txBody>
      </p:sp>
      <p:sp>
        <p:nvSpPr>
          <p:cNvPr id="26" name="Shape 24"/>
          <p:cNvSpPr/>
          <p:nvPr/>
        </p:nvSpPr>
        <p:spPr>
          <a:xfrm>
            <a:off x="7607808" y="2377440"/>
            <a:ext cx="315468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7" name="Shape 25"/>
          <p:cNvSpPr/>
          <p:nvPr/>
        </p:nvSpPr>
        <p:spPr>
          <a:xfrm>
            <a:off x="7607808" y="2377440"/>
            <a:ext cx="3154680" cy="54864"/>
          </a:xfrm>
          <a:prstGeom prst="rect">
            <a:avLst/>
          </a:prstGeom>
          <a:solidFill>
            <a:srgbClr val="F39C12"/>
          </a:solidFill>
          <a:ln/>
        </p:spPr>
        <p:txBody>
          <a:bodyPr/>
          <a:lstStyle/>
          <a:p>
            <a:endParaRPr lang="ja-JP" altLang="en-US"/>
          </a:p>
        </p:txBody>
      </p:sp>
      <p:sp>
        <p:nvSpPr>
          <p:cNvPr id="28" name="Text 26"/>
          <p:cNvSpPr/>
          <p:nvPr/>
        </p:nvSpPr>
        <p:spPr>
          <a:xfrm>
            <a:off x="7699248" y="2514600"/>
            <a:ext cx="2971800" cy="228600"/>
          </a:xfrm>
          <a:prstGeom prst="rect">
            <a:avLst/>
          </a:prstGeom>
          <a:noFill/>
          <a:ln/>
        </p:spPr>
        <p:txBody>
          <a:bodyPr wrap="square" lIns="0" tIns="0" rIns="0" bIns="0" rtlCol="0" anchor="ctr"/>
          <a:lstStyle/>
          <a:p>
            <a:pPr marL="0" indent="0" algn="ctr">
              <a:buNone/>
            </a:pPr>
            <a:r>
              <a:rPr lang="en-US" sz="1200" dirty="0">
                <a:solidFill>
                  <a:srgbClr val="746558"/>
                </a:solidFill>
                <a:latin typeface="Hiragino Sans W3" pitchFamily="34" charset="0"/>
                <a:ea typeface="Hiragino Sans W3" pitchFamily="34" charset="-122"/>
                <a:cs typeface="Hiragino Sans W3" pitchFamily="34" charset="-120"/>
              </a:rPr>
              <a:t>藤井議員の政策</a:t>
            </a:r>
            <a:endParaRPr lang="en-US" sz="1200" dirty="0"/>
          </a:p>
        </p:txBody>
      </p:sp>
      <p:sp>
        <p:nvSpPr>
          <p:cNvPr id="29" name="Text 27"/>
          <p:cNvSpPr/>
          <p:nvPr/>
        </p:nvSpPr>
        <p:spPr>
          <a:xfrm>
            <a:off x="7699248" y="2743200"/>
            <a:ext cx="2971800"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介護人材の確保</a:t>
            </a:r>
            <a:endParaRPr lang="en-US" sz="1600" dirty="0"/>
          </a:p>
        </p:txBody>
      </p:sp>
      <p:sp>
        <p:nvSpPr>
          <p:cNvPr id="30" name="Text 28"/>
          <p:cNvSpPr/>
          <p:nvPr/>
        </p:nvSpPr>
        <p:spPr>
          <a:xfrm>
            <a:off x="7699248" y="3154680"/>
            <a:ext cx="2971800" cy="822960"/>
          </a:xfrm>
          <a:prstGeom prst="rect">
            <a:avLst/>
          </a:prstGeom>
          <a:noFill/>
          <a:ln/>
        </p:spPr>
        <p:txBody>
          <a:bodyPr wrap="square" lIns="0" tIns="0" rIns="0" bIns="0" rtlCol="0" anchor="ctr"/>
          <a:lstStyle/>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人材の賃金アップ・処遇改善</a:t>
            </a:r>
            <a:endParaRPr lang="en-US" sz="1300" dirty="0"/>
          </a:p>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介護と仕事の両立支援</a:t>
            </a:r>
            <a:endParaRPr lang="en-US" sz="1300" dirty="0"/>
          </a:p>
        </p:txBody>
      </p:sp>
      <p:sp>
        <p:nvSpPr>
          <p:cNvPr id="31" name="Text 29"/>
          <p:cNvSpPr/>
          <p:nvPr/>
        </p:nvSpPr>
        <p:spPr>
          <a:xfrm>
            <a:off x="9002268" y="4251960"/>
            <a:ext cx="365760" cy="320040"/>
          </a:xfrm>
          <a:prstGeom prst="rect">
            <a:avLst/>
          </a:prstGeom>
          <a:noFill/>
          <a:ln/>
        </p:spPr>
        <p:txBody>
          <a:bodyPr wrap="square" lIns="0" tIns="0" rIns="0" bIns="0" rtlCol="0" anchor="ctr"/>
          <a:lstStyle/>
          <a:p>
            <a:pPr marL="0" indent="0" algn="ctr">
              <a:buNone/>
            </a:pPr>
            <a:r>
              <a:rPr lang="en-US" sz="2000" dirty="0">
                <a:solidFill>
                  <a:srgbClr val="F39C12"/>
                </a:solidFill>
                <a:latin typeface="Hiragino Sans W6" pitchFamily="34" charset="0"/>
                <a:ea typeface="Hiragino Sans W6" pitchFamily="34" charset="-122"/>
                <a:cs typeface="Hiragino Sans W6" pitchFamily="34" charset="-120"/>
              </a:rPr>
              <a:t>↓</a:t>
            </a:r>
            <a:endParaRPr lang="en-US" sz="2000" dirty="0"/>
          </a:p>
        </p:txBody>
      </p:sp>
      <p:sp>
        <p:nvSpPr>
          <p:cNvPr id="32" name="Shape 30"/>
          <p:cNvSpPr/>
          <p:nvPr/>
        </p:nvSpPr>
        <p:spPr>
          <a:xfrm>
            <a:off x="7607808" y="4572000"/>
            <a:ext cx="3154680" cy="1828800"/>
          </a:xfrm>
          <a:prstGeom prst="rect">
            <a:avLst/>
          </a:prstGeom>
          <a:solidFill>
            <a:srgbClr val="F39C12"/>
          </a:solidFill>
          <a:ln/>
          <a:effectLst>
            <a:outerShdw blurRad="76200" dist="25400" dir="8100000" algn="bl" rotWithShape="0">
              <a:srgbClr val="000000">
                <a:alpha val="12000"/>
              </a:srgbClr>
            </a:outerShdw>
          </a:effectLst>
        </p:spPr>
        <p:txBody>
          <a:bodyPr/>
          <a:lstStyle/>
          <a:p>
            <a:endParaRPr lang="ja-JP" altLang="en-US"/>
          </a:p>
        </p:txBody>
      </p:sp>
      <p:sp>
        <p:nvSpPr>
          <p:cNvPr id="33" name="Text 31"/>
          <p:cNvSpPr/>
          <p:nvPr/>
        </p:nvSpPr>
        <p:spPr>
          <a:xfrm>
            <a:off x="7699248" y="4663440"/>
            <a:ext cx="297180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Hiragino Sans W3" pitchFamily="34" charset="0"/>
                <a:ea typeface="Hiragino Sans W3" pitchFamily="34" charset="-122"/>
                <a:cs typeface="Hiragino Sans W3" pitchFamily="34" charset="-120"/>
              </a:rPr>
              <a:t>CareOS が実現</a:t>
            </a:r>
            <a:endParaRPr lang="en-US" sz="1200" dirty="0"/>
          </a:p>
        </p:txBody>
      </p:sp>
      <p:sp>
        <p:nvSpPr>
          <p:cNvPr id="34" name="Text 32"/>
          <p:cNvSpPr/>
          <p:nvPr/>
        </p:nvSpPr>
        <p:spPr>
          <a:xfrm>
            <a:off x="7699248" y="4892040"/>
            <a:ext cx="2971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Hiragino Sans W6" pitchFamily="34" charset="0"/>
                <a:ea typeface="Hiragino Sans W6" pitchFamily="34" charset="-122"/>
                <a:cs typeface="Hiragino Sans W6" pitchFamily="34" charset="-120"/>
              </a:rPr>
              <a:t>記録負担80%削減</a:t>
            </a:r>
            <a:endParaRPr lang="en-US" sz="1600" dirty="0"/>
          </a:p>
        </p:txBody>
      </p:sp>
      <p:sp>
        <p:nvSpPr>
          <p:cNvPr id="35" name="Text 33"/>
          <p:cNvSpPr/>
          <p:nvPr/>
        </p:nvSpPr>
        <p:spPr>
          <a:xfrm>
            <a:off x="7699248" y="5303520"/>
            <a:ext cx="2971800" cy="822960"/>
          </a:xfrm>
          <a:prstGeom prst="rect">
            <a:avLst/>
          </a:prstGeom>
          <a:noFill/>
          <a:ln/>
        </p:spPr>
        <p:txBody>
          <a:bodyPr wrap="square" lIns="0" tIns="0" rIns="0" bIns="0" rtlCol="0" anchor="ctr"/>
          <a:lstStyle/>
          <a:p>
            <a:pPr marL="0" indent="0" algn="ctr">
              <a:buNone/>
            </a:pPr>
            <a:r>
              <a:rPr lang="en-US" sz="1300" dirty="0">
                <a:solidFill>
                  <a:srgbClr val="FFFFFF"/>
                </a:solidFill>
                <a:latin typeface="Hiragino Sans W3" pitchFamily="34" charset="0"/>
                <a:ea typeface="Hiragino Sans W3" pitchFamily="34" charset="-122"/>
                <a:cs typeface="Hiragino Sans W3" pitchFamily="34" charset="-120"/>
              </a:rPr>
              <a:t>直接ケア時間を1日60分増</a:t>
            </a:r>
            <a:endParaRPr lang="en-US" sz="1300" dirty="0"/>
          </a:p>
          <a:p>
            <a:pPr marL="0" indent="0" algn="ctr">
              <a:buNone/>
            </a:pPr>
            <a:r>
              <a:rPr lang="en-US" sz="1300" dirty="0">
                <a:solidFill>
                  <a:srgbClr val="FFFFFF"/>
                </a:solidFill>
                <a:latin typeface="Hiragino Sans W3" pitchFamily="34" charset="0"/>
                <a:ea typeface="Hiragino Sans W3" pitchFamily="34" charset="-122"/>
                <a:cs typeface="Hiragino Sans W3" pitchFamily="34" charset="-120"/>
              </a:rPr>
              <a:t>職員の働きがいと定着率向上</a:t>
            </a:r>
            <a:endParaRPr lang="en-US" sz="1300" dirty="0"/>
          </a:p>
        </p:txBody>
      </p:sp>
      <p:sp>
        <p:nvSpPr>
          <p:cNvPr id="36" name="Shape 34"/>
          <p:cNvSpPr/>
          <p:nvPr/>
        </p:nvSpPr>
        <p:spPr>
          <a:xfrm>
            <a:off x="11036808" y="2377440"/>
            <a:ext cx="315468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37" name="Shape 35"/>
          <p:cNvSpPr/>
          <p:nvPr/>
        </p:nvSpPr>
        <p:spPr>
          <a:xfrm>
            <a:off x="11036808" y="2377440"/>
            <a:ext cx="3154680" cy="54864"/>
          </a:xfrm>
          <a:prstGeom prst="rect">
            <a:avLst/>
          </a:prstGeom>
          <a:solidFill>
            <a:srgbClr val="9B59B6"/>
          </a:solidFill>
          <a:ln/>
        </p:spPr>
        <p:txBody>
          <a:bodyPr/>
          <a:lstStyle/>
          <a:p>
            <a:endParaRPr lang="ja-JP" altLang="en-US"/>
          </a:p>
        </p:txBody>
      </p:sp>
      <p:sp>
        <p:nvSpPr>
          <p:cNvPr id="38" name="Text 36"/>
          <p:cNvSpPr/>
          <p:nvPr/>
        </p:nvSpPr>
        <p:spPr>
          <a:xfrm>
            <a:off x="11128248" y="2514600"/>
            <a:ext cx="2971800" cy="228600"/>
          </a:xfrm>
          <a:prstGeom prst="rect">
            <a:avLst/>
          </a:prstGeom>
          <a:noFill/>
          <a:ln/>
        </p:spPr>
        <p:txBody>
          <a:bodyPr wrap="square" lIns="0" tIns="0" rIns="0" bIns="0" rtlCol="0" anchor="ctr"/>
          <a:lstStyle/>
          <a:p>
            <a:pPr marL="0" indent="0" algn="ctr">
              <a:buNone/>
            </a:pPr>
            <a:r>
              <a:rPr lang="en-US" sz="1200" dirty="0">
                <a:solidFill>
                  <a:srgbClr val="746558"/>
                </a:solidFill>
                <a:latin typeface="Hiragino Sans W3" pitchFamily="34" charset="0"/>
                <a:ea typeface="Hiragino Sans W3" pitchFamily="34" charset="-122"/>
                <a:cs typeface="Hiragino Sans W3" pitchFamily="34" charset="-120"/>
              </a:rPr>
              <a:t>藤井議員の政策</a:t>
            </a:r>
            <a:endParaRPr lang="en-US" sz="1200" dirty="0"/>
          </a:p>
        </p:txBody>
      </p:sp>
      <p:sp>
        <p:nvSpPr>
          <p:cNvPr id="39" name="Text 37"/>
          <p:cNvSpPr/>
          <p:nvPr/>
        </p:nvSpPr>
        <p:spPr>
          <a:xfrm>
            <a:off x="11128248" y="2743200"/>
            <a:ext cx="2971800" cy="365760"/>
          </a:xfrm>
          <a:prstGeom prst="rect">
            <a:avLst/>
          </a:prstGeom>
          <a:noFill/>
          <a:ln/>
        </p:spPr>
        <p:txBody>
          <a:bodyPr wrap="square" lIns="0" tIns="0" rIns="0" bIns="0" rtlCol="0" anchor="ctr"/>
          <a:lstStyle/>
          <a:p>
            <a:pPr marL="0" indent="0" algn="ctr">
              <a:buNone/>
            </a:pPr>
            <a:r>
              <a:rPr lang="en-US" sz="1600" b="1" dirty="0">
                <a:solidFill>
                  <a:srgbClr val="282824"/>
                </a:solidFill>
                <a:latin typeface="Hiragino Sans W6" pitchFamily="34" charset="0"/>
                <a:ea typeface="Hiragino Sans W6" pitchFamily="34" charset="-122"/>
                <a:cs typeface="Hiragino Sans W6" pitchFamily="34" charset="-120"/>
              </a:rPr>
              <a:t>AI・ロボット活用</a:t>
            </a:r>
            <a:endParaRPr lang="en-US" sz="1600" dirty="0"/>
          </a:p>
        </p:txBody>
      </p:sp>
      <p:sp>
        <p:nvSpPr>
          <p:cNvPr id="40" name="Text 38"/>
          <p:cNvSpPr/>
          <p:nvPr/>
        </p:nvSpPr>
        <p:spPr>
          <a:xfrm>
            <a:off x="11128248" y="3154680"/>
            <a:ext cx="2971800" cy="822960"/>
          </a:xfrm>
          <a:prstGeom prst="rect">
            <a:avLst/>
          </a:prstGeom>
          <a:noFill/>
          <a:ln/>
        </p:spPr>
        <p:txBody>
          <a:bodyPr wrap="square" lIns="0" tIns="0" rIns="0" bIns="0" rtlCol="0" anchor="ctr"/>
          <a:lstStyle/>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「医療・介護分野での</a:t>
            </a:r>
            <a:endParaRPr lang="en-US" sz="1300" dirty="0"/>
          </a:p>
          <a:p>
            <a:pPr marL="0" indent="0" algn="ctr">
              <a:buNone/>
            </a:pPr>
            <a:r>
              <a:rPr lang="en-US" sz="1300" dirty="0">
                <a:solidFill>
                  <a:srgbClr val="4A4A45"/>
                </a:solidFill>
                <a:latin typeface="Hiragino Sans W3" pitchFamily="34" charset="0"/>
                <a:ea typeface="Hiragino Sans W3" pitchFamily="34" charset="-122"/>
                <a:cs typeface="Hiragino Sans W3" pitchFamily="34" charset="-120"/>
              </a:rPr>
              <a:t>AI・補助機器の活用」を提唱</a:t>
            </a:r>
            <a:endParaRPr lang="en-US" sz="1300" dirty="0"/>
          </a:p>
        </p:txBody>
      </p:sp>
      <p:sp>
        <p:nvSpPr>
          <p:cNvPr id="41" name="Text 39"/>
          <p:cNvSpPr/>
          <p:nvPr/>
        </p:nvSpPr>
        <p:spPr>
          <a:xfrm>
            <a:off x="12431268" y="4251960"/>
            <a:ext cx="365760" cy="320040"/>
          </a:xfrm>
          <a:prstGeom prst="rect">
            <a:avLst/>
          </a:prstGeom>
          <a:noFill/>
          <a:ln/>
        </p:spPr>
        <p:txBody>
          <a:bodyPr wrap="square" lIns="0" tIns="0" rIns="0" bIns="0" rtlCol="0" anchor="ctr"/>
          <a:lstStyle/>
          <a:p>
            <a:pPr marL="0" indent="0" algn="ctr">
              <a:buNone/>
            </a:pPr>
            <a:r>
              <a:rPr lang="en-US" sz="2000" dirty="0">
                <a:solidFill>
                  <a:srgbClr val="9B59B6"/>
                </a:solidFill>
                <a:latin typeface="Hiragino Sans W6" pitchFamily="34" charset="0"/>
                <a:ea typeface="Hiragino Sans W6" pitchFamily="34" charset="-122"/>
                <a:cs typeface="Hiragino Sans W6" pitchFamily="34" charset="-120"/>
              </a:rPr>
              <a:t>↓</a:t>
            </a:r>
            <a:endParaRPr lang="en-US" sz="2000" dirty="0"/>
          </a:p>
        </p:txBody>
      </p:sp>
      <p:sp>
        <p:nvSpPr>
          <p:cNvPr id="42" name="Shape 40"/>
          <p:cNvSpPr/>
          <p:nvPr/>
        </p:nvSpPr>
        <p:spPr>
          <a:xfrm>
            <a:off x="11036808" y="4572000"/>
            <a:ext cx="3154680" cy="1828800"/>
          </a:xfrm>
          <a:prstGeom prst="rect">
            <a:avLst/>
          </a:prstGeom>
          <a:solidFill>
            <a:srgbClr val="9B59B6"/>
          </a:solidFill>
          <a:ln/>
          <a:effectLst>
            <a:outerShdw blurRad="76200" dist="25400" dir="8100000" algn="bl" rotWithShape="0">
              <a:srgbClr val="000000">
                <a:alpha val="12000"/>
              </a:srgbClr>
            </a:outerShdw>
          </a:effectLst>
        </p:spPr>
        <p:txBody>
          <a:bodyPr/>
          <a:lstStyle/>
          <a:p>
            <a:endParaRPr lang="ja-JP" altLang="en-US"/>
          </a:p>
        </p:txBody>
      </p:sp>
      <p:sp>
        <p:nvSpPr>
          <p:cNvPr id="43" name="Text 41"/>
          <p:cNvSpPr/>
          <p:nvPr/>
        </p:nvSpPr>
        <p:spPr>
          <a:xfrm>
            <a:off x="11128248" y="4663440"/>
            <a:ext cx="2971800" cy="228600"/>
          </a:xfrm>
          <a:prstGeom prst="rect">
            <a:avLst/>
          </a:prstGeom>
          <a:noFill/>
          <a:ln/>
        </p:spPr>
        <p:txBody>
          <a:bodyPr wrap="square" lIns="0" tIns="0" rIns="0" bIns="0" rtlCol="0" anchor="ctr"/>
          <a:lstStyle/>
          <a:p>
            <a:pPr marL="0" indent="0" algn="ctr">
              <a:buNone/>
            </a:pPr>
            <a:r>
              <a:rPr lang="en-US" sz="1200" dirty="0">
                <a:solidFill>
                  <a:srgbClr val="FFFFFF"/>
                </a:solidFill>
                <a:latin typeface="Hiragino Sans W3" pitchFamily="34" charset="0"/>
                <a:ea typeface="Hiragino Sans W3" pitchFamily="34" charset="-122"/>
                <a:cs typeface="Hiragino Sans W3" pitchFamily="34" charset="-120"/>
              </a:rPr>
              <a:t>CareOS が実現</a:t>
            </a:r>
            <a:endParaRPr lang="en-US" sz="1200" dirty="0"/>
          </a:p>
        </p:txBody>
      </p:sp>
      <p:sp>
        <p:nvSpPr>
          <p:cNvPr id="44" name="Text 42"/>
          <p:cNvSpPr/>
          <p:nvPr/>
        </p:nvSpPr>
        <p:spPr>
          <a:xfrm>
            <a:off x="11128248" y="4892040"/>
            <a:ext cx="29718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Hiragino Sans W6" pitchFamily="34" charset="0"/>
                <a:ea typeface="Hiragino Sans W6" pitchFamily="34" charset="-122"/>
                <a:cs typeface="Hiragino Sans W6" pitchFamily="34" charset="-120"/>
              </a:rPr>
              <a:t>危険パスAI検知</a:t>
            </a:r>
            <a:endParaRPr lang="en-US" sz="1600" dirty="0"/>
          </a:p>
        </p:txBody>
      </p:sp>
      <p:sp>
        <p:nvSpPr>
          <p:cNvPr id="45" name="Text 43"/>
          <p:cNvSpPr/>
          <p:nvPr/>
        </p:nvSpPr>
        <p:spPr>
          <a:xfrm>
            <a:off x="11128248" y="5303520"/>
            <a:ext cx="2971800" cy="822960"/>
          </a:xfrm>
          <a:prstGeom prst="rect">
            <a:avLst/>
          </a:prstGeom>
          <a:noFill/>
          <a:ln/>
        </p:spPr>
        <p:txBody>
          <a:bodyPr wrap="square" lIns="0" tIns="0" rIns="0" bIns="0" rtlCol="0" anchor="ctr"/>
          <a:lstStyle/>
          <a:p>
            <a:pPr marL="0" indent="0" algn="ctr">
              <a:buNone/>
            </a:pPr>
            <a:r>
              <a:rPr lang="en-US" sz="1300" dirty="0">
                <a:solidFill>
                  <a:srgbClr val="FFFFFF"/>
                </a:solidFill>
                <a:latin typeface="Hiragino Sans W3" pitchFamily="34" charset="0"/>
                <a:ea typeface="Hiragino Sans W3" pitchFamily="34" charset="-122"/>
                <a:cs typeface="Hiragino Sans W3" pitchFamily="34" charset="-120"/>
              </a:rPr>
              <a:t>虐待の芽を早期検知し</a:t>
            </a:r>
            <a:endParaRPr lang="en-US" sz="1300" dirty="0"/>
          </a:p>
          <a:p>
            <a:pPr marL="0" indent="0" algn="ctr">
              <a:buNone/>
            </a:pPr>
            <a:r>
              <a:rPr lang="en-US" sz="1300" dirty="0">
                <a:solidFill>
                  <a:srgbClr val="FFFFFF"/>
                </a:solidFill>
                <a:latin typeface="Hiragino Sans W3" pitchFamily="34" charset="0"/>
                <a:ea typeface="Hiragino Sans W3" pitchFamily="34" charset="-122"/>
                <a:cs typeface="Hiragino Sans W3" pitchFamily="34" charset="-120"/>
              </a:rPr>
              <a:t>3つの危険ループを自動警告</a:t>
            </a:r>
            <a:endParaRPr lang="en-US" sz="1300" dirty="0"/>
          </a:p>
        </p:txBody>
      </p:sp>
      <p:sp>
        <p:nvSpPr>
          <p:cNvPr id="46" name="Text 44"/>
          <p:cNvSpPr/>
          <p:nvPr/>
        </p:nvSpPr>
        <p:spPr>
          <a:xfrm>
            <a:off x="475488" y="7132320"/>
            <a:ext cx="13679424" cy="365760"/>
          </a:xfrm>
          <a:prstGeom prst="rect">
            <a:avLst/>
          </a:prstGeom>
          <a:noFill/>
          <a:ln/>
        </p:spPr>
        <p:txBody>
          <a:bodyPr wrap="square" lIns="0" tIns="0" rIns="0" bIns="0" rtlCol="0" anchor="ctr"/>
          <a:lstStyle/>
          <a:p>
            <a:pPr marL="0" indent="0" algn="ctr">
              <a:buNone/>
            </a:pPr>
            <a:r>
              <a:rPr lang="en-US" sz="1500" b="1" dirty="0">
                <a:solidFill>
                  <a:srgbClr val="282824"/>
                </a:solidFill>
                <a:latin typeface="Hiragino Sans W6" pitchFamily="34" charset="0"/>
                <a:ea typeface="Hiragino Sans W6" pitchFamily="34" charset="-122"/>
                <a:cs typeface="Hiragino Sans W6" pitchFamily="34" charset="-120"/>
              </a:rPr>
              <a:t>「デジタル都議」の実績として、知的障害者福祉のDXを全国に届けるプロジェクトです。</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E8DD"/>
        </a:solidFill>
        <a:effectLst/>
      </p:bgPr>
    </p:bg>
    <p:spTree>
      <p:nvGrpSpPr>
        <p:cNvPr id="1" name=""/>
        <p:cNvGrpSpPr/>
        <p:nvPr/>
      </p:nvGrpSpPr>
      <p:grpSpPr>
        <a:xfrm>
          <a:off x="0" y="0"/>
          <a:ext cx="0" cy="0"/>
          <a:chOff x="0" y="0"/>
          <a:chExt cx="0" cy="0"/>
        </a:xfrm>
      </p:grpSpPr>
      <p:sp>
        <p:nvSpPr>
          <p:cNvPr id="2" name="Text 0"/>
          <p:cNvSpPr/>
          <p:nvPr/>
        </p:nvSpPr>
        <p:spPr>
          <a:xfrm>
            <a:off x="475488" y="256032"/>
            <a:ext cx="13258800" cy="640080"/>
          </a:xfrm>
          <a:prstGeom prst="rect">
            <a:avLst/>
          </a:prstGeom>
          <a:noFill/>
          <a:ln/>
        </p:spPr>
        <p:txBody>
          <a:bodyPr wrap="square" lIns="0" tIns="0" rIns="0" bIns="0" rtlCol="0" anchor="ctr"/>
          <a:lstStyle/>
          <a:p>
            <a:pPr marL="0" indent="0" algn="l">
              <a:buNone/>
            </a:pPr>
            <a:r>
              <a:rPr lang="en-US" sz="3400" b="1" dirty="0">
                <a:solidFill>
                  <a:srgbClr val="282824"/>
                </a:solidFill>
                <a:latin typeface="Hiragino Sans W6" pitchFamily="34" charset="0"/>
                <a:ea typeface="Hiragino Sans W6" pitchFamily="34" charset="-122"/>
                <a:cs typeface="Hiragino Sans W6" pitchFamily="34" charset="-120"/>
              </a:rPr>
              <a:t>助成金・補助金獲得へのご協力のお願い</a:t>
            </a:r>
            <a:endParaRPr lang="en-US" sz="3400" dirty="0"/>
          </a:p>
        </p:txBody>
      </p:sp>
      <p:sp>
        <p:nvSpPr>
          <p:cNvPr id="3" name="Text 1"/>
          <p:cNvSpPr/>
          <p:nvPr/>
        </p:nvSpPr>
        <p:spPr>
          <a:xfrm>
            <a:off x="475488" y="987552"/>
            <a:ext cx="12344400" cy="411480"/>
          </a:xfrm>
          <a:prstGeom prst="rect">
            <a:avLst/>
          </a:prstGeom>
          <a:noFill/>
          <a:ln/>
        </p:spPr>
        <p:txBody>
          <a:bodyPr wrap="square" lIns="0" tIns="0" rIns="0" bIns="0" rtlCol="0" anchor="ctr"/>
          <a:lstStyle/>
          <a:p>
            <a:pPr marL="0" indent="0" algn="l">
              <a:buNone/>
            </a:pPr>
            <a:r>
              <a:rPr lang="en-US" sz="1800" dirty="0">
                <a:solidFill>
                  <a:srgbClr val="746558"/>
                </a:solidFill>
                <a:latin typeface="Hiragino Sans W3" pitchFamily="34" charset="0"/>
                <a:ea typeface="Hiragino Sans W3" pitchFamily="34" charset="-122"/>
                <a:cs typeface="Hiragino Sans W3" pitchFamily="34" charset="-120"/>
              </a:rPr>
              <a:t>福祉DX推進の実証事業として — 議員のお力添えをいただきたい場面</a:t>
            </a:r>
            <a:endParaRPr lang="en-US" sz="1800" dirty="0"/>
          </a:p>
        </p:txBody>
      </p:sp>
      <p:sp>
        <p:nvSpPr>
          <p:cNvPr id="4" name="Shape 2"/>
          <p:cNvSpPr/>
          <p:nvPr/>
        </p:nvSpPr>
        <p:spPr>
          <a:xfrm>
            <a:off x="475488" y="1536192"/>
            <a:ext cx="13679424" cy="502920"/>
          </a:xfrm>
          <a:prstGeom prst="rect">
            <a:avLst/>
          </a:prstGeom>
          <a:solidFill>
            <a:srgbClr val="484237"/>
          </a:solidFill>
          <a:ln/>
        </p:spPr>
        <p:txBody>
          <a:bodyPr/>
          <a:lstStyle/>
          <a:p>
            <a:endParaRPr lang="ja-JP" altLang="en-US"/>
          </a:p>
        </p:txBody>
      </p:sp>
      <p:sp>
        <p:nvSpPr>
          <p:cNvPr id="5" name="Text 3"/>
          <p:cNvSpPr/>
          <p:nvPr/>
        </p:nvSpPr>
        <p:spPr>
          <a:xfrm>
            <a:off x="475488" y="1536192"/>
            <a:ext cx="13679424" cy="502920"/>
          </a:xfrm>
          <a:prstGeom prst="rect">
            <a:avLst/>
          </a:prstGeom>
          <a:noFill/>
          <a:ln/>
        </p:spPr>
        <p:txBody>
          <a:bodyPr wrap="square" lIns="457200" tIns="0" rIns="0" bIns="0" rtlCol="0" anchor="ctr"/>
          <a:lstStyle/>
          <a:p>
            <a:pPr marL="0" indent="0" algn="l">
              <a:buNone/>
            </a:pPr>
            <a:r>
              <a:rPr lang="en-US" sz="2000" dirty="0">
                <a:solidFill>
                  <a:srgbClr val="FFFFFF"/>
                </a:solidFill>
                <a:latin typeface="Hiragino Sans W6" pitchFamily="34" charset="0"/>
                <a:ea typeface="Hiragino Sans W6" pitchFamily="34" charset="-122"/>
                <a:cs typeface="Hiragino Sans W6" pitchFamily="34" charset="-120"/>
              </a:rPr>
              <a:t>福祉DX推進に活用可能な公的支援制度</a:t>
            </a:r>
            <a:endParaRPr lang="en-US" sz="2000" dirty="0"/>
          </a:p>
        </p:txBody>
      </p:sp>
      <p:sp>
        <p:nvSpPr>
          <p:cNvPr id="6" name="Shape 4"/>
          <p:cNvSpPr/>
          <p:nvPr/>
        </p:nvSpPr>
        <p:spPr>
          <a:xfrm>
            <a:off x="566928" y="2331720"/>
            <a:ext cx="13496544" cy="1325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7" name="Shape 5"/>
          <p:cNvSpPr/>
          <p:nvPr/>
        </p:nvSpPr>
        <p:spPr>
          <a:xfrm>
            <a:off x="566928" y="2331720"/>
            <a:ext cx="73152" cy="1325880"/>
          </a:xfrm>
          <a:prstGeom prst="rect">
            <a:avLst/>
          </a:prstGeom>
          <a:solidFill>
            <a:srgbClr val="4A90D9"/>
          </a:solidFill>
          <a:ln/>
        </p:spPr>
        <p:txBody>
          <a:bodyPr/>
          <a:lstStyle/>
          <a:p>
            <a:endParaRPr lang="ja-JP" altLang="en-US"/>
          </a:p>
        </p:txBody>
      </p:sp>
      <p:sp>
        <p:nvSpPr>
          <p:cNvPr id="8" name="Shape 6"/>
          <p:cNvSpPr/>
          <p:nvPr/>
        </p:nvSpPr>
        <p:spPr>
          <a:xfrm>
            <a:off x="841248" y="2468880"/>
            <a:ext cx="457200" cy="457200"/>
          </a:xfrm>
          <a:prstGeom prst="ellipse">
            <a:avLst/>
          </a:prstGeom>
          <a:solidFill>
            <a:srgbClr val="4A90D9"/>
          </a:solidFill>
          <a:ln/>
        </p:spPr>
        <p:txBody>
          <a:bodyPr/>
          <a:lstStyle/>
          <a:p>
            <a:endParaRPr lang="ja-JP" altLang="en-US"/>
          </a:p>
        </p:txBody>
      </p:sp>
      <p:sp>
        <p:nvSpPr>
          <p:cNvPr id="9" name="Text 7"/>
          <p:cNvSpPr/>
          <p:nvPr/>
        </p:nvSpPr>
        <p:spPr>
          <a:xfrm>
            <a:off x="841248" y="2468880"/>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Hiragino Sans W6" pitchFamily="34" charset="0"/>
                <a:ea typeface="Hiragino Sans W6" pitchFamily="34" charset="-122"/>
                <a:cs typeface="Hiragino Sans W6" pitchFamily="34" charset="-120"/>
              </a:rPr>
              <a:t>1</a:t>
            </a:r>
            <a:endParaRPr lang="en-US" sz="2200" dirty="0"/>
          </a:p>
        </p:txBody>
      </p:sp>
      <p:sp>
        <p:nvSpPr>
          <p:cNvPr id="10" name="Text 8"/>
          <p:cNvSpPr/>
          <p:nvPr/>
        </p:nvSpPr>
        <p:spPr>
          <a:xfrm>
            <a:off x="1481328" y="2423160"/>
            <a:ext cx="7315200" cy="411480"/>
          </a:xfrm>
          <a:prstGeom prst="rect">
            <a:avLst/>
          </a:prstGeom>
          <a:noFill/>
          <a:ln/>
        </p:spPr>
        <p:txBody>
          <a:bodyPr wrap="square" lIns="0" tIns="0" rIns="0" bIns="0" rtlCol="0" anchor="ctr"/>
          <a:lstStyle/>
          <a:p>
            <a:pPr marL="0" indent="0" algn="l">
              <a:buNone/>
            </a:pPr>
            <a:r>
              <a:rPr lang="en-US" sz="1700" b="1" dirty="0">
                <a:solidFill>
                  <a:srgbClr val="282824"/>
                </a:solidFill>
                <a:latin typeface="Hiragino Sans W6" pitchFamily="34" charset="0"/>
                <a:ea typeface="Hiragino Sans W6" pitchFamily="34" charset="-122"/>
                <a:cs typeface="Hiragino Sans W6" pitchFamily="34" charset="-120"/>
              </a:rPr>
              <a:t>東京都DX推進助成金への推薦・紹介</a:t>
            </a:r>
            <a:endParaRPr lang="en-US" sz="1700" dirty="0"/>
          </a:p>
        </p:txBody>
      </p:sp>
      <p:sp>
        <p:nvSpPr>
          <p:cNvPr id="11" name="Text 9"/>
          <p:cNvSpPr/>
          <p:nvPr/>
        </p:nvSpPr>
        <p:spPr>
          <a:xfrm>
            <a:off x="9619488" y="2423160"/>
            <a:ext cx="4114800" cy="411480"/>
          </a:xfrm>
          <a:prstGeom prst="rect">
            <a:avLst/>
          </a:prstGeom>
          <a:noFill/>
          <a:ln/>
        </p:spPr>
        <p:txBody>
          <a:bodyPr wrap="square" lIns="0" tIns="0" rIns="0" bIns="0" rtlCol="0" anchor="ctr"/>
          <a:lstStyle/>
          <a:p>
            <a:pPr marL="0" indent="0" algn="r">
              <a:buNone/>
            </a:pPr>
            <a:r>
              <a:rPr lang="en-US" sz="1800" b="1" dirty="0">
                <a:solidFill>
                  <a:srgbClr val="4A90D9"/>
                </a:solidFill>
                <a:latin typeface="Hiragino Sans W6" pitchFamily="34" charset="0"/>
                <a:ea typeface="Hiragino Sans W6" pitchFamily="34" charset="-122"/>
                <a:cs typeface="Hiragino Sans W6" pitchFamily="34" charset="-120"/>
              </a:rPr>
              <a:t>最大3,000万円</a:t>
            </a:r>
            <a:endParaRPr lang="en-US" sz="1800" dirty="0"/>
          </a:p>
        </p:txBody>
      </p:sp>
      <p:sp>
        <p:nvSpPr>
          <p:cNvPr id="12" name="Text 10"/>
          <p:cNvSpPr/>
          <p:nvPr/>
        </p:nvSpPr>
        <p:spPr>
          <a:xfrm>
            <a:off x="1481328" y="2880360"/>
            <a:ext cx="12399264" cy="640080"/>
          </a:xfrm>
          <a:prstGeom prst="rect">
            <a:avLst/>
          </a:prstGeom>
          <a:noFill/>
          <a:ln/>
        </p:spPr>
        <p:txBody>
          <a:bodyPr wrap="square" lIns="0" tIns="0" rIns="0" bIns="0" rtlCol="0" anchor="t"/>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東京都中小企業振興公社の助成金。都議会議員としての推薦・紹介は審査上のプラスになり得ます。藤井議員の「デジタル都議」としての実績と、CareOSの福祉DXの方向性は完全に合致しています。</a:t>
            </a:r>
            <a:endParaRPr lang="en-US" sz="1400" dirty="0"/>
          </a:p>
        </p:txBody>
      </p:sp>
      <p:sp>
        <p:nvSpPr>
          <p:cNvPr id="13" name="Shape 11"/>
          <p:cNvSpPr/>
          <p:nvPr/>
        </p:nvSpPr>
        <p:spPr>
          <a:xfrm>
            <a:off x="566928" y="3840480"/>
            <a:ext cx="13496544" cy="1325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4" name="Shape 12"/>
          <p:cNvSpPr/>
          <p:nvPr/>
        </p:nvSpPr>
        <p:spPr>
          <a:xfrm>
            <a:off x="566928" y="3840480"/>
            <a:ext cx="73152" cy="1325880"/>
          </a:xfrm>
          <a:prstGeom prst="rect">
            <a:avLst/>
          </a:prstGeom>
          <a:solidFill>
            <a:srgbClr val="27AE60"/>
          </a:solidFill>
          <a:ln/>
        </p:spPr>
        <p:txBody>
          <a:bodyPr/>
          <a:lstStyle/>
          <a:p>
            <a:endParaRPr lang="ja-JP" altLang="en-US"/>
          </a:p>
        </p:txBody>
      </p:sp>
      <p:sp>
        <p:nvSpPr>
          <p:cNvPr id="15" name="Shape 13"/>
          <p:cNvSpPr/>
          <p:nvPr/>
        </p:nvSpPr>
        <p:spPr>
          <a:xfrm>
            <a:off x="841248" y="3977640"/>
            <a:ext cx="457200" cy="457200"/>
          </a:xfrm>
          <a:prstGeom prst="ellipse">
            <a:avLst/>
          </a:prstGeom>
          <a:solidFill>
            <a:srgbClr val="27AE60"/>
          </a:solidFill>
          <a:ln/>
        </p:spPr>
        <p:txBody>
          <a:bodyPr/>
          <a:lstStyle/>
          <a:p>
            <a:endParaRPr lang="ja-JP" altLang="en-US"/>
          </a:p>
        </p:txBody>
      </p:sp>
      <p:sp>
        <p:nvSpPr>
          <p:cNvPr id="16" name="Text 14"/>
          <p:cNvSpPr/>
          <p:nvPr/>
        </p:nvSpPr>
        <p:spPr>
          <a:xfrm>
            <a:off x="841248" y="3977640"/>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Hiragino Sans W6" pitchFamily="34" charset="0"/>
                <a:ea typeface="Hiragino Sans W6" pitchFamily="34" charset="-122"/>
                <a:cs typeface="Hiragino Sans W6" pitchFamily="34" charset="-120"/>
              </a:rPr>
              <a:t>2</a:t>
            </a:r>
            <a:endParaRPr lang="en-US" sz="2200" dirty="0"/>
          </a:p>
        </p:txBody>
      </p:sp>
      <p:sp>
        <p:nvSpPr>
          <p:cNvPr id="17" name="Text 15"/>
          <p:cNvSpPr/>
          <p:nvPr/>
        </p:nvSpPr>
        <p:spPr>
          <a:xfrm>
            <a:off x="1481328" y="3931920"/>
            <a:ext cx="7315200" cy="411480"/>
          </a:xfrm>
          <a:prstGeom prst="rect">
            <a:avLst/>
          </a:prstGeom>
          <a:noFill/>
          <a:ln/>
        </p:spPr>
        <p:txBody>
          <a:bodyPr wrap="square" lIns="0" tIns="0" rIns="0" bIns="0" rtlCol="0" anchor="ctr"/>
          <a:lstStyle/>
          <a:p>
            <a:pPr marL="0" indent="0" algn="l">
              <a:buNone/>
            </a:pPr>
            <a:r>
              <a:rPr lang="en-US" sz="1700" b="1" dirty="0">
                <a:solidFill>
                  <a:srgbClr val="282824"/>
                </a:solidFill>
                <a:latin typeface="Hiragino Sans W6" pitchFamily="34" charset="0"/>
                <a:ea typeface="Hiragino Sans W6" pitchFamily="34" charset="-122"/>
                <a:cs typeface="Hiragino Sans W6" pitchFamily="34" charset="-120"/>
              </a:rPr>
              <a:t>東京都福祉部局への橋渡し</a:t>
            </a:r>
            <a:endParaRPr lang="en-US" sz="1700" dirty="0"/>
          </a:p>
        </p:txBody>
      </p:sp>
      <p:sp>
        <p:nvSpPr>
          <p:cNvPr id="18" name="Text 16"/>
          <p:cNvSpPr/>
          <p:nvPr/>
        </p:nvSpPr>
        <p:spPr>
          <a:xfrm>
            <a:off x="9619488" y="3931920"/>
            <a:ext cx="4114800" cy="411480"/>
          </a:xfrm>
          <a:prstGeom prst="rect">
            <a:avLst/>
          </a:prstGeom>
          <a:noFill/>
          <a:ln/>
        </p:spPr>
        <p:txBody>
          <a:bodyPr wrap="square" lIns="0" tIns="0" rIns="0" bIns="0" rtlCol="0" anchor="ctr"/>
          <a:lstStyle/>
          <a:p>
            <a:pPr marL="0" indent="0" algn="r">
              <a:buNone/>
            </a:pPr>
            <a:r>
              <a:rPr lang="en-US" sz="1800" b="1" dirty="0">
                <a:solidFill>
                  <a:srgbClr val="27AE60"/>
                </a:solidFill>
                <a:latin typeface="Hiragino Sans W6" pitchFamily="34" charset="0"/>
                <a:ea typeface="Hiragino Sans W6" pitchFamily="34" charset="-122"/>
                <a:cs typeface="Hiragino Sans W6" pitchFamily="34" charset="-120"/>
              </a:rPr>
              <a:t>最大1,000万円/施設</a:t>
            </a:r>
            <a:endParaRPr lang="en-US" sz="1800" dirty="0"/>
          </a:p>
        </p:txBody>
      </p:sp>
      <p:sp>
        <p:nvSpPr>
          <p:cNvPr id="19" name="Text 17"/>
          <p:cNvSpPr/>
          <p:nvPr/>
        </p:nvSpPr>
        <p:spPr>
          <a:xfrm>
            <a:off x="1481328" y="4389120"/>
            <a:ext cx="12399264" cy="640080"/>
          </a:xfrm>
          <a:prstGeom prst="rect">
            <a:avLst/>
          </a:prstGeom>
          <a:noFill/>
          <a:ln/>
        </p:spPr>
        <p:txBody>
          <a:bodyPr wrap="square" lIns="0" tIns="0" rIns="0" bIns="0" rtlCol="0" anchor="t"/>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障害福祉分野ICT導入支援事業（厚労省→都福祉部局経由）。サンライズ施設へのCareOS導入を「政策実証」として位置づけることで、議員を通じた事前相談が可能になります。</a:t>
            </a:r>
            <a:endParaRPr lang="en-US" sz="1400" dirty="0"/>
          </a:p>
        </p:txBody>
      </p:sp>
      <p:sp>
        <p:nvSpPr>
          <p:cNvPr id="20" name="Shape 18"/>
          <p:cNvSpPr/>
          <p:nvPr/>
        </p:nvSpPr>
        <p:spPr>
          <a:xfrm>
            <a:off x="566928" y="5349240"/>
            <a:ext cx="13496544" cy="1325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1" name="Shape 19"/>
          <p:cNvSpPr/>
          <p:nvPr/>
        </p:nvSpPr>
        <p:spPr>
          <a:xfrm>
            <a:off x="566928" y="5349240"/>
            <a:ext cx="73152" cy="1325880"/>
          </a:xfrm>
          <a:prstGeom prst="rect">
            <a:avLst/>
          </a:prstGeom>
          <a:solidFill>
            <a:srgbClr val="9B59B6"/>
          </a:solidFill>
          <a:ln/>
        </p:spPr>
        <p:txBody>
          <a:bodyPr/>
          <a:lstStyle/>
          <a:p>
            <a:endParaRPr lang="ja-JP" altLang="en-US"/>
          </a:p>
        </p:txBody>
      </p:sp>
      <p:sp>
        <p:nvSpPr>
          <p:cNvPr id="22" name="Shape 20"/>
          <p:cNvSpPr/>
          <p:nvPr/>
        </p:nvSpPr>
        <p:spPr>
          <a:xfrm>
            <a:off x="841248" y="5486400"/>
            <a:ext cx="457200" cy="457200"/>
          </a:xfrm>
          <a:prstGeom prst="ellipse">
            <a:avLst/>
          </a:prstGeom>
          <a:solidFill>
            <a:srgbClr val="9B59B6"/>
          </a:solidFill>
          <a:ln/>
        </p:spPr>
        <p:txBody>
          <a:bodyPr/>
          <a:lstStyle/>
          <a:p>
            <a:endParaRPr lang="ja-JP" altLang="en-US"/>
          </a:p>
        </p:txBody>
      </p:sp>
      <p:sp>
        <p:nvSpPr>
          <p:cNvPr id="23" name="Text 21"/>
          <p:cNvSpPr/>
          <p:nvPr/>
        </p:nvSpPr>
        <p:spPr>
          <a:xfrm>
            <a:off x="841248" y="5486400"/>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Hiragino Sans W6" pitchFamily="34" charset="0"/>
                <a:ea typeface="Hiragino Sans W6" pitchFamily="34" charset="-122"/>
                <a:cs typeface="Hiragino Sans W6" pitchFamily="34" charset="-120"/>
              </a:rPr>
              <a:t>3</a:t>
            </a:r>
            <a:endParaRPr lang="en-US" sz="2200" dirty="0"/>
          </a:p>
        </p:txBody>
      </p:sp>
      <p:sp>
        <p:nvSpPr>
          <p:cNvPr id="24" name="Text 22"/>
          <p:cNvSpPr/>
          <p:nvPr/>
        </p:nvSpPr>
        <p:spPr>
          <a:xfrm>
            <a:off x="1481328" y="5440680"/>
            <a:ext cx="7315200" cy="411480"/>
          </a:xfrm>
          <a:prstGeom prst="rect">
            <a:avLst/>
          </a:prstGeom>
          <a:noFill/>
          <a:ln/>
        </p:spPr>
        <p:txBody>
          <a:bodyPr wrap="square" lIns="0" tIns="0" rIns="0" bIns="0" rtlCol="0" anchor="ctr"/>
          <a:lstStyle/>
          <a:p>
            <a:pPr marL="0" indent="0" algn="l">
              <a:buNone/>
            </a:pPr>
            <a:r>
              <a:rPr lang="en-US" sz="1700" b="1" dirty="0">
                <a:solidFill>
                  <a:srgbClr val="282824"/>
                </a:solidFill>
                <a:latin typeface="Hiragino Sans W6" pitchFamily="34" charset="0"/>
                <a:ea typeface="Hiragino Sans W6" pitchFamily="34" charset="-122"/>
                <a:cs typeface="Hiragino Sans W6" pitchFamily="34" charset="-120"/>
              </a:rPr>
              <a:t>社会課題解決型スタートアップ支援（TCiN）への推薦</a:t>
            </a:r>
            <a:endParaRPr lang="en-US" sz="1700" dirty="0"/>
          </a:p>
        </p:txBody>
      </p:sp>
      <p:sp>
        <p:nvSpPr>
          <p:cNvPr id="25" name="Text 23"/>
          <p:cNvSpPr/>
          <p:nvPr/>
        </p:nvSpPr>
        <p:spPr>
          <a:xfrm>
            <a:off x="9619488" y="5440680"/>
            <a:ext cx="4114800" cy="411480"/>
          </a:xfrm>
          <a:prstGeom prst="rect">
            <a:avLst/>
          </a:prstGeom>
          <a:noFill/>
          <a:ln/>
        </p:spPr>
        <p:txBody>
          <a:bodyPr wrap="square" lIns="0" tIns="0" rIns="0" bIns="0" rtlCol="0" anchor="ctr"/>
          <a:lstStyle/>
          <a:p>
            <a:pPr marL="0" indent="0" algn="r">
              <a:buNone/>
            </a:pPr>
            <a:r>
              <a:rPr lang="en-US" sz="1800" b="1" dirty="0">
                <a:solidFill>
                  <a:srgbClr val="9B59B6"/>
                </a:solidFill>
                <a:latin typeface="Hiragino Sans W6" pitchFamily="34" charset="0"/>
                <a:ea typeface="Hiragino Sans W6" pitchFamily="34" charset="-122"/>
                <a:cs typeface="Hiragino Sans W6" pitchFamily="34" charset="-120"/>
              </a:rPr>
              <a:t>開発費等補助 + 大企業マッチング</a:t>
            </a:r>
            <a:endParaRPr lang="en-US" sz="1800" dirty="0"/>
          </a:p>
        </p:txBody>
      </p:sp>
      <p:sp>
        <p:nvSpPr>
          <p:cNvPr id="26" name="Text 24"/>
          <p:cNvSpPr/>
          <p:nvPr/>
        </p:nvSpPr>
        <p:spPr>
          <a:xfrm>
            <a:off x="1481328" y="5897880"/>
            <a:ext cx="12399264" cy="640080"/>
          </a:xfrm>
          <a:prstGeom prst="rect">
            <a:avLst/>
          </a:prstGeom>
          <a:noFill/>
          <a:ln/>
        </p:spPr>
        <p:txBody>
          <a:bodyPr wrap="square" lIns="0" tIns="0" rIns="0" bIns="0" rtlCol="0" anchor="t"/>
          <a:lstStyle/>
          <a:p>
            <a:pPr marL="0" indent="0" algn="l">
              <a:buNone/>
            </a:pPr>
            <a:r>
              <a:rPr lang="en-US" sz="1400" dirty="0">
                <a:solidFill>
                  <a:srgbClr val="4A4A45"/>
                </a:solidFill>
                <a:latin typeface="Hiragino Sans W3" pitchFamily="34" charset="0"/>
                <a:ea typeface="Hiragino Sans W3" pitchFamily="34" charset="-122"/>
                <a:cs typeface="Hiragino Sans W3" pitchFamily="34" charset="-120"/>
              </a:rPr>
              <a:t>東京都推進の「生きやすさ・働きやすさ」分野。知的障害者福祉×DX×AIはまさにこの領域。藤井議員の推薦により、大企業とのマッチング支援も期待できます。</a:t>
            </a:r>
            <a:endParaRPr lang="en-US" sz="1400" dirty="0"/>
          </a:p>
        </p:txBody>
      </p:sp>
      <p:sp>
        <p:nvSpPr>
          <p:cNvPr id="27" name="Shape 25"/>
          <p:cNvSpPr/>
          <p:nvPr/>
        </p:nvSpPr>
        <p:spPr>
          <a:xfrm>
            <a:off x="566928" y="6963218"/>
            <a:ext cx="13496544" cy="640080"/>
          </a:xfrm>
          <a:prstGeom prst="rect">
            <a:avLst/>
          </a:prstGeom>
          <a:solidFill>
            <a:srgbClr val="F5F7FA"/>
          </a:solidFill>
          <a:ln/>
          <a:effectLst>
            <a:outerShdw blurRad="76200" dist="25400" dir="8100000" algn="bl" rotWithShape="0">
              <a:srgbClr val="000000">
                <a:alpha val="12000"/>
              </a:srgbClr>
            </a:outerShdw>
          </a:effectLst>
        </p:spPr>
        <p:txBody>
          <a:bodyPr/>
          <a:lstStyle/>
          <a:p>
            <a:endParaRPr lang="ja-JP" altLang="en-US"/>
          </a:p>
        </p:txBody>
      </p:sp>
      <p:sp>
        <p:nvSpPr>
          <p:cNvPr id="28" name="Text 26"/>
          <p:cNvSpPr/>
          <p:nvPr/>
        </p:nvSpPr>
        <p:spPr>
          <a:xfrm>
            <a:off x="749808" y="7008938"/>
            <a:ext cx="13130784" cy="548640"/>
          </a:xfrm>
          <a:prstGeom prst="rect">
            <a:avLst/>
          </a:prstGeom>
          <a:noFill/>
          <a:ln/>
        </p:spPr>
        <p:txBody>
          <a:bodyPr wrap="square" lIns="0" tIns="0" rIns="0" bIns="0" rtlCol="0" anchor="ctr"/>
          <a:lstStyle/>
          <a:p>
            <a:pPr marL="0" indent="0" algn="l">
              <a:buNone/>
            </a:pPr>
            <a:r>
              <a:rPr lang="en-US" sz="1500" b="1" dirty="0">
                <a:solidFill>
                  <a:srgbClr val="4A90D9"/>
                </a:solidFill>
                <a:latin typeface="Hiragino Sans W6" pitchFamily="34" charset="0"/>
                <a:ea typeface="Hiragino Sans W6" pitchFamily="34" charset="-122"/>
                <a:cs typeface="Hiragino Sans W6" pitchFamily="34" charset="-120"/>
              </a:rPr>
              <a:t>重要: </a:t>
            </a:r>
            <a:r>
              <a:rPr lang="en-US" sz="1500" dirty="0">
                <a:solidFill>
                  <a:srgbClr val="4A4A45"/>
                </a:solidFill>
                <a:latin typeface="Hiragino Sans W3" pitchFamily="34" charset="0"/>
                <a:ea typeface="Hiragino Sans W3" pitchFamily="34" charset="-122"/>
                <a:cs typeface="Hiragino Sans W3" pitchFamily="34" charset="-120"/>
              </a:rPr>
              <a:t>藤井議員のお力添えにより、知的障害者福祉のDXが東京から全国へ広がる道筋が開けます。</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E8DD"/>
        </a:solidFill>
        <a:effectLst/>
      </p:bgPr>
    </p:bg>
    <p:spTree>
      <p:nvGrpSpPr>
        <p:cNvPr id="1" name=""/>
        <p:cNvGrpSpPr/>
        <p:nvPr/>
      </p:nvGrpSpPr>
      <p:grpSpPr>
        <a:xfrm>
          <a:off x="0" y="0"/>
          <a:ext cx="0" cy="0"/>
          <a:chOff x="0" y="0"/>
          <a:chExt cx="0" cy="0"/>
        </a:xfrm>
      </p:grpSpPr>
      <p:sp>
        <p:nvSpPr>
          <p:cNvPr id="2" name="Shape 0"/>
          <p:cNvSpPr/>
          <p:nvPr/>
        </p:nvSpPr>
        <p:spPr>
          <a:xfrm>
            <a:off x="0" y="0"/>
            <a:ext cx="109728" cy="8229600"/>
          </a:xfrm>
          <a:prstGeom prst="rect">
            <a:avLst/>
          </a:prstGeom>
          <a:solidFill>
            <a:srgbClr val="4A90D9"/>
          </a:solidFill>
          <a:ln/>
        </p:spPr>
        <p:txBody>
          <a:bodyPr/>
          <a:lstStyle/>
          <a:p>
            <a:endParaRPr lang="ja-JP" altLang="en-US"/>
          </a:p>
        </p:txBody>
      </p:sp>
      <p:sp>
        <p:nvSpPr>
          <p:cNvPr id="3" name="Text 1"/>
          <p:cNvSpPr/>
          <p:nvPr/>
        </p:nvSpPr>
        <p:spPr>
          <a:xfrm>
            <a:off x="749808" y="365760"/>
            <a:ext cx="11887200" cy="640080"/>
          </a:xfrm>
          <a:prstGeom prst="rect">
            <a:avLst/>
          </a:prstGeom>
          <a:noFill/>
          <a:ln/>
        </p:spPr>
        <p:txBody>
          <a:bodyPr wrap="square" lIns="0" tIns="0" rIns="0" bIns="0" rtlCol="0" anchor="ctr"/>
          <a:lstStyle/>
          <a:p>
            <a:pPr marL="0" indent="0">
              <a:buNone/>
            </a:pPr>
            <a:r>
              <a:rPr lang="en-US" sz="2800" b="1" dirty="0">
                <a:solidFill>
                  <a:srgbClr val="282824"/>
                </a:solidFill>
                <a:latin typeface="Hiragino Sans W6" pitchFamily="34" charset="0"/>
                <a:ea typeface="Hiragino Sans W6" pitchFamily="34" charset="-122"/>
                <a:cs typeface="Hiragino Sans W6" pitchFamily="34" charset="-120"/>
              </a:rPr>
              <a:t>知的障害者の「自立」を、テクノロジーの力で実現する</a:t>
            </a:r>
            <a:endParaRPr lang="en-US" sz="2800" dirty="0"/>
          </a:p>
        </p:txBody>
      </p:sp>
      <p:sp>
        <p:nvSpPr>
          <p:cNvPr id="4" name="Text 2"/>
          <p:cNvSpPr/>
          <p:nvPr/>
        </p:nvSpPr>
        <p:spPr>
          <a:xfrm>
            <a:off x="749808" y="1005840"/>
            <a:ext cx="11887200" cy="365760"/>
          </a:xfrm>
          <a:prstGeom prst="rect">
            <a:avLst/>
          </a:prstGeom>
          <a:noFill/>
          <a:ln/>
        </p:spPr>
        <p:txBody>
          <a:bodyPr wrap="square" lIns="0" tIns="0" rIns="0" bIns="0" rtlCol="0" anchor="ctr"/>
          <a:lstStyle/>
          <a:p>
            <a:pPr marL="0" indent="0">
              <a:buNone/>
            </a:pPr>
            <a:r>
              <a:rPr lang="en-US" sz="1600" dirty="0">
                <a:solidFill>
                  <a:srgbClr val="4A90D9"/>
                </a:solidFill>
                <a:latin typeface="Hiragino Sans W3" pitchFamily="34" charset="0"/>
                <a:ea typeface="Hiragino Sans W3" pitchFamily="34" charset="-122"/>
                <a:cs typeface="Hiragino Sans W3" pitchFamily="34" charset="-120"/>
              </a:rPr>
              <a:t>藤井議員へのお願い — 2段階のステップ</a:t>
            </a:r>
            <a:endParaRPr lang="en-US" sz="1600" dirty="0"/>
          </a:p>
        </p:txBody>
      </p:sp>
      <p:sp>
        <p:nvSpPr>
          <p:cNvPr id="5" name="Shape 3"/>
          <p:cNvSpPr/>
          <p:nvPr/>
        </p:nvSpPr>
        <p:spPr>
          <a:xfrm>
            <a:off x="749808" y="1645920"/>
            <a:ext cx="6217920" cy="4754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6" name="Shape 4"/>
          <p:cNvSpPr/>
          <p:nvPr/>
        </p:nvSpPr>
        <p:spPr>
          <a:xfrm>
            <a:off x="749808" y="1645920"/>
            <a:ext cx="6217920" cy="54864"/>
          </a:xfrm>
          <a:prstGeom prst="rect">
            <a:avLst/>
          </a:prstGeom>
          <a:solidFill>
            <a:srgbClr val="4A90D9"/>
          </a:solidFill>
          <a:ln/>
        </p:spPr>
        <p:txBody>
          <a:bodyPr/>
          <a:lstStyle/>
          <a:p>
            <a:endParaRPr lang="ja-JP" altLang="en-US"/>
          </a:p>
        </p:txBody>
      </p:sp>
      <p:sp>
        <p:nvSpPr>
          <p:cNvPr id="7" name="Text 5"/>
          <p:cNvSpPr/>
          <p:nvPr/>
        </p:nvSpPr>
        <p:spPr>
          <a:xfrm>
            <a:off x="932688" y="1828800"/>
            <a:ext cx="5852160" cy="411480"/>
          </a:xfrm>
          <a:prstGeom prst="rect">
            <a:avLst/>
          </a:prstGeom>
          <a:noFill/>
          <a:ln/>
        </p:spPr>
        <p:txBody>
          <a:bodyPr wrap="square" lIns="0" tIns="0" rIns="0" bIns="0" rtlCol="0" anchor="ctr"/>
          <a:lstStyle/>
          <a:p>
            <a:pPr marL="0" indent="0">
              <a:buNone/>
            </a:pPr>
            <a:r>
              <a:rPr lang="en-US" sz="2000" b="1" dirty="0">
                <a:solidFill>
                  <a:srgbClr val="4A90D9"/>
                </a:solidFill>
                <a:latin typeface="Hiragino Sans W6" pitchFamily="34" charset="0"/>
                <a:ea typeface="Hiragino Sans W6" pitchFamily="34" charset="-122"/>
                <a:cs typeface="Hiragino Sans W6" pitchFamily="34" charset="-120"/>
              </a:rPr>
              <a:t>今すぐのお願い</a:t>
            </a:r>
            <a:endParaRPr lang="en-US" sz="2000" dirty="0"/>
          </a:p>
        </p:txBody>
      </p:sp>
      <p:sp>
        <p:nvSpPr>
          <p:cNvPr id="8" name="Text 6"/>
          <p:cNvSpPr/>
          <p:nvPr/>
        </p:nvSpPr>
        <p:spPr>
          <a:xfrm>
            <a:off x="932688" y="2240280"/>
            <a:ext cx="5852160" cy="320040"/>
          </a:xfrm>
          <a:prstGeom prst="rect">
            <a:avLst/>
          </a:prstGeom>
          <a:noFill/>
          <a:ln/>
        </p:spPr>
        <p:txBody>
          <a:bodyPr wrap="square" lIns="0" tIns="0" rIns="0" bIns="0" rtlCol="0" anchor="ctr"/>
          <a:lstStyle/>
          <a:p>
            <a:pPr marL="0" indent="0">
              <a:buNone/>
            </a:pPr>
            <a:r>
              <a:rPr lang="en-US" sz="1500" dirty="0">
                <a:solidFill>
                  <a:srgbClr val="746558"/>
                </a:solidFill>
                <a:latin typeface="Hiragino Sans W3" pitchFamily="34" charset="0"/>
                <a:ea typeface="Hiragino Sans W3" pitchFamily="34" charset="-122"/>
                <a:cs typeface="Hiragino Sans W3" pitchFamily="34" charset="-120"/>
              </a:rPr>
              <a:t>2026年4〜9月（開発・実証期間）</a:t>
            </a:r>
            <a:endParaRPr lang="en-US" sz="1500" dirty="0"/>
          </a:p>
        </p:txBody>
      </p:sp>
      <p:sp>
        <p:nvSpPr>
          <p:cNvPr id="9" name="Text 7"/>
          <p:cNvSpPr/>
          <p:nvPr/>
        </p:nvSpPr>
        <p:spPr>
          <a:xfrm>
            <a:off x="1024128" y="2743200"/>
            <a:ext cx="5669280" cy="2560320"/>
          </a:xfrm>
          <a:prstGeom prst="rect">
            <a:avLst/>
          </a:prstGeom>
          <a:noFill/>
          <a:ln/>
        </p:spPr>
        <p:txBody>
          <a:bodyPr wrap="square" lIns="0" tIns="0" rIns="0" bIns="0" rtlCol="0" anchor="t"/>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 開発期間中の情報共有の場をいただくこと
▸ 隔月の進捗報告（30分程度）をお許しいただくこと
▸ 福祉DXに関する議員のご知見・業界情報の共有
▸ 実証段階で施設見学にお越しいただくこと</a:t>
            </a:r>
            <a:endParaRPr lang="en-US" sz="1500" dirty="0"/>
          </a:p>
        </p:txBody>
      </p:sp>
      <p:sp>
        <p:nvSpPr>
          <p:cNvPr id="10" name="Text 8"/>
          <p:cNvSpPr/>
          <p:nvPr/>
        </p:nvSpPr>
        <p:spPr>
          <a:xfrm>
            <a:off x="932688" y="5486400"/>
            <a:ext cx="5852160" cy="640080"/>
          </a:xfrm>
          <a:prstGeom prst="rect">
            <a:avLst/>
          </a:prstGeom>
          <a:noFill/>
          <a:ln/>
        </p:spPr>
        <p:txBody>
          <a:bodyPr wrap="square" lIns="0" tIns="0" rIns="0" bIns="0" rtlCol="0" anchor="ctr"/>
          <a:lstStyle/>
          <a:p>
            <a:pPr marL="0" indent="0">
              <a:buNone/>
            </a:pPr>
            <a:r>
              <a:rPr lang="en-US" sz="1400" i="1" dirty="0">
                <a:solidFill>
                  <a:srgbClr val="746558"/>
                </a:solidFill>
                <a:latin typeface="Hiragino Sans W3" pitchFamily="34" charset="0"/>
                <a:ea typeface="Hiragino Sans W3" pitchFamily="34" charset="-122"/>
                <a:cs typeface="Hiragino Sans W3" pitchFamily="34" charset="-120"/>
              </a:rPr>
              <a:t>まずは開発と実証に全力を注ぎ、</a:t>
            </a:r>
            <a:endParaRPr lang="en-US" sz="1400" dirty="0"/>
          </a:p>
          <a:p>
            <a:pPr marL="0" indent="0">
              <a:buNone/>
            </a:pPr>
            <a:r>
              <a:rPr lang="en-US" sz="1400" i="1" dirty="0">
                <a:solidFill>
                  <a:srgbClr val="746558"/>
                </a:solidFill>
                <a:latin typeface="Hiragino Sans W3" pitchFamily="34" charset="0"/>
                <a:ea typeface="Hiragino Sans W3" pitchFamily="34" charset="-122"/>
                <a:cs typeface="Hiragino Sans W3" pitchFamily="34" charset="-120"/>
              </a:rPr>
              <a:t>成果をもってご報告いたします。</a:t>
            </a:r>
            <a:endParaRPr lang="en-US" sz="1400" dirty="0"/>
          </a:p>
        </p:txBody>
      </p:sp>
      <p:sp>
        <p:nvSpPr>
          <p:cNvPr id="11" name="Shape 9"/>
          <p:cNvSpPr/>
          <p:nvPr/>
        </p:nvSpPr>
        <p:spPr>
          <a:xfrm>
            <a:off x="7607808" y="1645920"/>
            <a:ext cx="6217920" cy="4754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2" name="Shape 10"/>
          <p:cNvSpPr/>
          <p:nvPr/>
        </p:nvSpPr>
        <p:spPr>
          <a:xfrm>
            <a:off x="7607808" y="1645920"/>
            <a:ext cx="6217920" cy="54864"/>
          </a:xfrm>
          <a:prstGeom prst="rect">
            <a:avLst/>
          </a:prstGeom>
          <a:solidFill>
            <a:srgbClr val="27AE60"/>
          </a:solidFill>
          <a:ln/>
        </p:spPr>
        <p:txBody>
          <a:bodyPr/>
          <a:lstStyle/>
          <a:p>
            <a:endParaRPr lang="ja-JP" altLang="en-US"/>
          </a:p>
        </p:txBody>
      </p:sp>
      <p:sp>
        <p:nvSpPr>
          <p:cNvPr id="13" name="Text 11"/>
          <p:cNvSpPr/>
          <p:nvPr/>
        </p:nvSpPr>
        <p:spPr>
          <a:xfrm>
            <a:off x="7790688" y="1828800"/>
            <a:ext cx="5852160" cy="411480"/>
          </a:xfrm>
          <a:prstGeom prst="rect">
            <a:avLst/>
          </a:prstGeom>
          <a:noFill/>
          <a:ln/>
        </p:spPr>
        <p:txBody>
          <a:bodyPr wrap="square" lIns="0" tIns="0" rIns="0" bIns="0" rtlCol="0" anchor="ctr"/>
          <a:lstStyle/>
          <a:p>
            <a:pPr marL="0" indent="0">
              <a:buNone/>
            </a:pPr>
            <a:r>
              <a:rPr lang="en-US" sz="2000" b="1" dirty="0">
                <a:solidFill>
                  <a:srgbClr val="27AE60"/>
                </a:solidFill>
                <a:latin typeface="Hiragino Sans W6" pitchFamily="34" charset="0"/>
                <a:ea typeface="Hiragino Sans W6" pitchFamily="34" charset="-122"/>
                <a:cs typeface="Hiragino Sans W6" pitchFamily="34" charset="-120"/>
              </a:rPr>
              <a:t>1年後のお願い</a:t>
            </a:r>
            <a:endParaRPr lang="en-US" sz="2000" dirty="0"/>
          </a:p>
        </p:txBody>
      </p:sp>
      <p:sp>
        <p:nvSpPr>
          <p:cNvPr id="14" name="Text 12"/>
          <p:cNvSpPr/>
          <p:nvPr/>
        </p:nvSpPr>
        <p:spPr>
          <a:xfrm>
            <a:off x="7790688" y="2240280"/>
            <a:ext cx="5852160" cy="320040"/>
          </a:xfrm>
          <a:prstGeom prst="rect">
            <a:avLst/>
          </a:prstGeom>
          <a:noFill/>
          <a:ln/>
        </p:spPr>
        <p:txBody>
          <a:bodyPr wrap="square" lIns="0" tIns="0" rIns="0" bIns="0" rtlCol="0" anchor="ctr"/>
          <a:lstStyle/>
          <a:p>
            <a:pPr marL="0" indent="0">
              <a:buNone/>
            </a:pPr>
            <a:r>
              <a:rPr lang="en-US" sz="1500" dirty="0">
                <a:solidFill>
                  <a:srgbClr val="746558"/>
                </a:solidFill>
                <a:latin typeface="Hiragino Sans W3" pitchFamily="34" charset="0"/>
                <a:ea typeface="Hiragino Sans W3" pitchFamily="34" charset="-122"/>
                <a:cs typeface="Hiragino Sans W3" pitchFamily="34" charset="-120"/>
              </a:rPr>
              <a:t>2027年4月〜（実証成果を踏まえて）</a:t>
            </a:r>
            <a:endParaRPr lang="en-US" sz="1500" dirty="0"/>
          </a:p>
        </p:txBody>
      </p:sp>
      <p:sp>
        <p:nvSpPr>
          <p:cNvPr id="15" name="Text 13"/>
          <p:cNvSpPr/>
          <p:nvPr/>
        </p:nvSpPr>
        <p:spPr>
          <a:xfrm>
            <a:off x="7882128" y="2743200"/>
            <a:ext cx="5669280" cy="2560320"/>
          </a:xfrm>
          <a:prstGeom prst="rect">
            <a:avLst/>
          </a:prstGeom>
          <a:noFill/>
          <a:ln/>
        </p:spPr>
        <p:txBody>
          <a:bodyPr wrap="square" lIns="0" tIns="0" rIns="0" bIns="0" rtlCol="0" anchor="t"/>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 都議会で福祉DX推進策の質問をしていただくこと
▸ 都のモデル事業にCareOSが入りやすい枠組みへの助言
▸ 杉並区をはじめとする自治体への紹介・橋渡し
▸ 実証データに基づく政策提言への共同取り組み</a:t>
            </a:r>
            <a:endParaRPr lang="en-US" sz="1500" dirty="0"/>
          </a:p>
        </p:txBody>
      </p:sp>
      <p:sp>
        <p:nvSpPr>
          <p:cNvPr id="16" name="Text 14"/>
          <p:cNvSpPr/>
          <p:nvPr/>
        </p:nvSpPr>
        <p:spPr>
          <a:xfrm>
            <a:off x="7790688" y="5486400"/>
            <a:ext cx="5852160" cy="640080"/>
          </a:xfrm>
          <a:prstGeom prst="rect">
            <a:avLst/>
          </a:prstGeom>
          <a:noFill/>
          <a:ln/>
        </p:spPr>
        <p:txBody>
          <a:bodyPr wrap="square" lIns="0" tIns="0" rIns="0" bIns="0" rtlCol="0" anchor="ctr"/>
          <a:lstStyle/>
          <a:p>
            <a:pPr marL="0" indent="0">
              <a:buNone/>
            </a:pPr>
            <a:r>
              <a:rPr lang="en-US" sz="1400" i="1" dirty="0">
                <a:solidFill>
                  <a:srgbClr val="746558"/>
                </a:solidFill>
                <a:latin typeface="Hiragino Sans W3" pitchFamily="34" charset="0"/>
                <a:ea typeface="Hiragino Sans W3" pitchFamily="34" charset="-122"/>
                <a:cs typeface="Hiragino Sans W3" pitchFamily="34" charset="-120"/>
              </a:rPr>
              <a:t>実証データに基づいたご報告とともに、</a:t>
            </a:r>
            <a:endParaRPr lang="en-US" sz="1400" dirty="0"/>
          </a:p>
          <a:p>
            <a:pPr marL="0" indent="0">
              <a:buNone/>
            </a:pPr>
            <a:r>
              <a:rPr lang="en-US" sz="1400" i="1" dirty="0">
                <a:solidFill>
                  <a:srgbClr val="746558"/>
                </a:solidFill>
                <a:latin typeface="Hiragino Sans W3" pitchFamily="34" charset="0"/>
                <a:ea typeface="Hiragino Sans W3" pitchFamily="34" charset="-122"/>
                <a:cs typeface="Hiragino Sans W3" pitchFamily="34" charset="-120"/>
              </a:rPr>
              <a:t>改めてご相談させていただければ幸いです。</a:t>
            </a:r>
            <a:endParaRPr lang="en-US" sz="1400" dirty="0"/>
          </a:p>
        </p:txBody>
      </p:sp>
      <p:sp>
        <p:nvSpPr>
          <p:cNvPr id="17" name="Text 15"/>
          <p:cNvSpPr/>
          <p:nvPr/>
        </p:nvSpPr>
        <p:spPr>
          <a:xfrm>
            <a:off x="6967728" y="3657600"/>
            <a:ext cx="1097280" cy="457200"/>
          </a:xfrm>
          <a:prstGeom prst="rect">
            <a:avLst/>
          </a:prstGeom>
          <a:noFill/>
          <a:ln/>
        </p:spPr>
        <p:txBody>
          <a:bodyPr wrap="square" lIns="0" tIns="0" rIns="0" bIns="0" rtlCol="0" anchor="ctr"/>
          <a:lstStyle/>
          <a:p>
            <a:pPr marL="0" indent="0" algn="ctr">
              <a:buNone/>
            </a:pPr>
            <a:r>
              <a:rPr lang="en-US" sz="1500" dirty="0">
                <a:solidFill>
                  <a:srgbClr val="4A90D9"/>
                </a:solidFill>
                <a:latin typeface="Hiragino Sans W6" pitchFamily="34" charset="0"/>
                <a:ea typeface="Hiragino Sans W6" pitchFamily="34" charset="-122"/>
                <a:cs typeface="Hiragino Sans W6" pitchFamily="34" charset="-120"/>
              </a:rPr>
              <a:t>約1年後 →</a:t>
            </a:r>
            <a:endParaRPr lang="en-US" sz="1500" dirty="0"/>
          </a:p>
        </p:txBody>
      </p:sp>
      <p:sp>
        <p:nvSpPr>
          <p:cNvPr id="18" name="Text 16"/>
          <p:cNvSpPr/>
          <p:nvPr/>
        </p:nvSpPr>
        <p:spPr>
          <a:xfrm>
            <a:off x="475488" y="6949440"/>
            <a:ext cx="13679424" cy="457200"/>
          </a:xfrm>
          <a:prstGeom prst="rect">
            <a:avLst/>
          </a:prstGeom>
          <a:noFill/>
          <a:ln/>
        </p:spPr>
        <p:txBody>
          <a:bodyPr wrap="square" lIns="0" tIns="0" rIns="0" bIns="0" rtlCol="0" anchor="ctr"/>
          <a:lstStyle/>
          <a:p>
            <a:pPr marL="0" indent="0" algn="ctr">
              <a:buNone/>
            </a:pPr>
            <a:r>
              <a:rPr lang="en-US" sz="1800" b="1" dirty="0">
                <a:solidFill>
                  <a:srgbClr val="282824"/>
                </a:solidFill>
                <a:latin typeface="Hiragino Sans W6" pitchFamily="34" charset="0"/>
                <a:ea typeface="Hiragino Sans W6" pitchFamily="34" charset="-122"/>
                <a:cs typeface="Hiragino Sans W6" pitchFamily="34" charset="-120"/>
              </a:rPr>
              <a:t>「社会の仕組みを変えたい」— 一緒に走っていただけないでしょうか。</a:t>
            </a:r>
            <a:endParaRPr lang="en-US" sz="1800" dirty="0"/>
          </a:p>
        </p:txBody>
      </p:sp>
      <p:sp>
        <p:nvSpPr>
          <p:cNvPr id="19" name="Text 17"/>
          <p:cNvSpPr/>
          <p:nvPr/>
        </p:nvSpPr>
        <p:spPr>
          <a:xfrm>
            <a:off x="475488" y="7589520"/>
            <a:ext cx="13679424" cy="320040"/>
          </a:xfrm>
          <a:prstGeom prst="rect">
            <a:avLst/>
          </a:prstGeom>
          <a:noFill/>
          <a:ln/>
        </p:spPr>
        <p:txBody>
          <a:bodyPr wrap="square" lIns="0" tIns="0" rIns="0" bIns="0" rtlCol="0" anchor="ctr"/>
          <a:lstStyle/>
          <a:p>
            <a:pPr marL="0" indent="0" algn="l">
              <a:buNone/>
            </a:pPr>
            <a:r>
              <a:rPr lang="en-US" sz="1200" dirty="0">
                <a:solidFill>
                  <a:srgbClr val="746558"/>
                </a:solidFill>
                <a:latin typeface="Hiragino Sans W3" pitchFamily="34" charset="0"/>
                <a:ea typeface="Hiragino Sans W3" pitchFamily="34" charset="-122"/>
                <a:cs typeface="Hiragino Sans W3" pitchFamily="34" charset="-120"/>
              </a:rPr>
              <a:t>【機密】本資料は説明目的に限り配布しております</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panose="020F0302020204030204"/>
        <a:ea typeface=""/>
        <a:cs typeface=""/>
        <a:font script="Jpan" typeface="Yu Gothic"/>
        <a:font script="Hang" typeface="Yu Gothic"/>
        <a:font script="Hans" typeface="Yu Gothic"/>
        <a:font script="Hant" typeface="Yu Gothi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Yu Gothic"/>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panose="020F0502020204030204"/>
        <a:ea typeface=""/>
        <a:cs typeface=""/>
        <a:font script="Jpan" typeface="Yu Gothic"/>
        <a:font script="Hang" typeface="Yu Gothic"/>
        <a:font script="Hans" typeface="Yu Gothic"/>
        <a:font script="Hant" typeface="Yu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Yu Gothic"/>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Yu Gothic"/>
        <a:font script="Hang" typeface="Yu Gothic"/>
        <a:font script="Hans" typeface="Yu Gothic"/>
        <a:font script="Hant" typeface="Yu Gothi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Yu Gothic"/>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Yu Gothic"/>
        <a:font script="Hang" typeface="Yu Gothic"/>
        <a:font script="Hans" typeface="Yu Gothic"/>
        <a:font script="Hant" typeface="Yu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Yu Gothic"/>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3264</Words>
  <Application>Microsoft Macintosh PowerPoint</Application>
  <PresentationFormat>ユーザー設定</PresentationFormat>
  <Paragraphs>659</Paragraphs>
  <Slides>21</Slides>
  <Notes>21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21</vt:i4>
      </vt:variant>
    </vt:vector>
  </HeadingPairs>
  <TitlesOfParts>
    <vt:vector size="25" baseType="lpstr">
      <vt:lpstr>Hiragino Sans W3</vt:lpstr>
      <vt:lpstr>Hiragino Sans W6</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Universal Care OS — 藤井あきら議員向けご説明資料</dc:title>
  <dc:subject>PptxGenJS Presentation</dc:subject>
  <dc:creator>サンライズ × DataBee × FDSi</dc:creator>
  <cp:lastModifiedBy>剛 永山</cp:lastModifiedBy>
  <cp:revision>2</cp:revision>
  <dcterms:created xsi:type="dcterms:W3CDTF">2026-03-20T03:43:51Z</dcterms:created>
  <dcterms:modified xsi:type="dcterms:W3CDTF">2026-03-20T04:40:09Z</dcterms:modified>
</cp:coreProperties>
</file>