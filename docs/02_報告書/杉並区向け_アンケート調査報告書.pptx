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9"/>
    <p:sldId id="269" r:id="rId20"/>
    <p:sldId id="270" r:id="rId21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障害福祉施設における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業務実態調査 報告書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現場職員96名への直接調査から見えた課題と可能性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0" y="3794760"/>
            <a:ext cx="3657600" cy="0"/>
          </a:xfrm>
          <a:prstGeom prst="line">
            <a:avLst/>
          </a:prstGeom>
          <a:noFill/>
          <a:ln w="19050">
            <a:solidFill>
              <a:srgbClr val="0B728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977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調査実施: 2025年　株式会社サンライズ主導・複数施設協力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報告先: 杉並区役所 福祉担当部署 御中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調査概要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本報告は、障害福祉施設の現場職員を対象に実施した大規模アンケート調査の結果です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8288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回答者数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複数施設の現場職員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23444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234440"/>
            <a:ext cx="18288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実施時期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2025年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432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株式会社サンライズ主導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34440"/>
            <a:ext cx="18288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調査方法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Web調査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5488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31問・5点リッカート尺度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123444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1234440"/>
            <a:ext cx="18288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対象施設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複数施設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6656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知的障害者支援施設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8229600" cy="1920240"/>
          </a:xfrm>
          <a:prstGeom prst="rect">
            <a:avLst/>
          </a:prstGeom>
          <a:solidFill>
            <a:srgbClr val="FDF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調査項目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1546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基本属性（性別・年齢・経験年数）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記録方法の実態（手法・所要時間・負担感）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ICTリテラシーとスマートフォン操作習熟度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ICT導入への期待度・活用意向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導入にあたっての障壁・不安因子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事故予防と情報共有の課題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自由記述による現場の声（テキストマイニング分析）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回答者の特徴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154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女性72%・男性28%（業界平均と整合）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40代32%・50代39%・60代以上18%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経験5年以上が44%（ベテラン中心）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</a:rPr>
              <a:t>年代・経験年数にバランスのとれたサンプル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調査結果 ①  記録業務の実態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記録手法・所要時間・負担感の3指標が示す深刻な状況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468880" cy="54864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691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手書き記録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96名中83名が手書き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88720"/>
            <a:ext cx="2468880" cy="54864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716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1691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28.7%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333756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書類作業時間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全労働時間の約3割が消滅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35040" y="11887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188720"/>
            <a:ext cx="2468880" cy="54864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1691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3.67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12648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負担感スコア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5点満点中（83%が「重い」以上）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292608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94360" y="2999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記録手法の内訳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943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手書き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828800" y="3383280"/>
            <a:ext cx="2011680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0"/>
          <p:cNvSpPr/>
          <p:nvPr/>
        </p:nvSpPr>
        <p:spPr>
          <a:xfrm>
            <a:off x="3886200" y="3337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83名 (86%)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94360" y="36850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パソコン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828800" y="3730752"/>
            <a:ext cx="218134" cy="1828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8" name="Text 23"/>
          <p:cNvSpPr/>
          <p:nvPr/>
        </p:nvSpPr>
        <p:spPr>
          <a:xfrm>
            <a:off x="2092654" y="36850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9名 (9%)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94360" y="40325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スマートフォン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828800" y="4078224"/>
            <a:ext cx="137160" cy="182880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1" name="Text 26"/>
          <p:cNvSpPr/>
          <p:nvPr/>
        </p:nvSpPr>
        <p:spPr>
          <a:xfrm>
            <a:off x="2011680" y="40325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2名 (2%)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594360" y="437997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その他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828800" y="4425696"/>
            <a:ext cx="137160" cy="18288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34" name="Text 29"/>
          <p:cNvSpPr/>
          <p:nvPr/>
        </p:nvSpPr>
        <p:spPr>
          <a:xfrm>
            <a:off x="2011680" y="43799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2名 (2%)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4572000" y="292608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470916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負担感の分布（5点リッカート尺度）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4709160" y="33101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5 非常に重い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5943600" y="3328416"/>
            <a:ext cx="412955" cy="1645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9" name="Text 34"/>
          <p:cNvSpPr/>
          <p:nvPr/>
        </p:nvSpPr>
        <p:spPr>
          <a:xfrm>
            <a:off x="6402275" y="33101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7名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4709160" y="35478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4 重い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5943600" y="3566160"/>
            <a:ext cx="1297858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2" name="Text 37"/>
          <p:cNvSpPr/>
          <p:nvPr/>
        </p:nvSpPr>
        <p:spPr>
          <a:xfrm>
            <a:off x="7287178" y="35478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22名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709160" y="37856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3 普通</a:t>
            </a:r>
            <a:endParaRPr lang="en-US" sz="800" dirty="0"/>
          </a:p>
        </p:txBody>
      </p:sp>
      <p:sp>
        <p:nvSpPr>
          <p:cNvPr id="44" name="Shape 39"/>
          <p:cNvSpPr/>
          <p:nvPr/>
        </p:nvSpPr>
        <p:spPr>
          <a:xfrm>
            <a:off x="5943600" y="3803904"/>
            <a:ext cx="1828800" cy="16459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5" name="Text 40"/>
          <p:cNvSpPr/>
          <p:nvPr/>
        </p:nvSpPr>
        <p:spPr>
          <a:xfrm>
            <a:off x="7818120" y="37856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31名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4709160" y="40233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2 軽い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5943600" y="4041648"/>
            <a:ext cx="589935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8" name="Text 43"/>
          <p:cNvSpPr/>
          <p:nvPr/>
        </p:nvSpPr>
        <p:spPr>
          <a:xfrm>
            <a:off x="6579255" y="40233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10名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4709160" y="42611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1 非常に軽い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5943600" y="4279392"/>
            <a:ext cx="1533832" cy="16459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51" name="Text 46"/>
          <p:cNvSpPr/>
          <p:nvPr/>
        </p:nvSpPr>
        <p:spPr>
          <a:xfrm>
            <a:off x="7523152" y="42611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26名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4709160" y="4572000"/>
            <a:ext cx="3840480" cy="25603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3" name="Text 48"/>
          <p:cNvSpPr/>
          <p:nvPr/>
        </p:nvSpPr>
        <p:spPr>
          <a:xfrm>
            <a:off x="4800600" y="45811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83%の職員が「4（重い）」以上の負担を感じている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出典: 株式会社サンライズ主導・複数施設協力 現場職員アンケート n=96（2025年実施）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調査結果 ②  ICT導入への意向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86%の職員がICT導入に前向き — サポート体制が導入成否のカギ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B7285"/>
                </a:solidFill>
              </a:rPr>
              <a:t>ICT導入に前向き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B7285"/>
                </a:solidFill>
              </a:rPr>
              <a:t>（積極的＋試したい＋サポートあれば）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188720"/>
            <a:ext cx="5212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ICT活用意向（Q28）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554480"/>
            <a:ext cx="99060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554480"/>
            <a:ext cx="99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21%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9640" y="1554480"/>
            <a:ext cx="1436370" cy="320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4739640" y="1554480"/>
            <a:ext cx="14363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6010" y="1554480"/>
            <a:ext cx="1684020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176010" y="1554480"/>
            <a:ext cx="16840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35%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60030" y="1554480"/>
            <a:ext cx="64389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7860030" y="1554480"/>
            <a:ext cx="6438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2011680"/>
            <a:ext cx="109728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3904488" y="195681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積極的に使いたい 20名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0" y="2011680"/>
            <a:ext cx="109728" cy="10972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5184648" y="195681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試してみたい 29名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309360" y="2011680"/>
            <a:ext cx="109728" cy="10972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6464808" y="195681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サポートあれば使う 34名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589520" y="2011680"/>
            <a:ext cx="109728" cy="10972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7744968" y="195681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C3E50"/>
                </a:solidFill>
              </a:rPr>
              <a:t>使いたくない 13名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2999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改善期待度（Q26 / 5点尺度）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310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5 非常に高い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0" y="3328416"/>
            <a:ext cx="1075765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2950285" y="33101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20名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4 高い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3529584"/>
            <a:ext cx="1559859" cy="16459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2"/>
          <p:cNvSpPr/>
          <p:nvPr/>
        </p:nvSpPr>
        <p:spPr>
          <a:xfrm>
            <a:off x="3434379" y="3511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29名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" y="37124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3 普通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0" y="3730752"/>
            <a:ext cx="1828800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7" name="Text 35"/>
          <p:cNvSpPr/>
          <p:nvPr/>
        </p:nvSpPr>
        <p:spPr>
          <a:xfrm>
            <a:off x="3703320" y="37124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34名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" y="39136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2 低い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0" y="3931920"/>
            <a:ext cx="591671" cy="164592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40" name="Text 38"/>
          <p:cNvSpPr/>
          <p:nvPr/>
        </p:nvSpPr>
        <p:spPr>
          <a:xfrm>
            <a:off x="2466191" y="39136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11名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" y="41148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1 非常に低い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828800" y="4133088"/>
            <a:ext cx="107576" cy="1645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3" name="Text 41"/>
          <p:cNvSpPr/>
          <p:nvPr/>
        </p:nvSpPr>
        <p:spPr>
          <a:xfrm>
            <a:off x="1982096" y="4114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2名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4360" y="4389120"/>
            <a:ext cx="3566160" cy="2560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4074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期待度4以上が51%（49名）— 現場は変化を求めている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2926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29992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導入の障壁（Q17 / 複数回答）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09160" y="33101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時間不足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35040" y="3328416"/>
            <a:ext cx="1828800" cy="16459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0" name="Text 48"/>
          <p:cNvSpPr/>
          <p:nvPr/>
        </p:nvSpPr>
        <p:spPr>
          <a:xfrm>
            <a:off x="7909560" y="33101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43名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09160" y="351129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操作の複雑さ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35040" y="3529584"/>
            <a:ext cx="1275907" cy="1645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3" name="Text 51"/>
          <p:cNvSpPr/>
          <p:nvPr/>
        </p:nvSpPr>
        <p:spPr>
          <a:xfrm>
            <a:off x="7356667" y="35112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30名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09160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ルール相違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35040" y="3730752"/>
            <a:ext cx="1233377" cy="16459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6" name="Text 54"/>
          <p:cNvSpPr/>
          <p:nvPr/>
        </p:nvSpPr>
        <p:spPr>
          <a:xfrm>
            <a:off x="7314137" y="37124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29名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09160" y="3913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端末破損の不安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35040" y="3931920"/>
            <a:ext cx="1063256" cy="164592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59" name="Text 57"/>
          <p:cNvSpPr/>
          <p:nvPr/>
        </p:nvSpPr>
        <p:spPr>
          <a:xfrm>
            <a:off x="7144016" y="39136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25名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09160" y="41148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入力の手間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35040" y="4133088"/>
            <a:ext cx="850605" cy="164592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62" name="Text 60"/>
          <p:cNvSpPr/>
          <p:nvPr/>
        </p:nvSpPr>
        <p:spPr>
          <a:xfrm>
            <a:off x="6931365" y="4114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20名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09160" y="4389120"/>
            <a:ext cx="3840480" cy="25603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4" name="Text 62"/>
          <p:cNvSpPr/>
          <p:nvPr/>
        </p:nvSpPr>
        <p:spPr>
          <a:xfrm>
            <a:off x="4800600" y="4407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最大の障壁は「時間不足」— テクノロジー拒否ではない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出典: 株式会社サンライズ主導・複数施設協力 現場職員アンケート n=96（2025年実施）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調査結果 ③  年齢はICT導入の障壁ではない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相関分析 r≈-0.13 — 統計的に年齢と期待度に有意な関係なし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「高齢の職員がデジタル化に抵抗する」という固定観念は、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データによって否定されました。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5029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221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年代別 ICT改善期待度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14600"/>
          <a:ext cx="4754880" cy="164592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18872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年代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回答者数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期待度平均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前向き率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4.33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98DB"/>
                          </a:solidFill>
                        </a:rPr>
                        <a:t>3.88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31名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98DB"/>
                          </a:solidFill>
                        </a:rPr>
                        <a:t>3.55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50代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37名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39C12"/>
                          </a:solidFill>
                        </a:rPr>
                        <a:t>3.35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60代以上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17名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3.53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88%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0" y="2148840"/>
            <a:ext cx="3017520" cy="2286000"/>
          </a:xfrm>
          <a:prstGeom prst="rect">
            <a:avLst/>
          </a:prstGeom>
          <a:solidFill>
            <a:srgbClr val="FDF8F0"/>
          </a:solidFill>
          <a:ln/>
        </p:spPr>
      </p:sp>
      <p:sp>
        <p:nvSpPr>
          <p:cNvPr id="12" name="Text 9"/>
          <p:cNvSpPr/>
          <p:nvPr/>
        </p:nvSpPr>
        <p:spPr>
          <a:xfrm>
            <a:off x="580644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統計分析の結論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06440" y="2560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 ≈ -0.13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80644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年齢×期待度の相関係数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06440" y="3337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｜r｜&lt; 0.2は「ほぼ無相関」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60代の期待度（3.53）は50代（3.35）を上回っています。DXの障壁は年齢ではなく「使いにくいシステム」と「時間不足」です。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出典: アンケートQ26×Q2 クロス集計 n=96。相関: ピアソンの積率相関係数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調査結果 ④  現場の声 — 自由記述テキストマイニング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支援員が本当に記録したいのは「表情」と「変化」という非構造化データ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600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1600200" cy="45720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80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変化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22回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利用者の状態変化を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記録したい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1188720"/>
            <a:ext cx="1600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188720"/>
            <a:ext cx="16002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280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表情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1168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21回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笑顔や表情の変化を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大切にしたい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49040" y="1188720"/>
            <a:ext cx="1600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188720"/>
            <a:ext cx="16002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280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時間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4904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18回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記録時間を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削減したい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0" y="1188720"/>
            <a:ext cx="1600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188720"/>
            <a:ext cx="160020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280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共有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8640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16回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職員間の情報共有を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円滑にしたい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23760" y="1188720"/>
            <a:ext cx="1600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1188720"/>
            <a:ext cx="1600200" cy="4572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280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D6D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監査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2376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12回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20574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監査対応の負担を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D6D7E"/>
                </a:solidFill>
              </a:rPr>
              <a:t>軽減したい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FDF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2つの重要な心理因子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347472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34930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因子① 心理的安全性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36850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端末破損への不安、個人情報保護への懸念が導入の心理的ハードル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3657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0873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因子② 事務削減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42793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二重書き・清書作業の撤廃が最も強く求められる改善ポイント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3383280"/>
            <a:ext cx="3931920" cy="11887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429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行政への示唆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36576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CDDEE"/>
                </a:solidFill>
              </a:rPr>
              <a:t>支援員は「完食/残食」の数値以上に、表情のトーン・声の出し方・目線の動きなど微細な変化を重視しています。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CDDEE"/>
                </a:solidFill>
              </a:rPr>
              <a:t>しかし手書き記録では清書の手間により、この「専門性の真髄」が削ぎ落とされています。ICT化は記録の効率化だけでなく、支援品質の根本的な向上に直結します。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出典: アンケートQ31 自由記述欄 形態素解析（MeCab使用）n=96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調査結果 ⑤  事故予防と情報共有の課題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失禁事故の主因は「情報共有不足」— 個人の注意力ではなくシステムの問題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失禁事故の主因（Q15 / 複数回答）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定時誘導が実施できない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737360"/>
            <a:ext cx="2286000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利用者本人の無自覚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331720"/>
            <a:ext cx="1655379" cy="228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197411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水分摂取量の管理困難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2926080"/>
            <a:ext cx="1537138" cy="2286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407917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情報共有不足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3520440"/>
            <a:ext cx="1418897" cy="228600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9" name="Text 17"/>
          <p:cNvSpPr/>
          <p:nvPr/>
        </p:nvSpPr>
        <p:spPr>
          <a:xfrm>
            <a:off x="3960929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4114800"/>
            <a:ext cx="475488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330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上位要因はすべて「情報の適時共有」で改善可能な構造的問題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1188720"/>
            <a:ext cx="3017520" cy="3291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構造的リスクの本質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事故は「人災」ではなく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「情報の空白」による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システムエラー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06440" y="22860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CDDEE"/>
                </a:solidFill>
              </a:rPr>
              <a:t>定時誘導の失敗（58名が指摘）は、排泄パターンの記録・共有が不十分であることに起因します。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CDDEE"/>
                </a:solidFill>
              </a:rPr>
              <a:t>情報共有不足（36名）は、紙記録では物理的に不可能な「リアルタイム共有」の必要性を示しています。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CDDEE"/>
                </a:solidFill>
              </a:rPr>
              <a:t>ICTによるデータ共有・AI予測により、事故の大幅削減が期待されます。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出典: 株式会社サンライズ主導・複数施設協力 現場職員アンケート Q15（複数回答可）n=96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調査結果 ⑥  デジタルリテラシーの現状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スマホ操作に一定の習熟度あり — 適切なUI設計で導入可能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スマホ操作習熟度（Q20 / 5点尺度）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5 非常に慣れている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1645920"/>
            <a:ext cx="987552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3163824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18名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4 慣れている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1965960"/>
            <a:ext cx="1371600" cy="1828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3547872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25名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3 普通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2286000"/>
            <a:ext cx="1371600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2240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25名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2 やや不慣れ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2606040"/>
            <a:ext cx="932688" cy="18288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17名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1 不慣れ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2926080"/>
            <a:ext cx="603504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2779776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</a:rPr>
              <a:t>11名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3337560"/>
            <a:ext cx="35661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355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71%（68名）が「3（普通）」以上 — 基盤は整っている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必要とされる機能（Q23 / 複数回答）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600200"/>
            <a:ext cx="3840480" cy="594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1600200"/>
            <a:ext cx="54864" cy="594360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基本情報の共有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16459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1920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利用者基本属性の施設間共有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2377440"/>
            <a:ext cx="3840480" cy="594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2377440"/>
            <a:ext cx="54864" cy="59436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423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支援記録のデジタル化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55名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2697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日々の記録を電子化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3154680"/>
            <a:ext cx="3840480" cy="594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8" name="Shape 36"/>
          <p:cNvSpPr/>
          <p:nvPr/>
        </p:nvSpPr>
        <p:spPr>
          <a:xfrm>
            <a:off x="4709160" y="3154680"/>
            <a:ext cx="54864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200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AI分析機能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9520" y="32004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40名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92040" y="34747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データに基づく支援提案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09160" y="3977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不安因子（Q24）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41788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操作の複雑さ(30名)　端末破損(25名)　入力の手間(20名)　私用との混同(15名)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D7E"/>
                </a:solidFill>
              </a:rPr>
              <a:t>出典: 株式会社サンライズ主導・複数施設協力 現場職員アンケート n=96（2025年実施）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調査結果の総括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6つの発見が示す、ICT導入の必要性と実現可能性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AABB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1188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2984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86%が手書き記録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労働時間の28.7%が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書類作業に消滅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188720"/>
            <a:ext cx="54864" cy="118872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12984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86%がICT導入に前向き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7472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「使いたくない」は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わずか14%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11887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188720"/>
            <a:ext cx="54864" cy="1188720"/>
          </a:xfrm>
          <a:prstGeom prst="rect">
            <a:avLst/>
          </a:prstGeom>
          <a:solidFill>
            <a:srgbClr val="0B728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12984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年齢は障壁ではない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309360" y="1691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r≈-0.13 統計的に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無相関を実証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25603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974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26700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「表情」と「変化」を残したい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008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手書きでは専門性の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真髄が失われている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291840" y="25603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91840" y="2560320"/>
            <a:ext cx="54864" cy="1188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697480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49040" y="26700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事故は情報の空白が原因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47472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定時誘導失敗58名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情報共有不足36名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126480" y="25603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26480" y="2560320"/>
            <a:ext cx="54864" cy="1188720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69748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83680" y="267004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最大の障壁は時間不足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309360" y="3063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テクノロジー拒否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D6D7E"/>
                </a:solidFill>
              </a:rPr>
              <a:t>ではない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29"/>
          <p:cNvSpPr/>
          <p:nvPr/>
        </p:nvSpPr>
        <p:spPr>
          <a:xfrm>
            <a:off x="640080" y="4160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結論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現場は変化を強く求めており、受け入れ態勢も整っています。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必要なのは「適切に設計されたICTシステム」と「伴走型の導入支援体制」です。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調査が示した課題への回答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現場6年間の実践知を、テクノロジーで全国に届ける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34640"/>
            <a:ext cx="3474720" cy="502920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86%が手書き、28.7%の時間消滅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0" y="28346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834640"/>
            <a:ext cx="4069080" cy="502920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8346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音声入力で記録負担80%削減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3474720" cy="502920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事故の主因は「情報の空白」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0" y="34747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26280" y="3474720"/>
            <a:ext cx="4069080" cy="502920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34747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AI予測＋リアルタイム共有で予防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474720" cy="502920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最大の障壁は「時間不足」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0" y="41148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26280" y="4114800"/>
            <a:ext cx="4069080" cy="502920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41148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自動蓄積・自動分析で時間創出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4572000"/>
            <a:ext cx="27432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Care 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サンライズの開発哲学 — 現場が先、テクノロジーが後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6年間の施設運営で磨き上げた支援メソッドを、そのままデジタル化するアプローチ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51960" cy="3657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425196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274320" cy="27432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自立支援マトリックス（13段階×4層）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6276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面談から自立まで13のステップを定義。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各ステップに「理想の行動」「注意行動」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「危険行動」を明文化。新人でもベテランと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同じ品質の支援が可能に。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記録は「副産物」— 支援が主役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7706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記録のための記録ではなく、支援行動の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結果として記録が自動蓄積される設計。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音声入力→AI分類→構造化データ化。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274320" cy="274320"/>
          </a:xfrm>
          <a:prstGeom prst="ellipse">
            <a:avLst/>
          </a:prstGeom>
          <a:solidFill>
            <a:srgbClr val="0B728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3630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現場の知恵をAIが増幅する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9136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ベテラン職員の暗黙知をデータ化し、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AIが全職員に配信。退職しても知識は残る。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「見て覚えろ」からの脱却。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92040" y="1143000"/>
            <a:ext cx="3794760" cy="164592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1143000"/>
            <a:ext cx="54864" cy="1645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234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従来のICT導入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15544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技術者が設計 → 現場に合わない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記録の電子化が目的化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導入後に形骸化（投資が無駄に）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2971800"/>
            <a:ext cx="3794760" cy="18288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971800"/>
            <a:ext cx="54864" cy="1828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0632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Universal Care 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38328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現場の支援メソッドをそのままデジタル化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支援の質そのものが変わる（記録は副産物）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音声入力＋AIで「使わざるを得ない」設計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38テーブル・47画面・施設横断ID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虐待予防 × AI — 「事後対応」から「予防」への転換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マトリックスが定義する「危険パス」をAIがリアルタイムで検知し、虐待を未然に防ぐ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知的障害者への虐待通報件数は年間2,000件超。通報は氷山の一角。「起きてから対応」では手遅れ。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24328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2624328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魔の支援ループ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2441448" cy="4114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偏見 → 抑圧 → 強引 → 強要 → 虐待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2258568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AI検知ポイント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92608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記録の感情語分析、否定表現の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増加傾向を検知 → 管理者アラート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13916" y="3840480"/>
            <a:ext cx="310896" cy="310896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1613916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初期段階で自動検知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64408" y="1600200"/>
            <a:ext cx="2624328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264408" y="1600200"/>
            <a:ext cx="2624328" cy="3200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3264408" y="16002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作業増量ループ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2011680"/>
            <a:ext cx="2441448" cy="41148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201168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自立支援量↑ → 作業量↑ → ムダ → 品質低下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47288" y="2560320"/>
            <a:ext cx="2258568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265176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AI検知ポイント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92608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業務量と記録品質の相関分析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負荷偏りを検知 → 分散提案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21124" y="3840480"/>
            <a:ext cx="310896" cy="310896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7" name="Text 25"/>
          <p:cNvSpPr/>
          <p:nvPr/>
        </p:nvSpPr>
        <p:spPr>
          <a:xfrm>
            <a:off x="4421124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55848" y="420624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初期段階で自動検知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71616" y="1600200"/>
            <a:ext cx="2624328" cy="3063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71616" y="1600200"/>
            <a:ext cx="2624328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6071616" y="1600200"/>
            <a:ext cx="262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推測支援サイクル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3056" y="2011680"/>
            <a:ext cx="2441448" cy="411480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33" name="Text 31"/>
          <p:cNvSpPr/>
          <p:nvPr/>
        </p:nvSpPr>
        <p:spPr>
          <a:xfrm>
            <a:off x="6163056" y="201168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推測支援 → 記録しない → だろう支援 → 事故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54496" y="2560320"/>
            <a:ext cx="2258568" cy="0"/>
          </a:xfrm>
          <a:prstGeom prst="line">
            <a:avLst/>
          </a:prstGeom>
          <a:noFill/>
          <a:ln w="635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08776" y="265176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AI検知ポイント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08776" y="2926080"/>
            <a:ext cx="2350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記録頻度・詳細度の低下を検知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根拠不足の支援を警告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28332" y="3840480"/>
            <a:ext cx="310896" cy="310896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38" name="Text 36"/>
          <p:cNvSpPr/>
          <p:nvPr/>
        </p:nvSpPr>
        <p:spPr>
          <a:xfrm>
            <a:off x="7228332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63056" y="4206240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初期段階で自動検知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虐待が「起きる前」にAIが兆候を検知し、予防的アクションを促す仕組み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杉並区との共創に向けて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開発・実証に約1年。その間に信頼関係をさらに深め、完成後は速やかに区内施設へお届けしたい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77640" cy="3474720"/>
          </a:xfrm>
          <a:prstGeom prst="rect">
            <a:avLst/>
          </a:prstGeom>
          <a:solidFill>
            <a:srgbClr val="FDF6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3977640" cy="64008"/>
          </a:xfrm>
          <a:prstGeom prst="rect">
            <a:avLst/>
          </a:prstGeom>
          <a:solidFill>
            <a:srgbClr val="D4A7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7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開発期間中（これから約1年間）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今お願いしたいこと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237744" cy="237744"/>
          </a:xfrm>
          <a:prstGeom prst="ellipse">
            <a:avLst/>
          </a:prstGeom>
          <a:solidFill>
            <a:srgbClr val="D4A76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情報共有・意見交換の場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開発の進捗を定期的にご報告し、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区内施設の課題感やご意見を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お聞かせいただきたく存じます。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237744" cy="237744"/>
          </a:xfrm>
          <a:prstGeom prst="ellipse">
            <a:avLst/>
          </a:prstGeom>
          <a:solidFill>
            <a:srgbClr val="D4A76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816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現場の声の橋渡し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区内施設の職員さまが日頃感じている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困りごとを、CareOSの設計に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直接反映させてください。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3657600"/>
            <a:ext cx="237744" cy="237744"/>
          </a:xfrm>
          <a:prstGeom prst="ellipse">
            <a:avLst/>
          </a:prstGeom>
          <a:solidFill>
            <a:srgbClr val="D4A76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3639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政策動向の情報交換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都加算や補助金制度の最新動向を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共有いただければ、施設側が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活用しやすい設計にできます。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60520" y="24688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D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約1年後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60520" y="2697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709160" y="1143000"/>
            <a:ext cx="3977640" cy="34747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1143000"/>
            <a:ext cx="3977640" cy="6400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CareOS完成後（約1年後〜）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16459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その時にご相談したいこと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2011680"/>
            <a:ext cx="237744" cy="237744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1993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区内施設へのご紹介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CareOSはSaaS型サブスクリプション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サービスです。区からのご推薦が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あれば導入判断の大きな後押しに。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37760" y="2834640"/>
            <a:ext cx="237744" cy="237744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834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2816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都加算・補助金活用の支援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導入施設が都加算や国のICT補助金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（補助率3/4）を活用できるよう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区としての情報提供をお願いします。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37760" y="3657600"/>
            <a:ext cx="237744" cy="237744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03520" y="3639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杉並区発の福祉DXモデル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3886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複数施設が導入すれば、ユニバーサル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IDで施設間データ連携が実現。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全国に先駆けたモデルケースに。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日頃よりお世話になっている杉並区とともに、心の通った温かいDXを実現したいと考えております。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導入施設が活用できる既存制度・補助金一覧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CareOS完成後、区内施設がサブスクリプション導入する際に活用可能な制度。都加算が導入コスト削減のカギ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solidFill>
            <a:srgbClr val="FDF6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7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以下は約1年後、CareOS完成後に各施設が導入を検討される際の参考情報です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280160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国（厚労省）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ICT導入支援事業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上限 100万円/施設 ｜ 補助率 3/4 ｜ 記録ソフト・タブレット等が対象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介護テクノロジー導入支援事業（令和8年度〜）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見守りセンサー・AI解析等の先端技術導入を支援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1280160" cy="274320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東京都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27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72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都加算（ICT活用による人員配置基準緩和）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284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CareOS導入施設は都加算の対象となり得る。継続的なコスト削減効果が最も大きい制度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5844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障害者支援施設デジタル技術等活用支援モデル事業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85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モデル施設指定を受ければ、導入コストを都が支援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0416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デジタル機器導入促進支援事業（福祉保健財団）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242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タブレット・通信機器等のハードウェア導入費を補助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2011680" cy="2743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区にお願いしたいこと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導入希望施設への推薦 ｜ 都加算・補助金の情報提供 ｜ 施設間情報交換会の設置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ご清覧ありがとうございます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1828800"/>
            <a:ext cx="27432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テクノロジーは手段にすぎません。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大切なのは、利用者一人ひとりの笑顔と、</a:t>
            </a:r>
            <a:endParaRPr lang="en-US" sz="13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それを支える職員の誇りです。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杉並区とともに、心の通った温かいDXを実現させてください。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931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調査実施・報告書作成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株式会社サンライズ（本社: 東京都多摩市 / 事業所: 横浜市）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開発中の情報共有・施設見学のご案内など、お気軽にお声がけください。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障害福祉施設における業務実態調査報告書</dc:title>
  <dc:subject>PptxGenJS Presentation</dc:subject>
  <dc:creator>株式会社サンライズ</dc:creator>
  <cp:lastModifiedBy>株式会社サンライズ</cp:lastModifiedBy>
  <cp:revision>1</cp:revision>
  <dcterms:created xsi:type="dcterms:W3CDTF">2026-03-16T08:59:52Z</dcterms:created>
  <dcterms:modified xsi:type="dcterms:W3CDTF">2026-03-16T08:59:52Z</dcterms:modified>
</cp:coreProperties>
</file>