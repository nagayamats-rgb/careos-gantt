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731520" y="731520"/>
            <a:ext cx="13167360" cy="457200"/>
          </a:xfrm>
          <a:prstGeom prst="rect">
            <a:avLst/>
          </a:prstGeom>
          <a:noFill/>
          <a:ln/>
        </p:spPr>
        <p:txBody>
          <a:bodyPr wrap="square" rtlCol="0" anchor="ctr"/>
          <a:lstStyle/>
          <a:p>
            <a:pPr indent="0" marL="0">
              <a:buNone/>
            </a:pPr>
            <a:r>
              <a:rPr lang="en-US" sz="1600" dirty="0">
                <a:solidFill>
                  <a:srgbClr val="B0BEC5"/>
                </a:solidFill>
                <a:latin typeface="Hiragino Sans W3" pitchFamily="34" charset="0"/>
                <a:ea typeface="Hiragino Sans W3" pitchFamily="34" charset="-122"/>
                <a:cs typeface="Hiragino Sans W3" pitchFamily="34" charset="-120"/>
              </a:rPr>
              <a:t>スタートアップ知的財産支援事業</a:t>
            </a:r>
            <a:endParaRPr lang="en-US" sz="1600" dirty="0"/>
          </a:p>
        </p:txBody>
      </p:sp>
      <p:sp>
        <p:nvSpPr>
          <p:cNvPr id="3" name="Text 1"/>
          <p:cNvSpPr/>
          <p:nvPr/>
        </p:nvSpPr>
        <p:spPr>
          <a:xfrm>
            <a:off x="731520" y="1371600"/>
            <a:ext cx="13167360" cy="914400"/>
          </a:xfrm>
          <a:prstGeom prst="rect">
            <a:avLst/>
          </a:prstGeom>
          <a:noFill/>
          <a:ln/>
        </p:spPr>
        <p:txBody>
          <a:bodyPr wrap="square" rtlCol="0" anchor="ctr"/>
          <a:lstStyle/>
          <a:p>
            <a:pPr indent="0" marL="0">
              <a:buNone/>
            </a:pPr>
            <a:r>
              <a:rPr lang="en-US" sz="3800" b="1" dirty="0">
                <a:solidFill>
                  <a:srgbClr val="FFFFFF"/>
                </a:solidFill>
                <a:latin typeface="Hiragino Sans W6" pitchFamily="34" charset="0"/>
                <a:ea typeface="Hiragino Sans W6" pitchFamily="34" charset="-122"/>
                <a:cs typeface="Hiragino Sans W6" pitchFamily="34" charset="-120"/>
              </a:rPr>
              <a:t>ハンズオン支援 補足説明資料</a:t>
            </a:r>
            <a:endParaRPr lang="en-US" sz="3800" dirty="0"/>
          </a:p>
        </p:txBody>
      </p:sp>
      <p:sp>
        <p:nvSpPr>
          <p:cNvPr id="4" name="Text 2"/>
          <p:cNvSpPr/>
          <p:nvPr/>
        </p:nvSpPr>
        <p:spPr>
          <a:xfrm>
            <a:off x="731520" y="2468880"/>
            <a:ext cx="13167360" cy="457200"/>
          </a:xfrm>
          <a:prstGeom prst="rect">
            <a:avLst/>
          </a:prstGeom>
          <a:noFill/>
          <a:ln/>
        </p:spPr>
        <p:txBody>
          <a:bodyPr wrap="square" rtlCol="0" anchor="ctr"/>
          <a:lstStyle/>
          <a:p>
            <a:pPr indent="0" marL="0">
              <a:buNone/>
            </a:pPr>
            <a:r>
              <a:rPr lang="en-US" sz="1800" dirty="0">
                <a:solidFill>
                  <a:srgbClr val="4A90D9"/>
                </a:solidFill>
                <a:latin typeface="Hiragino Sans W3" pitchFamily="34" charset="0"/>
                <a:ea typeface="Hiragino Sans W3" pitchFamily="34" charset="-122"/>
                <a:cs typeface="Hiragino Sans W3" pitchFamily="34" charset="-120"/>
              </a:rPr>
              <a:t>AI支援型・施設横断福祉記録SaaS「Universal Care OS」の研究開発</a:t>
            </a:r>
            <a:endParaRPr lang="en-US" sz="1800" dirty="0"/>
          </a:p>
        </p:txBody>
      </p:sp>
      <p:sp>
        <p:nvSpPr>
          <p:cNvPr id="5" name="Shape 3"/>
          <p:cNvSpPr/>
          <p:nvPr/>
        </p:nvSpPr>
        <p:spPr>
          <a:xfrm>
            <a:off x="731520" y="3200400"/>
            <a:ext cx="3657600" cy="27432"/>
          </a:xfrm>
          <a:prstGeom prst="rect">
            <a:avLst/>
          </a:prstGeom>
          <a:solidFill>
            <a:srgbClr val="4A90D9"/>
          </a:solidFill>
          <a:ln/>
        </p:spPr>
      </p:sp>
      <p:sp>
        <p:nvSpPr>
          <p:cNvPr id="6" name="Text 4"/>
          <p:cNvSpPr/>
          <p:nvPr/>
        </p:nvSpPr>
        <p:spPr>
          <a:xfrm>
            <a:off x="731520" y="3474720"/>
            <a:ext cx="7315200" cy="1645920"/>
          </a:xfrm>
          <a:prstGeom prst="rect">
            <a:avLst/>
          </a:prstGeom>
          <a:noFill/>
          <a:ln/>
        </p:spPr>
        <p:txBody>
          <a:bodyPr wrap="square" rtlCol="0" anchor="ctr"/>
          <a:lstStyle/>
          <a:p>
            <a:pPr indent="0" marL="0">
              <a:buNone/>
            </a:pPr>
            <a:r>
              <a:rPr lang="en-US" sz="1400" dirty="0">
                <a:solidFill>
                  <a:srgbClr val="FFFFFF"/>
                </a:solidFill>
                <a:latin typeface="Hiragino Sans W6" pitchFamily="34" charset="0"/>
                <a:ea typeface="Hiragino Sans W6" pitchFamily="34" charset="-122"/>
                <a:cs typeface="Hiragino Sans W6" pitchFamily="34" charset="-120"/>
              </a:rPr>
              <a:t>申請者：株式会社サンライズ</a:t>
            </a:r>
            <a:endParaRPr lang="en-US" sz="1400" dirty="0"/>
          </a:p>
          <a:p>
            <a:pPr indent="0" marL="0">
              <a:buNone/>
            </a:pPr>
            <a:r>
              <a:rPr lang="en-US" sz="1200" dirty="0">
                <a:solidFill>
                  <a:srgbClr val="B0BEC5"/>
                </a:solidFill>
                <a:latin typeface="Hiragino Sans W3" pitchFamily="34" charset="0"/>
                <a:ea typeface="Hiragino Sans W3" pitchFamily="34" charset="-122"/>
                <a:cs typeface="Hiragino Sans W3" pitchFamily="34" charset="-120"/>
              </a:rPr>
              <a:t>代表取締役 大野 孝徳</a:t>
            </a:r>
            <a:endParaRPr lang="en-US" sz="1400" dirty="0"/>
          </a:p>
          <a:p>
            <a:pPr indent="0" marL="0">
              <a:buNone/>
            </a:pPr>
            <a:endParaRPr lang="en-US" sz="1400" dirty="0"/>
          </a:p>
          <a:p>
            <a:pPr indent="0" marL="0">
              <a:buNone/>
            </a:pPr>
            <a:r>
              <a:rPr lang="en-US" sz="1200" dirty="0">
                <a:solidFill>
                  <a:srgbClr val="B0BEC5"/>
                </a:solidFill>
                <a:latin typeface="Hiragino Sans W3" pitchFamily="34" charset="0"/>
                <a:ea typeface="Hiragino Sans W3" pitchFamily="34" charset="-122"/>
                <a:cs typeface="Hiragino Sans W3" pitchFamily="34" charset="-120"/>
              </a:rPr>
              <a:t>令和8年4月　東京都中小企業振興公社 御中</a:t>
            </a:r>
            <a:endParaRPr lang="en-US" sz="1400" dirty="0"/>
          </a:p>
        </p:txBody>
      </p:sp>
      <p:sp>
        <p:nvSpPr>
          <p:cNvPr id="7" name="Text 5"/>
          <p:cNvSpPr/>
          <p:nvPr/>
        </p:nvSpPr>
        <p:spPr>
          <a:xfrm>
            <a:off x="9144000" y="2926080"/>
            <a:ext cx="4572000" cy="365760"/>
          </a:xfrm>
          <a:prstGeom prst="rect">
            <a:avLst/>
          </a:prstGeom>
          <a:noFill/>
          <a:ln/>
        </p:spPr>
        <p:txBody>
          <a:bodyPr wrap="square" rtlCol="0" anchor="ctr"/>
          <a:lstStyle/>
          <a:p>
            <a:pPr indent="0" marL="0">
              <a:buNone/>
            </a:pPr>
            <a:r>
              <a:rPr lang="en-US" sz="1300" dirty="0">
                <a:solidFill>
                  <a:srgbClr val="4A90D9"/>
                </a:solidFill>
                <a:latin typeface="Hiragino Sans W6" pitchFamily="34" charset="0"/>
                <a:ea typeface="Hiragino Sans W6" pitchFamily="34" charset="-122"/>
                <a:cs typeface="Hiragino Sans W6" pitchFamily="34" charset="-120"/>
              </a:rPr>
              <a:t>本資料の構成</a:t>
            </a:r>
            <a:endParaRPr lang="en-US" sz="1300" dirty="0"/>
          </a:p>
        </p:txBody>
      </p:sp>
      <p:sp>
        <p:nvSpPr>
          <p:cNvPr id="8" name="Shape 6"/>
          <p:cNvSpPr/>
          <p:nvPr/>
        </p:nvSpPr>
        <p:spPr>
          <a:xfrm>
            <a:off x="9144000" y="3474720"/>
            <a:ext cx="73152" cy="365760"/>
          </a:xfrm>
          <a:prstGeom prst="rect">
            <a:avLst/>
          </a:prstGeom>
          <a:solidFill>
            <a:srgbClr val="2980B9"/>
          </a:solidFill>
          <a:ln/>
        </p:spPr>
      </p:sp>
      <p:sp>
        <p:nvSpPr>
          <p:cNvPr id="9" name="Text 7"/>
          <p:cNvSpPr/>
          <p:nvPr/>
        </p:nvSpPr>
        <p:spPr>
          <a:xfrm>
            <a:off x="9418320" y="3474720"/>
            <a:ext cx="822960" cy="365760"/>
          </a:xfrm>
          <a:prstGeom prst="rect">
            <a:avLst/>
          </a:prstGeom>
          <a:noFill/>
          <a:ln/>
        </p:spPr>
        <p:txBody>
          <a:bodyPr wrap="square" rtlCol="0" anchor="ctr"/>
          <a:lstStyle/>
          <a:p>
            <a:pPr indent="0" marL="0">
              <a:buNone/>
            </a:pPr>
            <a:r>
              <a:rPr lang="en-US" sz="1000" dirty="0">
                <a:solidFill>
                  <a:srgbClr val="2980B9"/>
                </a:solidFill>
                <a:latin typeface="Hiragino Sans W6" pitchFamily="34" charset="0"/>
                <a:ea typeface="Hiragino Sans W6" pitchFamily="34" charset="-122"/>
                <a:cs typeface="Hiragino Sans W6" pitchFamily="34" charset="-120"/>
              </a:rPr>
              <a:t>p.2-7</a:t>
            </a:r>
            <a:endParaRPr lang="en-US" sz="1000" dirty="0"/>
          </a:p>
        </p:txBody>
      </p:sp>
      <p:sp>
        <p:nvSpPr>
          <p:cNvPr id="10" name="Text 8"/>
          <p:cNvSpPr/>
          <p:nvPr/>
        </p:nvSpPr>
        <p:spPr>
          <a:xfrm>
            <a:off x="10241280" y="3474720"/>
            <a:ext cx="3840480" cy="365760"/>
          </a:xfrm>
          <a:prstGeom prst="rect">
            <a:avLst/>
          </a:prstGeom>
          <a:noFill/>
          <a:ln/>
        </p:spPr>
        <p:txBody>
          <a:bodyPr wrap="square" rtlCol="0" anchor="ctr"/>
          <a:lstStyle/>
          <a:p>
            <a:pPr indent="0" marL="0">
              <a:buNone/>
            </a:pPr>
            <a:r>
              <a:rPr lang="en-US" sz="1100" dirty="0">
                <a:solidFill>
                  <a:srgbClr val="FFFFFF"/>
                </a:solidFill>
                <a:latin typeface="Hiragino Sans W3" pitchFamily="34" charset="0"/>
                <a:ea typeface="Hiragino Sans W3" pitchFamily="34" charset="-122"/>
                <a:cs typeface="Hiragino Sans W3" pitchFamily="34" charset="-120"/>
              </a:rPr>
              <a:t>技術性の補足（新規性・優位性・応用可能性）</a:t>
            </a:r>
            <a:endParaRPr lang="en-US" sz="1100" dirty="0"/>
          </a:p>
        </p:txBody>
      </p:sp>
      <p:sp>
        <p:nvSpPr>
          <p:cNvPr id="11" name="Shape 9"/>
          <p:cNvSpPr/>
          <p:nvPr/>
        </p:nvSpPr>
        <p:spPr>
          <a:xfrm>
            <a:off x="9144000" y="3977640"/>
            <a:ext cx="73152" cy="365760"/>
          </a:xfrm>
          <a:prstGeom prst="rect">
            <a:avLst/>
          </a:prstGeom>
          <a:solidFill>
            <a:srgbClr val="27AE60"/>
          </a:solidFill>
          <a:ln/>
        </p:spPr>
      </p:sp>
      <p:sp>
        <p:nvSpPr>
          <p:cNvPr id="12" name="Text 10"/>
          <p:cNvSpPr/>
          <p:nvPr/>
        </p:nvSpPr>
        <p:spPr>
          <a:xfrm>
            <a:off x="9418320" y="3977640"/>
            <a:ext cx="822960" cy="365760"/>
          </a:xfrm>
          <a:prstGeom prst="rect">
            <a:avLst/>
          </a:prstGeom>
          <a:noFill/>
          <a:ln/>
        </p:spPr>
        <p:txBody>
          <a:bodyPr wrap="square" rtlCol="0" anchor="ctr"/>
          <a:lstStyle/>
          <a:p>
            <a:pPr indent="0" marL="0">
              <a:buNone/>
            </a:pPr>
            <a:r>
              <a:rPr lang="en-US" sz="1000" dirty="0">
                <a:solidFill>
                  <a:srgbClr val="27AE60"/>
                </a:solidFill>
                <a:latin typeface="Hiragino Sans W6" pitchFamily="34" charset="0"/>
                <a:ea typeface="Hiragino Sans W6" pitchFamily="34" charset="-122"/>
                <a:cs typeface="Hiragino Sans W6" pitchFamily="34" charset="-120"/>
              </a:rPr>
              <a:t>p.8-11</a:t>
            </a:r>
            <a:endParaRPr lang="en-US" sz="1000" dirty="0"/>
          </a:p>
        </p:txBody>
      </p:sp>
      <p:sp>
        <p:nvSpPr>
          <p:cNvPr id="13" name="Text 11"/>
          <p:cNvSpPr/>
          <p:nvPr/>
        </p:nvSpPr>
        <p:spPr>
          <a:xfrm>
            <a:off x="10241280" y="3977640"/>
            <a:ext cx="3840480" cy="365760"/>
          </a:xfrm>
          <a:prstGeom prst="rect">
            <a:avLst/>
          </a:prstGeom>
          <a:noFill/>
          <a:ln/>
        </p:spPr>
        <p:txBody>
          <a:bodyPr wrap="square" rtlCol="0" anchor="ctr"/>
          <a:lstStyle/>
          <a:p>
            <a:pPr indent="0" marL="0">
              <a:buNone/>
            </a:pPr>
            <a:r>
              <a:rPr lang="en-US" sz="1100" dirty="0">
                <a:solidFill>
                  <a:srgbClr val="FFFFFF"/>
                </a:solidFill>
                <a:latin typeface="Hiragino Sans W3" pitchFamily="34" charset="0"/>
                <a:ea typeface="Hiragino Sans W3" pitchFamily="34" charset="-122"/>
                <a:cs typeface="Hiragino Sans W3" pitchFamily="34" charset="-120"/>
              </a:rPr>
              <a:t>事業性の補足（市場・独自性・開発実績）</a:t>
            </a:r>
            <a:endParaRPr lang="en-US" sz="1100" dirty="0"/>
          </a:p>
        </p:txBody>
      </p:sp>
      <p:sp>
        <p:nvSpPr>
          <p:cNvPr id="14" name="Shape 12"/>
          <p:cNvSpPr/>
          <p:nvPr/>
        </p:nvSpPr>
        <p:spPr>
          <a:xfrm>
            <a:off x="9144000" y="4480560"/>
            <a:ext cx="73152" cy="365760"/>
          </a:xfrm>
          <a:prstGeom prst="rect">
            <a:avLst/>
          </a:prstGeom>
          <a:solidFill>
            <a:srgbClr val="D35400"/>
          </a:solidFill>
          <a:ln/>
        </p:spPr>
      </p:sp>
      <p:sp>
        <p:nvSpPr>
          <p:cNvPr id="15" name="Text 13"/>
          <p:cNvSpPr/>
          <p:nvPr/>
        </p:nvSpPr>
        <p:spPr>
          <a:xfrm>
            <a:off x="9418320" y="4480560"/>
            <a:ext cx="822960" cy="365760"/>
          </a:xfrm>
          <a:prstGeom prst="rect">
            <a:avLst/>
          </a:prstGeom>
          <a:noFill/>
          <a:ln/>
        </p:spPr>
        <p:txBody>
          <a:bodyPr wrap="square" rtlCol="0" anchor="ctr"/>
          <a:lstStyle/>
          <a:p>
            <a:pPr indent="0" marL="0">
              <a:buNone/>
            </a:pPr>
            <a:r>
              <a:rPr lang="en-US" sz="1000" dirty="0">
                <a:solidFill>
                  <a:srgbClr val="D35400"/>
                </a:solidFill>
                <a:latin typeface="Hiragino Sans W6" pitchFamily="34" charset="0"/>
                <a:ea typeface="Hiragino Sans W6" pitchFamily="34" charset="-122"/>
                <a:cs typeface="Hiragino Sans W6" pitchFamily="34" charset="-120"/>
              </a:rPr>
              <a:t>p.12-14</a:t>
            </a:r>
            <a:endParaRPr lang="en-US" sz="1000" dirty="0"/>
          </a:p>
        </p:txBody>
      </p:sp>
      <p:sp>
        <p:nvSpPr>
          <p:cNvPr id="16" name="Text 14"/>
          <p:cNvSpPr/>
          <p:nvPr/>
        </p:nvSpPr>
        <p:spPr>
          <a:xfrm>
            <a:off x="10241280" y="4480560"/>
            <a:ext cx="3840480" cy="365760"/>
          </a:xfrm>
          <a:prstGeom prst="rect">
            <a:avLst/>
          </a:prstGeom>
          <a:noFill/>
          <a:ln/>
        </p:spPr>
        <p:txBody>
          <a:bodyPr wrap="square" rtlCol="0" anchor="ctr"/>
          <a:lstStyle/>
          <a:p>
            <a:pPr indent="0" marL="0">
              <a:buNone/>
            </a:pPr>
            <a:r>
              <a:rPr lang="en-US" sz="1100" dirty="0">
                <a:solidFill>
                  <a:srgbClr val="FFFFFF"/>
                </a:solidFill>
                <a:latin typeface="Hiragino Sans W3" pitchFamily="34" charset="0"/>
                <a:ea typeface="Hiragino Sans W3" pitchFamily="34" charset="-122"/>
                <a:cs typeface="Hiragino Sans W3" pitchFamily="34" charset="-120"/>
              </a:rPr>
              <a:t>妥当性の補足（知財課題・支援効果）</a:t>
            </a:r>
            <a:endParaRPr lang="en-US" sz="1100" dirty="0"/>
          </a:p>
        </p:txBody>
      </p:sp>
      <p:sp>
        <p:nvSpPr>
          <p:cNvPr id="17" name="Shape 15"/>
          <p:cNvSpPr/>
          <p:nvPr/>
        </p:nvSpPr>
        <p:spPr>
          <a:xfrm>
            <a:off x="9144000" y="4983480"/>
            <a:ext cx="73152" cy="365760"/>
          </a:xfrm>
          <a:prstGeom prst="rect">
            <a:avLst/>
          </a:prstGeom>
          <a:solidFill>
            <a:srgbClr val="D35400"/>
          </a:solidFill>
          <a:ln/>
        </p:spPr>
      </p:sp>
      <p:sp>
        <p:nvSpPr>
          <p:cNvPr id="18" name="Text 16"/>
          <p:cNvSpPr/>
          <p:nvPr/>
        </p:nvSpPr>
        <p:spPr>
          <a:xfrm>
            <a:off x="9418320" y="4983480"/>
            <a:ext cx="822960" cy="365760"/>
          </a:xfrm>
          <a:prstGeom prst="rect">
            <a:avLst/>
          </a:prstGeom>
          <a:noFill/>
          <a:ln/>
        </p:spPr>
        <p:txBody>
          <a:bodyPr wrap="square" rtlCol="0" anchor="ctr"/>
          <a:lstStyle/>
          <a:p>
            <a:pPr indent="0" marL="0">
              <a:buNone/>
            </a:pPr>
            <a:r>
              <a:rPr lang="en-US" sz="1000" dirty="0">
                <a:solidFill>
                  <a:srgbClr val="D35400"/>
                </a:solidFill>
                <a:latin typeface="Hiragino Sans W6" pitchFamily="34" charset="0"/>
                <a:ea typeface="Hiragino Sans W6" pitchFamily="34" charset="-122"/>
                <a:cs typeface="Hiragino Sans W6" pitchFamily="34" charset="-120"/>
              </a:rPr>
              <a:t>p.15</a:t>
            </a:r>
            <a:endParaRPr lang="en-US" sz="1000" dirty="0"/>
          </a:p>
        </p:txBody>
      </p:sp>
      <p:sp>
        <p:nvSpPr>
          <p:cNvPr id="19" name="Text 17"/>
          <p:cNvSpPr/>
          <p:nvPr/>
        </p:nvSpPr>
        <p:spPr>
          <a:xfrm>
            <a:off x="10241280" y="4983480"/>
            <a:ext cx="3840480" cy="365760"/>
          </a:xfrm>
          <a:prstGeom prst="rect">
            <a:avLst/>
          </a:prstGeom>
          <a:noFill/>
          <a:ln/>
        </p:spPr>
        <p:txBody>
          <a:bodyPr wrap="square" rtlCol="0" anchor="ctr"/>
          <a:lstStyle/>
          <a:p>
            <a:pPr indent="0" marL="0">
              <a:buNone/>
            </a:pPr>
            <a:r>
              <a:rPr lang="en-US" sz="1100" dirty="0">
                <a:solidFill>
                  <a:srgbClr val="FFFFFF"/>
                </a:solidFill>
                <a:latin typeface="Hiragino Sans W3" pitchFamily="34" charset="0"/>
                <a:ea typeface="Hiragino Sans W3" pitchFamily="34" charset="-122"/>
                <a:cs typeface="Hiragino Sans W3" pitchFamily="34" charset="-120"/>
              </a:rPr>
              <a:t>支援終了時の目標像</a:t>
            </a:r>
            <a:endParaRPr lang="en-US" sz="1100" dirty="0"/>
          </a:p>
        </p:txBody>
      </p:sp>
      <p:sp>
        <p:nvSpPr>
          <p:cNvPr id="20" name="Shape 18"/>
          <p:cNvSpPr/>
          <p:nvPr/>
        </p:nvSpPr>
        <p:spPr>
          <a:xfrm>
            <a:off x="0" y="6583680"/>
            <a:ext cx="14630400" cy="1645920"/>
          </a:xfrm>
          <a:prstGeom prst="rect">
            <a:avLst/>
          </a:prstGeom>
          <a:solidFill>
            <a:srgbClr val="151525"/>
          </a:solidFill>
          <a:ln/>
        </p:spPr>
      </p:sp>
      <p:sp>
        <p:nvSpPr>
          <p:cNvPr id="21" name="Text 19"/>
          <p:cNvSpPr/>
          <p:nvPr/>
        </p:nvSpPr>
        <p:spPr>
          <a:xfrm>
            <a:off x="731520" y="6720840"/>
            <a:ext cx="2286000" cy="594360"/>
          </a:xfrm>
          <a:prstGeom prst="rect">
            <a:avLst/>
          </a:prstGeom>
          <a:noFill/>
          <a:ln/>
        </p:spPr>
        <p:txBody>
          <a:bodyPr wrap="square" rtlCol="0" anchor="ctr"/>
          <a:lstStyle/>
          <a:p>
            <a:pPr algn="ctr" indent="0" marL="0">
              <a:buNone/>
            </a:pPr>
            <a:r>
              <a:rPr lang="en-US" sz="2800" dirty="0">
                <a:solidFill>
                  <a:srgbClr val="4A90D9"/>
                </a:solidFill>
                <a:latin typeface="Hiragino Sans W6" pitchFamily="34" charset="0"/>
                <a:ea typeface="Hiragino Sans W6" pitchFamily="34" charset="-122"/>
                <a:cs typeface="Hiragino Sans W6" pitchFamily="34" charset="-120"/>
              </a:rPr>
              <a:t>44</a:t>
            </a:r>
            <a:endParaRPr lang="en-US" sz="2800" dirty="0"/>
          </a:p>
        </p:txBody>
      </p:sp>
      <p:sp>
        <p:nvSpPr>
          <p:cNvPr id="22" name="Text 20"/>
          <p:cNvSpPr/>
          <p:nvPr/>
        </p:nvSpPr>
        <p:spPr>
          <a:xfrm>
            <a:off x="731520" y="7315200"/>
            <a:ext cx="2286000" cy="594360"/>
          </a:xfrm>
          <a:prstGeom prst="rect">
            <a:avLst/>
          </a:prstGeom>
          <a:noFill/>
          <a:ln/>
        </p:spPr>
        <p:txBody>
          <a:bodyPr wrap="square" rtlCol="0" anchor="ctr"/>
          <a:lstStyle/>
          <a:p>
            <a:pPr algn="ctr" indent="0" marL="0">
              <a:lnSpc>
                <a:spcPct val="120000"/>
              </a:lnSpc>
              <a:buNone/>
            </a:pPr>
            <a:r>
              <a:rPr lang="en-US" sz="1000" dirty="0">
                <a:solidFill>
                  <a:srgbClr val="8899AA"/>
                </a:solidFill>
                <a:latin typeface="Hiragino Sans W3" pitchFamily="34" charset="0"/>
                <a:ea typeface="Hiragino Sans W3" pitchFamily="34" charset="-122"/>
                <a:cs typeface="Hiragino Sans W3" pitchFamily="34" charset="-120"/>
              </a:rPr>
              <a:t>テーブル</a:t>
            </a:r>
            <a:endParaRPr lang="en-US" sz="1000" dirty="0"/>
          </a:p>
          <a:p>
            <a:pPr algn="ctr" indent="0" marL="0">
              <a:lnSpc>
                <a:spcPct val="120000"/>
              </a:lnSpc>
              <a:buNone/>
            </a:pPr>
            <a:r>
              <a:rPr lang="en-US" sz="1000" dirty="0">
                <a:solidFill>
                  <a:srgbClr val="8899AA"/>
                </a:solidFill>
                <a:latin typeface="Hiragino Sans W3" pitchFamily="34" charset="0"/>
                <a:ea typeface="Hiragino Sans W3" pitchFamily="34" charset="-122"/>
                <a:cs typeface="Hiragino Sans W3" pitchFamily="34" charset="-120"/>
              </a:rPr>
              <a:t>DB設計完了</a:t>
            </a:r>
            <a:endParaRPr lang="en-US" sz="1000" dirty="0"/>
          </a:p>
        </p:txBody>
      </p:sp>
      <p:sp>
        <p:nvSpPr>
          <p:cNvPr id="23" name="Text 21"/>
          <p:cNvSpPr/>
          <p:nvPr/>
        </p:nvSpPr>
        <p:spPr>
          <a:xfrm>
            <a:off x="3474720" y="6720840"/>
            <a:ext cx="2286000" cy="594360"/>
          </a:xfrm>
          <a:prstGeom prst="rect">
            <a:avLst/>
          </a:prstGeom>
          <a:noFill/>
          <a:ln/>
        </p:spPr>
        <p:txBody>
          <a:bodyPr wrap="square" rtlCol="0" anchor="ctr"/>
          <a:lstStyle/>
          <a:p>
            <a:pPr algn="ctr" indent="0" marL="0">
              <a:buNone/>
            </a:pPr>
            <a:r>
              <a:rPr lang="en-US" sz="2800" dirty="0">
                <a:solidFill>
                  <a:srgbClr val="4A90D9"/>
                </a:solidFill>
                <a:latin typeface="Hiragino Sans W6" pitchFamily="34" charset="0"/>
                <a:ea typeface="Hiragino Sans W6" pitchFamily="34" charset="-122"/>
                <a:cs typeface="Hiragino Sans W6" pitchFamily="34" charset="-120"/>
              </a:rPr>
              <a:t>52</a:t>
            </a:r>
            <a:endParaRPr lang="en-US" sz="2800" dirty="0"/>
          </a:p>
        </p:txBody>
      </p:sp>
      <p:sp>
        <p:nvSpPr>
          <p:cNvPr id="24" name="Text 22"/>
          <p:cNvSpPr/>
          <p:nvPr/>
        </p:nvSpPr>
        <p:spPr>
          <a:xfrm>
            <a:off x="3474720" y="7315200"/>
            <a:ext cx="2286000" cy="594360"/>
          </a:xfrm>
          <a:prstGeom prst="rect">
            <a:avLst/>
          </a:prstGeom>
          <a:noFill/>
          <a:ln/>
        </p:spPr>
        <p:txBody>
          <a:bodyPr wrap="square" rtlCol="0" anchor="ctr"/>
          <a:lstStyle/>
          <a:p>
            <a:pPr algn="ctr" indent="0" marL="0">
              <a:lnSpc>
                <a:spcPct val="120000"/>
              </a:lnSpc>
              <a:buNone/>
            </a:pPr>
            <a:r>
              <a:rPr lang="en-US" sz="1000" dirty="0">
                <a:solidFill>
                  <a:srgbClr val="8899AA"/>
                </a:solidFill>
                <a:latin typeface="Hiragino Sans W3" pitchFamily="34" charset="0"/>
                <a:ea typeface="Hiragino Sans W3" pitchFamily="34" charset="-122"/>
                <a:cs typeface="Hiragino Sans W3" pitchFamily="34" charset="-120"/>
              </a:rPr>
              <a:t>画面</a:t>
            </a:r>
            <a:endParaRPr lang="en-US" sz="1000" dirty="0"/>
          </a:p>
          <a:p>
            <a:pPr algn="ctr" indent="0" marL="0">
              <a:lnSpc>
                <a:spcPct val="120000"/>
              </a:lnSpc>
              <a:buNone/>
            </a:pPr>
            <a:r>
              <a:rPr lang="en-US" sz="1000" dirty="0">
                <a:solidFill>
                  <a:srgbClr val="8899AA"/>
                </a:solidFill>
                <a:latin typeface="Hiragino Sans W3" pitchFamily="34" charset="0"/>
                <a:ea typeface="Hiragino Sans W3" pitchFamily="34" charset="-122"/>
                <a:cs typeface="Hiragino Sans W3" pitchFamily="34" charset="-120"/>
              </a:rPr>
              <a:t>設計完了</a:t>
            </a:r>
            <a:endParaRPr lang="en-US" sz="1000" dirty="0"/>
          </a:p>
        </p:txBody>
      </p:sp>
      <p:sp>
        <p:nvSpPr>
          <p:cNvPr id="25" name="Text 23"/>
          <p:cNvSpPr/>
          <p:nvPr/>
        </p:nvSpPr>
        <p:spPr>
          <a:xfrm>
            <a:off x="6217920" y="6720840"/>
            <a:ext cx="2286000" cy="594360"/>
          </a:xfrm>
          <a:prstGeom prst="rect">
            <a:avLst/>
          </a:prstGeom>
          <a:noFill/>
          <a:ln/>
        </p:spPr>
        <p:txBody>
          <a:bodyPr wrap="square" rtlCol="0" anchor="ctr"/>
          <a:lstStyle/>
          <a:p>
            <a:pPr algn="ctr" indent="0" marL="0">
              <a:buNone/>
            </a:pPr>
            <a:r>
              <a:rPr lang="en-US" sz="2800" dirty="0">
                <a:solidFill>
                  <a:srgbClr val="4A90D9"/>
                </a:solidFill>
                <a:latin typeface="Hiragino Sans W6" pitchFamily="34" charset="0"/>
                <a:ea typeface="Hiragino Sans W6" pitchFamily="34" charset="-122"/>
                <a:cs typeface="Hiragino Sans W6" pitchFamily="34" charset="-120"/>
              </a:rPr>
              <a:t>1,544</a:t>
            </a:r>
            <a:endParaRPr lang="en-US" sz="2800" dirty="0"/>
          </a:p>
        </p:txBody>
      </p:sp>
      <p:sp>
        <p:nvSpPr>
          <p:cNvPr id="26" name="Text 24"/>
          <p:cNvSpPr/>
          <p:nvPr/>
        </p:nvSpPr>
        <p:spPr>
          <a:xfrm>
            <a:off x="6217920" y="7315200"/>
            <a:ext cx="2286000" cy="594360"/>
          </a:xfrm>
          <a:prstGeom prst="rect">
            <a:avLst/>
          </a:prstGeom>
          <a:noFill/>
          <a:ln/>
        </p:spPr>
        <p:txBody>
          <a:bodyPr wrap="square" rtlCol="0" anchor="ctr"/>
          <a:lstStyle/>
          <a:p>
            <a:pPr algn="ctr" indent="0" marL="0">
              <a:lnSpc>
                <a:spcPct val="120000"/>
              </a:lnSpc>
              <a:buNone/>
            </a:pPr>
            <a:r>
              <a:rPr lang="en-US" sz="1000" dirty="0">
                <a:solidFill>
                  <a:srgbClr val="8899AA"/>
                </a:solidFill>
                <a:latin typeface="Hiragino Sans W3" pitchFamily="34" charset="0"/>
                <a:ea typeface="Hiragino Sans W3" pitchFamily="34" charset="-122"/>
                <a:cs typeface="Hiragino Sans W3" pitchFamily="34" charset="-120"/>
              </a:rPr>
              <a:t>選択肢</a:t>
            </a:r>
            <a:endParaRPr lang="en-US" sz="1000" dirty="0"/>
          </a:p>
          <a:p>
            <a:pPr algn="ctr" indent="0" marL="0">
              <a:lnSpc>
                <a:spcPct val="120000"/>
              </a:lnSpc>
              <a:buNone/>
            </a:pPr>
            <a:r>
              <a:rPr lang="en-US" sz="1000" dirty="0">
                <a:solidFill>
                  <a:srgbClr val="8899AA"/>
                </a:solidFill>
                <a:latin typeface="Hiragino Sans W3" pitchFamily="34" charset="0"/>
                <a:ea typeface="Hiragino Sans W3" pitchFamily="34" charset="-122"/>
                <a:cs typeface="Hiragino Sans W3" pitchFamily="34" charset="-120"/>
              </a:rPr>
              <a:t>UI構造化済</a:t>
            </a:r>
            <a:endParaRPr lang="en-US" sz="1000" dirty="0"/>
          </a:p>
        </p:txBody>
      </p:sp>
      <p:sp>
        <p:nvSpPr>
          <p:cNvPr id="27" name="Text 25"/>
          <p:cNvSpPr/>
          <p:nvPr/>
        </p:nvSpPr>
        <p:spPr>
          <a:xfrm>
            <a:off x="8961120" y="6720840"/>
            <a:ext cx="2286000" cy="594360"/>
          </a:xfrm>
          <a:prstGeom prst="rect">
            <a:avLst/>
          </a:prstGeom>
          <a:noFill/>
          <a:ln/>
        </p:spPr>
        <p:txBody>
          <a:bodyPr wrap="square" rtlCol="0" anchor="ctr"/>
          <a:lstStyle/>
          <a:p>
            <a:pPr algn="ctr" indent="0" marL="0">
              <a:buNone/>
            </a:pPr>
            <a:r>
              <a:rPr lang="en-US" sz="2800" dirty="0">
                <a:solidFill>
                  <a:srgbClr val="4A90D9"/>
                </a:solidFill>
                <a:latin typeface="Hiragino Sans W6" pitchFamily="34" charset="0"/>
                <a:ea typeface="Hiragino Sans W6" pitchFamily="34" charset="-122"/>
                <a:cs typeface="Hiragino Sans W6" pitchFamily="34" charset="-120"/>
              </a:rPr>
              <a:t>3</a:t>
            </a:r>
            <a:endParaRPr lang="en-US" sz="2800" dirty="0"/>
          </a:p>
        </p:txBody>
      </p:sp>
      <p:sp>
        <p:nvSpPr>
          <p:cNvPr id="28" name="Text 26"/>
          <p:cNvSpPr/>
          <p:nvPr/>
        </p:nvSpPr>
        <p:spPr>
          <a:xfrm>
            <a:off x="8961120" y="7315200"/>
            <a:ext cx="2286000" cy="594360"/>
          </a:xfrm>
          <a:prstGeom prst="rect">
            <a:avLst/>
          </a:prstGeom>
          <a:noFill/>
          <a:ln/>
        </p:spPr>
        <p:txBody>
          <a:bodyPr wrap="square" rtlCol="0" anchor="ctr"/>
          <a:lstStyle/>
          <a:p>
            <a:pPr algn="ctr" indent="0" marL="0">
              <a:lnSpc>
                <a:spcPct val="120000"/>
              </a:lnSpc>
              <a:buNone/>
            </a:pPr>
            <a:r>
              <a:rPr lang="en-US" sz="1000" dirty="0">
                <a:solidFill>
                  <a:srgbClr val="8899AA"/>
                </a:solidFill>
                <a:latin typeface="Hiragino Sans W3" pitchFamily="34" charset="0"/>
                <a:ea typeface="Hiragino Sans W3" pitchFamily="34" charset="-122"/>
                <a:cs typeface="Hiragino Sans W3" pitchFamily="34" charset="-120"/>
              </a:rPr>
              <a:t>特許</a:t>
            </a:r>
            <a:endParaRPr lang="en-US" sz="1000" dirty="0"/>
          </a:p>
          <a:p>
            <a:pPr algn="ctr" indent="0" marL="0">
              <a:lnSpc>
                <a:spcPct val="120000"/>
              </a:lnSpc>
              <a:buNone/>
            </a:pPr>
            <a:r>
              <a:rPr lang="en-US" sz="1000" dirty="0">
                <a:solidFill>
                  <a:srgbClr val="8899AA"/>
                </a:solidFill>
                <a:latin typeface="Hiragino Sans W3" pitchFamily="34" charset="0"/>
                <a:ea typeface="Hiragino Sans W3" pitchFamily="34" charset="-122"/>
                <a:cs typeface="Hiragino Sans W3" pitchFamily="34" charset="-120"/>
              </a:rPr>
              <a:t>出願準備中</a:t>
            </a:r>
            <a:endParaRPr lang="en-US" sz="1000" dirty="0"/>
          </a:p>
        </p:txBody>
      </p:sp>
      <p:sp>
        <p:nvSpPr>
          <p:cNvPr id="29" name="Text 27"/>
          <p:cNvSpPr/>
          <p:nvPr/>
        </p:nvSpPr>
        <p:spPr>
          <a:xfrm>
            <a:off x="11704320" y="6720840"/>
            <a:ext cx="2286000" cy="594360"/>
          </a:xfrm>
          <a:prstGeom prst="rect">
            <a:avLst/>
          </a:prstGeom>
          <a:noFill/>
          <a:ln/>
        </p:spPr>
        <p:txBody>
          <a:bodyPr wrap="square" rtlCol="0" anchor="ctr"/>
          <a:lstStyle/>
          <a:p>
            <a:pPr algn="ctr" indent="0" marL="0">
              <a:buNone/>
            </a:pPr>
            <a:r>
              <a:rPr lang="en-US" sz="2800" dirty="0">
                <a:solidFill>
                  <a:srgbClr val="4A90D9"/>
                </a:solidFill>
                <a:latin typeface="Hiragino Sans W6" pitchFamily="34" charset="0"/>
                <a:ea typeface="Hiragino Sans W6" pitchFamily="34" charset="-122"/>
                <a:cs typeface="Hiragino Sans W6" pitchFamily="34" charset="-120"/>
              </a:rPr>
              <a:t>10万+</a:t>
            </a:r>
            <a:endParaRPr lang="en-US" sz="2800" dirty="0"/>
          </a:p>
        </p:txBody>
      </p:sp>
      <p:sp>
        <p:nvSpPr>
          <p:cNvPr id="30" name="Text 28"/>
          <p:cNvSpPr/>
          <p:nvPr/>
        </p:nvSpPr>
        <p:spPr>
          <a:xfrm>
            <a:off x="11704320" y="7315200"/>
            <a:ext cx="2286000" cy="594360"/>
          </a:xfrm>
          <a:prstGeom prst="rect">
            <a:avLst/>
          </a:prstGeom>
          <a:noFill/>
          <a:ln/>
        </p:spPr>
        <p:txBody>
          <a:bodyPr wrap="square" rtlCol="0" anchor="ctr"/>
          <a:lstStyle/>
          <a:p>
            <a:pPr algn="ctr" indent="0" marL="0">
              <a:lnSpc>
                <a:spcPct val="120000"/>
              </a:lnSpc>
              <a:buNone/>
            </a:pPr>
            <a:r>
              <a:rPr lang="en-US" sz="1000" dirty="0">
                <a:solidFill>
                  <a:srgbClr val="8899AA"/>
                </a:solidFill>
                <a:latin typeface="Hiragino Sans W3" pitchFamily="34" charset="0"/>
                <a:ea typeface="Hiragino Sans W3" pitchFamily="34" charset="-122"/>
                <a:cs typeface="Hiragino Sans W3" pitchFamily="34" charset="-120"/>
              </a:rPr>
              <a:t>中国</a:t>
            </a:r>
            <a:endParaRPr lang="en-US" sz="1000" dirty="0"/>
          </a:p>
          <a:p>
            <a:pPr algn="ctr" indent="0" marL="0">
              <a:lnSpc>
                <a:spcPct val="120000"/>
              </a:lnSpc>
              <a:buNone/>
            </a:pPr>
            <a:r>
              <a:rPr lang="en-US" sz="1000" dirty="0">
                <a:solidFill>
                  <a:srgbClr val="8899AA"/>
                </a:solidFill>
                <a:latin typeface="Hiragino Sans W3" pitchFamily="34" charset="0"/>
                <a:ea typeface="Hiragino Sans W3" pitchFamily="34" charset="-122"/>
                <a:cs typeface="Hiragino Sans W3" pitchFamily="34" charset="-120"/>
              </a:rPr>
              <a:t>対象施設</a:t>
            </a:r>
            <a:endParaRPr lang="en-US" sz="1000" dirty="0"/>
          </a:p>
        </p:txBody>
      </p:sp>
      <p:sp>
        <p:nvSpPr>
          <p:cNvPr id="31" name="Text 29"/>
          <p:cNvSpPr/>
          <p:nvPr/>
        </p:nvSpPr>
        <p:spPr>
          <a:xfrm>
            <a:off x="13258800" y="7818120"/>
            <a:ext cx="914400" cy="274320"/>
          </a:xfrm>
          <a:prstGeom prst="rect">
            <a:avLst/>
          </a:prstGeom>
          <a:noFill/>
          <a:ln/>
        </p:spPr>
        <p:txBody>
          <a:bodyPr wrap="square" rtlCol="0" anchor="ctr"/>
          <a:lstStyle/>
          <a:p>
            <a:pPr algn="r" indent="0" marL="0">
              <a:buNone/>
            </a:pPr>
            <a:r>
              <a:rPr lang="en-US" sz="800" dirty="0">
                <a:solidFill>
                  <a:srgbClr val="7F8C8D"/>
                </a:solidFill>
                <a:latin typeface="Hiragino Sans W3" pitchFamily="34" charset="0"/>
                <a:ea typeface="Hiragino Sans W3" pitchFamily="34" charset="-122"/>
                <a:cs typeface="Hiragino Sans W3" pitchFamily="34" charset="-120"/>
              </a:rPr>
              <a:t>1 / 15</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4630400" cy="1417320"/>
          </a:xfrm>
          <a:prstGeom prst="rect">
            <a:avLst/>
          </a:prstGeom>
          <a:solidFill>
            <a:srgbClr val="1A1A2E"/>
          </a:solidFill>
          <a:ln/>
        </p:spPr>
      </p:sp>
      <p:sp>
        <p:nvSpPr>
          <p:cNvPr id="3" name="Text 1"/>
          <p:cNvSpPr/>
          <p:nvPr/>
        </p:nvSpPr>
        <p:spPr>
          <a:xfrm>
            <a:off x="548640" y="182880"/>
            <a:ext cx="13533120" cy="594360"/>
          </a:xfrm>
          <a:prstGeom prst="rect">
            <a:avLst/>
          </a:prstGeom>
          <a:noFill/>
          <a:ln/>
        </p:spPr>
        <p:txBody>
          <a:bodyPr wrap="square" rtlCol="0" anchor="ctr"/>
          <a:lstStyle/>
          <a:p>
            <a:pPr indent="0" marL="0">
              <a:buNone/>
            </a:pPr>
            <a:r>
              <a:rPr lang="en-US" sz="2600" b="1" dirty="0">
                <a:solidFill>
                  <a:srgbClr val="FFFFFF"/>
                </a:solidFill>
                <a:latin typeface="Hiragino Sans W6" pitchFamily="34" charset="0"/>
                <a:ea typeface="Hiragino Sans W6" pitchFamily="34" charset="-122"/>
                <a:cs typeface="Hiragino Sans W6" pitchFamily="34" charset="-120"/>
              </a:rPr>
              <a:t>知的障害者福祉施設が直面する構造的課題</a:t>
            </a:r>
            <a:endParaRPr lang="en-US" sz="2600" dirty="0"/>
          </a:p>
        </p:txBody>
      </p:sp>
      <p:sp>
        <p:nvSpPr>
          <p:cNvPr id="4" name="Text 2"/>
          <p:cNvSpPr/>
          <p:nvPr/>
        </p:nvSpPr>
        <p:spPr>
          <a:xfrm>
            <a:off x="548640" y="822960"/>
            <a:ext cx="13533120" cy="411480"/>
          </a:xfrm>
          <a:prstGeom prst="rect">
            <a:avLst/>
          </a:prstGeom>
          <a:noFill/>
          <a:ln/>
        </p:spPr>
        <p:txBody>
          <a:bodyPr wrap="square" rtlCol="0" anchor="ctr"/>
          <a:lstStyle/>
          <a:p>
            <a:pPr indent="0" marL="0">
              <a:buNone/>
            </a:pPr>
            <a:r>
              <a:rPr lang="en-US" sz="1300" dirty="0">
                <a:solidFill>
                  <a:srgbClr val="B0BEC5"/>
                </a:solidFill>
                <a:latin typeface="Hiragino Sans W3" pitchFamily="34" charset="0"/>
                <a:ea typeface="Hiragino Sans W3" pitchFamily="34" charset="-122"/>
                <a:cs typeface="Hiragino Sans W3" pitchFamily="34" charset="-120"/>
              </a:rPr>
              <a:t>本事業の研究開発が解決を目指す社会課題</a:t>
            </a:r>
            <a:endParaRPr lang="en-US" sz="1300" dirty="0"/>
          </a:p>
        </p:txBody>
      </p:sp>
      <p:sp>
        <p:nvSpPr>
          <p:cNvPr id="5" name="Shape 3"/>
          <p:cNvSpPr/>
          <p:nvPr/>
        </p:nvSpPr>
        <p:spPr>
          <a:xfrm>
            <a:off x="548640" y="1508760"/>
            <a:ext cx="13533120" cy="347472"/>
          </a:xfrm>
          <a:prstGeom prst="roundRect">
            <a:avLst>
              <a:gd name="adj" fmla="val 7895"/>
            </a:avLst>
          </a:prstGeom>
          <a:solidFill>
            <a:srgbClr val="4A90D9"/>
          </a:solidFill>
          <a:ln/>
        </p:spPr>
      </p:sp>
      <p:sp>
        <p:nvSpPr>
          <p:cNvPr id="6" name="Text 4"/>
          <p:cNvSpPr/>
          <p:nvPr/>
        </p:nvSpPr>
        <p:spPr>
          <a:xfrm>
            <a:off x="731520" y="1508760"/>
            <a:ext cx="13167360" cy="347472"/>
          </a:xfrm>
          <a:prstGeom prst="rect">
            <a:avLst/>
          </a:prstGeom>
          <a:noFill/>
          <a:ln/>
        </p:spPr>
        <p:txBody>
          <a:bodyPr wrap="square" rtlCol="0" anchor="ctr"/>
          <a:lstStyle/>
          <a:p>
            <a:pPr indent="0" marL="0">
              <a:buNone/>
            </a:pPr>
            <a:r>
              <a:rPr lang="en-US" sz="1100" dirty="0">
                <a:solidFill>
                  <a:srgbClr val="FFFFFF"/>
                </a:solidFill>
                <a:latin typeface="Hiragino Sans W6" pitchFamily="34" charset="0"/>
                <a:ea typeface="Hiragino Sans W6" pitchFamily="34" charset="-122"/>
                <a:cs typeface="Hiragino Sans W6" pitchFamily="34" charset="-120"/>
              </a:rPr>
              <a:t>補足：申請書「3. 事業化の動機と背景」「対象市場と提供価値」</a:t>
            </a:r>
            <a:endParaRPr lang="en-US" sz="1100" dirty="0"/>
          </a:p>
        </p:txBody>
      </p:sp>
      <p:sp>
        <p:nvSpPr>
          <p:cNvPr id="7" name="Shape 5"/>
          <p:cNvSpPr/>
          <p:nvPr/>
        </p:nvSpPr>
        <p:spPr>
          <a:xfrm>
            <a:off x="12618720" y="1527048"/>
            <a:ext cx="1645920" cy="292608"/>
          </a:xfrm>
          <a:prstGeom prst="roundRect">
            <a:avLst>
              <a:gd name="adj" fmla="val 12500"/>
            </a:avLst>
          </a:prstGeom>
          <a:solidFill>
            <a:srgbClr val="EBF5FB"/>
          </a:solidFill>
          <a:ln w="10160">
            <a:solidFill>
              <a:srgbClr val="2980B9"/>
            </a:solidFill>
            <a:prstDash val="solid"/>
          </a:ln>
        </p:spPr>
      </p:sp>
      <p:sp>
        <p:nvSpPr>
          <p:cNvPr id="8" name="Text 6"/>
          <p:cNvSpPr/>
          <p:nvPr/>
        </p:nvSpPr>
        <p:spPr>
          <a:xfrm>
            <a:off x="12618720" y="1527048"/>
            <a:ext cx="1645920" cy="292608"/>
          </a:xfrm>
          <a:prstGeom prst="rect">
            <a:avLst/>
          </a:prstGeom>
          <a:noFill/>
          <a:ln/>
        </p:spPr>
        <p:txBody>
          <a:bodyPr wrap="square" rtlCol="0" anchor="ctr"/>
          <a:lstStyle/>
          <a:p>
            <a:pPr algn="ctr" indent="0" marL="0">
              <a:buNone/>
            </a:pPr>
            <a:r>
              <a:rPr lang="en-US" sz="900" dirty="0">
                <a:solidFill>
                  <a:srgbClr val="2980B9"/>
                </a:solidFill>
                <a:latin typeface="Hiragino Sans W6" pitchFamily="34" charset="0"/>
                <a:ea typeface="Hiragino Sans W6" pitchFamily="34" charset="-122"/>
                <a:cs typeface="Hiragino Sans W6" pitchFamily="34" charset="-120"/>
              </a:rPr>
              <a:t>審査軸：技術性</a:t>
            </a:r>
            <a:endParaRPr lang="en-US" sz="900" dirty="0"/>
          </a:p>
        </p:txBody>
      </p:sp>
      <p:sp>
        <p:nvSpPr>
          <p:cNvPr id="9" name="Shape 7"/>
          <p:cNvSpPr/>
          <p:nvPr/>
        </p:nvSpPr>
        <p:spPr>
          <a:xfrm>
            <a:off x="548640" y="2057400"/>
            <a:ext cx="3246120" cy="5303520"/>
          </a:xfrm>
          <a:prstGeom prst="roundRect">
            <a:avLst>
              <a:gd name="adj" fmla="val 2254"/>
            </a:avLst>
          </a:prstGeom>
          <a:solidFill>
            <a:srgbClr val="FFFFFF"/>
          </a:solidFill>
          <a:ln w="12700">
            <a:solidFill>
              <a:srgbClr val="DCE1E8"/>
            </a:solidFill>
            <a:prstDash val="solid"/>
          </a:ln>
        </p:spPr>
      </p:sp>
      <p:sp>
        <p:nvSpPr>
          <p:cNvPr id="10" name="Text 8"/>
          <p:cNvSpPr/>
          <p:nvPr/>
        </p:nvSpPr>
        <p:spPr>
          <a:xfrm>
            <a:off x="685800" y="2240280"/>
            <a:ext cx="2971800" cy="640080"/>
          </a:xfrm>
          <a:prstGeom prst="rect">
            <a:avLst/>
          </a:prstGeom>
          <a:noFill/>
          <a:ln/>
        </p:spPr>
        <p:txBody>
          <a:bodyPr wrap="square" rtlCol="0" anchor="ctr"/>
          <a:lstStyle/>
          <a:p>
            <a:pPr algn="ctr" indent="0" marL="0">
              <a:buNone/>
            </a:pPr>
            <a:r>
              <a:rPr lang="en-US" sz="2800" dirty="0">
                <a:solidFill>
                  <a:srgbClr val="C0392B"/>
                </a:solidFill>
                <a:latin typeface="Hiragino Sans W6" pitchFamily="34" charset="0"/>
                <a:ea typeface="Hiragino Sans W6" pitchFamily="34" charset="-122"/>
                <a:cs typeface="Hiragino Sans W6" pitchFamily="34" charset="-120"/>
              </a:rPr>
              <a:t>233→280万人</a:t>
            </a:r>
            <a:endParaRPr lang="en-US" sz="2800" dirty="0"/>
          </a:p>
        </p:txBody>
      </p:sp>
      <p:sp>
        <p:nvSpPr>
          <p:cNvPr id="11" name="Text 9"/>
          <p:cNvSpPr/>
          <p:nvPr/>
        </p:nvSpPr>
        <p:spPr>
          <a:xfrm>
            <a:off x="685800" y="2926080"/>
            <a:ext cx="2971800" cy="365760"/>
          </a:xfrm>
          <a:prstGeom prst="rect">
            <a:avLst/>
          </a:prstGeom>
          <a:noFill/>
          <a:ln/>
        </p:spPr>
        <p:txBody>
          <a:bodyPr wrap="square" rtlCol="0" anchor="ctr"/>
          <a:lstStyle/>
          <a:p>
            <a:pPr algn="ctr" indent="0" marL="0">
              <a:buNone/>
            </a:pPr>
            <a:r>
              <a:rPr lang="en-US" sz="1400" dirty="0">
                <a:solidFill>
                  <a:srgbClr val="2C3E50"/>
                </a:solidFill>
                <a:latin typeface="Hiragino Sans W6" pitchFamily="34" charset="0"/>
                <a:ea typeface="Hiragino Sans W6" pitchFamily="34" charset="-122"/>
                <a:cs typeface="Hiragino Sans W6" pitchFamily="34" charset="-120"/>
              </a:rPr>
              <a:t>利用者数の急増</a:t>
            </a:r>
            <a:endParaRPr lang="en-US" sz="1400" dirty="0"/>
          </a:p>
        </p:txBody>
      </p:sp>
      <p:sp>
        <p:nvSpPr>
          <p:cNvPr id="12" name="Shape 10"/>
          <p:cNvSpPr/>
          <p:nvPr/>
        </p:nvSpPr>
        <p:spPr>
          <a:xfrm>
            <a:off x="1097280" y="3383280"/>
            <a:ext cx="2148840" cy="18288"/>
          </a:xfrm>
          <a:prstGeom prst="rect">
            <a:avLst/>
          </a:prstGeom>
          <a:solidFill>
            <a:srgbClr val="DCE1E8"/>
          </a:solidFill>
          <a:ln/>
        </p:spPr>
      </p:sp>
      <p:sp>
        <p:nvSpPr>
          <p:cNvPr id="13" name="Text 11"/>
          <p:cNvSpPr/>
          <p:nvPr/>
        </p:nvSpPr>
        <p:spPr>
          <a:xfrm>
            <a:off x="777240" y="3566160"/>
            <a:ext cx="2788920" cy="3474720"/>
          </a:xfrm>
          <a:prstGeom prst="rect">
            <a:avLst/>
          </a:prstGeom>
          <a:noFill/>
          <a:ln/>
        </p:spPr>
        <p:txBody>
          <a:bodyPr wrap="square" rtlCol="0" anchor="ctr"/>
          <a:lstStyle/>
          <a:p>
            <a:pPr indent="0" marL="0">
              <a:lnSpc>
                <a:spcPct val="140000"/>
              </a:lnSpc>
              <a:buNone/>
            </a:pPr>
            <a:r>
              <a:rPr lang="en-US" sz="1100" dirty="0">
                <a:solidFill>
                  <a:srgbClr val="2C3E50"/>
                </a:solidFill>
                <a:latin typeface="Hiragino Sans W3" pitchFamily="34" charset="0"/>
                <a:ea typeface="Hiragino Sans W3" pitchFamily="34" charset="-122"/>
                <a:cs typeface="Hiragino Sans W3" pitchFamily="34" charset="-120"/>
              </a:rPr>
              <a:t>2023年233万人→2040年280万人。年平均5.5万人増加。施設入所依存率10.1%は全障害種別で最高。</a:t>
            </a:r>
            <a:endParaRPr lang="en-US" sz="1100" dirty="0"/>
          </a:p>
        </p:txBody>
      </p:sp>
      <p:sp>
        <p:nvSpPr>
          <p:cNvPr id="14" name="Shape 12"/>
          <p:cNvSpPr/>
          <p:nvPr/>
        </p:nvSpPr>
        <p:spPr>
          <a:xfrm>
            <a:off x="4023360" y="2057400"/>
            <a:ext cx="3246120" cy="5303520"/>
          </a:xfrm>
          <a:prstGeom prst="roundRect">
            <a:avLst>
              <a:gd name="adj" fmla="val 2254"/>
            </a:avLst>
          </a:prstGeom>
          <a:solidFill>
            <a:srgbClr val="FFFFFF"/>
          </a:solidFill>
          <a:ln w="12700">
            <a:solidFill>
              <a:srgbClr val="DCE1E8"/>
            </a:solidFill>
            <a:prstDash val="solid"/>
          </a:ln>
        </p:spPr>
      </p:sp>
      <p:sp>
        <p:nvSpPr>
          <p:cNvPr id="15" name="Text 13"/>
          <p:cNvSpPr/>
          <p:nvPr/>
        </p:nvSpPr>
        <p:spPr>
          <a:xfrm>
            <a:off x="4160520" y="2240280"/>
            <a:ext cx="2971800" cy="640080"/>
          </a:xfrm>
          <a:prstGeom prst="rect">
            <a:avLst/>
          </a:prstGeom>
          <a:noFill/>
          <a:ln/>
        </p:spPr>
        <p:txBody>
          <a:bodyPr wrap="square" rtlCol="0" anchor="ctr"/>
          <a:lstStyle/>
          <a:p>
            <a:pPr algn="ctr" indent="0" marL="0">
              <a:buNone/>
            </a:pPr>
            <a:r>
              <a:rPr lang="en-US" sz="2800" dirty="0">
                <a:solidFill>
                  <a:srgbClr val="E67E22"/>
                </a:solidFill>
                <a:latin typeface="Hiragino Sans W6" pitchFamily="34" charset="0"/>
                <a:ea typeface="Hiragino Sans W6" pitchFamily="34" charset="-122"/>
                <a:cs typeface="Hiragino Sans W6" pitchFamily="34" charset="-120"/>
              </a:rPr>
              <a:t>86%</a:t>
            </a:r>
            <a:endParaRPr lang="en-US" sz="2800" dirty="0"/>
          </a:p>
        </p:txBody>
      </p:sp>
      <p:sp>
        <p:nvSpPr>
          <p:cNvPr id="16" name="Text 14"/>
          <p:cNvSpPr/>
          <p:nvPr/>
        </p:nvSpPr>
        <p:spPr>
          <a:xfrm>
            <a:off x="4160520" y="2926080"/>
            <a:ext cx="2971800" cy="365760"/>
          </a:xfrm>
          <a:prstGeom prst="rect">
            <a:avLst/>
          </a:prstGeom>
          <a:noFill/>
          <a:ln/>
        </p:spPr>
        <p:txBody>
          <a:bodyPr wrap="square" rtlCol="0" anchor="ctr"/>
          <a:lstStyle/>
          <a:p>
            <a:pPr algn="ctr" indent="0" marL="0">
              <a:buNone/>
            </a:pPr>
            <a:r>
              <a:rPr lang="en-US" sz="1400" dirty="0">
                <a:solidFill>
                  <a:srgbClr val="2C3E50"/>
                </a:solidFill>
                <a:latin typeface="Hiragino Sans W6" pitchFamily="34" charset="0"/>
                <a:ea typeface="Hiragino Sans W6" pitchFamily="34" charset="-122"/>
                <a:cs typeface="Hiragino Sans W6" pitchFamily="34" charset="-120"/>
              </a:rPr>
              <a:t>手書き記録の限界</a:t>
            </a:r>
            <a:endParaRPr lang="en-US" sz="1400" dirty="0"/>
          </a:p>
        </p:txBody>
      </p:sp>
      <p:sp>
        <p:nvSpPr>
          <p:cNvPr id="17" name="Shape 15"/>
          <p:cNvSpPr/>
          <p:nvPr/>
        </p:nvSpPr>
        <p:spPr>
          <a:xfrm>
            <a:off x="4572000" y="3383280"/>
            <a:ext cx="2148840" cy="18288"/>
          </a:xfrm>
          <a:prstGeom prst="rect">
            <a:avLst/>
          </a:prstGeom>
          <a:solidFill>
            <a:srgbClr val="DCE1E8"/>
          </a:solidFill>
          <a:ln/>
        </p:spPr>
      </p:sp>
      <p:sp>
        <p:nvSpPr>
          <p:cNvPr id="18" name="Text 16"/>
          <p:cNvSpPr/>
          <p:nvPr/>
        </p:nvSpPr>
        <p:spPr>
          <a:xfrm>
            <a:off x="4251960" y="3566160"/>
            <a:ext cx="2788920" cy="3474720"/>
          </a:xfrm>
          <a:prstGeom prst="rect">
            <a:avLst/>
          </a:prstGeom>
          <a:noFill/>
          <a:ln/>
        </p:spPr>
        <p:txBody>
          <a:bodyPr wrap="square" rtlCol="0" anchor="ctr"/>
          <a:lstStyle/>
          <a:p>
            <a:pPr indent="0" marL="0">
              <a:lnSpc>
                <a:spcPct val="140000"/>
              </a:lnSpc>
              <a:buNone/>
            </a:pPr>
            <a:r>
              <a:rPr lang="en-US" sz="1100" dirty="0">
                <a:solidFill>
                  <a:srgbClr val="2C3E50"/>
                </a:solidFill>
                <a:latin typeface="Hiragino Sans W3" pitchFamily="34" charset="0"/>
                <a:ea typeface="Hiragino Sans W3" pitchFamily="34" charset="-122"/>
                <a:cs typeface="Hiragino Sans W3" pitchFamily="34" charset="-120"/>
              </a:rPr>
              <a:t>現場職員の86%が手書き記録。全労働時間の28.7%が書類作業。清書の手間で専門的観察が死文化。</a:t>
            </a:r>
            <a:endParaRPr lang="en-US" sz="1100" dirty="0"/>
          </a:p>
        </p:txBody>
      </p:sp>
      <p:sp>
        <p:nvSpPr>
          <p:cNvPr id="19" name="Shape 17"/>
          <p:cNvSpPr/>
          <p:nvPr/>
        </p:nvSpPr>
        <p:spPr>
          <a:xfrm>
            <a:off x="7498080" y="2057400"/>
            <a:ext cx="3246120" cy="5303520"/>
          </a:xfrm>
          <a:prstGeom prst="roundRect">
            <a:avLst>
              <a:gd name="adj" fmla="val 2254"/>
            </a:avLst>
          </a:prstGeom>
          <a:solidFill>
            <a:srgbClr val="FFFFFF"/>
          </a:solidFill>
          <a:ln w="12700">
            <a:solidFill>
              <a:srgbClr val="DCE1E8"/>
            </a:solidFill>
            <a:prstDash val="solid"/>
          </a:ln>
        </p:spPr>
      </p:sp>
      <p:sp>
        <p:nvSpPr>
          <p:cNvPr id="20" name="Text 18"/>
          <p:cNvSpPr/>
          <p:nvPr/>
        </p:nvSpPr>
        <p:spPr>
          <a:xfrm>
            <a:off x="7635240" y="2240280"/>
            <a:ext cx="2971800" cy="640080"/>
          </a:xfrm>
          <a:prstGeom prst="rect">
            <a:avLst/>
          </a:prstGeom>
          <a:noFill/>
          <a:ln/>
        </p:spPr>
        <p:txBody>
          <a:bodyPr wrap="square" rtlCol="0" anchor="ctr"/>
          <a:lstStyle/>
          <a:p>
            <a:pPr algn="ctr" indent="0" marL="0">
              <a:buNone/>
            </a:pPr>
            <a:r>
              <a:rPr lang="en-US" sz="2800" dirty="0">
                <a:solidFill>
                  <a:srgbClr val="4A90D9"/>
                </a:solidFill>
                <a:latin typeface="Hiragino Sans W6" pitchFamily="34" charset="0"/>
                <a:ea typeface="Hiragino Sans W6" pitchFamily="34" charset="-122"/>
                <a:cs typeface="Hiragino Sans W6" pitchFamily="34" charset="-120"/>
              </a:rPr>
              <a:t>57%</a:t>
            </a:r>
            <a:endParaRPr lang="en-US" sz="2800" dirty="0"/>
          </a:p>
        </p:txBody>
      </p:sp>
      <p:sp>
        <p:nvSpPr>
          <p:cNvPr id="21" name="Text 19"/>
          <p:cNvSpPr/>
          <p:nvPr/>
        </p:nvSpPr>
        <p:spPr>
          <a:xfrm>
            <a:off x="7635240" y="2926080"/>
            <a:ext cx="2971800" cy="365760"/>
          </a:xfrm>
          <a:prstGeom prst="rect">
            <a:avLst/>
          </a:prstGeom>
          <a:noFill/>
          <a:ln/>
        </p:spPr>
        <p:txBody>
          <a:bodyPr wrap="square" rtlCol="0" anchor="ctr"/>
          <a:lstStyle/>
          <a:p>
            <a:pPr algn="ctr" indent="0" marL="0">
              <a:buNone/>
            </a:pPr>
            <a:r>
              <a:rPr lang="en-US" sz="1400" dirty="0">
                <a:solidFill>
                  <a:srgbClr val="2C3E50"/>
                </a:solidFill>
                <a:latin typeface="Hiragino Sans W6" pitchFamily="34" charset="0"/>
                <a:ea typeface="Hiragino Sans W6" pitchFamily="34" charset="-122"/>
                <a:cs typeface="Hiragino Sans W6" pitchFamily="34" charset="-120"/>
              </a:rPr>
              <a:t>赤字経営率</a:t>
            </a:r>
            <a:endParaRPr lang="en-US" sz="1400" dirty="0"/>
          </a:p>
        </p:txBody>
      </p:sp>
      <p:sp>
        <p:nvSpPr>
          <p:cNvPr id="22" name="Shape 20"/>
          <p:cNvSpPr/>
          <p:nvPr/>
        </p:nvSpPr>
        <p:spPr>
          <a:xfrm>
            <a:off x="8046720" y="3383280"/>
            <a:ext cx="2148840" cy="18288"/>
          </a:xfrm>
          <a:prstGeom prst="rect">
            <a:avLst/>
          </a:prstGeom>
          <a:solidFill>
            <a:srgbClr val="DCE1E8"/>
          </a:solidFill>
          <a:ln/>
        </p:spPr>
      </p:sp>
      <p:sp>
        <p:nvSpPr>
          <p:cNvPr id="23" name="Text 21"/>
          <p:cNvSpPr/>
          <p:nvPr/>
        </p:nvSpPr>
        <p:spPr>
          <a:xfrm>
            <a:off x="7726680" y="3566160"/>
            <a:ext cx="2788920" cy="3474720"/>
          </a:xfrm>
          <a:prstGeom prst="rect">
            <a:avLst/>
          </a:prstGeom>
          <a:noFill/>
          <a:ln/>
        </p:spPr>
        <p:txBody>
          <a:bodyPr wrap="square" rtlCol="0" anchor="ctr"/>
          <a:lstStyle/>
          <a:p>
            <a:pPr indent="0" marL="0">
              <a:lnSpc>
                <a:spcPct val="140000"/>
              </a:lnSpc>
              <a:buNone/>
            </a:pPr>
            <a:r>
              <a:rPr lang="en-US" sz="1100" dirty="0">
                <a:solidFill>
                  <a:srgbClr val="2C3E50"/>
                </a:solidFill>
                <a:latin typeface="Hiragino Sans W3" pitchFamily="34" charset="0"/>
                <a:ea typeface="Hiragino Sans W3" pitchFamily="34" charset="-122"/>
                <a:cs typeface="Hiragino Sans W3" pitchFamily="34" charset="-120"/>
              </a:rPr>
              <a:t>施設入所支援事業所の57%が赤字。人件費比率66.7%。記録業務の効率化が経営存続の条件。</a:t>
            </a:r>
            <a:endParaRPr lang="en-US" sz="1100" dirty="0"/>
          </a:p>
        </p:txBody>
      </p:sp>
      <p:sp>
        <p:nvSpPr>
          <p:cNvPr id="24" name="Shape 22"/>
          <p:cNvSpPr/>
          <p:nvPr/>
        </p:nvSpPr>
        <p:spPr>
          <a:xfrm>
            <a:off x="10972800" y="2057400"/>
            <a:ext cx="3246120" cy="5303520"/>
          </a:xfrm>
          <a:prstGeom prst="roundRect">
            <a:avLst>
              <a:gd name="adj" fmla="val 2254"/>
            </a:avLst>
          </a:prstGeom>
          <a:solidFill>
            <a:srgbClr val="FFFFFF"/>
          </a:solidFill>
          <a:ln w="12700">
            <a:solidFill>
              <a:srgbClr val="DCE1E8"/>
            </a:solidFill>
            <a:prstDash val="solid"/>
          </a:ln>
        </p:spPr>
      </p:sp>
      <p:sp>
        <p:nvSpPr>
          <p:cNvPr id="25" name="Text 23"/>
          <p:cNvSpPr/>
          <p:nvPr/>
        </p:nvSpPr>
        <p:spPr>
          <a:xfrm>
            <a:off x="11109960" y="2240280"/>
            <a:ext cx="2971800" cy="640080"/>
          </a:xfrm>
          <a:prstGeom prst="rect">
            <a:avLst/>
          </a:prstGeom>
          <a:noFill/>
          <a:ln/>
        </p:spPr>
        <p:txBody>
          <a:bodyPr wrap="square" rtlCol="0" anchor="ctr"/>
          <a:lstStyle/>
          <a:p>
            <a:pPr algn="ctr" indent="0" marL="0">
              <a:buNone/>
            </a:pPr>
            <a:r>
              <a:rPr lang="en-US" sz="2800" dirty="0">
                <a:solidFill>
                  <a:srgbClr val="2C3E50"/>
                </a:solidFill>
                <a:latin typeface="Hiragino Sans W6" pitchFamily="34" charset="0"/>
                <a:ea typeface="Hiragino Sans W6" pitchFamily="34" charset="-122"/>
                <a:cs typeface="Hiragino Sans W6" pitchFamily="34" charset="-120"/>
              </a:rPr>
              <a:t>0%</a:t>
            </a:r>
            <a:endParaRPr lang="en-US" sz="2800" dirty="0"/>
          </a:p>
        </p:txBody>
      </p:sp>
      <p:sp>
        <p:nvSpPr>
          <p:cNvPr id="26" name="Text 24"/>
          <p:cNvSpPr/>
          <p:nvPr/>
        </p:nvSpPr>
        <p:spPr>
          <a:xfrm>
            <a:off x="11109960" y="2926080"/>
            <a:ext cx="2971800" cy="365760"/>
          </a:xfrm>
          <a:prstGeom prst="rect">
            <a:avLst/>
          </a:prstGeom>
          <a:noFill/>
          <a:ln/>
        </p:spPr>
        <p:txBody>
          <a:bodyPr wrap="square" rtlCol="0" anchor="ctr"/>
          <a:lstStyle/>
          <a:p>
            <a:pPr algn="ctr" indent="0" marL="0">
              <a:buNone/>
            </a:pPr>
            <a:r>
              <a:rPr lang="en-US" sz="1400" dirty="0">
                <a:solidFill>
                  <a:srgbClr val="2C3E50"/>
                </a:solidFill>
                <a:latin typeface="Hiragino Sans W6" pitchFamily="34" charset="0"/>
                <a:ea typeface="Hiragino Sans W6" pitchFamily="34" charset="-122"/>
                <a:cs typeface="Hiragino Sans W6" pitchFamily="34" charset="-120"/>
              </a:rPr>
              <a:t>施設間データ連携</a:t>
            </a:r>
            <a:endParaRPr lang="en-US" sz="1400" dirty="0"/>
          </a:p>
        </p:txBody>
      </p:sp>
      <p:sp>
        <p:nvSpPr>
          <p:cNvPr id="27" name="Shape 25"/>
          <p:cNvSpPr/>
          <p:nvPr/>
        </p:nvSpPr>
        <p:spPr>
          <a:xfrm>
            <a:off x="11521440" y="3383280"/>
            <a:ext cx="2148840" cy="18288"/>
          </a:xfrm>
          <a:prstGeom prst="rect">
            <a:avLst/>
          </a:prstGeom>
          <a:solidFill>
            <a:srgbClr val="DCE1E8"/>
          </a:solidFill>
          <a:ln/>
        </p:spPr>
      </p:sp>
      <p:sp>
        <p:nvSpPr>
          <p:cNvPr id="28" name="Text 26"/>
          <p:cNvSpPr/>
          <p:nvPr/>
        </p:nvSpPr>
        <p:spPr>
          <a:xfrm>
            <a:off x="11201400" y="3566160"/>
            <a:ext cx="2788920" cy="3474720"/>
          </a:xfrm>
          <a:prstGeom prst="rect">
            <a:avLst/>
          </a:prstGeom>
          <a:noFill/>
          <a:ln/>
        </p:spPr>
        <p:txBody>
          <a:bodyPr wrap="square" rtlCol="0" anchor="ctr"/>
          <a:lstStyle/>
          <a:p>
            <a:pPr indent="0" marL="0">
              <a:lnSpc>
                <a:spcPct val="140000"/>
              </a:lnSpc>
              <a:buNone/>
            </a:pPr>
            <a:r>
              <a:rPr lang="en-US" sz="1100" dirty="0">
                <a:solidFill>
                  <a:srgbClr val="2C3E50"/>
                </a:solidFill>
                <a:latin typeface="Hiragino Sans W3" pitchFamily="34" charset="0"/>
                <a:ea typeface="Hiragino Sans W3" pitchFamily="34" charset="-122"/>
                <a:cs typeface="Hiragino Sans W3" pitchFamily="34" charset="-120"/>
              </a:rPr>
              <a:t>利用者情報は施設ごとに閉じている。転所時にゼロから記録を作り直し。緊急時の情報共有手段が存在しない。</a:t>
            </a:r>
            <a:endParaRPr lang="en-US" sz="1100" dirty="0"/>
          </a:p>
        </p:txBody>
      </p:sp>
      <p:sp>
        <p:nvSpPr>
          <p:cNvPr id="29" name="Text 27"/>
          <p:cNvSpPr/>
          <p:nvPr/>
        </p:nvSpPr>
        <p:spPr>
          <a:xfrm>
            <a:off x="548640" y="7543800"/>
            <a:ext cx="13533120" cy="228600"/>
          </a:xfrm>
          <a:prstGeom prst="rect">
            <a:avLst/>
          </a:prstGeom>
          <a:noFill/>
          <a:ln/>
        </p:spPr>
        <p:txBody>
          <a:bodyPr wrap="square" rtlCol="0" anchor="ctr"/>
          <a:lstStyle/>
          <a:p>
            <a:pPr indent="0" marL="0">
              <a:buNone/>
            </a:pPr>
            <a:r>
              <a:rPr lang="en-US" sz="800" dirty="0">
                <a:solidFill>
                  <a:srgbClr val="7F8C8D"/>
                </a:solidFill>
                <a:latin typeface="Hiragino Sans W3" pitchFamily="34" charset="0"/>
                <a:ea typeface="Hiragino Sans W3" pitchFamily="34" charset="-122"/>
                <a:cs typeface="Hiragino Sans W3" pitchFamily="34" charset="-120"/>
              </a:rPr>
              <a:t>出典: 厚労省「障害者白書」各年版、福祉医療機構「障害福祉サービス等の経営実態」R5、サンライズ職員アンケート n=96</a:t>
            </a:r>
            <a:endParaRPr lang="en-US" sz="800" dirty="0"/>
          </a:p>
        </p:txBody>
      </p:sp>
      <p:sp>
        <p:nvSpPr>
          <p:cNvPr id="30" name="Text 28"/>
          <p:cNvSpPr/>
          <p:nvPr/>
        </p:nvSpPr>
        <p:spPr>
          <a:xfrm>
            <a:off x="13258800" y="7818120"/>
            <a:ext cx="914400" cy="274320"/>
          </a:xfrm>
          <a:prstGeom prst="rect">
            <a:avLst/>
          </a:prstGeom>
          <a:noFill/>
          <a:ln/>
        </p:spPr>
        <p:txBody>
          <a:bodyPr wrap="square" rtlCol="0" anchor="ctr"/>
          <a:lstStyle/>
          <a:p>
            <a:pPr algn="r" indent="0" marL="0">
              <a:buNone/>
            </a:pPr>
            <a:r>
              <a:rPr lang="en-US" sz="800" dirty="0">
                <a:solidFill>
                  <a:srgbClr val="7F8C8D"/>
                </a:solidFill>
                <a:latin typeface="Hiragino Sans W3" pitchFamily="34" charset="0"/>
                <a:ea typeface="Hiragino Sans W3" pitchFamily="34" charset="-122"/>
                <a:cs typeface="Hiragino Sans W3" pitchFamily="34" charset="-120"/>
              </a:rPr>
              <a:t>2 / 15</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4630400" cy="1417320"/>
          </a:xfrm>
          <a:prstGeom prst="rect">
            <a:avLst/>
          </a:prstGeom>
          <a:solidFill>
            <a:srgbClr val="1A1A2E"/>
          </a:solidFill>
          <a:ln/>
        </p:spPr>
      </p:sp>
      <p:sp>
        <p:nvSpPr>
          <p:cNvPr id="3" name="Text 1"/>
          <p:cNvSpPr/>
          <p:nvPr/>
        </p:nvSpPr>
        <p:spPr>
          <a:xfrm>
            <a:off x="548640" y="182880"/>
            <a:ext cx="13533120" cy="594360"/>
          </a:xfrm>
          <a:prstGeom prst="rect">
            <a:avLst/>
          </a:prstGeom>
          <a:noFill/>
          <a:ln/>
        </p:spPr>
        <p:txBody>
          <a:bodyPr wrap="square" rtlCol="0" anchor="ctr"/>
          <a:lstStyle/>
          <a:p>
            <a:pPr indent="0" marL="0">
              <a:buNone/>
            </a:pPr>
            <a:r>
              <a:rPr lang="en-US" sz="2600" b="1" dirty="0">
                <a:solidFill>
                  <a:srgbClr val="FFFFFF"/>
                </a:solidFill>
                <a:latin typeface="Hiragino Sans W6" pitchFamily="34" charset="0"/>
                <a:ea typeface="Hiragino Sans W6" pitchFamily="34" charset="-122"/>
                <a:cs typeface="Hiragino Sans W6" pitchFamily="34" charset="-120"/>
              </a:rPr>
              <a:t>新規性①：AI虐待予防システム（特許出願準備中）</a:t>
            </a:r>
            <a:endParaRPr lang="en-US" sz="2600" dirty="0"/>
          </a:p>
        </p:txBody>
      </p:sp>
      <p:sp>
        <p:nvSpPr>
          <p:cNvPr id="4" name="Text 2"/>
          <p:cNvSpPr/>
          <p:nvPr/>
        </p:nvSpPr>
        <p:spPr>
          <a:xfrm>
            <a:off x="548640" y="822960"/>
            <a:ext cx="13533120" cy="411480"/>
          </a:xfrm>
          <a:prstGeom prst="rect">
            <a:avLst/>
          </a:prstGeom>
          <a:noFill/>
          <a:ln/>
        </p:spPr>
        <p:txBody>
          <a:bodyPr wrap="square" rtlCol="0" anchor="ctr"/>
          <a:lstStyle/>
          <a:p>
            <a:pPr indent="0" marL="0">
              <a:buNone/>
            </a:pPr>
            <a:r>
              <a:rPr lang="en-US" sz="1300" dirty="0">
                <a:solidFill>
                  <a:srgbClr val="B0BEC5"/>
                </a:solidFill>
                <a:latin typeface="Hiragino Sans W3" pitchFamily="34" charset="0"/>
                <a:ea typeface="Hiragino Sans W3" pitchFamily="34" charset="-122"/>
                <a:cs typeface="Hiragino Sans W3" pitchFamily="34" charset="-120"/>
              </a:rPr>
              <a:t>障害福祉施設の支援記録からAIが虐待リスクを予兆検知する世界初の技術</a:t>
            </a:r>
            <a:endParaRPr lang="en-US" sz="1300" dirty="0"/>
          </a:p>
        </p:txBody>
      </p:sp>
      <p:sp>
        <p:nvSpPr>
          <p:cNvPr id="5" name="Shape 3"/>
          <p:cNvSpPr/>
          <p:nvPr/>
        </p:nvSpPr>
        <p:spPr>
          <a:xfrm>
            <a:off x="548640" y="1508760"/>
            <a:ext cx="13533120" cy="347472"/>
          </a:xfrm>
          <a:prstGeom prst="roundRect">
            <a:avLst>
              <a:gd name="adj" fmla="val 7895"/>
            </a:avLst>
          </a:prstGeom>
          <a:solidFill>
            <a:srgbClr val="4A90D9"/>
          </a:solidFill>
          <a:ln/>
        </p:spPr>
      </p:sp>
      <p:sp>
        <p:nvSpPr>
          <p:cNvPr id="6" name="Text 4"/>
          <p:cNvSpPr/>
          <p:nvPr/>
        </p:nvSpPr>
        <p:spPr>
          <a:xfrm>
            <a:off x="731520" y="1508760"/>
            <a:ext cx="13167360" cy="347472"/>
          </a:xfrm>
          <a:prstGeom prst="rect">
            <a:avLst/>
          </a:prstGeom>
          <a:noFill/>
          <a:ln/>
        </p:spPr>
        <p:txBody>
          <a:bodyPr wrap="square" rtlCol="0" anchor="ctr"/>
          <a:lstStyle/>
          <a:p>
            <a:pPr indent="0" marL="0">
              <a:buNone/>
            </a:pPr>
            <a:r>
              <a:rPr lang="en-US" sz="1100" dirty="0">
                <a:solidFill>
                  <a:srgbClr val="FFFFFF"/>
                </a:solidFill>
                <a:latin typeface="Hiragino Sans W6" pitchFamily="34" charset="0"/>
                <a:ea typeface="Hiragino Sans W6" pitchFamily="34" charset="-122"/>
                <a:cs typeface="Hiragino Sans W6" pitchFamily="34" charset="-120"/>
              </a:rPr>
              <a:t>補足：申請書「4. コアとなる技術シーズの概要」「技術の詳細」— 技術1</a:t>
            </a:r>
            <a:endParaRPr lang="en-US" sz="1100" dirty="0"/>
          </a:p>
        </p:txBody>
      </p:sp>
      <p:sp>
        <p:nvSpPr>
          <p:cNvPr id="7" name="Shape 5"/>
          <p:cNvSpPr/>
          <p:nvPr/>
        </p:nvSpPr>
        <p:spPr>
          <a:xfrm>
            <a:off x="12618720" y="1527048"/>
            <a:ext cx="1645920" cy="292608"/>
          </a:xfrm>
          <a:prstGeom prst="roundRect">
            <a:avLst>
              <a:gd name="adj" fmla="val 12500"/>
            </a:avLst>
          </a:prstGeom>
          <a:solidFill>
            <a:srgbClr val="EBF5FB"/>
          </a:solidFill>
          <a:ln w="10160">
            <a:solidFill>
              <a:srgbClr val="2980B9"/>
            </a:solidFill>
            <a:prstDash val="solid"/>
          </a:ln>
        </p:spPr>
      </p:sp>
      <p:sp>
        <p:nvSpPr>
          <p:cNvPr id="8" name="Text 6"/>
          <p:cNvSpPr/>
          <p:nvPr/>
        </p:nvSpPr>
        <p:spPr>
          <a:xfrm>
            <a:off x="12618720" y="1527048"/>
            <a:ext cx="1645920" cy="292608"/>
          </a:xfrm>
          <a:prstGeom prst="rect">
            <a:avLst/>
          </a:prstGeom>
          <a:noFill/>
          <a:ln/>
        </p:spPr>
        <p:txBody>
          <a:bodyPr wrap="square" rtlCol="0" anchor="ctr"/>
          <a:lstStyle/>
          <a:p>
            <a:pPr algn="ctr" indent="0" marL="0">
              <a:buNone/>
            </a:pPr>
            <a:r>
              <a:rPr lang="en-US" sz="900" dirty="0">
                <a:solidFill>
                  <a:srgbClr val="2980B9"/>
                </a:solidFill>
                <a:latin typeface="Hiragino Sans W6" pitchFamily="34" charset="0"/>
                <a:ea typeface="Hiragino Sans W6" pitchFamily="34" charset="-122"/>
                <a:cs typeface="Hiragino Sans W6" pitchFamily="34" charset="-120"/>
              </a:rPr>
              <a:t>審査軸：技術性</a:t>
            </a:r>
            <a:endParaRPr lang="en-US" sz="900" dirty="0"/>
          </a:p>
        </p:txBody>
      </p:sp>
      <p:sp>
        <p:nvSpPr>
          <p:cNvPr id="9" name="Shape 7"/>
          <p:cNvSpPr/>
          <p:nvPr/>
        </p:nvSpPr>
        <p:spPr>
          <a:xfrm>
            <a:off x="548640" y="2057400"/>
            <a:ext cx="6583680" cy="5486400"/>
          </a:xfrm>
          <a:prstGeom prst="roundRect">
            <a:avLst>
              <a:gd name="adj" fmla="val 1333"/>
            </a:avLst>
          </a:prstGeom>
          <a:solidFill>
            <a:srgbClr val="FFFFFF"/>
          </a:solidFill>
          <a:ln w="12700">
            <a:solidFill>
              <a:srgbClr val="DCE1E8"/>
            </a:solidFill>
            <a:prstDash val="solid"/>
          </a:ln>
        </p:spPr>
      </p:sp>
      <p:sp>
        <p:nvSpPr>
          <p:cNvPr id="10" name="Text 8"/>
          <p:cNvSpPr/>
          <p:nvPr/>
        </p:nvSpPr>
        <p:spPr>
          <a:xfrm>
            <a:off x="731520" y="2148840"/>
            <a:ext cx="3657600" cy="320040"/>
          </a:xfrm>
          <a:prstGeom prst="rect">
            <a:avLst/>
          </a:prstGeom>
          <a:noFill/>
          <a:ln/>
        </p:spPr>
        <p:txBody>
          <a:bodyPr wrap="square" rtlCol="0" anchor="ctr"/>
          <a:lstStyle/>
          <a:p>
            <a:pPr indent="0" marL="0">
              <a:buNone/>
            </a:pPr>
            <a:r>
              <a:rPr lang="en-US" sz="1400" dirty="0">
                <a:solidFill>
                  <a:srgbClr val="2C3E50"/>
                </a:solidFill>
                <a:latin typeface="Hiragino Sans W6" pitchFamily="34" charset="0"/>
                <a:ea typeface="Hiragino Sans W6" pitchFamily="34" charset="-122"/>
                <a:cs typeface="Hiragino Sans W6" pitchFamily="34" charset="-120"/>
              </a:rPr>
              <a:t>技術の概要</a:t>
            </a:r>
            <a:endParaRPr lang="en-US" sz="1400" dirty="0"/>
          </a:p>
        </p:txBody>
      </p:sp>
      <p:sp>
        <p:nvSpPr>
          <p:cNvPr id="11" name="Text 9"/>
          <p:cNvSpPr/>
          <p:nvPr/>
        </p:nvSpPr>
        <p:spPr>
          <a:xfrm>
            <a:off x="731520" y="2560320"/>
            <a:ext cx="6217920" cy="4754880"/>
          </a:xfrm>
          <a:prstGeom prst="rect">
            <a:avLst/>
          </a:prstGeom>
          <a:noFill/>
          <a:ln/>
        </p:spPr>
        <p:txBody>
          <a:bodyPr wrap="square" rtlCol="0" anchor="ctr"/>
          <a:lstStyle/>
          <a:p>
            <a:pPr indent="0" marL="0">
              <a:buNone/>
            </a:pPr>
            <a:r>
              <a:rPr lang="en-US" sz="1500" b="1" dirty="0">
                <a:solidFill>
                  <a:srgbClr val="C0392B"/>
                </a:solidFill>
                <a:latin typeface="Hiragino Sans W6" pitchFamily="34" charset="0"/>
                <a:ea typeface="Hiragino Sans W6" pitchFamily="34" charset="-122"/>
                <a:cs typeface="Hiragino Sans W6" pitchFamily="34" charset="-120"/>
              </a:rPr>
              <a:t>「魔の支援ループ」をAIが検知</a:t>
            </a:r>
            <a:endParaRPr lang="en-US" sz="1500" dirty="0"/>
          </a:p>
          <a:p>
            <a:pPr indent="0" marL="0">
              <a:buNone/>
            </a:pPr>
            <a:endParaRPr lang="en-US" sz="1500" dirty="0"/>
          </a:p>
          <a:p>
            <a:pPr indent="0" marL="0">
              <a:buNone/>
            </a:pPr>
            <a:r>
              <a:rPr lang="en-US" sz="1200" dirty="0">
                <a:solidFill>
                  <a:srgbClr val="C0392B"/>
                </a:solidFill>
                <a:latin typeface="Hiragino Sans W6" pitchFamily="34" charset="0"/>
                <a:ea typeface="Hiragino Sans W6" pitchFamily="34" charset="-122"/>
                <a:cs typeface="Hiragino Sans W6" pitchFamily="34" charset="-120"/>
              </a:rPr>
              <a:t>偏見の醸成 → 抑圧 → 強引 → 強要 → 虐待</a:t>
            </a:r>
            <a:endParaRPr lang="en-US" sz="1500" dirty="0"/>
          </a:p>
          <a:p>
            <a:pPr indent="0" marL="0">
              <a:buNone/>
            </a:pPr>
            <a:endParaRPr lang="en-US" sz="1500" dirty="0"/>
          </a:p>
          <a:p>
            <a:pPr indent="0" marL="0">
              <a:buNone/>
            </a:pPr>
            <a:r>
              <a:rPr lang="en-US" sz="1200" dirty="0">
                <a:solidFill>
                  <a:srgbClr val="2C3E50"/>
                </a:solidFill>
                <a:latin typeface="Hiragino Sans W3" pitchFamily="34" charset="0"/>
                <a:ea typeface="Hiragino Sans W3" pitchFamily="34" charset="-122"/>
                <a:cs typeface="Hiragino Sans W3" pitchFamily="34" charset="-120"/>
              </a:rPr>
              <a:t>サンライズ独自の自立支援マトリックスが定義する「危険パス」（L4層）の行動パターンを、日常の支援記録テキストからNLP（自然言語処理）で分析。支援員の文体・語彙の変化から虐待の兆候を早期検出する。</a:t>
            </a:r>
            <a:endParaRPr lang="en-US" sz="1500" dirty="0"/>
          </a:p>
          <a:p>
            <a:pPr indent="0" marL="0">
              <a:buNone/>
            </a:pPr>
            <a:endParaRPr lang="en-US" sz="1500" dirty="0"/>
          </a:p>
          <a:p>
            <a:pPr indent="0" marL="0">
              <a:buNone/>
            </a:pPr>
            <a:r>
              <a:rPr lang="en-US" sz="1200" dirty="0">
                <a:solidFill>
                  <a:srgbClr val="2C3E50"/>
                </a:solidFill>
                <a:latin typeface="Hiragino Sans W6" pitchFamily="34" charset="0"/>
                <a:ea typeface="Hiragino Sans W6" pitchFamily="34" charset="-122"/>
                <a:cs typeface="Hiragino Sans W6" pitchFamily="34" charset="-120"/>
              </a:rPr>
              <a:t>検知対象となる3つの危険ループ:</a:t>
            </a:r>
            <a:endParaRPr lang="en-US" sz="1500" dirty="0"/>
          </a:p>
          <a:p>
            <a:pPr indent="0" marL="0">
              <a:buNone/>
            </a:pPr>
            <a:r>
              <a:rPr lang="en-US" sz="1100" dirty="0">
                <a:solidFill>
                  <a:srgbClr val="2C3E50"/>
                </a:solidFill>
                <a:latin typeface="Hiragino Sans W3" pitchFamily="34" charset="0"/>
                <a:ea typeface="Hiragino Sans W3" pitchFamily="34" charset="-122"/>
                <a:cs typeface="Hiragino Sans W3" pitchFamily="34" charset="-120"/>
              </a:rPr>
              <a:t>1. 魔の支援ループ（偏見→虐待のエスカレーション）</a:t>
            </a:r>
            <a:endParaRPr lang="en-US" sz="1500" dirty="0"/>
          </a:p>
          <a:p>
            <a:pPr indent="0" marL="0">
              <a:buNone/>
            </a:pPr>
            <a:r>
              <a:rPr lang="en-US" sz="1100" dirty="0">
                <a:solidFill>
                  <a:srgbClr val="2C3E50"/>
                </a:solidFill>
                <a:latin typeface="Hiragino Sans W3" pitchFamily="34" charset="0"/>
                <a:ea typeface="Hiragino Sans W3" pitchFamily="34" charset="-122"/>
                <a:cs typeface="Hiragino Sans W3" pitchFamily="34" charset="-120"/>
              </a:rPr>
              <a:t>2. 作業増量ループ（支援量→作業量→品質低下）</a:t>
            </a:r>
            <a:endParaRPr lang="en-US" sz="1500" dirty="0"/>
          </a:p>
          <a:p>
            <a:pPr indent="0" marL="0">
              <a:buNone/>
            </a:pPr>
            <a:r>
              <a:rPr lang="en-US" sz="1100" dirty="0">
                <a:solidFill>
                  <a:srgbClr val="2C3E50"/>
                </a:solidFill>
                <a:latin typeface="Hiragino Sans W3" pitchFamily="34" charset="0"/>
                <a:ea typeface="Hiragino Sans W3" pitchFamily="34" charset="-122"/>
                <a:cs typeface="Hiragino Sans W3" pitchFamily="34" charset="-120"/>
              </a:rPr>
              <a:t>3. 推測支援サイクル（推測→記録しない→事故）</a:t>
            </a:r>
            <a:endParaRPr lang="en-US" sz="1500" dirty="0"/>
          </a:p>
          <a:p>
            <a:pPr indent="0" marL="0">
              <a:buNone/>
            </a:pPr>
            <a:endParaRPr lang="en-US" sz="1500" dirty="0"/>
          </a:p>
          <a:p>
            <a:pPr indent="0" marL="0">
              <a:buNone/>
            </a:pPr>
            <a:r>
              <a:rPr lang="en-US" sz="1100" dirty="0">
                <a:solidFill>
                  <a:srgbClr val="7F8C8D"/>
                </a:solidFill>
                <a:latin typeface="Hiragino Sans W3" pitchFamily="34" charset="0"/>
                <a:ea typeface="Hiragino Sans W3" pitchFamily="34" charset="-122"/>
                <a:cs typeface="Hiragino Sans W3" pitchFamily="34" charset="-120"/>
              </a:rPr>
              <a:t>障害者虐待防止法の趣旨に沿った予防的システム。虐待の5類型すべてを対象。</a:t>
            </a:r>
            <a:endParaRPr lang="en-US" sz="1500" dirty="0"/>
          </a:p>
        </p:txBody>
      </p:sp>
      <p:sp>
        <p:nvSpPr>
          <p:cNvPr id="12" name="Shape 10"/>
          <p:cNvSpPr/>
          <p:nvPr/>
        </p:nvSpPr>
        <p:spPr>
          <a:xfrm>
            <a:off x="7406640" y="2057400"/>
            <a:ext cx="6675120" cy="2560320"/>
          </a:xfrm>
          <a:prstGeom prst="roundRect">
            <a:avLst>
              <a:gd name="adj" fmla="val 2857"/>
            </a:avLst>
          </a:prstGeom>
          <a:solidFill>
            <a:srgbClr val="FFFFFF"/>
          </a:solidFill>
          <a:ln w="12700">
            <a:solidFill>
              <a:srgbClr val="DCE1E8"/>
            </a:solidFill>
            <a:prstDash val="solid"/>
          </a:ln>
        </p:spPr>
      </p:sp>
      <p:sp>
        <p:nvSpPr>
          <p:cNvPr id="13" name="Text 11"/>
          <p:cNvSpPr/>
          <p:nvPr/>
        </p:nvSpPr>
        <p:spPr>
          <a:xfrm>
            <a:off x="7589520" y="2148840"/>
            <a:ext cx="3657600" cy="320040"/>
          </a:xfrm>
          <a:prstGeom prst="rect">
            <a:avLst/>
          </a:prstGeom>
          <a:noFill/>
          <a:ln/>
        </p:spPr>
        <p:txBody>
          <a:bodyPr wrap="square" rtlCol="0" anchor="ctr"/>
          <a:lstStyle/>
          <a:p>
            <a:pPr indent="0" marL="0">
              <a:buNone/>
            </a:pPr>
            <a:r>
              <a:rPr lang="en-US" sz="1400" dirty="0">
                <a:solidFill>
                  <a:srgbClr val="2C3E50"/>
                </a:solidFill>
                <a:latin typeface="Hiragino Sans W6" pitchFamily="34" charset="0"/>
                <a:ea typeface="Hiragino Sans W6" pitchFamily="34" charset="-122"/>
                <a:cs typeface="Hiragino Sans W6" pitchFamily="34" charset="-120"/>
              </a:rPr>
              <a:t>先行技術との差異</a:t>
            </a:r>
            <a:endParaRPr lang="en-US" sz="1400" dirty="0"/>
          </a:p>
        </p:txBody>
      </p:sp>
      <p:sp>
        <p:nvSpPr>
          <p:cNvPr id="14" name="Text 12"/>
          <p:cNvSpPr/>
          <p:nvPr/>
        </p:nvSpPr>
        <p:spPr>
          <a:xfrm>
            <a:off x="7589520" y="2514600"/>
            <a:ext cx="6309360" cy="1920240"/>
          </a:xfrm>
          <a:prstGeom prst="rect">
            <a:avLst/>
          </a:prstGeom>
          <a:noFill/>
          <a:ln/>
        </p:spPr>
        <p:txBody>
          <a:bodyPr wrap="square" rtlCol="0" anchor="ctr"/>
          <a:lstStyle/>
          <a:p>
            <a:pPr indent="0" marL="0">
              <a:buNone/>
            </a:pPr>
            <a:r>
              <a:rPr lang="en-US" sz="1300" dirty="0">
                <a:solidFill>
                  <a:srgbClr val="2C3E50"/>
                </a:solidFill>
                <a:latin typeface="Hiragino Sans W6" pitchFamily="34" charset="0"/>
                <a:ea typeface="Hiragino Sans W6" pitchFamily="34" charset="-122"/>
                <a:cs typeface="Hiragino Sans W6" pitchFamily="34" charset="-120"/>
              </a:rPr>
              <a:t>最近接：産総研 AiCAN</a:t>
            </a:r>
            <a:endParaRPr lang="en-US" sz="1300" dirty="0"/>
          </a:p>
          <a:p>
            <a:pPr indent="0" marL="0">
              <a:buNone/>
            </a:pPr>
            <a:r>
              <a:rPr lang="en-US" sz="1100" dirty="0">
                <a:solidFill>
                  <a:srgbClr val="7F8C8D"/>
                </a:solidFill>
                <a:latin typeface="Hiragino Sans W3" pitchFamily="34" charset="0"/>
                <a:ea typeface="Hiragino Sans W3" pitchFamily="34" charset="-122"/>
                <a:cs typeface="Hiragino Sans W3" pitchFamily="34" charset="-120"/>
              </a:rPr>
              <a:t>→ 児童相談所の通告データが対象（事後対応型）</a:t>
            </a:r>
            <a:endParaRPr lang="en-US" sz="1300" dirty="0"/>
          </a:p>
          <a:p>
            <a:pPr indent="0" marL="0">
              <a:buNone/>
            </a:pPr>
            <a:r>
              <a:rPr lang="en-US" sz="1100" dirty="0">
                <a:solidFill>
                  <a:srgbClr val="7F8C8D"/>
                </a:solidFill>
                <a:latin typeface="Hiragino Sans W3" pitchFamily="34" charset="0"/>
                <a:ea typeface="Hiragino Sans W3" pitchFamily="34" charset="-122"/>
                <a:cs typeface="Hiragino Sans W3" pitchFamily="34" charset="-120"/>
              </a:rPr>
              <a:t>→ 障害福祉施設の内部支援記録は対象外</a:t>
            </a:r>
            <a:endParaRPr lang="en-US" sz="1300" dirty="0"/>
          </a:p>
          <a:p>
            <a:pPr indent="0" marL="0">
              <a:buNone/>
            </a:pPr>
            <a:endParaRPr lang="en-US" sz="1300" dirty="0"/>
          </a:p>
          <a:p>
            <a:pPr indent="0" marL="0">
              <a:buNone/>
            </a:pPr>
            <a:r>
              <a:rPr lang="en-US" sz="1200" dirty="0">
                <a:solidFill>
                  <a:srgbClr val="4A90D9"/>
                </a:solidFill>
                <a:latin typeface="Hiragino Sans W6" pitchFamily="34" charset="0"/>
                <a:ea typeface="Hiragino Sans W6" pitchFamily="34" charset="-122"/>
                <a:cs typeface="Hiragino Sans W6" pitchFamily="34" charset="-120"/>
              </a:rPr>
              <a:t>本技術の差別化：</a:t>
            </a:r>
            <a:endParaRPr lang="en-US" sz="1300" dirty="0"/>
          </a:p>
          <a:p>
            <a:pPr indent="0" marL="0">
              <a:buNone/>
            </a:pPr>
            <a:r>
              <a:rPr lang="en-US" sz="1100" dirty="0">
                <a:solidFill>
                  <a:srgbClr val="2C3E50"/>
                </a:solidFill>
                <a:latin typeface="Hiragino Sans W3" pitchFamily="34" charset="0"/>
                <a:ea typeface="Hiragino Sans W3" pitchFamily="34" charset="-122"/>
                <a:cs typeface="Hiragino Sans W3" pitchFamily="34" charset="-120"/>
              </a:rPr>
              <a:t>施設内の日常支援記録をNLPで分析する予防型。対象・データソース・分析手法のすべてが異なる。</a:t>
            </a:r>
            <a:endParaRPr lang="en-US" sz="1300" dirty="0"/>
          </a:p>
        </p:txBody>
      </p:sp>
      <p:sp>
        <p:nvSpPr>
          <p:cNvPr id="15" name="Shape 13"/>
          <p:cNvSpPr/>
          <p:nvPr/>
        </p:nvSpPr>
        <p:spPr>
          <a:xfrm>
            <a:off x="7406640" y="4846320"/>
            <a:ext cx="6675120" cy="2697480"/>
          </a:xfrm>
          <a:prstGeom prst="roundRect">
            <a:avLst>
              <a:gd name="adj" fmla="val 2712"/>
            </a:avLst>
          </a:prstGeom>
          <a:solidFill>
            <a:srgbClr val="FFFFFF"/>
          </a:solidFill>
          <a:ln w="12700">
            <a:solidFill>
              <a:srgbClr val="C0392B"/>
            </a:solidFill>
            <a:prstDash val="solid"/>
          </a:ln>
        </p:spPr>
      </p:sp>
      <p:sp>
        <p:nvSpPr>
          <p:cNvPr id="16" name="Text 14"/>
          <p:cNvSpPr/>
          <p:nvPr/>
        </p:nvSpPr>
        <p:spPr>
          <a:xfrm>
            <a:off x="7589520" y="4937760"/>
            <a:ext cx="3657600" cy="320040"/>
          </a:xfrm>
          <a:prstGeom prst="rect">
            <a:avLst/>
          </a:prstGeom>
          <a:noFill/>
          <a:ln/>
        </p:spPr>
        <p:txBody>
          <a:bodyPr wrap="square" rtlCol="0" anchor="ctr"/>
          <a:lstStyle/>
          <a:p>
            <a:pPr indent="0" marL="0">
              <a:buNone/>
            </a:pPr>
            <a:r>
              <a:rPr lang="en-US" sz="1400" dirty="0">
                <a:solidFill>
                  <a:srgbClr val="C0392B"/>
                </a:solidFill>
                <a:latin typeface="Hiragino Sans W6" pitchFamily="34" charset="0"/>
                <a:ea typeface="Hiragino Sans W6" pitchFamily="34" charset="-122"/>
                <a:cs typeface="Hiragino Sans W6" pitchFamily="34" charset="-120"/>
              </a:rPr>
              <a:t>知的財産保護の緊急性</a:t>
            </a:r>
            <a:endParaRPr lang="en-US" sz="1400" dirty="0"/>
          </a:p>
        </p:txBody>
      </p:sp>
      <p:sp>
        <p:nvSpPr>
          <p:cNvPr id="17" name="Text 15"/>
          <p:cNvSpPr/>
          <p:nvPr/>
        </p:nvSpPr>
        <p:spPr>
          <a:xfrm>
            <a:off x="7589520" y="5349240"/>
            <a:ext cx="6309360" cy="2011680"/>
          </a:xfrm>
          <a:prstGeom prst="rect">
            <a:avLst/>
          </a:prstGeom>
          <a:noFill/>
          <a:ln/>
        </p:spPr>
        <p:txBody>
          <a:bodyPr wrap="square" rtlCol="0" anchor="ctr"/>
          <a:lstStyle/>
          <a:p>
            <a:pPr indent="0" marL="0">
              <a:buNone/>
            </a:pPr>
            <a:r>
              <a:rPr lang="en-US" sz="1200" dirty="0">
                <a:solidFill>
                  <a:srgbClr val="2C3E50"/>
                </a:solidFill>
                <a:latin typeface="Hiragino Sans W6" pitchFamily="34" charset="0"/>
                <a:ea typeface="Hiragino Sans W6" pitchFamily="34" charset="-122"/>
                <a:cs typeface="Hiragino Sans W6" pitchFamily="34" charset="-120"/>
              </a:rPr>
              <a:t>社会的インパクトが大きく模倣リスクが高い。</a:t>
            </a:r>
            <a:endParaRPr lang="en-US" sz="1200" dirty="0"/>
          </a:p>
          <a:p>
            <a:pPr indent="0" marL="0">
              <a:buNone/>
            </a:pPr>
            <a:endParaRPr lang="en-US" sz="1200" dirty="0"/>
          </a:p>
          <a:p>
            <a:pPr indent="0" marL="0">
              <a:buNone/>
            </a:pPr>
            <a:r>
              <a:rPr lang="en-US" sz="1100" dirty="0">
                <a:solidFill>
                  <a:srgbClr val="2C3E50"/>
                </a:solidFill>
                <a:latin typeface="Hiragino Sans W3" pitchFamily="34" charset="0"/>
                <a:ea typeface="Hiragino Sans W3" pitchFamily="34" charset="-122"/>
                <a:cs typeface="Hiragino Sans W3" pitchFamily="34" charset="-120"/>
              </a:rPr>
              <a:t>大手介護ICTベンダー（ほのぼの、ワイズマン等）の障害福祉市場参入に備え、先行して権利化することが事業存続の生命線。</a:t>
            </a:r>
            <a:endParaRPr lang="en-US" sz="1200" dirty="0"/>
          </a:p>
          <a:p>
            <a:pPr indent="0" marL="0">
              <a:buNone/>
            </a:pPr>
            <a:endParaRPr lang="en-US" sz="1200" dirty="0"/>
          </a:p>
          <a:p>
            <a:pPr indent="0" marL="0">
              <a:buNone/>
            </a:pPr>
            <a:r>
              <a:rPr lang="en-US" sz="1100" dirty="0">
                <a:solidFill>
                  <a:srgbClr val="2C3E50"/>
                </a:solidFill>
                <a:latin typeface="Hiragino Sans W3" pitchFamily="34" charset="0"/>
                <a:ea typeface="Hiragino Sans W3" pitchFamily="34" charset="-122"/>
                <a:cs typeface="Hiragino Sans W3" pitchFamily="34" charset="-120"/>
              </a:rPr>
              <a:t>請求項案は作成済み。弁理士の専門的指導により</a:t>
            </a:r>
            <a:pPr indent="0" marL="0">
              <a:buNone/>
            </a:pPr>
            <a:r>
              <a:rPr lang="en-US" sz="1100" dirty="0">
                <a:solidFill>
                  <a:srgbClr val="C0392B"/>
                </a:solidFill>
                <a:latin typeface="Hiragino Sans W6" pitchFamily="34" charset="0"/>
                <a:ea typeface="Hiragino Sans W6" pitchFamily="34" charset="-122"/>
                <a:cs typeface="Hiragino Sans W6" pitchFamily="34" charset="-120"/>
              </a:rPr>
              <a:t>クレーム範囲の最適化が必要。</a:t>
            </a:r>
            <a:endParaRPr lang="en-US" sz="1200" dirty="0"/>
          </a:p>
        </p:txBody>
      </p:sp>
      <p:sp>
        <p:nvSpPr>
          <p:cNvPr id="18" name="Text 16"/>
          <p:cNvSpPr/>
          <p:nvPr/>
        </p:nvSpPr>
        <p:spPr>
          <a:xfrm>
            <a:off x="13258800" y="7818120"/>
            <a:ext cx="914400" cy="274320"/>
          </a:xfrm>
          <a:prstGeom prst="rect">
            <a:avLst/>
          </a:prstGeom>
          <a:noFill/>
          <a:ln/>
        </p:spPr>
        <p:txBody>
          <a:bodyPr wrap="square" rtlCol="0" anchor="ctr"/>
          <a:lstStyle/>
          <a:p>
            <a:pPr algn="r" indent="0" marL="0">
              <a:buNone/>
            </a:pPr>
            <a:r>
              <a:rPr lang="en-US" sz="800" dirty="0">
                <a:solidFill>
                  <a:srgbClr val="7F8C8D"/>
                </a:solidFill>
                <a:latin typeface="Hiragino Sans W3" pitchFamily="34" charset="0"/>
                <a:ea typeface="Hiragino Sans W3" pitchFamily="34" charset="-122"/>
                <a:cs typeface="Hiragino Sans W3" pitchFamily="34" charset="-120"/>
              </a:rPr>
              <a:t>3 / 15</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4630400" cy="1417320"/>
          </a:xfrm>
          <a:prstGeom prst="rect">
            <a:avLst/>
          </a:prstGeom>
          <a:solidFill>
            <a:srgbClr val="1A1A2E"/>
          </a:solidFill>
          <a:ln/>
        </p:spPr>
      </p:sp>
      <p:sp>
        <p:nvSpPr>
          <p:cNvPr id="3" name="Text 1"/>
          <p:cNvSpPr/>
          <p:nvPr/>
        </p:nvSpPr>
        <p:spPr>
          <a:xfrm>
            <a:off x="548640" y="182880"/>
            <a:ext cx="13533120" cy="594360"/>
          </a:xfrm>
          <a:prstGeom prst="rect">
            <a:avLst/>
          </a:prstGeom>
          <a:noFill/>
          <a:ln/>
        </p:spPr>
        <p:txBody>
          <a:bodyPr wrap="square" rtlCol="0" anchor="ctr"/>
          <a:lstStyle/>
          <a:p>
            <a:pPr indent="0" marL="0">
              <a:buNone/>
            </a:pPr>
            <a:r>
              <a:rPr lang="en-US" sz="2600" b="1" dirty="0">
                <a:solidFill>
                  <a:srgbClr val="FFFFFF"/>
                </a:solidFill>
                <a:latin typeface="Hiragino Sans W6" pitchFamily="34" charset="0"/>
                <a:ea typeface="Hiragino Sans W6" pitchFamily="34" charset="-122"/>
                <a:cs typeface="Hiragino Sans W6" pitchFamily="34" charset="-120"/>
              </a:rPr>
              <a:t>新規性②：段階的情報開示×課金連動モデル（特許出願準備中）</a:t>
            </a:r>
            <a:endParaRPr lang="en-US" sz="2600" dirty="0"/>
          </a:p>
        </p:txBody>
      </p:sp>
      <p:sp>
        <p:nvSpPr>
          <p:cNvPr id="4" name="Text 2"/>
          <p:cNvSpPr/>
          <p:nvPr/>
        </p:nvSpPr>
        <p:spPr>
          <a:xfrm>
            <a:off x="548640" y="822960"/>
            <a:ext cx="13533120" cy="411480"/>
          </a:xfrm>
          <a:prstGeom prst="rect">
            <a:avLst/>
          </a:prstGeom>
          <a:noFill/>
          <a:ln/>
        </p:spPr>
        <p:txBody>
          <a:bodyPr wrap="square" rtlCol="0" anchor="ctr"/>
          <a:lstStyle/>
          <a:p>
            <a:pPr indent="0" marL="0">
              <a:buNone/>
            </a:pPr>
            <a:r>
              <a:rPr lang="en-US" sz="1300" dirty="0">
                <a:solidFill>
                  <a:srgbClr val="B0BEC5"/>
                </a:solidFill>
                <a:latin typeface="Hiragino Sans W3" pitchFamily="34" charset="0"/>
                <a:ea typeface="Hiragino Sans W3" pitchFamily="34" charset="-122"/>
                <a:cs typeface="Hiragino Sans W3" pitchFamily="34" charset="-120"/>
              </a:rPr>
              <a:t>利用者の個人情報開示レベルに応じて利用料金を自動設定 — 先行特許なし</a:t>
            </a:r>
            <a:endParaRPr lang="en-US" sz="1300" dirty="0"/>
          </a:p>
        </p:txBody>
      </p:sp>
      <p:sp>
        <p:nvSpPr>
          <p:cNvPr id="5" name="Shape 3"/>
          <p:cNvSpPr/>
          <p:nvPr/>
        </p:nvSpPr>
        <p:spPr>
          <a:xfrm>
            <a:off x="548640" y="1508760"/>
            <a:ext cx="13533120" cy="347472"/>
          </a:xfrm>
          <a:prstGeom prst="roundRect">
            <a:avLst>
              <a:gd name="adj" fmla="val 7895"/>
            </a:avLst>
          </a:prstGeom>
          <a:solidFill>
            <a:srgbClr val="4A90D9"/>
          </a:solidFill>
          <a:ln/>
        </p:spPr>
      </p:sp>
      <p:sp>
        <p:nvSpPr>
          <p:cNvPr id="6" name="Text 4"/>
          <p:cNvSpPr/>
          <p:nvPr/>
        </p:nvSpPr>
        <p:spPr>
          <a:xfrm>
            <a:off x="731520" y="1508760"/>
            <a:ext cx="13167360" cy="347472"/>
          </a:xfrm>
          <a:prstGeom prst="rect">
            <a:avLst/>
          </a:prstGeom>
          <a:noFill/>
          <a:ln/>
        </p:spPr>
        <p:txBody>
          <a:bodyPr wrap="square" rtlCol="0" anchor="ctr"/>
          <a:lstStyle/>
          <a:p>
            <a:pPr indent="0" marL="0">
              <a:buNone/>
            </a:pPr>
            <a:r>
              <a:rPr lang="en-US" sz="1100" dirty="0">
                <a:solidFill>
                  <a:srgbClr val="FFFFFF"/>
                </a:solidFill>
                <a:latin typeface="Hiragino Sans W6" pitchFamily="34" charset="0"/>
                <a:ea typeface="Hiragino Sans W6" pitchFamily="34" charset="-122"/>
                <a:cs typeface="Hiragino Sans W6" pitchFamily="34" charset="-120"/>
              </a:rPr>
              <a:t>補足：申請書「4. コアとなる技術シーズの概要」「技術の詳細」— 技術2</a:t>
            </a:r>
            <a:endParaRPr lang="en-US" sz="1100" dirty="0"/>
          </a:p>
        </p:txBody>
      </p:sp>
      <p:sp>
        <p:nvSpPr>
          <p:cNvPr id="7" name="Shape 5"/>
          <p:cNvSpPr/>
          <p:nvPr/>
        </p:nvSpPr>
        <p:spPr>
          <a:xfrm>
            <a:off x="12618720" y="1527048"/>
            <a:ext cx="1645920" cy="292608"/>
          </a:xfrm>
          <a:prstGeom prst="roundRect">
            <a:avLst>
              <a:gd name="adj" fmla="val 12500"/>
            </a:avLst>
          </a:prstGeom>
          <a:solidFill>
            <a:srgbClr val="EBF5FB"/>
          </a:solidFill>
          <a:ln w="10160">
            <a:solidFill>
              <a:srgbClr val="2980B9"/>
            </a:solidFill>
            <a:prstDash val="solid"/>
          </a:ln>
        </p:spPr>
      </p:sp>
      <p:sp>
        <p:nvSpPr>
          <p:cNvPr id="8" name="Text 6"/>
          <p:cNvSpPr/>
          <p:nvPr/>
        </p:nvSpPr>
        <p:spPr>
          <a:xfrm>
            <a:off x="12618720" y="1527048"/>
            <a:ext cx="1645920" cy="292608"/>
          </a:xfrm>
          <a:prstGeom prst="rect">
            <a:avLst/>
          </a:prstGeom>
          <a:noFill/>
          <a:ln/>
        </p:spPr>
        <p:txBody>
          <a:bodyPr wrap="square" rtlCol="0" anchor="ctr"/>
          <a:lstStyle/>
          <a:p>
            <a:pPr algn="ctr" indent="0" marL="0">
              <a:buNone/>
            </a:pPr>
            <a:r>
              <a:rPr lang="en-US" sz="900" dirty="0">
                <a:solidFill>
                  <a:srgbClr val="2980B9"/>
                </a:solidFill>
                <a:latin typeface="Hiragino Sans W6" pitchFamily="34" charset="0"/>
                <a:ea typeface="Hiragino Sans W6" pitchFamily="34" charset="-122"/>
                <a:cs typeface="Hiragino Sans W6" pitchFamily="34" charset="-120"/>
              </a:rPr>
              <a:t>審査軸：技術性</a:t>
            </a:r>
            <a:endParaRPr lang="en-US" sz="900" dirty="0"/>
          </a:p>
        </p:txBody>
      </p:sp>
      <p:sp>
        <p:nvSpPr>
          <p:cNvPr id="9" name="Shape 7"/>
          <p:cNvSpPr/>
          <p:nvPr/>
        </p:nvSpPr>
        <p:spPr>
          <a:xfrm>
            <a:off x="548640" y="2057400"/>
            <a:ext cx="6766560" cy="5486400"/>
          </a:xfrm>
          <a:prstGeom prst="roundRect">
            <a:avLst>
              <a:gd name="adj" fmla="val 1333"/>
            </a:avLst>
          </a:prstGeom>
          <a:solidFill>
            <a:srgbClr val="FFFFFF"/>
          </a:solidFill>
          <a:ln w="12700">
            <a:solidFill>
              <a:srgbClr val="DCE1E8"/>
            </a:solidFill>
            <a:prstDash val="solid"/>
          </a:ln>
        </p:spPr>
      </p:sp>
      <p:sp>
        <p:nvSpPr>
          <p:cNvPr id="10" name="Text 8"/>
          <p:cNvSpPr/>
          <p:nvPr/>
        </p:nvSpPr>
        <p:spPr>
          <a:xfrm>
            <a:off x="731520" y="2148840"/>
            <a:ext cx="3657600" cy="320040"/>
          </a:xfrm>
          <a:prstGeom prst="rect">
            <a:avLst/>
          </a:prstGeom>
          <a:noFill/>
          <a:ln/>
        </p:spPr>
        <p:txBody>
          <a:bodyPr wrap="square" rtlCol="0" anchor="ctr"/>
          <a:lstStyle/>
          <a:p>
            <a:pPr indent="0" marL="0">
              <a:buNone/>
            </a:pPr>
            <a:r>
              <a:rPr lang="en-US" sz="1400" dirty="0">
                <a:solidFill>
                  <a:srgbClr val="2C3E50"/>
                </a:solidFill>
                <a:latin typeface="Hiragino Sans W6" pitchFamily="34" charset="0"/>
                <a:ea typeface="Hiragino Sans W6" pitchFamily="34" charset="-122"/>
                <a:cs typeface="Hiragino Sans W6" pitchFamily="34" charset="-120"/>
              </a:rPr>
              <a:t>4段階情報開示モデル</a:t>
            </a:r>
            <a:endParaRPr lang="en-US" sz="1400" dirty="0"/>
          </a:p>
        </p:txBody>
      </p:sp>
      <p:sp>
        <p:nvSpPr>
          <p:cNvPr id="11" name="Shape 9"/>
          <p:cNvSpPr/>
          <p:nvPr/>
        </p:nvSpPr>
        <p:spPr>
          <a:xfrm>
            <a:off x="822960" y="2651760"/>
            <a:ext cx="6309360" cy="914400"/>
          </a:xfrm>
          <a:prstGeom prst="roundRect">
            <a:avLst>
              <a:gd name="adj" fmla="val 5000"/>
            </a:avLst>
          </a:prstGeom>
          <a:solidFill>
            <a:srgbClr val="F5F7FA"/>
          </a:solidFill>
          <a:ln w="19050">
            <a:solidFill>
              <a:srgbClr val="4A90D9"/>
            </a:solidFill>
            <a:prstDash val="solid"/>
          </a:ln>
        </p:spPr>
      </p:sp>
      <p:sp>
        <p:nvSpPr>
          <p:cNvPr id="12" name="Text 10"/>
          <p:cNvSpPr/>
          <p:nvPr/>
        </p:nvSpPr>
        <p:spPr>
          <a:xfrm>
            <a:off x="1005840" y="2651760"/>
            <a:ext cx="2286000" cy="914400"/>
          </a:xfrm>
          <a:prstGeom prst="rect">
            <a:avLst/>
          </a:prstGeom>
          <a:noFill/>
          <a:ln/>
        </p:spPr>
        <p:txBody>
          <a:bodyPr wrap="square" rtlCol="0" anchor="ctr"/>
          <a:lstStyle/>
          <a:p>
            <a:pPr indent="0" marL="0">
              <a:buNone/>
            </a:pPr>
            <a:r>
              <a:rPr lang="en-US" sz="1400" dirty="0">
                <a:solidFill>
                  <a:srgbClr val="4A90D9"/>
                </a:solidFill>
                <a:latin typeface="Hiragino Sans W6" pitchFamily="34" charset="0"/>
                <a:ea typeface="Hiragino Sans W6" pitchFamily="34" charset="-122"/>
                <a:cs typeface="Hiragino Sans W6" pitchFamily="34" charset="-120"/>
              </a:rPr>
              <a:t>L1 必須共有</a:t>
            </a:r>
            <a:endParaRPr lang="en-US" sz="1400" dirty="0"/>
          </a:p>
        </p:txBody>
      </p:sp>
      <p:sp>
        <p:nvSpPr>
          <p:cNvPr id="13" name="Text 11"/>
          <p:cNvSpPr/>
          <p:nvPr/>
        </p:nvSpPr>
        <p:spPr>
          <a:xfrm>
            <a:off x="3291840" y="2651760"/>
            <a:ext cx="1645920" cy="914400"/>
          </a:xfrm>
          <a:prstGeom prst="rect">
            <a:avLst/>
          </a:prstGeom>
          <a:noFill/>
          <a:ln/>
        </p:spPr>
        <p:txBody>
          <a:bodyPr wrap="square" rtlCol="0" anchor="ctr"/>
          <a:lstStyle/>
          <a:p>
            <a:pPr algn="ctr" indent="0" marL="0">
              <a:buNone/>
            </a:pPr>
            <a:r>
              <a:rPr lang="en-US" sz="1400" dirty="0">
                <a:solidFill>
                  <a:srgbClr val="2C3E50"/>
                </a:solidFill>
                <a:latin typeface="Hiragino Sans W6" pitchFamily="34" charset="0"/>
                <a:ea typeface="Hiragino Sans W6" pitchFamily="34" charset="-122"/>
                <a:cs typeface="Hiragino Sans W6" pitchFamily="34" charset="-120"/>
              </a:rPr>
              <a:t>¥500/人/日</a:t>
            </a:r>
            <a:endParaRPr lang="en-US" sz="1400" dirty="0"/>
          </a:p>
        </p:txBody>
      </p:sp>
      <p:sp>
        <p:nvSpPr>
          <p:cNvPr id="14" name="Text 12"/>
          <p:cNvSpPr/>
          <p:nvPr/>
        </p:nvSpPr>
        <p:spPr>
          <a:xfrm>
            <a:off x="4937760" y="2651760"/>
            <a:ext cx="2103120" cy="914400"/>
          </a:xfrm>
          <a:prstGeom prst="rect">
            <a:avLst/>
          </a:prstGeom>
          <a:noFill/>
          <a:ln/>
        </p:spPr>
        <p:txBody>
          <a:bodyPr wrap="square" rtlCol="0" anchor="ctr"/>
          <a:lstStyle/>
          <a:p>
            <a:pPr indent="0" marL="0">
              <a:buNone/>
            </a:pPr>
            <a:r>
              <a:rPr lang="en-US" sz="1100" dirty="0">
                <a:solidFill>
                  <a:srgbClr val="2C3E50"/>
                </a:solidFill>
                <a:latin typeface="Hiragino Sans W3" pitchFamily="34" charset="0"/>
                <a:ea typeface="Hiragino Sans W3" pitchFamily="34" charset="-122"/>
                <a:cs typeface="Hiragino Sans W3" pitchFamily="34" charset="-120"/>
              </a:rPr>
              <a:t>基本情報・緊急連絡先</a:t>
            </a:r>
            <a:endParaRPr lang="en-US" sz="1100" dirty="0"/>
          </a:p>
        </p:txBody>
      </p:sp>
      <p:sp>
        <p:nvSpPr>
          <p:cNvPr id="15" name="Shape 13"/>
          <p:cNvSpPr/>
          <p:nvPr/>
        </p:nvSpPr>
        <p:spPr>
          <a:xfrm>
            <a:off x="822960" y="3794760"/>
            <a:ext cx="6309360" cy="914400"/>
          </a:xfrm>
          <a:prstGeom prst="roundRect">
            <a:avLst>
              <a:gd name="adj" fmla="val 5000"/>
            </a:avLst>
          </a:prstGeom>
          <a:solidFill>
            <a:srgbClr val="F5F7FA"/>
          </a:solidFill>
          <a:ln w="19050">
            <a:solidFill>
              <a:srgbClr val="2ECC71"/>
            </a:solidFill>
            <a:prstDash val="solid"/>
          </a:ln>
        </p:spPr>
      </p:sp>
      <p:sp>
        <p:nvSpPr>
          <p:cNvPr id="16" name="Text 14"/>
          <p:cNvSpPr/>
          <p:nvPr/>
        </p:nvSpPr>
        <p:spPr>
          <a:xfrm>
            <a:off x="1005840" y="3794760"/>
            <a:ext cx="2286000" cy="914400"/>
          </a:xfrm>
          <a:prstGeom prst="rect">
            <a:avLst/>
          </a:prstGeom>
          <a:noFill/>
          <a:ln/>
        </p:spPr>
        <p:txBody>
          <a:bodyPr wrap="square" rtlCol="0" anchor="ctr"/>
          <a:lstStyle/>
          <a:p>
            <a:pPr indent="0" marL="0">
              <a:buNone/>
            </a:pPr>
            <a:r>
              <a:rPr lang="en-US" sz="1400" dirty="0">
                <a:solidFill>
                  <a:srgbClr val="2ECC71"/>
                </a:solidFill>
                <a:latin typeface="Hiragino Sans W6" pitchFamily="34" charset="0"/>
                <a:ea typeface="Hiragino Sans W6" pitchFamily="34" charset="-122"/>
                <a:cs typeface="Hiragino Sans W6" pitchFamily="34" charset="-120"/>
              </a:rPr>
              <a:t>L2 医療情報</a:t>
            </a:r>
            <a:endParaRPr lang="en-US" sz="1400" dirty="0"/>
          </a:p>
        </p:txBody>
      </p:sp>
      <p:sp>
        <p:nvSpPr>
          <p:cNvPr id="17" name="Text 15"/>
          <p:cNvSpPr/>
          <p:nvPr/>
        </p:nvSpPr>
        <p:spPr>
          <a:xfrm>
            <a:off x="3291840" y="3794760"/>
            <a:ext cx="1645920" cy="914400"/>
          </a:xfrm>
          <a:prstGeom prst="rect">
            <a:avLst/>
          </a:prstGeom>
          <a:noFill/>
          <a:ln/>
        </p:spPr>
        <p:txBody>
          <a:bodyPr wrap="square" rtlCol="0" anchor="ctr"/>
          <a:lstStyle/>
          <a:p>
            <a:pPr algn="ctr" indent="0" marL="0">
              <a:buNone/>
            </a:pPr>
            <a:r>
              <a:rPr lang="en-US" sz="1400" dirty="0">
                <a:solidFill>
                  <a:srgbClr val="2C3E50"/>
                </a:solidFill>
                <a:latin typeface="Hiragino Sans W6" pitchFamily="34" charset="0"/>
                <a:ea typeface="Hiragino Sans W6" pitchFamily="34" charset="-122"/>
                <a:cs typeface="Hiragino Sans W6" pitchFamily="34" charset="-120"/>
              </a:rPr>
              <a:t>¥400/人/日</a:t>
            </a:r>
            <a:endParaRPr lang="en-US" sz="1400" dirty="0"/>
          </a:p>
        </p:txBody>
      </p:sp>
      <p:sp>
        <p:nvSpPr>
          <p:cNvPr id="18" name="Text 16"/>
          <p:cNvSpPr/>
          <p:nvPr/>
        </p:nvSpPr>
        <p:spPr>
          <a:xfrm>
            <a:off x="4937760" y="3794760"/>
            <a:ext cx="2103120" cy="914400"/>
          </a:xfrm>
          <a:prstGeom prst="rect">
            <a:avLst/>
          </a:prstGeom>
          <a:noFill/>
          <a:ln/>
        </p:spPr>
        <p:txBody>
          <a:bodyPr wrap="square" rtlCol="0" anchor="ctr"/>
          <a:lstStyle/>
          <a:p>
            <a:pPr indent="0" marL="0">
              <a:buNone/>
            </a:pPr>
            <a:r>
              <a:rPr lang="en-US" sz="1100" dirty="0">
                <a:solidFill>
                  <a:srgbClr val="2C3E50"/>
                </a:solidFill>
                <a:latin typeface="Hiragino Sans W3" pitchFamily="34" charset="0"/>
                <a:ea typeface="Hiragino Sans W3" pitchFamily="34" charset="-122"/>
                <a:cs typeface="Hiragino Sans W3" pitchFamily="34" charset="-120"/>
              </a:rPr>
              <a:t>服薬・アレルギー・通院歴</a:t>
            </a:r>
            <a:endParaRPr lang="en-US" sz="1100" dirty="0"/>
          </a:p>
        </p:txBody>
      </p:sp>
      <p:sp>
        <p:nvSpPr>
          <p:cNvPr id="19" name="Shape 17"/>
          <p:cNvSpPr/>
          <p:nvPr/>
        </p:nvSpPr>
        <p:spPr>
          <a:xfrm>
            <a:off x="822960" y="4937760"/>
            <a:ext cx="6309360" cy="914400"/>
          </a:xfrm>
          <a:prstGeom prst="roundRect">
            <a:avLst>
              <a:gd name="adj" fmla="val 5000"/>
            </a:avLst>
          </a:prstGeom>
          <a:solidFill>
            <a:srgbClr val="F5F7FA"/>
          </a:solidFill>
          <a:ln w="19050">
            <a:solidFill>
              <a:srgbClr val="E67E22"/>
            </a:solidFill>
            <a:prstDash val="solid"/>
          </a:ln>
        </p:spPr>
      </p:sp>
      <p:sp>
        <p:nvSpPr>
          <p:cNvPr id="20" name="Text 18"/>
          <p:cNvSpPr/>
          <p:nvPr/>
        </p:nvSpPr>
        <p:spPr>
          <a:xfrm>
            <a:off x="1005840" y="4937760"/>
            <a:ext cx="2286000" cy="914400"/>
          </a:xfrm>
          <a:prstGeom prst="rect">
            <a:avLst/>
          </a:prstGeom>
          <a:noFill/>
          <a:ln/>
        </p:spPr>
        <p:txBody>
          <a:bodyPr wrap="square" rtlCol="0" anchor="ctr"/>
          <a:lstStyle/>
          <a:p>
            <a:pPr indent="0" marL="0">
              <a:buNone/>
            </a:pPr>
            <a:r>
              <a:rPr lang="en-US" sz="1400" dirty="0">
                <a:solidFill>
                  <a:srgbClr val="E67E22"/>
                </a:solidFill>
                <a:latin typeface="Hiragino Sans W6" pitchFamily="34" charset="0"/>
                <a:ea typeface="Hiragino Sans W6" pitchFamily="34" charset="-122"/>
                <a:cs typeface="Hiragino Sans W6" pitchFamily="34" charset="-120"/>
              </a:rPr>
              <a:t>L3 支援記録</a:t>
            </a:r>
            <a:endParaRPr lang="en-US" sz="1400" dirty="0"/>
          </a:p>
        </p:txBody>
      </p:sp>
      <p:sp>
        <p:nvSpPr>
          <p:cNvPr id="21" name="Text 19"/>
          <p:cNvSpPr/>
          <p:nvPr/>
        </p:nvSpPr>
        <p:spPr>
          <a:xfrm>
            <a:off x="3291840" y="4937760"/>
            <a:ext cx="1645920" cy="914400"/>
          </a:xfrm>
          <a:prstGeom prst="rect">
            <a:avLst/>
          </a:prstGeom>
          <a:noFill/>
          <a:ln/>
        </p:spPr>
        <p:txBody>
          <a:bodyPr wrap="square" rtlCol="0" anchor="ctr"/>
          <a:lstStyle/>
          <a:p>
            <a:pPr algn="ctr" indent="0" marL="0">
              <a:buNone/>
            </a:pPr>
            <a:r>
              <a:rPr lang="en-US" sz="1400" dirty="0">
                <a:solidFill>
                  <a:srgbClr val="2C3E50"/>
                </a:solidFill>
                <a:latin typeface="Hiragino Sans W6" pitchFamily="34" charset="0"/>
                <a:ea typeface="Hiragino Sans W6" pitchFamily="34" charset="-122"/>
                <a:cs typeface="Hiragino Sans W6" pitchFamily="34" charset="-120"/>
              </a:rPr>
              <a:t>¥350/人/日</a:t>
            </a:r>
            <a:endParaRPr lang="en-US" sz="1400" dirty="0"/>
          </a:p>
        </p:txBody>
      </p:sp>
      <p:sp>
        <p:nvSpPr>
          <p:cNvPr id="22" name="Text 20"/>
          <p:cNvSpPr/>
          <p:nvPr/>
        </p:nvSpPr>
        <p:spPr>
          <a:xfrm>
            <a:off x="4937760" y="4937760"/>
            <a:ext cx="2103120" cy="914400"/>
          </a:xfrm>
          <a:prstGeom prst="rect">
            <a:avLst/>
          </a:prstGeom>
          <a:noFill/>
          <a:ln/>
        </p:spPr>
        <p:txBody>
          <a:bodyPr wrap="square" rtlCol="0" anchor="ctr"/>
          <a:lstStyle/>
          <a:p>
            <a:pPr indent="0" marL="0">
              <a:buNone/>
            </a:pPr>
            <a:r>
              <a:rPr lang="en-US" sz="1100" dirty="0">
                <a:solidFill>
                  <a:srgbClr val="2C3E50"/>
                </a:solidFill>
                <a:latin typeface="Hiragino Sans W3" pitchFamily="34" charset="0"/>
                <a:ea typeface="Hiragino Sans W3" pitchFamily="34" charset="-122"/>
                <a:cs typeface="Hiragino Sans W3" pitchFamily="34" charset="-120"/>
              </a:rPr>
              <a:t>日々の記録・行動特性</a:t>
            </a:r>
            <a:endParaRPr lang="en-US" sz="1100" dirty="0"/>
          </a:p>
        </p:txBody>
      </p:sp>
      <p:sp>
        <p:nvSpPr>
          <p:cNvPr id="23" name="Shape 21"/>
          <p:cNvSpPr/>
          <p:nvPr/>
        </p:nvSpPr>
        <p:spPr>
          <a:xfrm>
            <a:off x="822960" y="6080760"/>
            <a:ext cx="6309360" cy="914400"/>
          </a:xfrm>
          <a:prstGeom prst="roundRect">
            <a:avLst>
              <a:gd name="adj" fmla="val 5000"/>
            </a:avLst>
          </a:prstGeom>
          <a:solidFill>
            <a:srgbClr val="F5F7FA"/>
          </a:solidFill>
          <a:ln w="19050">
            <a:solidFill>
              <a:srgbClr val="C0392B"/>
            </a:solidFill>
            <a:prstDash val="solid"/>
          </a:ln>
        </p:spPr>
      </p:sp>
      <p:sp>
        <p:nvSpPr>
          <p:cNvPr id="24" name="Text 22"/>
          <p:cNvSpPr/>
          <p:nvPr/>
        </p:nvSpPr>
        <p:spPr>
          <a:xfrm>
            <a:off x="1005840" y="6080760"/>
            <a:ext cx="2286000" cy="914400"/>
          </a:xfrm>
          <a:prstGeom prst="rect">
            <a:avLst/>
          </a:prstGeom>
          <a:noFill/>
          <a:ln/>
        </p:spPr>
        <p:txBody>
          <a:bodyPr wrap="square" rtlCol="0" anchor="ctr"/>
          <a:lstStyle/>
          <a:p>
            <a:pPr indent="0" marL="0">
              <a:buNone/>
            </a:pPr>
            <a:r>
              <a:rPr lang="en-US" sz="1400" dirty="0">
                <a:solidFill>
                  <a:srgbClr val="C0392B"/>
                </a:solidFill>
                <a:latin typeface="Hiragino Sans W6" pitchFamily="34" charset="0"/>
                <a:ea typeface="Hiragino Sans W6" pitchFamily="34" charset="-122"/>
                <a:cs typeface="Hiragino Sans W6" pitchFamily="34" charset="-120"/>
              </a:rPr>
              <a:t>L4 完全開示</a:t>
            </a:r>
            <a:endParaRPr lang="en-US" sz="1400" dirty="0"/>
          </a:p>
        </p:txBody>
      </p:sp>
      <p:sp>
        <p:nvSpPr>
          <p:cNvPr id="25" name="Text 23"/>
          <p:cNvSpPr/>
          <p:nvPr/>
        </p:nvSpPr>
        <p:spPr>
          <a:xfrm>
            <a:off x="3291840" y="6080760"/>
            <a:ext cx="1645920" cy="914400"/>
          </a:xfrm>
          <a:prstGeom prst="rect">
            <a:avLst/>
          </a:prstGeom>
          <a:noFill/>
          <a:ln/>
        </p:spPr>
        <p:txBody>
          <a:bodyPr wrap="square" rtlCol="0" anchor="ctr"/>
          <a:lstStyle/>
          <a:p>
            <a:pPr algn="ctr" indent="0" marL="0">
              <a:buNone/>
            </a:pPr>
            <a:r>
              <a:rPr lang="en-US" sz="1400" dirty="0">
                <a:solidFill>
                  <a:srgbClr val="2C3E50"/>
                </a:solidFill>
                <a:latin typeface="Hiragino Sans W6" pitchFamily="34" charset="0"/>
                <a:ea typeface="Hiragino Sans W6" pitchFamily="34" charset="-122"/>
                <a:cs typeface="Hiragino Sans W6" pitchFamily="34" charset="-120"/>
              </a:rPr>
              <a:t>¥300/人/日</a:t>
            </a:r>
            <a:endParaRPr lang="en-US" sz="1400" dirty="0"/>
          </a:p>
        </p:txBody>
      </p:sp>
      <p:sp>
        <p:nvSpPr>
          <p:cNvPr id="26" name="Text 24"/>
          <p:cNvSpPr/>
          <p:nvPr/>
        </p:nvSpPr>
        <p:spPr>
          <a:xfrm>
            <a:off x="4937760" y="6080760"/>
            <a:ext cx="2103120" cy="914400"/>
          </a:xfrm>
          <a:prstGeom prst="rect">
            <a:avLst/>
          </a:prstGeom>
          <a:noFill/>
          <a:ln/>
        </p:spPr>
        <p:txBody>
          <a:bodyPr wrap="square" rtlCol="0" anchor="ctr"/>
          <a:lstStyle/>
          <a:p>
            <a:pPr indent="0" marL="0">
              <a:buNone/>
            </a:pPr>
            <a:r>
              <a:rPr lang="en-US" sz="1100" dirty="0">
                <a:solidFill>
                  <a:srgbClr val="2C3E50"/>
                </a:solidFill>
                <a:latin typeface="Hiragino Sans W3" pitchFamily="34" charset="0"/>
                <a:ea typeface="Hiragino Sans W3" pitchFamily="34" charset="-122"/>
                <a:cs typeface="Hiragino Sans W3" pitchFamily="34" charset="-120"/>
              </a:rPr>
              <a:t>全情報アクセス（最大割引）</a:t>
            </a:r>
            <a:endParaRPr lang="en-US" sz="1100" dirty="0"/>
          </a:p>
        </p:txBody>
      </p:sp>
      <p:sp>
        <p:nvSpPr>
          <p:cNvPr id="27" name="Shape 25"/>
          <p:cNvSpPr/>
          <p:nvPr/>
        </p:nvSpPr>
        <p:spPr>
          <a:xfrm>
            <a:off x="7589520" y="2057400"/>
            <a:ext cx="6492240" cy="5486400"/>
          </a:xfrm>
          <a:prstGeom prst="roundRect">
            <a:avLst>
              <a:gd name="adj" fmla="val 1333"/>
            </a:avLst>
          </a:prstGeom>
          <a:solidFill>
            <a:srgbClr val="FFFFFF"/>
          </a:solidFill>
          <a:ln w="12700">
            <a:solidFill>
              <a:srgbClr val="DCE1E8"/>
            </a:solidFill>
            <a:prstDash val="solid"/>
          </a:ln>
        </p:spPr>
      </p:sp>
      <p:sp>
        <p:nvSpPr>
          <p:cNvPr id="28" name="Text 26"/>
          <p:cNvSpPr/>
          <p:nvPr/>
        </p:nvSpPr>
        <p:spPr>
          <a:xfrm>
            <a:off x="7772400" y="2148840"/>
            <a:ext cx="3657600" cy="320040"/>
          </a:xfrm>
          <a:prstGeom prst="rect">
            <a:avLst/>
          </a:prstGeom>
          <a:noFill/>
          <a:ln/>
        </p:spPr>
        <p:txBody>
          <a:bodyPr wrap="square" rtlCol="0" anchor="ctr"/>
          <a:lstStyle/>
          <a:p>
            <a:pPr indent="0" marL="0">
              <a:buNone/>
            </a:pPr>
            <a:r>
              <a:rPr lang="en-US" sz="1400" dirty="0">
                <a:solidFill>
                  <a:srgbClr val="2C3E50"/>
                </a:solidFill>
                <a:latin typeface="Hiragino Sans W6" pitchFamily="34" charset="0"/>
                <a:ea typeface="Hiragino Sans W6" pitchFamily="34" charset="-122"/>
                <a:cs typeface="Hiragino Sans W6" pitchFamily="34" charset="-120"/>
              </a:rPr>
              <a:t>新規性の根拠</a:t>
            </a:r>
            <a:endParaRPr lang="en-US" sz="1400" dirty="0"/>
          </a:p>
        </p:txBody>
      </p:sp>
      <p:sp>
        <p:nvSpPr>
          <p:cNvPr id="29" name="Text 27"/>
          <p:cNvSpPr/>
          <p:nvPr/>
        </p:nvSpPr>
        <p:spPr>
          <a:xfrm>
            <a:off x="7772400" y="2560320"/>
            <a:ext cx="6126480" cy="4572000"/>
          </a:xfrm>
          <a:prstGeom prst="rect">
            <a:avLst/>
          </a:prstGeom>
          <a:noFill/>
          <a:ln/>
        </p:spPr>
        <p:txBody>
          <a:bodyPr wrap="square" rtlCol="0" anchor="ctr"/>
          <a:lstStyle/>
          <a:p>
            <a:pPr indent="0" marL="0">
              <a:buNone/>
            </a:pPr>
            <a:r>
              <a:rPr lang="en-US" sz="1800" dirty="0">
                <a:solidFill>
                  <a:srgbClr val="27AE60"/>
                </a:solidFill>
                <a:latin typeface="Hiragino Sans W6" pitchFamily="34" charset="0"/>
                <a:ea typeface="Hiragino Sans W6" pitchFamily="34" charset="-122"/>
                <a:cs typeface="Hiragino Sans W6" pitchFamily="34" charset="-120"/>
              </a:rPr>
              <a:t>先行特許なし</a:t>
            </a:r>
            <a:endParaRPr lang="en-US" sz="1800" dirty="0"/>
          </a:p>
          <a:p>
            <a:pPr indent="0" marL="0">
              <a:buNone/>
            </a:pPr>
            <a:r>
              <a:rPr lang="en-US" sz="1100" dirty="0">
                <a:solidFill>
                  <a:srgbClr val="7F8C8D"/>
                </a:solidFill>
                <a:latin typeface="Hiragino Sans W3" pitchFamily="34" charset="0"/>
                <a:ea typeface="Hiragino Sans W3" pitchFamily="34" charset="-122"/>
                <a:cs typeface="Hiragino Sans W3" pitchFamily="34" charset="-120"/>
              </a:rPr>
              <a:t>J-PlatPat・Google Patents調査済み</a:t>
            </a:r>
            <a:endParaRPr lang="en-US" sz="1800" dirty="0"/>
          </a:p>
          <a:p>
            <a:pPr indent="0" marL="0">
              <a:buNone/>
            </a:pPr>
            <a:endParaRPr lang="en-US" sz="1800" dirty="0"/>
          </a:p>
          <a:p>
            <a:pPr indent="0" marL="0">
              <a:buNone/>
            </a:pPr>
            <a:r>
              <a:rPr lang="en-US" sz="1200" dirty="0">
                <a:solidFill>
                  <a:srgbClr val="4A90D9"/>
                </a:solidFill>
                <a:latin typeface="Hiragino Sans W6" pitchFamily="34" charset="0"/>
                <a:ea typeface="Hiragino Sans W6" pitchFamily="34" charset="-122"/>
                <a:cs typeface="Hiragino Sans W6" pitchFamily="34" charset="-120"/>
              </a:rPr>
              <a:t>技術的ポイント:</a:t>
            </a:r>
            <a:endParaRPr lang="en-US" sz="1800" dirty="0"/>
          </a:p>
          <a:p>
            <a:pPr indent="0" marL="0">
              <a:buNone/>
            </a:pPr>
            <a:r>
              <a:rPr lang="en-US" sz="1100" dirty="0">
                <a:solidFill>
                  <a:srgbClr val="2C3E50"/>
                </a:solidFill>
                <a:latin typeface="Hiragino Sans W3" pitchFamily="34" charset="0"/>
                <a:ea typeface="Hiragino Sans W3" pitchFamily="34" charset="-122"/>
                <a:cs typeface="Hiragino Sans W3" pitchFamily="34" charset="-120"/>
              </a:rPr>
              <a:t>①情報開示レベルに応じてDBのアクセス制御とAPI課金をリアルタイム連動</a:t>
            </a:r>
            <a:endParaRPr lang="en-US" sz="1800" dirty="0"/>
          </a:p>
          <a:p>
            <a:pPr indent="0" marL="0">
              <a:buNone/>
            </a:pPr>
            <a:r>
              <a:rPr lang="en-US" sz="1100" dirty="0">
                <a:solidFill>
                  <a:srgbClr val="2C3E50"/>
                </a:solidFill>
                <a:latin typeface="Hiragino Sans W3" pitchFamily="34" charset="0"/>
                <a:ea typeface="Hiragino Sans W3" pitchFamily="34" charset="-122"/>
                <a:cs typeface="Hiragino Sans W3" pitchFamily="34" charset="-120"/>
              </a:rPr>
              <a:t>②開示レベルが高い施設ほど料金が下がるインセンティブ設計で施設間情報共有を促進</a:t>
            </a:r>
            <a:endParaRPr lang="en-US" sz="1800" dirty="0"/>
          </a:p>
          <a:p>
            <a:pPr indent="0" marL="0">
              <a:buNone/>
            </a:pPr>
            <a:r>
              <a:rPr lang="en-US" sz="1100" dirty="0">
                <a:solidFill>
                  <a:srgbClr val="2C3E50"/>
                </a:solidFill>
                <a:latin typeface="Hiragino Sans W3" pitchFamily="34" charset="0"/>
                <a:ea typeface="Hiragino Sans W3" pitchFamily="34" charset="-122"/>
                <a:cs typeface="Hiragino Sans W3" pitchFamily="34" charset="-120"/>
              </a:rPr>
              <a:t>③個人情報保護法の要配慮個人情報に対応した段階的同意取得フロー</a:t>
            </a:r>
            <a:endParaRPr lang="en-US" sz="1800" dirty="0"/>
          </a:p>
          <a:p>
            <a:pPr indent="0" marL="0">
              <a:buNone/>
            </a:pPr>
            <a:endParaRPr lang="en-US" sz="1800" dirty="0"/>
          </a:p>
          <a:p>
            <a:pPr indent="0" marL="0">
              <a:buNone/>
            </a:pPr>
            <a:r>
              <a:rPr lang="en-US" sz="1200" dirty="0">
                <a:solidFill>
                  <a:srgbClr val="4A90D9"/>
                </a:solidFill>
                <a:latin typeface="Hiragino Sans W6" pitchFamily="34" charset="0"/>
                <a:ea typeface="Hiragino Sans W6" pitchFamily="34" charset="-122"/>
                <a:cs typeface="Hiragino Sans W6" pitchFamily="34" charset="-120"/>
              </a:rPr>
              <a:t>社会的意義:</a:t>
            </a:r>
            <a:endParaRPr lang="en-US" sz="1800" dirty="0"/>
          </a:p>
          <a:p>
            <a:pPr indent="0" marL="0">
              <a:buNone/>
            </a:pPr>
            <a:r>
              <a:rPr lang="en-US" sz="1100" dirty="0">
                <a:solidFill>
                  <a:srgbClr val="2C3E50"/>
                </a:solidFill>
                <a:latin typeface="Hiragino Sans W3" pitchFamily="34" charset="0"/>
                <a:ea typeface="Hiragino Sans W3" pitchFamily="34" charset="-122"/>
                <a:cs typeface="Hiragino Sans W3" pitchFamily="34" charset="-120"/>
              </a:rPr>
              <a:t>福祉施設間の情報断絶という社会課題を、プライバシー保護と両立する形で解決する新しい価値交換モデル。4段階設計は障害福祉の実運用知見に基づく。</a:t>
            </a:r>
            <a:endParaRPr lang="en-US" sz="1800" dirty="0"/>
          </a:p>
        </p:txBody>
      </p:sp>
      <p:sp>
        <p:nvSpPr>
          <p:cNvPr id="30" name="Text 28"/>
          <p:cNvSpPr/>
          <p:nvPr/>
        </p:nvSpPr>
        <p:spPr>
          <a:xfrm>
            <a:off x="13258800" y="7818120"/>
            <a:ext cx="914400" cy="274320"/>
          </a:xfrm>
          <a:prstGeom prst="rect">
            <a:avLst/>
          </a:prstGeom>
          <a:noFill/>
          <a:ln/>
        </p:spPr>
        <p:txBody>
          <a:bodyPr wrap="square" rtlCol="0" anchor="ctr"/>
          <a:lstStyle/>
          <a:p>
            <a:pPr algn="r" indent="0" marL="0">
              <a:buNone/>
            </a:pPr>
            <a:r>
              <a:rPr lang="en-US" sz="800" dirty="0">
                <a:solidFill>
                  <a:srgbClr val="7F8C8D"/>
                </a:solidFill>
                <a:latin typeface="Hiragino Sans W3" pitchFamily="34" charset="0"/>
                <a:ea typeface="Hiragino Sans W3" pitchFamily="34" charset="-122"/>
                <a:cs typeface="Hiragino Sans W3" pitchFamily="34" charset="-120"/>
              </a:rPr>
              <a:t>4 / 15</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4630400" cy="1417320"/>
          </a:xfrm>
          <a:prstGeom prst="rect">
            <a:avLst/>
          </a:prstGeom>
          <a:solidFill>
            <a:srgbClr val="1A1A2E"/>
          </a:solidFill>
          <a:ln/>
        </p:spPr>
      </p:sp>
      <p:sp>
        <p:nvSpPr>
          <p:cNvPr id="3" name="Text 1"/>
          <p:cNvSpPr/>
          <p:nvPr/>
        </p:nvSpPr>
        <p:spPr>
          <a:xfrm>
            <a:off x="548640" y="182880"/>
            <a:ext cx="13533120" cy="594360"/>
          </a:xfrm>
          <a:prstGeom prst="rect">
            <a:avLst/>
          </a:prstGeom>
          <a:noFill/>
          <a:ln/>
        </p:spPr>
        <p:txBody>
          <a:bodyPr wrap="square" rtlCol="0" anchor="ctr"/>
          <a:lstStyle/>
          <a:p>
            <a:pPr indent="0" marL="0">
              <a:buNone/>
            </a:pPr>
            <a:r>
              <a:rPr lang="en-US" sz="2600" b="1" dirty="0">
                <a:solidFill>
                  <a:srgbClr val="FFFFFF"/>
                </a:solidFill>
                <a:latin typeface="Hiragino Sans W6" pitchFamily="34" charset="0"/>
                <a:ea typeface="Hiragino Sans W6" pitchFamily="34" charset="-122"/>
                <a:cs typeface="Hiragino Sans W6" pitchFamily="34" charset="-120"/>
              </a:rPr>
              <a:t>新規性③：OCR→形態素解析→分岐入力UI自動生成（特許出願準備中）</a:t>
            </a:r>
            <a:endParaRPr lang="en-US" sz="2600" dirty="0"/>
          </a:p>
        </p:txBody>
      </p:sp>
      <p:sp>
        <p:nvSpPr>
          <p:cNvPr id="4" name="Text 2"/>
          <p:cNvSpPr/>
          <p:nvPr/>
        </p:nvSpPr>
        <p:spPr>
          <a:xfrm>
            <a:off x="548640" y="822960"/>
            <a:ext cx="13533120" cy="411480"/>
          </a:xfrm>
          <a:prstGeom prst="rect">
            <a:avLst/>
          </a:prstGeom>
          <a:noFill/>
          <a:ln/>
        </p:spPr>
        <p:txBody>
          <a:bodyPr wrap="square" rtlCol="0" anchor="ctr"/>
          <a:lstStyle/>
          <a:p>
            <a:pPr indent="0" marL="0">
              <a:buNone/>
            </a:pPr>
            <a:r>
              <a:rPr lang="en-US" sz="1300" dirty="0">
                <a:solidFill>
                  <a:srgbClr val="B0BEC5"/>
                </a:solidFill>
                <a:latin typeface="Hiragino Sans W3" pitchFamily="34" charset="0"/>
                <a:ea typeface="Hiragino Sans W3" pitchFamily="34" charset="-122"/>
                <a:cs typeface="Hiragino Sans W3" pitchFamily="34" charset="-120"/>
              </a:rPr>
              <a:t>紙カルテ2,897ページの実データから185フィールド/1,544選択肢を構造化済み</a:t>
            </a:r>
            <a:endParaRPr lang="en-US" sz="1300" dirty="0"/>
          </a:p>
        </p:txBody>
      </p:sp>
      <p:sp>
        <p:nvSpPr>
          <p:cNvPr id="5" name="Shape 3"/>
          <p:cNvSpPr/>
          <p:nvPr/>
        </p:nvSpPr>
        <p:spPr>
          <a:xfrm>
            <a:off x="548640" y="1508760"/>
            <a:ext cx="13533120" cy="347472"/>
          </a:xfrm>
          <a:prstGeom prst="roundRect">
            <a:avLst>
              <a:gd name="adj" fmla="val 7895"/>
            </a:avLst>
          </a:prstGeom>
          <a:solidFill>
            <a:srgbClr val="4A90D9"/>
          </a:solidFill>
          <a:ln/>
        </p:spPr>
      </p:sp>
      <p:sp>
        <p:nvSpPr>
          <p:cNvPr id="6" name="Text 4"/>
          <p:cNvSpPr/>
          <p:nvPr/>
        </p:nvSpPr>
        <p:spPr>
          <a:xfrm>
            <a:off x="731520" y="1508760"/>
            <a:ext cx="13167360" cy="347472"/>
          </a:xfrm>
          <a:prstGeom prst="rect">
            <a:avLst/>
          </a:prstGeom>
          <a:noFill/>
          <a:ln/>
        </p:spPr>
        <p:txBody>
          <a:bodyPr wrap="square" rtlCol="0" anchor="ctr"/>
          <a:lstStyle/>
          <a:p>
            <a:pPr indent="0" marL="0">
              <a:buNone/>
            </a:pPr>
            <a:r>
              <a:rPr lang="en-US" sz="1100" dirty="0">
                <a:solidFill>
                  <a:srgbClr val="FFFFFF"/>
                </a:solidFill>
                <a:latin typeface="Hiragino Sans W6" pitchFamily="34" charset="0"/>
                <a:ea typeface="Hiragino Sans W6" pitchFamily="34" charset="-122"/>
                <a:cs typeface="Hiragino Sans W6" pitchFamily="34" charset="-120"/>
              </a:rPr>
              <a:t>補足：申請書「4. コアとなる技術シーズの概要」「技術の詳細」— 技術3</a:t>
            </a:r>
            <a:endParaRPr lang="en-US" sz="1100" dirty="0"/>
          </a:p>
        </p:txBody>
      </p:sp>
      <p:sp>
        <p:nvSpPr>
          <p:cNvPr id="7" name="Shape 5"/>
          <p:cNvSpPr/>
          <p:nvPr/>
        </p:nvSpPr>
        <p:spPr>
          <a:xfrm>
            <a:off x="12618720" y="1527048"/>
            <a:ext cx="1645920" cy="292608"/>
          </a:xfrm>
          <a:prstGeom prst="roundRect">
            <a:avLst>
              <a:gd name="adj" fmla="val 12500"/>
            </a:avLst>
          </a:prstGeom>
          <a:solidFill>
            <a:srgbClr val="EBF5FB"/>
          </a:solidFill>
          <a:ln w="10160">
            <a:solidFill>
              <a:srgbClr val="2980B9"/>
            </a:solidFill>
            <a:prstDash val="solid"/>
          </a:ln>
        </p:spPr>
      </p:sp>
      <p:sp>
        <p:nvSpPr>
          <p:cNvPr id="8" name="Text 6"/>
          <p:cNvSpPr/>
          <p:nvPr/>
        </p:nvSpPr>
        <p:spPr>
          <a:xfrm>
            <a:off x="12618720" y="1527048"/>
            <a:ext cx="1645920" cy="292608"/>
          </a:xfrm>
          <a:prstGeom prst="rect">
            <a:avLst/>
          </a:prstGeom>
          <a:noFill/>
          <a:ln/>
        </p:spPr>
        <p:txBody>
          <a:bodyPr wrap="square" rtlCol="0" anchor="ctr"/>
          <a:lstStyle/>
          <a:p>
            <a:pPr algn="ctr" indent="0" marL="0">
              <a:buNone/>
            </a:pPr>
            <a:r>
              <a:rPr lang="en-US" sz="900" dirty="0">
                <a:solidFill>
                  <a:srgbClr val="2980B9"/>
                </a:solidFill>
                <a:latin typeface="Hiragino Sans W6" pitchFamily="34" charset="0"/>
                <a:ea typeface="Hiragino Sans W6" pitchFamily="34" charset="-122"/>
                <a:cs typeface="Hiragino Sans W6" pitchFamily="34" charset="-120"/>
              </a:rPr>
              <a:t>審査軸：技術性</a:t>
            </a:r>
            <a:endParaRPr lang="en-US" sz="900" dirty="0"/>
          </a:p>
        </p:txBody>
      </p:sp>
      <p:sp>
        <p:nvSpPr>
          <p:cNvPr id="9" name="Shape 7"/>
          <p:cNvSpPr/>
          <p:nvPr/>
        </p:nvSpPr>
        <p:spPr>
          <a:xfrm>
            <a:off x="548640" y="2057400"/>
            <a:ext cx="2011680" cy="914400"/>
          </a:xfrm>
          <a:prstGeom prst="roundRect">
            <a:avLst>
              <a:gd name="adj" fmla="val 5000"/>
            </a:avLst>
          </a:prstGeom>
          <a:solidFill>
            <a:srgbClr val="4A90D9"/>
          </a:solidFill>
          <a:ln/>
        </p:spPr>
      </p:sp>
      <p:sp>
        <p:nvSpPr>
          <p:cNvPr id="10" name="Text 8"/>
          <p:cNvSpPr/>
          <p:nvPr/>
        </p:nvSpPr>
        <p:spPr>
          <a:xfrm>
            <a:off x="548640" y="2057400"/>
            <a:ext cx="365760" cy="320040"/>
          </a:xfrm>
          <a:prstGeom prst="rect">
            <a:avLst/>
          </a:prstGeom>
          <a:noFill/>
          <a:ln/>
        </p:spPr>
        <p:txBody>
          <a:bodyPr wrap="square" rtlCol="0" anchor="ctr"/>
          <a:lstStyle/>
          <a:p>
            <a:pPr indent="0" marL="0">
              <a:buNone/>
            </a:pPr>
            <a:r>
              <a:rPr lang="en-US" sz="1000" dirty="0">
                <a:solidFill>
                  <a:srgbClr val="FFFFFF"/>
                </a:solidFill>
                <a:latin typeface="Hiragino Sans W6" pitchFamily="34" charset="0"/>
                <a:ea typeface="Hiragino Sans W6" pitchFamily="34" charset="-122"/>
                <a:cs typeface="Hiragino Sans W6" pitchFamily="34" charset="-120"/>
              </a:rPr>
              <a:t>1</a:t>
            </a:r>
            <a:endParaRPr lang="en-US" sz="1000" dirty="0"/>
          </a:p>
        </p:txBody>
      </p:sp>
      <p:sp>
        <p:nvSpPr>
          <p:cNvPr id="11" name="Text 9"/>
          <p:cNvSpPr/>
          <p:nvPr/>
        </p:nvSpPr>
        <p:spPr>
          <a:xfrm>
            <a:off x="548640" y="2057400"/>
            <a:ext cx="2011680" cy="914400"/>
          </a:xfrm>
          <a:prstGeom prst="rect">
            <a:avLst/>
          </a:prstGeom>
          <a:noFill/>
          <a:ln/>
        </p:spPr>
        <p:txBody>
          <a:bodyPr wrap="square" rtlCol="0" anchor="ctr"/>
          <a:lstStyle/>
          <a:p>
            <a:pPr algn="ctr" indent="0" marL="0">
              <a:lnSpc>
                <a:spcPct val="110000"/>
              </a:lnSpc>
              <a:buNone/>
            </a:pPr>
            <a:r>
              <a:rPr lang="en-US" sz="1100" dirty="0">
                <a:solidFill>
                  <a:srgbClr val="FFFFFF"/>
                </a:solidFill>
                <a:latin typeface="Hiragino Sans W6" pitchFamily="34" charset="0"/>
                <a:ea typeface="Hiragino Sans W6" pitchFamily="34" charset="-122"/>
                <a:cs typeface="Hiragino Sans W6" pitchFamily="34" charset="-120"/>
              </a:rPr>
              <a:t>PDF</a:t>
            </a:r>
            <a:endParaRPr lang="en-US" sz="1100" dirty="0"/>
          </a:p>
          <a:p>
            <a:pPr algn="ctr" indent="0" marL="0">
              <a:lnSpc>
                <a:spcPct val="110000"/>
              </a:lnSpc>
              <a:buNone/>
            </a:pPr>
            <a:r>
              <a:rPr lang="en-US" sz="1100" dirty="0">
                <a:solidFill>
                  <a:srgbClr val="FFFFFF"/>
                </a:solidFill>
                <a:latin typeface="Hiragino Sans W6" pitchFamily="34" charset="0"/>
                <a:ea typeface="Hiragino Sans W6" pitchFamily="34" charset="-122"/>
                <a:cs typeface="Hiragino Sans W6" pitchFamily="34" charset="-120"/>
              </a:rPr>
              <a:t>2,897p</a:t>
            </a:r>
            <a:endParaRPr lang="en-US" sz="1100" dirty="0"/>
          </a:p>
        </p:txBody>
      </p:sp>
      <p:sp>
        <p:nvSpPr>
          <p:cNvPr id="12" name="Text 10"/>
          <p:cNvSpPr/>
          <p:nvPr/>
        </p:nvSpPr>
        <p:spPr>
          <a:xfrm>
            <a:off x="2560320" y="2057400"/>
            <a:ext cx="274320" cy="914400"/>
          </a:xfrm>
          <a:prstGeom prst="rect">
            <a:avLst/>
          </a:prstGeom>
          <a:noFill/>
          <a:ln/>
        </p:spPr>
        <p:txBody>
          <a:bodyPr wrap="square" rtlCol="0" anchor="ctr"/>
          <a:lstStyle/>
          <a:p>
            <a:pPr algn="ctr" indent="0" marL="0">
              <a:buNone/>
            </a:pPr>
            <a:r>
              <a:rPr lang="en-US" sz="1600" dirty="0">
                <a:solidFill>
                  <a:srgbClr val="4A90D9"/>
                </a:solidFill>
                <a:latin typeface="Hiragino Sans W6" pitchFamily="34" charset="0"/>
                <a:ea typeface="Hiragino Sans W6" pitchFamily="34" charset="-122"/>
                <a:cs typeface="Hiragino Sans W6" pitchFamily="34" charset="-120"/>
              </a:rPr>
              <a:t>→</a:t>
            </a:r>
            <a:endParaRPr lang="en-US" sz="1600" dirty="0"/>
          </a:p>
        </p:txBody>
      </p:sp>
      <p:sp>
        <p:nvSpPr>
          <p:cNvPr id="13" name="Shape 11"/>
          <p:cNvSpPr/>
          <p:nvPr/>
        </p:nvSpPr>
        <p:spPr>
          <a:xfrm>
            <a:off x="2834640" y="2057400"/>
            <a:ext cx="2011680" cy="914400"/>
          </a:xfrm>
          <a:prstGeom prst="roundRect">
            <a:avLst>
              <a:gd name="adj" fmla="val 5000"/>
            </a:avLst>
          </a:prstGeom>
          <a:solidFill>
            <a:srgbClr val="4A90D9"/>
          </a:solidFill>
          <a:ln/>
        </p:spPr>
      </p:sp>
      <p:sp>
        <p:nvSpPr>
          <p:cNvPr id="14" name="Text 12"/>
          <p:cNvSpPr/>
          <p:nvPr/>
        </p:nvSpPr>
        <p:spPr>
          <a:xfrm>
            <a:off x="2834640" y="2057400"/>
            <a:ext cx="365760" cy="320040"/>
          </a:xfrm>
          <a:prstGeom prst="rect">
            <a:avLst/>
          </a:prstGeom>
          <a:noFill/>
          <a:ln/>
        </p:spPr>
        <p:txBody>
          <a:bodyPr wrap="square" rtlCol="0" anchor="ctr"/>
          <a:lstStyle/>
          <a:p>
            <a:pPr indent="0" marL="0">
              <a:buNone/>
            </a:pPr>
            <a:r>
              <a:rPr lang="en-US" sz="1000" dirty="0">
                <a:solidFill>
                  <a:srgbClr val="FFFFFF"/>
                </a:solidFill>
                <a:latin typeface="Hiragino Sans W6" pitchFamily="34" charset="0"/>
                <a:ea typeface="Hiragino Sans W6" pitchFamily="34" charset="-122"/>
                <a:cs typeface="Hiragino Sans W6" pitchFamily="34" charset="-120"/>
              </a:rPr>
              <a:t>2</a:t>
            </a:r>
            <a:endParaRPr lang="en-US" sz="1000" dirty="0"/>
          </a:p>
        </p:txBody>
      </p:sp>
      <p:sp>
        <p:nvSpPr>
          <p:cNvPr id="15" name="Text 13"/>
          <p:cNvSpPr/>
          <p:nvPr/>
        </p:nvSpPr>
        <p:spPr>
          <a:xfrm>
            <a:off x="2834640" y="2057400"/>
            <a:ext cx="2011680" cy="914400"/>
          </a:xfrm>
          <a:prstGeom prst="rect">
            <a:avLst/>
          </a:prstGeom>
          <a:noFill/>
          <a:ln/>
        </p:spPr>
        <p:txBody>
          <a:bodyPr wrap="square" rtlCol="0" anchor="ctr"/>
          <a:lstStyle/>
          <a:p>
            <a:pPr algn="ctr" indent="0" marL="0">
              <a:lnSpc>
                <a:spcPct val="110000"/>
              </a:lnSpc>
              <a:buNone/>
            </a:pPr>
            <a:r>
              <a:rPr lang="en-US" sz="1100" dirty="0">
                <a:solidFill>
                  <a:srgbClr val="FFFFFF"/>
                </a:solidFill>
                <a:latin typeface="Hiragino Sans W6" pitchFamily="34" charset="0"/>
                <a:ea typeface="Hiragino Sans W6" pitchFamily="34" charset="-122"/>
                <a:cs typeface="Hiragino Sans W6" pitchFamily="34" charset="-120"/>
              </a:rPr>
              <a:t>印刷</a:t>
            </a:r>
            <a:endParaRPr lang="en-US" sz="1100" dirty="0"/>
          </a:p>
          <a:p>
            <a:pPr algn="ctr" indent="0" marL="0">
              <a:lnSpc>
                <a:spcPct val="110000"/>
              </a:lnSpc>
              <a:buNone/>
            </a:pPr>
            <a:r>
              <a:rPr lang="en-US" sz="1100" dirty="0">
                <a:solidFill>
                  <a:srgbClr val="FFFFFF"/>
                </a:solidFill>
                <a:latin typeface="Hiragino Sans W6" pitchFamily="34" charset="0"/>
                <a:ea typeface="Hiragino Sans W6" pitchFamily="34" charset="-122"/>
                <a:cs typeface="Hiragino Sans W6" pitchFamily="34" charset="-120"/>
              </a:rPr>
              <a:t>選択肢抽出</a:t>
            </a:r>
            <a:endParaRPr lang="en-US" sz="1100" dirty="0"/>
          </a:p>
        </p:txBody>
      </p:sp>
      <p:sp>
        <p:nvSpPr>
          <p:cNvPr id="16" name="Text 14"/>
          <p:cNvSpPr/>
          <p:nvPr/>
        </p:nvSpPr>
        <p:spPr>
          <a:xfrm>
            <a:off x="4846320" y="2057400"/>
            <a:ext cx="274320" cy="914400"/>
          </a:xfrm>
          <a:prstGeom prst="rect">
            <a:avLst/>
          </a:prstGeom>
          <a:noFill/>
          <a:ln/>
        </p:spPr>
        <p:txBody>
          <a:bodyPr wrap="square" rtlCol="0" anchor="ctr"/>
          <a:lstStyle/>
          <a:p>
            <a:pPr algn="ctr" indent="0" marL="0">
              <a:buNone/>
            </a:pPr>
            <a:r>
              <a:rPr lang="en-US" sz="1600" dirty="0">
                <a:solidFill>
                  <a:srgbClr val="4A90D9"/>
                </a:solidFill>
                <a:latin typeface="Hiragino Sans W6" pitchFamily="34" charset="0"/>
                <a:ea typeface="Hiragino Sans W6" pitchFamily="34" charset="-122"/>
                <a:cs typeface="Hiragino Sans W6" pitchFamily="34" charset="-120"/>
              </a:rPr>
              <a:t>→</a:t>
            </a:r>
            <a:endParaRPr lang="en-US" sz="1600" dirty="0"/>
          </a:p>
        </p:txBody>
      </p:sp>
      <p:sp>
        <p:nvSpPr>
          <p:cNvPr id="17" name="Shape 15"/>
          <p:cNvSpPr/>
          <p:nvPr/>
        </p:nvSpPr>
        <p:spPr>
          <a:xfrm>
            <a:off x="5120640" y="2057400"/>
            <a:ext cx="2011680" cy="914400"/>
          </a:xfrm>
          <a:prstGeom prst="roundRect">
            <a:avLst>
              <a:gd name="adj" fmla="val 5000"/>
            </a:avLst>
          </a:prstGeom>
          <a:solidFill>
            <a:srgbClr val="4A90D9"/>
          </a:solidFill>
          <a:ln/>
        </p:spPr>
      </p:sp>
      <p:sp>
        <p:nvSpPr>
          <p:cNvPr id="18" name="Text 16"/>
          <p:cNvSpPr/>
          <p:nvPr/>
        </p:nvSpPr>
        <p:spPr>
          <a:xfrm>
            <a:off x="5120640" y="2057400"/>
            <a:ext cx="365760" cy="320040"/>
          </a:xfrm>
          <a:prstGeom prst="rect">
            <a:avLst/>
          </a:prstGeom>
          <a:noFill/>
          <a:ln/>
        </p:spPr>
        <p:txBody>
          <a:bodyPr wrap="square" rtlCol="0" anchor="ctr"/>
          <a:lstStyle/>
          <a:p>
            <a:pPr indent="0" marL="0">
              <a:buNone/>
            </a:pPr>
            <a:r>
              <a:rPr lang="en-US" sz="1000" dirty="0">
                <a:solidFill>
                  <a:srgbClr val="FFFFFF"/>
                </a:solidFill>
                <a:latin typeface="Hiragino Sans W6" pitchFamily="34" charset="0"/>
                <a:ea typeface="Hiragino Sans W6" pitchFamily="34" charset="-122"/>
                <a:cs typeface="Hiragino Sans W6" pitchFamily="34" charset="-120"/>
              </a:rPr>
              <a:t>3</a:t>
            </a:r>
            <a:endParaRPr lang="en-US" sz="1000" dirty="0"/>
          </a:p>
        </p:txBody>
      </p:sp>
      <p:sp>
        <p:nvSpPr>
          <p:cNvPr id="19" name="Text 17"/>
          <p:cNvSpPr/>
          <p:nvPr/>
        </p:nvSpPr>
        <p:spPr>
          <a:xfrm>
            <a:off x="5120640" y="2057400"/>
            <a:ext cx="2011680" cy="914400"/>
          </a:xfrm>
          <a:prstGeom prst="rect">
            <a:avLst/>
          </a:prstGeom>
          <a:noFill/>
          <a:ln/>
        </p:spPr>
        <p:txBody>
          <a:bodyPr wrap="square" rtlCol="0" anchor="ctr"/>
          <a:lstStyle/>
          <a:p>
            <a:pPr algn="ctr" indent="0" marL="0">
              <a:lnSpc>
                <a:spcPct val="110000"/>
              </a:lnSpc>
              <a:buNone/>
            </a:pPr>
            <a:r>
              <a:rPr lang="en-US" sz="1100" dirty="0">
                <a:solidFill>
                  <a:srgbClr val="FFFFFF"/>
                </a:solidFill>
                <a:latin typeface="Hiragino Sans W6" pitchFamily="34" charset="0"/>
                <a:ea typeface="Hiragino Sans W6" pitchFamily="34" charset="-122"/>
                <a:cs typeface="Hiragino Sans W6" pitchFamily="34" charset="-120"/>
              </a:rPr>
              <a:t>OCR</a:t>
            </a:r>
            <a:endParaRPr lang="en-US" sz="1100" dirty="0"/>
          </a:p>
          <a:p>
            <a:pPr algn="ctr" indent="0" marL="0">
              <a:lnSpc>
                <a:spcPct val="110000"/>
              </a:lnSpc>
              <a:buNone/>
            </a:pPr>
            <a:r>
              <a:rPr lang="en-US" sz="1100" dirty="0">
                <a:solidFill>
                  <a:srgbClr val="FFFFFF"/>
                </a:solidFill>
                <a:latin typeface="Hiragino Sans W6" pitchFamily="34" charset="0"/>
                <a:ea typeface="Hiragino Sans W6" pitchFamily="34" charset="-122"/>
                <a:cs typeface="Hiragino Sans W6" pitchFamily="34" charset="-120"/>
              </a:rPr>
              <a:t>手書き読取</a:t>
            </a:r>
            <a:endParaRPr lang="en-US" sz="1100" dirty="0"/>
          </a:p>
        </p:txBody>
      </p:sp>
      <p:sp>
        <p:nvSpPr>
          <p:cNvPr id="20" name="Text 18"/>
          <p:cNvSpPr/>
          <p:nvPr/>
        </p:nvSpPr>
        <p:spPr>
          <a:xfrm>
            <a:off x="7132320" y="2057400"/>
            <a:ext cx="274320" cy="914400"/>
          </a:xfrm>
          <a:prstGeom prst="rect">
            <a:avLst/>
          </a:prstGeom>
          <a:noFill/>
          <a:ln/>
        </p:spPr>
        <p:txBody>
          <a:bodyPr wrap="square" rtlCol="0" anchor="ctr"/>
          <a:lstStyle/>
          <a:p>
            <a:pPr algn="ctr" indent="0" marL="0">
              <a:buNone/>
            </a:pPr>
            <a:r>
              <a:rPr lang="en-US" sz="1600" dirty="0">
                <a:solidFill>
                  <a:srgbClr val="4A90D9"/>
                </a:solidFill>
                <a:latin typeface="Hiragino Sans W6" pitchFamily="34" charset="0"/>
                <a:ea typeface="Hiragino Sans W6" pitchFamily="34" charset="-122"/>
                <a:cs typeface="Hiragino Sans W6" pitchFamily="34" charset="-120"/>
              </a:rPr>
              <a:t>→</a:t>
            </a:r>
            <a:endParaRPr lang="en-US" sz="1600" dirty="0"/>
          </a:p>
        </p:txBody>
      </p:sp>
      <p:sp>
        <p:nvSpPr>
          <p:cNvPr id="21" name="Shape 19"/>
          <p:cNvSpPr/>
          <p:nvPr/>
        </p:nvSpPr>
        <p:spPr>
          <a:xfrm>
            <a:off x="7406640" y="2057400"/>
            <a:ext cx="2011680" cy="914400"/>
          </a:xfrm>
          <a:prstGeom prst="roundRect">
            <a:avLst>
              <a:gd name="adj" fmla="val 5000"/>
            </a:avLst>
          </a:prstGeom>
          <a:solidFill>
            <a:srgbClr val="4A90D9"/>
          </a:solidFill>
          <a:ln/>
        </p:spPr>
      </p:sp>
      <p:sp>
        <p:nvSpPr>
          <p:cNvPr id="22" name="Text 20"/>
          <p:cNvSpPr/>
          <p:nvPr/>
        </p:nvSpPr>
        <p:spPr>
          <a:xfrm>
            <a:off x="7406640" y="2057400"/>
            <a:ext cx="365760" cy="320040"/>
          </a:xfrm>
          <a:prstGeom prst="rect">
            <a:avLst/>
          </a:prstGeom>
          <a:noFill/>
          <a:ln/>
        </p:spPr>
        <p:txBody>
          <a:bodyPr wrap="square" rtlCol="0" anchor="ctr"/>
          <a:lstStyle/>
          <a:p>
            <a:pPr indent="0" marL="0">
              <a:buNone/>
            </a:pPr>
            <a:r>
              <a:rPr lang="en-US" sz="1000" dirty="0">
                <a:solidFill>
                  <a:srgbClr val="FFFFFF"/>
                </a:solidFill>
                <a:latin typeface="Hiragino Sans W6" pitchFamily="34" charset="0"/>
                <a:ea typeface="Hiragino Sans W6" pitchFamily="34" charset="-122"/>
                <a:cs typeface="Hiragino Sans W6" pitchFamily="34" charset="-120"/>
              </a:rPr>
              <a:t>4</a:t>
            </a:r>
            <a:endParaRPr lang="en-US" sz="1000" dirty="0"/>
          </a:p>
        </p:txBody>
      </p:sp>
      <p:sp>
        <p:nvSpPr>
          <p:cNvPr id="23" name="Text 21"/>
          <p:cNvSpPr/>
          <p:nvPr/>
        </p:nvSpPr>
        <p:spPr>
          <a:xfrm>
            <a:off x="7406640" y="2057400"/>
            <a:ext cx="2011680" cy="914400"/>
          </a:xfrm>
          <a:prstGeom prst="rect">
            <a:avLst/>
          </a:prstGeom>
          <a:noFill/>
          <a:ln/>
        </p:spPr>
        <p:txBody>
          <a:bodyPr wrap="square" rtlCol="0" anchor="ctr"/>
          <a:lstStyle/>
          <a:p>
            <a:pPr algn="ctr" indent="0" marL="0">
              <a:lnSpc>
                <a:spcPct val="110000"/>
              </a:lnSpc>
              <a:buNone/>
            </a:pPr>
            <a:r>
              <a:rPr lang="en-US" sz="1100" dirty="0">
                <a:solidFill>
                  <a:srgbClr val="FFFFFF"/>
                </a:solidFill>
                <a:latin typeface="Hiragino Sans W6" pitchFamily="34" charset="0"/>
                <a:ea typeface="Hiragino Sans W6" pitchFamily="34" charset="-122"/>
                <a:cs typeface="Hiragino Sans W6" pitchFamily="34" charset="-120"/>
              </a:rPr>
              <a:t>形態素</a:t>
            </a:r>
            <a:endParaRPr lang="en-US" sz="1100" dirty="0"/>
          </a:p>
          <a:p>
            <a:pPr algn="ctr" indent="0" marL="0">
              <a:lnSpc>
                <a:spcPct val="110000"/>
              </a:lnSpc>
              <a:buNone/>
            </a:pPr>
            <a:r>
              <a:rPr lang="en-US" sz="1100" dirty="0">
                <a:solidFill>
                  <a:srgbClr val="FFFFFF"/>
                </a:solidFill>
                <a:latin typeface="Hiragino Sans W6" pitchFamily="34" charset="0"/>
                <a:ea typeface="Hiragino Sans W6" pitchFamily="34" charset="-122"/>
                <a:cs typeface="Hiragino Sans W6" pitchFamily="34" charset="-120"/>
              </a:rPr>
              <a:t>解析</a:t>
            </a:r>
            <a:endParaRPr lang="en-US" sz="1100" dirty="0"/>
          </a:p>
        </p:txBody>
      </p:sp>
      <p:sp>
        <p:nvSpPr>
          <p:cNvPr id="24" name="Text 22"/>
          <p:cNvSpPr/>
          <p:nvPr/>
        </p:nvSpPr>
        <p:spPr>
          <a:xfrm>
            <a:off x="9418320" y="2057400"/>
            <a:ext cx="274320" cy="914400"/>
          </a:xfrm>
          <a:prstGeom prst="rect">
            <a:avLst/>
          </a:prstGeom>
          <a:noFill/>
          <a:ln/>
        </p:spPr>
        <p:txBody>
          <a:bodyPr wrap="square" rtlCol="0" anchor="ctr"/>
          <a:lstStyle/>
          <a:p>
            <a:pPr algn="ctr" indent="0" marL="0">
              <a:buNone/>
            </a:pPr>
            <a:r>
              <a:rPr lang="en-US" sz="1600" dirty="0">
                <a:solidFill>
                  <a:srgbClr val="4A90D9"/>
                </a:solidFill>
                <a:latin typeface="Hiragino Sans W6" pitchFamily="34" charset="0"/>
                <a:ea typeface="Hiragino Sans W6" pitchFamily="34" charset="-122"/>
                <a:cs typeface="Hiragino Sans W6" pitchFamily="34" charset="-120"/>
              </a:rPr>
              <a:t>→</a:t>
            </a:r>
            <a:endParaRPr lang="en-US" sz="1600" dirty="0"/>
          </a:p>
        </p:txBody>
      </p:sp>
      <p:sp>
        <p:nvSpPr>
          <p:cNvPr id="25" name="Shape 23"/>
          <p:cNvSpPr/>
          <p:nvPr/>
        </p:nvSpPr>
        <p:spPr>
          <a:xfrm>
            <a:off x="9692640" y="2057400"/>
            <a:ext cx="2011680" cy="914400"/>
          </a:xfrm>
          <a:prstGeom prst="roundRect">
            <a:avLst>
              <a:gd name="adj" fmla="val 5000"/>
            </a:avLst>
          </a:prstGeom>
          <a:solidFill>
            <a:srgbClr val="4A90D9"/>
          </a:solidFill>
          <a:ln/>
        </p:spPr>
      </p:sp>
      <p:sp>
        <p:nvSpPr>
          <p:cNvPr id="26" name="Text 24"/>
          <p:cNvSpPr/>
          <p:nvPr/>
        </p:nvSpPr>
        <p:spPr>
          <a:xfrm>
            <a:off x="9692640" y="2057400"/>
            <a:ext cx="365760" cy="320040"/>
          </a:xfrm>
          <a:prstGeom prst="rect">
            <a:avLst/>
          </a:prstGeom>
          <a:noFill/>
          <a:ln/>
        </p:spPr>
        <p:txBody>
          <a:bodyPr wrap="square" rtlCol="0" anchor="ctr"/>
          <a:lstStyle/>
          <a:p>
            <a:pPr indent="0" marL="0">
              <a:buNone/>
            </a:pPr>
            <a:r>
              <a:rPr lang="en-US" sz="1000" dirty="0">
                <a:solidFill>
                  <a:srgbClr val="FFFFFF"/>
                </a:solidFill>
                <a:latin typeface="Hiragino Sans W6" pitchFamily="34" charset="0"/>
                <a:ea typeface="Hiragino Sans W6" pitchFamily="34" charset="-122"/>
                <a:cs typeface="Hiragino Sans W6" pitchFamily="34" charset="-120"/>
              </a:rPr>
              <a:t>5</a:t>
            </a:r>
            <a:endParaRPr lang="en-US" sz="1000" dirty="0"/>
          </a:p>
        </p:txBody>
      </p:sp>
      <p:sp>
        <p:nvSpPr>
          <p:cNvPr id="27" name="Text 25"/>
          <p:cNvSpPr/>
          <p:nvPr/>
        </p:nvSpPr>
        <p:spPr>
          <a:xfrm>
            <a:off x="9692640" y="2057400"/>
            <a:ext cx="2011680" cy="914400"/>
          </a:xfrm>
          <a:prstGeom prst="rect">
            <a:avLst/>
          </a:prstGeom>
          <a:noFill/>
          <a:ln/>
        </p:spPr>
        <p:txBody>
          <a:bodyPr wrap="square" rtlCol="0" anchor="ctr"/>
          <a:lstStyle/>
          <a:p>
            <a:pPr algn="ctr" indent="0" marL="0">
              <a:lnSpc>
                <a:spcPct val="110000"/>
              </a:lnSpc>
              <a:buNone/>
            </a:pPr>
            <a:r>
              <a:rPr lang="en-US" sz="1100" dirty="0">
                <a:solidFill>
                  <a:srgbClr val="FFFFFF"/>
                </a:solidFill>
                <a:latin typeface="Hiragino Sans W6" pitchFamily="34" charset="0"/>
                <a:ea typeface="Hiragino Sans W6" pitchFamily="34" charset="-122"/>
                <a:cs typeface="Hiragino Sans W6" pitchFamily="34" charset="-120"/>
              </a:rPr>
              <a:t>16カテゴリ</a:t>
            </a:r>
            <a:endParaRPr lang="en-US" sz="1100" dirty="0"/>
          </a:p>
          <a:p>
            <a:pPr algn="ctr" indent="0" marL="0">
              <a:lnSpc>
                <a:spcPct val="110000"/>
              </a:lnSpc>
              <a:buNone/>
            </a:pPr>
            <a:r>
              <a:rPr lang="en-US" sz="1100" dirty="0">
                <a:solidFill>
                  <a:srgbClr val="FFFFFF"/>
                </a:solidFill>
                <a:latin typeface="Hiragino Sans W6" pitchFamily="34" charset="0"/>
                <a:ea typeface="Hiragino Sans W6" pitchFamily="34" charset="-122"/>
                <a:cs typeface="Hiragino Sans W6" pitchFamily="34" charset="-120"/>
              </a:rPr>
              <a:t>分類</a:t>
            </a:r>
            <a:endParaRPr lang="en-US" sz="1100" dirty="0"/>
          </a:p>
        </p:txBody>
      </p:sp>
      <p:sp>
        <p:nvSpPr>
          <p:cNvPr id="28" name="Text 26"/>
          <p:cNvSpPr/>
          <p:nvPr/>
        </p:nvSpPr>
        <p:spPr>
          <a:xfrm>
            <a:off x="11704320" y="2057400"/>
            <a:ext cx="274320" cy="914400"/>
          </a:xfrm>
          <a:prstGeom prst="rect">
            <a:avLst/>
          </a:prstGeom>
          <a:noFill/>
          <a:ln/>
        </p:spPr>
        <p:txBody>
          <a:bodyPr wrap="square" rtlCol="0" anchor="ctr"/>
          <a:lstStyle/>
          <a:p>
            <a:pPr algn="ctr" indent="0" marL="0">
              <a:buNone/>
            </a:pPr>
            <a:r>
              <a:rPr lang="en-US" sz="1600" dirty="0">
                <a:solidFill>
                  <a:srgbClr val="4A90D9"/>
                </a:solidFill>
                <a:latin typeface="Hiragino Sans W6" pitchFamily="34" charset="0"/>
                <a:ea typeface="Hiragino Sans W6" pitchFamily="34" charset="-122"/>
                <a:cs typeface="Hiragino Sans W6" pitchFamily="34" charset="-120"/>
              </a:rPr>
              <a:t>→</a:t>
            </a:r>
            <a:endParaRPr lang="en-US" sz="1600" dirty="0"/>
          </a:p>
        </p:txBody>
      </p:sp>
      <p:sp>
        <p:nvSpPr>
          <p:cNvPr id="29" name="Shape 27"/>
          <p:cNvSpPr/>
          <p:nvPr/>
        </p:nvSpPr>
        <p:spPr>
          <a:xfrm>
            <a:off x="11978640" y="2057400"/>
            <a:ext cx="2011680" cy="914400"/>
          </a:xfrm>
          <a:prstGeom prst="roundRect">
            <a:avLst>
              <a:gd name="adj" fmla="val 5000"/>
            </a:avLst>
          </a:prstGeom>
          <a:solidFill>
            <a:srgbClr val="4A90D9"/>
          </a:solidFill>
          <a:ln/>
        </p:spPr>
      </p:sp>
      <p:sp>
        <p:nvSpPr>
          <p:cNvPr id="30" name="Text 28"/>
          <p:cNvSpPr/>
          <p:nvPr/>
        </p:nvSpPr>
        <p:spPr>
          <a:xfrm>
            <a:off x="11978640" y="2057400"/>
            <a:ext cx="365760" cy="320040"/>
          </a:xfrm>
          <a:prstGeom prst="rect">
            <a:avLst/>
          </a:prstGeom>
          <a:noFill/>
          <a:ln/>
        </p:spPr>
        <p:txBody>
          <a:bodyPr wrap="square" rtlCol="0" anchor="ctr"/>
          <a:lstStyle/>
          <a:p>
            <a:pPr indent="0" marL="0">
              <a:buNone/>
            </a:pPr>
            <a:r>
              <a:rPr lang="en-US" sz="1000" dirty="0">
                <a:solidFill>
                  <a:srgbClr val="FFFFFF"/>
                </a:solidFill>
                <a:latin typeface="Hiragino Sans W6" pitchFamily="34" charset="0"/>
                <a:ea typeface="Hiragino Sans W6" pitchFamily="34" charset="-122"/>
                <a:cs typeface="Hiragino Sans W6" pitchFamily="34" charset="-120"/>
              </a:rPr>
              <a:t>6</a:t>
            </a:r>
            <a:endParaRPr lang="en-US" sz="1000" dirty="0"/>
          </a:p>
        </p:txBody>
      </p:sp>
      <p:sp>
        <p:nvSpPr>
          <p:cNvPr id="31" name="Text 29"/>
          <p:cNvSpPr/>
          <p:nvPr/>
        </p:nvSpPr>
        <p:spPr>
          <a:xfrm>
            <a:off x="11978640" y="2057400"/>
            <a:ext cx="2011680" cy="914400"/>
          </a:xfrm>
          <a:prstGeom prst="rect">
            <a:avLst/>
          </a:prstGeom>
          <a:noFill/>
          <a:ln/>
        </p:spPr>
        <p:txBody>
          <a:bodyPr wrap="square" rtlCol="0" anchor="ctr"/>
          <a:lstStyle/>
          <a:p>
            <a:pPr algn="ctr" indent="0" marL="0">
              <a:lnSpc>
                <a:spcPct val="110000"/>
              </a:lnSpc>
              <a:buNone/>
            </a:pPr>
            <a:r>
              <a:rPr lang="en-US" sz="1100" dirty="0">
                <a:solidFill>
                  <a:srgbClr val="FFFFFF"/>
                </a:solidFill>
                <a:latin typeface="Hiragino Sans W6" pitchFamily="34" charset="0"/>
                <a:ea typeface="Hiragino Sans W6" pitchFamily="34" charset="-122"/>
                <a:cs typeface="Hiragino Sans W6" pitchFamily="34" charset="-120"/>
              </a:rPr>
              <a:t>7 UI</a:t>
            </a:r>
            <a:endParaRPr lang="en-US" sz="1100" dirty="0"/>
          </a:p>
          <a:p>
            <a:pPr algn="ctr" indent="0" marL="0">
              <a:lnSpc>
                <a:spcPct val="110000"/>
              </a:lnSpc>
              <a:buNone/>
            </a:pPr>
            <a:r>
              <a:rPr lang="en-US" sz="1100" dirty="0">
                <a:solidFill>
                  <a:srgbClr val="FFFFFF"/>
                </a:solidFill>
                <a:latin typeface="Hiragino Sans W6" pitchFamily="34" charset="0"/>
                <a:ea typeface="Hiragino Sans W6" pitchFamily="34" charset="-122"/>
                <a:cs typeface="Hiragino Sans W6" pitchFamily="34" charset="-120"/>
              </a:rPr>
              <a:t>パターン</a:t>
            </a:r>
            <a:endParaRPr lang="en-US" sz="1100" dirty="0"/>
          </a:p>
        </p:txBody>
      </p:sp>
      <p:sp>
        <p:nvSpPr>
          <p:cNvPr id="32" name="Shape 30"/>
          <p:cNvSpPr/>
          <p:nvPr/>
        </p:nvSpPr>
        <p:spPr>
          <a:xfrm>
            <a:off x="548640" y="3246120"/>
            <a:ext cx="6675120" cy="4297680"/>
          </a:xfrm>
          <a:prstGeom prst="roundRect">
            <a:avLst>
              <a:gd name="adj" fmla="val 1702"/>
            </a:avLst>
          </a:prstGeom>
          <a:solidFill>
            <a:srgbClr val="FFFFFF"/>
          </a:solidFill>
          <a:ln w="12700">
            <a:solidFill>
              <a:srgbClr val="DCE1E8"/>
            </a:solidFill>
            <a:prstDash val="solid"/>
          </a:ln>
        </p:spPr>
      </p:sp>
      <p:sp>
        <p:nvSpPr>
          <p:cNvPr id="33" name="Text 31"/>
          <p:cNvSpPr/>
          <p:nvPr/>
        </p:nvSpPr>
        <p:spPr>
          <a:xfrm>
            <a:off x="731520" y="3337560"/>
            <a:ext cx="5486400" cy="320040"/>
          </a:xfrm>
          <a:prstGeom prst="rect">
            <a:avLst/>
          </a:prstGeom>
          <a:noFill/>
          <a:ln/>
        </p:spPr>
        <p:txBody>
          <a:bodyPr wrap="square" rtlCol="0" anchor="ctr"/>
          <a:lstStyle/>
          <a:p>
            <a:pPr indent="0" marL="0">
              <a:buNone/>
            </a:pPr>
            <a:r>
              <a:rPr lang="en-US" sz="1300" dirty="0">
                <a:solidFill>
                  <a:srgbClr val="2C3E50"/>
                </a:solidFill>
                <a:latin typeface="Hiragino Sans W6" pitchFamily="34" charset="0"/>
                <a:ea typeface="Hiragino Sans W6" pitchFamily="34" charset="-122"/>
                <a:cs typeface="Hiragino Sans W6" pitchFamily="34" charset="-120"/>
              </a:rPr>
              <a:t>分析実績（設計フェーズで完了済み）</a:t>
            </a:r>
            <a:endParaRPr lang="en-US" sz="1300" dirty="0"/>
          </a:p>
        </p:txBody>
      </p:sp>
      <p:sp>
        <p:nvSpPr>
          <p:cNvPr id="34" name="Text 32"/>
          <p:cNvSpPr/>
          <p:nvPr/>
        </p:nvSpPr>
        <p:spPr>
          <a:xfrm>
            <a:off x="822960" y="3794760"/>
            <a:ext cx="2011680" cy="502920"/>
          </a:xfrm>
          <a:prstGeom prst="rect">
            <a:avLst/>
          </a:prstGeom>
          <a:solidFill>
            <a:srgbClr val="F5F7FA"/>
          </a:solidFill>
          <a:ln/>
        </p:spPr>
        <p:txBody>
          <a:bodyPr wrap="square" rtlCol="0" anchor="ctr"/>
          <a:lstStyle/>
          <a:p>
            <a:pPr indent="0" marL="0">
              <a:buNone/>
            </a:pPr>
            <a:r>
              <a:rPr lang="en-US" sz="1100" dirty="0">
                <a:solidFill>
                  <a:srgbClr val="4A90D9"/>
                </a:solidFill>
                <a:latin typeface="Hiragino Sans W6" pitchFamily="34" charset="0"/>
                <a:ea typeface="Hiragino Sans W6" pitchFamily="34" charset="-122"/>
                <a:cs typeface="Hiragino Sans W6" pitchFamily="34" charset="-120"/>
              </a:rPr>
              <a:t>分析対象</a:t>
            </a:r>
            <a:endParaRPr lang="en-US" sz="1100" dirty="0"/>
          </a:p>
        </p:txBody>
      </p:sp>
      <p:sp>
        <p:nvSpPr>
          <p:cNvPr id="35" name="Text 33"/>
          <p:cNvSpPr/>
          <p:nvPr/>
        </p:nvSpPr>
        <p:spPr>
          <a:xfrm>
            <a:off x="2834640" y="3794760"/>
            <a:ext cx="4206240" cy="502920"/>
          </a:xfrm>
          <a:prstGeom prst="rect">
            <a:avLst/>
          </a:prstGeom>
          <a:solidFill>
            <a:srgbClr val="F5F7FA"/>
          </a:solidFill>
          <a:ln/>
        </p:spPr>
        <p:txBody>
          <a:bodyPr wrap="square" rtlCol="0" anchor="ctr"/>
          <a:lstStyle/>
          <a:p>
            <a:pPr indent="0" marL="0">
              <a:buNone/>
            </a:pPr>
            <a:r>
              <a:rPr lang="en-US" sz="1100" dirty="0">
                <a:solidFill>
                  <a:srgbClr val="2C3E50"/>
                </a:solidFill>
                <a:latin typeface="Hiragino Sans W3" pitchFamily="34" charset="0"/>
                <a:ea typeface="Hiragino Sans W3" pitchFamily="34" charset="-122"/>
                <a:cs typeface="Hiragino Sans W3" pitchFamily="34" charset="-120"/>
              </a:rPr>
              <a:t>PDF 2,897ページ / 192人分の実カルテ</a:t>
            </a:r>
            <a:endParaRPr lang="en-US" sz="1100" dirty="0"/>
          </a:p>
        </p:txBody>
      </p:sp>
      <p:sp>
        <p:nvSpPr>
          <p:cNvPr id="36" name="Text 34"/>
          <p:cNvSpPr/>
          <p:nvPr/>
        </p:nvSpPr>
        <p:spPr>
          <a:xfrm>
            <a:off x="822960" y="4389120"/>
            <a:ext cx="2011680" cy="502920"/>
          </a:xfrm>
          <a:prstGeom prst="rect">
            <a:avLst/>
          </a:prstGeom>
          <a:solidFill>
            <a:srgbClr val="FFFFFF"/>
          </a:solidFill>
          <a:ln/>
        </p:spPr>
        <p:txBody>
          <a:bodyPr wrap="square" rtlCol="0" anchor="ctr"/>
          <a:lstStyle/>
          <a:p>
            <a:pPr indent="0" marL="0">
              <a:buNone/>
            </a:pPr>
            <a:r>
              <a:rPr lang="en-US" sz="1100" dirty="0">
                <a:solidFill>
                  <a:srgbClr val="4A90D9"/>
                </a:solidFill>
                <a:latin typeface="Hiragino Sans W6" pitchFamily="34" charset="0"/>
                <a:ea typeface="Hiragino Sans W6" pitchFamily="34" charset="-122"/>
                <a:cs typeface="Hiragino Sans W6" pitchFamily="34" charset="-120"/>
              </a:rPr>
              <a:t>印刷選択肢</a:t>
            </a:r>
            <a:endParaRPr lang="en-US" sz="1100" dirty="0"/>
          </a:p>
        </p:txBody>
      </p:sp>
      <p:sp>
        <p:nvSpPr>
          <p:cNvPr id="37" name="Text 35"/>
          <p:cNvSpPr/>
          <p:nvPr/>
        </p:nvSpPr>
        <p:spPr>
          <a:xfrm>
            <a:off x="2834640" y="4389120"/>
            <a:ext cx="4206240" cy="502920"/>
          </a:xfrm>
          <a:prstGeom prst="rect">
            <a:avLst/>
          </a:prstGeom>
          <a:solidFill>
            <a:srgbClr val="FFFFFF"/>
          </a:solidFill>
          <a:ln/>
        </p:spPr>
        <p:txBody>
          <a:bodyPr wrap="square" rtlCol="0" anchor="ctr"/>
          <a:lstStyle/>
          <a:p>
            <a:pPr indent="0" marL="0">
              <a:buNone/>
            </a:pPr>
            <a:r>
              <a:rPr lang="en-US" sz="1100" dirty="0">
                <a:solidFill>
                  <a:srgbClr val="2C3E50"/>
                </a:solidFill>
                <a:latin typeface="Hiragino Sans W3" pitchFamily="34" charset="0"/>
                <a:ea typeface="Hiragino Sans W3" pitchFamily="34" charset="-122"/>
                <a:cs typeface="Hiragino Sans W3" pitchFamily="34" charset="-120"/>
              </a:rPr>
              <a:t>136フィールド / 967選択肢を抽出</a:t>
            </a:r>
            <a:endParaRPr lang="en-US" sz="1100" dirty="0"/>
          </a:p>
        </p:txBody>
      </p:sp>
      <p:sp>
        <p:nvSpPr>
          <p:cNvPr id="38" name="Text 36"/>
          <p:cNvSpPr/>
          <p:nvPr/>
        </p:nvSpPr>
        <p:spPr>
          <a:xfrm>
            <a:off x="822960" y="4983480"/>
            <a:ext cx="2011680" cy="502920"/>
          </a:xfrm>
          <a:prstGeom prst="rect">
            <a:avLst/>
          </a:prstGeom>
          <a:solidFill>
            <a:srgbClr val="F5F7FA"/>
          </a:solidFill>
          <a:ln/>
        </p:spPr>
        <p:txBody>
          <a:bodyPr wrap="square" rtlCol="0" anchor="ctr"/>
          <a:lstStyle/>
          <a:p>
            <a:pPr indent="0" marL="0">
              <a:buNone/>
            </a:pPr>
            <a:r>
              <a:rPr lang="en-US" sz="1100" dirty="0">
                <a:solidFill>
                  <a:srgbClr val="4A90D9"/>
                </a:solidFill>
                <a:latin typeface="Hiragino Sans W6" pitchFamily="34" charset="0"/>
                <a:ea typeface="Hiragino Sans W6" pitchFamily="34" charset="-122"/>
                <a:cs typeface="Hiragino Sans W6" pitchFamily="34" charset="-120"/>
              </a:rPr>
              <a:t>OCR対象</a:t>
            </a:r>
            <a:endParaRPr lang="en-US" sz="1100" dirty="0"/>
          </a:p>
        </p:txBody>
      </p:sp>
      <p:sp>
        <p:nvSpPr>
          <p:cNvPr id="39" name="Text 37"/>
          <p:cNvSpPr/>
          <p:nvPr/>
        </p:nvSpPr>
        <p:spPr>
          <a:xfrm>
            <a:off x="2834640" y="4983480"/>
            <a:ext cx="4206240" cy="502920"/>
          </a:xfrm>
          <a:prstGeom prst="rect">
            <a:avLst/>
          </a:prstGeom>
          <a:solidFill>
            <a:srgbClr val="F5F7FA"/>
          </a:solidFill>
          <a:ln/>
        </p:spPr>
        <p:txBody>
          <a:bodyPr wrap="square" rtlCol="0" anchor="ctr"/>
          <a:lstStyle/>
          <a:p>
            <a:pPr indent="0" marL="0">
              <a:buNone/>
            </a:pPr>
            <a:r>
              <a:rPr lang="en-US" sz="1100" dirty="0">
                <a:solidFill>
                  <a:srgbClr val="2C3E50"/>
                </a:solidFill>
                <a:latin typeface="Hiragino Sans W3" pitchFamily="34" charset="0"/>
                <a:ea typeface="Hiragino Sans W3" pitchFamily="34" charset="-122"/>
                <a:cs typeface="Hiragino Sans W3" pitchFamily="34" charset="-120"/>
              </a:rPr>
              <a:t>49フィールド（手書き自由記述）</a:t>
            </a:r>
            <a:endParaRPr lang="en-US" sz="1100" dirty="0"/>
          </a:p>
        </p:txBody>
      </p:sp>
      <p:sp>
        <p:nvSpPr>
          <p:cNvPr id="40" name="Text 38"/>
          <p:cNvSpPr/>
          <p:nvPr/>
        </p:nvSpPr>
        <p:spPr>
          <a:xfrm>
            <a:off x="822960" y="5577840"/>
            <a:ext cx="2011680" cy="502920"/>
          </a:xfrm>
          <a:prstGeom prst="rect">
            <a:avLst/>
          </a:prstGeom>
          <a:solidFill>
            <a:srgbClr val="FFFFFF"/>
          </a:solidFill>
          <a:ln/>
        </p:spPr>
        <p:txBody>
          <a:bodyPr wrap="square" rtlCol="0" anchor="ctr"/>
          <a:lstStyle/>
          <a:p>
            <a:pPr indent="0" marL="0">
              <a:buNone/>
            </a:pPr>
            <a:r>
              <a:rPr lang="en-US" sz="1100" dirty="0">
                <a:solidFill>
                  <a:srgbClr val="4A90D9"/>
                </a:solidFill>
                <a:latin typeface="Hiragino Sans W6" pitchFamily="34" charset="0"/>
                <a:ea typeface="Hiragino Sans W6" pitchFamily="34" charset="-122"/>
                <a:cs typeface="Hiragino Sans W6" pitchFamily="34" charset="-120"/>
              </a:rPr>
              <a:t>形態素解析</a:t>
            </a:r>
            <a:endParaRPr lang="en-US" sz="1100" dirty="0"/>
          </a:p>
        </p:txBody>
      </p:sp>
      <p:sp>
        <p:nvSpPr>
          <p:cNvPr id="41" name="Text 39"/>
          <p:cNvSpPr/>
          <p:nvPr/>
        </p:nvSpPr>
        <p:spPr>
          <a:xfrm>
            <a:off x="2834640" y="5577840"/>
            <a:ext cx="4206240" cy="502920"/>
          </a:xfrm>
          <a:prstGeom prst="rect">
            <a:avLst/>
          </a:prstGeom>
          <a:solidFill>
            <a:srgbClr val="FFFFFF"/>
          </a:solidFill>
          <a:ln/>
        </p:spPr>
        <p:txBody>
          <a:bodyPr wrap="square" rtlCol="0" anchor="ctr"/>
          <a:lstStyle/>
          <a:p>
            <a:pPr indent="0" marL="0">
              <a:buNone/>
            </a:pPr>
            <a:r>
              <a:rPr lang="en-US" sz="1100" dirty="0">
                <a:solidFill>
                  <a:srgbClr val="2C3E50"/>
                </a:solidFill>
                <a:latin typeface="Hiragino Sans W3" pitchFamily="34" charset="0"/>
                <a:ea typeface="Hiragino Sans W3" pitchFamily="34" charset="-122"/>
                <a:cs typeface="Hiragino Sans W3" pitchFamily="34" charset="-120"/>
              </a:rPr>
              <a:t>janomeで16パターンカテゴリを検出</a:t>
            </a:r>
            <a:endParaRPr lang="en-US" sz="1100" dirty="0"/>
          </a:p>
        </p:txBody>
      </p:sp>
      <p:sp>
        <p:nvSpPr>
          <p:cNvPr id="42" name="Text 40"/>
          <p:cNvSpPr/>
          <p:nvPr/>
        </p:nvSpPr>
        <p:spPr>
          <a:xfrm>
            <a:off x="822960" y="6172200"/>
            <a:ext cx="2011680" cy="502920"/>
          </a:xfrm>
          <a:prstGeom prst="rect">
            <a:avLst/>
          </a:prstGeom>
          <a:solidFill>
            <a:srgbClr val="F5F7FA"/>
          </a:solidFill>
          <a:ln/>
        </p:spPr>
        <p:txBody>
          <a:bodyPr wrap="square" rtlCol="0" anchor="ctr"/>
          <a:lstStyle/>
          <a:p>
            <a:pPr indent="0" marL="0">
              <a:buNone/>
            </a:pPr>
            <a:r>
              <a:rPr lang="en-US" sz="1100" dirty="0">
                <a:solidFill>
                  <a:srgbClr val="4A90D9"/>
                </a:solidFill>
                <a:latin typeface="Hiragino Sans W6" pitchFamily="34" charset="0"/>
                <a:ea typeface="Hiragino Sans W6" pitchFamily="34" charset="-122"/>
                <a:cs typeface="Hiragino Sans W6" pitchFamily="34" charset="-120"/>
              </a:rPr>
              <a:t>UI生成</a:t>
            </a:r>
            <a:endParaRPr lang="en-US" sz="1100" dirty="0"/>
          </a:p>
        </p:txBody>
      </p:sp>
      <p:sp>
        <p:nvSpPr>
          <p:cNvPr id="43" name="Text 41"/>
          <p:cNvSpPr/>
          <p:nvPr/>
        </p:nvSpPr>
        <p:spPr>
          <a:xfrm>
            <a:off x="2834640" y="6172200"/>
            <a:ext cx="4206240" cy="502920"/>
          </a:xfrm>
          <a:prstGeom prst="rect">
            <a:avLst/>
          </a:prstGeom>
          <a:solidFill>
            <a:srgbClr val="F5F7FA"/>
          </a:solidFill>
          <a:ln/>
        </p:spPr>
        <p:txBody>
          <a:bodyPr wrap="square" rtlCol="0" anchor="ctr"/>
          <a:lstStyle/>
          <a:p>
            <a:pPr indent="0" marL="0">
              <a:buNone/>
            </a:pPr>
            <a:r>
              <a:rPr lang="en-US" sz="1100" dirty="0">
                <a:solidFill>
                  <a:srgbClr val="2C3E50"/>
                </a:solidFill>
                <a:latin typeface="Hiragino Sans W3" pitchFamily="34" charset="0"/>
                <a:ea typeface="Hiragino Sans W3" pitchFamily="34" charset="-122"/>
                <a:cs typeface="Hiragino Sans W3" pitchFamily="34" charset="-120"/>
              </a:rPr>
              <a:t>7種のUIパターンに自動マッピング</a:t>
            </a:r>
            <a:endParaRPr lang="en-US" sz="1100" dirty="0"/>
          </a:p>
        </p:txBody>
      </p:sp>
      <p:sp>
        <p:nvSpPr>
          <p:cNvPr id="44" name="Text 42"/>
          <p:cNvSpPr/>
          <p:nvPr/>
        </p:nvSpPr>
        <p:spPr>
          <a:xfrm>
            <a:off x="822960" y="6766560"/>
            <a:ext cx="2011680" cy="502920"/>
          </a:xfrm>
          <a:prstGeom prst="rect">
            <a:avLst/>
          </a:prstGeom>
          <a:solidFill>
            <a:srgbClr val="FFFFFF"/>
          </a:solidFill>
          <a:ln/>
        </p:spPr>
        <p:txBody>
          <a:bodyPr wrap="square" rtlCol="0" anchor="ctr"/>
          <a:lstStyle/>
          <a:p>
            <a:pPr indent="0" marL="0">
              <a:buNone/>
            </a:pPr>
            <a:r>
              <a:rPr lang="en-US" sz="1100" dirty="0">
                <a:solidFill>
                  <a:srgbClr val="4A90D9"/>
                </a:solidFill>
                <a:latin typeface="Hiragino Sans W6" pitchFamily="34" charset="0"/>
                <a:ea typeface="Hiragino Sans W6" pitchFamily="34" charset="-122"/>
                <a:cs typeface="Hiragino Sans W6" pitchFamily="34" charset="-120"/>
              </a:rPr>
              <a:t>統合結果</a:t>
            </a:r>
            <a:endParaRPr lang="en-US" sz="1100" dirty="0"/>
          </a:p>
        </p:txBody>
      </p:sp>
      <p:sp>
        <p:nvSpPr>
          <p:cNvPr id="45" name="Text 43"/>
          <p:cNvSpPr/>
          <p:nvPr/>
        </p:nvSpPr>
        <p:spPr>
          <a:xfrm>
            <a:off x="2834640" y="6766560"/>
            <a:ext cx="4206240" cy="502920"/>
          </a:xfrm>
          <a:prstGeom prst="rect">
            <a:avLst/>
          </a:prstGeom>
          <a:solidFill>
            <a:srgbClr val="FFFFFF"/>
          </a:solidFill>
          <a:ln/>
        </p:spPr>
        <p:txBody>
          <a:bodyPr wrap="square" rtlCol="0" anchor="ctr"/>
          <a:lstStyle/>
          <a:p>
            <a:pPr indent="0" marL="0">
              <a:buNone/>
            </a:pPr>
            <a:r>
              <a:rPr lang="en-US" sz="1100" dirty="0">
                <a:solidFill>
                  <a:srgbClr val="2C3E50"/>
                </a:solidFill>
                <a:latin typeface="Hiragino Sans W3" pitchFamily="34" charset="0"/>
                <a:ea typeface="Hiragino Sans W3" pitchFamily="34" charset="-122"/>
                <a:cs typeface="Hiragino Sans W3" pitchFamily="34" charset="-120"/>
              </a:rPr>
              <a:t>185フィールド / 1,544選択肢 / タップ入力95%以上</a:t>
            </a:r>
            <a:endParaRPr lang="en-US" sz="1100" dirty="0"/>
          </a:p>
        </p:txBody>
      </p:sp>
      <p:sp>
        <p:nvSpPr>
          <p:cNvPr id="46" name="Shape 44"/>
          <p:cNvSpPr/>
          <p:nvPr/>
        </p:nvSpPr>
        <p:spPr>
          <a:xfrm>
            <a:off x="7498080" y="3246120"/>
            <a:ext cx="6583680" cy="4297680"/>
          </a:xfrm>
          <a:prstGeom prst="roundRect">
            <a:avLst>
              <a:gd name="adj" fmla="val 1702"/>
            </a:avLst>
          </a:prstGeom>
          <a:solidFill>
            <a:srgbClr val="FFFFFF"/>
          </a:solidFill>
          <a:ln w="12700">
            <a:solidFill>
              <a:srgbClr val="DCE1E8"/>
            </a:solidFill>
            <a:prstDash val="solid"/>
          </a:ln>
        </p:spPr>
      </p:sp>
      <p:sp>
        <p:nvSpPr>
          <p:cNvPr id="47" name="Text 45"/>
          <p:cNvSpPr/>
          <p:nvPr/>
        </p:nvSpPr>
        <p:spPr>
          <a:xfrm>
            <a:off x="7680960" y="3337560"/>
            <a:ext cx="3657600" cy="320040"/>
          </a:xfrm>
          <a:prstGeom prst="rect">
            <a:avLst/>
          </a:prstGeom>
          <a:noFill/>
          <a:ln/>
        </p:spPr>
        <p:txBody>
          <a:bodyPr wrap="square" rtlCol="0" anchor="ctr"/>
          <a:lstStyle/>
          <a:p>
            <a:pPr indent="0" marL="0">
              <a:buNone/>
            </a:pPr>
            <a:r>
              <a:rPr lang="en-US" sz="1300" dirty="0">
                <a:solidFill>
                  <a:srgbClr val="2C3E50"/>
                </a:solidFill>
                <a:latin typeface="Hiragino Sans W6" pitchFamily="34" charset="0"/>
                <a:ea typeface="Hiragino Sans W6" pitchFamily="34" charset="-122"/>
                <a:cs typeface="Hiragino Sans W6" pitchFamily="34" charset="-120"/>
              </a:rPr>
              <a:t>先行技術との差異</a:t>
            </a:r>
            <a:endParaRPr lang="en-US" sz="1300" dirty="0"/>
          </a:p>
        </p:txBody>
      </p:sp>
      <p:sp>
        <p:nvSpPr>
          <p:cNvPr id="48" name="Text 46"/>
          <p:cNvSpPr/>
          <p:nvPr/>
        </p:nvSpPr>
        <p:spPr>
          <a:xfrm>
            <a:off x="7680960" y="3749040"/>
            <a:ext cx="6217920" cy="3474720"/>
          </a:xfrm>
          <a:prstGeom prst="rect">
            <a:avLst/>
          </a:prstGeom>
          <a:noFill/>
          <a:ln/>
        </p:spPr>
        <p:txBody>
          <a:bodyPr wrap="square" rtlCol="0" anchor="ctr"/>
          <a:lstStyle/>
          <a:p>
            <a:pPr indent="0" marL="0">
              <a:buNone/>
            </a:pPr>
            <a:r>
              <a:rPr lang="en-US" sz="1200" dirty="0">
                <a:solidFill>
                  <a:srgbClr val="2C3E50"/>
                </a:solidFill>
                <a:latin typeface="Hiragino Sans W6" pitchFamily="34" charset="0"/>
                <a:ea typeface="Hiragino Sans W6" pitchFamily="34" charset="-122"/>
                <a:cs typeface="Hiragino Sans W6" pitchFamily="34" charset="-120"/>
              </a:rPr>
              <a:t>最近接：DrChrono（US10437961B2）</a:t>
            </a:r>
            <a:endParaRPr lang="en-US" sz="1200" dirty="0"/>
          </a:p>
          <a:p>
            <a:pPr indent="0" marL="0">
              <a:buNone/>
            </a:pPr>
            <a:r>
              <a:rPr lang="en-US" sz="1100" dirty="0">
                <a:solidFill>
                  <a:srgbClr val="7F8C8D"/>
                </a:solidFill>
                <a:latin typeface="Hiragino Sans W3" pitchFamily="34" charset="0"/>
                <a:ea typeface="Hiragino Sans W3" pitchFamily="34" charset="-122"/>
                <a:cs typeface="Hiragino Sans W3" pitchFamily="34" charset="-120"/>
              </a:rPr>
              <a:t>ドラッグ&amp;ドロップ式フォームビルダー</a:t>
            </a:r>
            <a:endParaRPr lang="en-US" sz="1200" dirty="0"/>
          </a:p>
          <a:p>
            <a:pPr indent="0" marL="0">
              <a:buNone/>
            </a:pPr>
            <a:endParaRPr lang="en-US" sz="1200" dirty="0"/>
          </a:p>
          <a:p>
            <a:pPr indent="0" marL="0">
              <a:buNone/>
            </a:pPr>
            <a:r>
              <a:rPr lang="en-US" sz="1200" dirty="0">
                <a:solidFill>
                  <a:srgbClr val="4A90D9"/>
                </a:solidFill>
                <a:latin typeface="Hiragino Sans W6" pitchFamily="34" charset="0"/>
                <a:ea typeface="Hiragino Sans W6" pitchFamily="34" charset="-122"/>
                <a:cs typeface="Hiragino Sans W6" pitchFamily="34" charset="-120"/>
              </a:rPr>
              <a:t>本技術との根本的差異:</a:t>
            </a:r>
            <a:endParaRPr lang="en-US" sz="1200" dirty="0"/>
          </a:p>
          <a:p>
            <a:pPr indent="0" marL="0">
              <a:buNone/>
            </a:pPr>
            <a:r>
              <a:rPr lang="en-US" sz="1100" dirty="0">
                <a:solidFill>
                  <a:srgbClr val="2C3E50"/>
                </a:solidFill>
                <a:latin typeface="Hiragino Sans W3" pitchFamily="34" charset="0"/>
                <a:ea typeface="Hiragino Sans W3" pitchFamily="34" charset="-122"/>
                <a:cs typeface="Hiragino Sans W3" pitchFamily="34" charset="-120"/>
              </a:rPr>
              <a:t>① DrChronoは手動設計。本技術は既存紙帳票からOCR+NLPで自動生成</a:t>
            </a:r>
            <a:endParaRPr lang="en-US" sz="1200" dirty="0"/>
          </a:p>
          <a:p>
            <a:pPr indent="0" marL="0">
              <a:buNone/>
            </a:pPr>
            <a:r>
              <a:rPr lang="en-US" sz="1100" dirty="0">
                <a:solidFill>
                  <a:srgbClr val="2C3E50"/>
                </a:solidFill>
                <a:latin typeface="Hiragino Sans W3" pitchFamily="34" charset="0"/>
                <a:ea typeface="Hiragino Sans W3" pitchFamily="34" charset="-122"/>
                <a:cs typeface="Hiragino Sans W3" pitchFamily="34" charset="-120"/>
              </a:rPr>
              <a:t>② 形態素解析による自由記述テキストのパターン抽出は先行例なし</a:t>
            </a:r>
            <a:endParaRPr lang="en-US" sz="1200" dirty="0"/>
          </a:p>
          <a:p>
            <a:pPr indent="0" marL="0">
              <a:buNone/>
            </a:pPr>
            <a:r>
              <a:rPr lang="en-US" sz="1100" dirty="0">
                <a:solidFill>
                  <a:srgbClr val="2C3E50"/>
                </a:solidFill>
                <a:latin typeface="Hiragino Sans W3" pitchFamily="34" charset="0"/>
                <a:ea typeface="Hiragino Sans W3" pitchFamily="34" charset="-122"/>
                <a:cs typeface="Hiragino Sans W3" pitchFamily="34" charset="-120"/>
              </a:rPr>
              <a:t>③ 192人分・2,897ページの実データで構造化済みという実績規模</a:t>
            </a:r>
            <a:endParaRPr lang="en-US" sz="1200" dirty="0"/>
          </a:p>
          <a:p>
            <a:pPr indent="0" marL="0">
              <a:buNone/>
            </a:pPr>
            <a:endParaRPr lang="en-US" sz="1200" dirty="0"/>
          </a:p>
          <a:p>
            <a:pPr indent="0" marL="0">
              <a:buNone/>
            </a:pPr>
            <a:r>
              <a:rPr lang="en-US" sz="1200" dirty="0">
                <a:solidFill>
                  <a:srgbClr val="4A90D9"/>
                </a:solidFill>
                <a:latin typeface="Hiragino Sans W6" pitchFamily="34" charset="0"/>
                <a:ea typeface="Hiragino Sans W6" pitchFamily="34" charset="-122"/>
                <a:cs typeface="Hiragino Sans W6" pitchFamily="34" charset="-120"/>
              </a:rPr>
              <a:t>応用可能性:</a:t>
            </a:r>
            <a:endParaRPr lang="en-US" sz="1200" dirty="0"/>
          </a:p>
          <a:p>
            <a:pPr indent="0" marL="0">
              <a:buNone/>
            </a:pPr>
            <a:r>
              <a:rPr lang="en-US" sz="1100" dirty="0">
                <a:solidFill>
                  <a:srgbClr val="2C3E50"/>
                </a:solidFill>
                <a:latin typeface="Hiragino Sans W3" pitchFamily="34" charset="0"/>
                <a:ea typeface="Hiragino Sans W3" pitchFamily="34" charset="-122"/>
                <a:cs typeface="Hiragino Sans W3" pitchFamily="34" charset="-120"/>
              </a:rPr>
              <a:t>障害福祉以外の紙帳票（介護・医療・教育）にも同一パイプラインを適用可能。言語非依存設計により海外展開時もマスタデータ差替えで対応。</a:t>
            </a:r>
            <a:endParaRPr lang="en-US" sz="1200" dirty="0"/>
          </a:p>
        </p:txBody>
      </p:sp>
      <p:sp>
        <p:nvSpPr>
          <p:cNvPr id="49" name="Text 47"/>
          <p:cNvSpPr/>
          <p:nvPr/>
        </p:nvSpPr>
        <p:spPr>
          <a:xfrm>
            <a:off x="13258800" y="7818120"/>
            <a:ext cx="914400" cy="274320"/>
          </a:xfrm>
          <a:prstGeom prst="rect">
            <a:avLst/>
          </a:prstGeom>
          <a:noFill/>
          <a:ln/>
        </p:spPr>
        <p:txBody>
          <a:bodyPr wrap="square" rtlCol="0" anchor="ctr"/>
          <a:lstStyle/>
          <a:p>
            <a:pPr algn="r" indent="0" marL="0">
              <a:buNone/>
            </a:pPr>
            <a:r>
              <a:rPr lang="en-US" sz="800" dirty="0">
                <a:solidFill>
                  <a:srgbClr val="7F8C8D"/>
                </a:solidFill>
                <a:latin typeface="Hiragino Sans W3" pitchFamily="34" charset="0"/>
                <a:ea typeface="Hiragino Sans W3" pitchFamily="34" charset="-122"/>
                <a:cs typeface="Hiragino Sans W3" pitchFamily="34" charset="-120"/>
              </a:rPr>
              <a:t>5 / 15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4630400" cy="1417320"/>
          </a:xfrm>
          <a:prstGeom prst="rect">
            <a:avLst/>
          </a:prstGeom>
          <a:solidFill>
            <a:srgbClr val="1A1A2E"/>
          </a:solidFill>
          <a:ln/>
        </p:spPr>
      </p:sp>
      <p:sp>
        <p:nvSpPr>
          <p:cNvPr id="3" name="Text 1"/>
          <p:cNvSpPr/>
          <p:nvPr/>
        </p:nvSpPr>
        <p:spPr>
          <a:xfrm>
            <a:off x="548640" y="182880"/>
            <a:ext cx="13533120" cy="594360"/>
          </a:xfrm>
          <a:prstGeom prst="rect">
            <a:avLst/>
          </a:prstGeom>
          <a:noFill/>
          <a:ln/>
        </p:spPr>
        <p:txBody>
          <a:bodyPr wrap="square" rtlCol="0" anchor="ctr"/>
          <a:lstStyle/>
          <a:p>
            <a:pPr indent="0" marL="0">
              <a:buNone/>
            </a:pPr>
            <a:r>
              <a:rPr lang="en-US" sz="2600" b="1" dirty="0">
                <a:solidFill>
                  <a:srgbClr val="FFFFFF"/>
                </a:solidFill>
                <a:latin typeface="Hiragino Sans W6" pitchFamily="34" charset="0"/>
                <a:ea typeface="Hiragino Sans W6" pitchFamily="34" charset="-122"/>
                <a:cs typeface="Hiragino Sans W6" pitchFamily="34" charset="-120"/>
              </a:rPr>
              <a:t>先行技術調査結果：3特許すべてに新規性を確認</a:t>
            </a:r>
            <a:endParaRPr lang="en-US" sz="2600" dirty="0"/>
          </a:p>
        </p:txBody>
      </p:sp>
      <p:sp>
        <p:nvSpPr>
          <p:cNvPr id="4" name="Text 2"/>
          <p:cNvSpPr/>
          <p:nvPr/>
        </p:nvSpPr>
        <p:spPr>
          <a:xfrm>
            <a:off x="548640" y="822960"/>
            <a:ext cx="13533120" cy="411480"/>
          </a:xfrm>
          <a:prstGeom prst="rect">
            <a:avLst/>
          </a:prstGeom>
          <a:noFill/>
          <a:ln/>
        </p:spPr>
        <p:txBody>
          <a:bodyPr wrap="square" rtlCol="0" anchor="ctr"/>
          <a:lstStyle/>
          <a:p>
            <a:pPr indent="0" marL="0">
              <a:buNone/>
            </a:pPr>
            <a:r>
              <a:rPr lang="en-US" sz="1300" dirty="0">
                <a:solidFill>
                  <a:srgbClr val="B0BEC5"/>
                </a:solidFill>
                <a:latin typeface="Hiragino Sans W3" pitchFamily="34" charset="0"/>
                <a:ea typeface="Hiragino Sans W3" pitchFamily="34" charset="-122"/>
                <a:cs typeface="Hiragino Sans W3" pitchFamily="34" charset="-120"/>
              </a:rPr>
              <a:t>Google Patents・J-PlatPat・学術DB（PLOS ONE/BMC/npj Mental Health Research）で調査実施</a:t>
            </a:r>
            <a:endParaRPr lang="en-US" sz="1300" dirty="0"/>
          </a:p>
        </p:txBody>
      </p:sp>
      <p:sp>
        <p:nvSpPr>
          <p:cNvPr id="5" name="Shape 3"/>
          <p:cNvSpPr/>
          <p:nvPr/>
        </p:nvSpPr>
        <p:spPr>
          <a:xfrm>
            <a:off x="548640" y="1508760"/>
            <a:ext cx="13533120" cy="347472"/>
          </a:xfrm>
          <a:prstGeom prst="roundRect">
            <a:avLst>
              <a:gd name="adj" fmla="val 7895"/>
            </a:avLst>
          </a:prstGeom>
          <a:solidFill>
            <a:srgbClr val="4A90D9"/>
          </a:solidFill>
          <a:ln/>
        </p:spPr>
      </p:sp>
      <p:sp>
        <p:nvSpPr>
          <p:cNvPr id="6" name="Text 4"/>
          <p:cNvSpPr/>
          <p:nvPr/>
        </p:nvSpPr>
        <p:spPr>
          <a:xfrm>
            <a:off x="731520" y="1508760"/>
            <a:ext cx="13167360" cy="347472"/>
          </a:xfrm>
          <a:prstGeom prst="rect">
            <a:avLst/>
          </a:prstGeom>
          <a:noFill/>
          <a:ln/>
        </p:spPr>
        <p:txBody>
          <a:bodyPr wrap="square" rtlCol="0" anchor="ctr"/>
          <a:lstStyle/>
          <a:p>
            <a:pPr indent="0" marL="0">
              <a:buNone/>
            </a:pPr>
            <a:r>
              <a:rPr lang="en-US" sz="1100" dirty="0">
                <a:solidFill>
                  <a:srgbClr val="FFFFFF"/>
                </a:solidFill>
                <a:latin typeface="Hiragino Sans W6" pitchFamily="34" charset="0"/>
                <a:ea typeface="Hiragino Sans W6" pitchFamily="34" charset="-122"/>
                <a:cs typeface="Hiragino Sans W6" pitchFamily="34" charset="-120"/>
              </a:rPr>
              <a:t>補足：申請書「9. 先行技術調査」— 詳細は添付「先行技術調査報告書」参照</a:t>
            </a:r>
            <a:endParaRPr lang="en-US" sz="1100" dirty="0"/>
          </a:p>
        </p:txBody>
      </p:sp>
      <p:sp>
        <p:nvSpPr>
          <p:cNvPr id="7" name="Shape 5"/>
          <p:cNvSpPr/>
          <p:nvPr/>
        </p:nvSpPr>
        <p:spPr>
          <a:xfrm>
            <a:off x="12618720" y="1527048"/>
            <a:ext cx="1645920" cy="292608"/>
          </a:xfrm>
          <a:prstGeom prst="roundRect">
            <a:avLst>
              <a:gd name="adj" fmla="val 12500"/>
            </a:avLst>
          </a:prstGeom>
          <a:solidFill>
            <a:srgbClr val="EBF5FB"/>
          </a:solidFill>
          <a:ln w="10160">
            <a:solidFill>
              <a:srgbClr val="2980B9"/>
            </a:solidFill>
            <a:prstDash val="solid"/>
          </a:ln>
        </p:spPr>
      </p:sp>
      <p:sp>
        <p:nvSpPr>
          <p:cNvPr id="8" name="Text 6"/>
          <p:cNvSpPr/>
          <p:nvPr/>
        </p:nvSpPr>
        <p:spPr>
          <a:xfrm>
            <a:off x="12618720" y="1527048"/>
            <a:ext cx="1645920" cy="292608"/>
          </a:xfrm>
          <a:prstGeom prst="rect">
            <a:avLst/>
          </a:prstGeom>
          <a:noFill/>
          <a:ln/>
        </p:spPr>
        <p:txBody>
          <a:bodyPr wrap="square" rtlCol="0" anchor="ctr"/>
          <a:lstStyle/>
          <a:p>
            <a:pPr algn="ctr" indent="0" marL="0">
              <a:buNone/>
            </a:pPr>
            <a:r>
              <a:rPr lang="en-US" sz="900" dirty="0">
                <a:solidFill>
                  <a:srgbClr val="2980B9"/>
                </a:solidFill>
                <a:latin typeface="Hiragino Sans W6" pitchFamily="34" charset="0"/>
                <a:ea typeface="Hiragino Sans W6" pitchFamily="34" charset="-122"/>
                <a:cs typeface="Hiragino Sans W6" pitchFamily="34" charset="-120"/>
              </a:rPr>
              <a:t>審査軸：技術性</a:t>
            </a:r>
            <a:endParaRPr lang="en-US" sz="900" dirty="0"/>
          </a:p>
        </p:txBody>
      </p:sp>
      <p:sp>
        <p:nvSpPr>
          <p:cNvPr id="9" name="Shape 7"/>
          <p:cNvSpPr/>
          <p:nvPr/>
        </p:nvSpPr>
        <p:spPr>
          <a:xfrm>
            <a:off x="548640" y="2148840"/>
            <a:ext cx="109728" cy="1600200"/>
          </a:xfrm>
          <a:prstGeom prst="rect">
            <a:avLst/>
          </a:prstGeom>
          <a:solidFill>
            <a:srgbClr val="C0392B"/>
          </a:solidFill>
          <a:ln/>
        </p:spPr>
      </p:sp>
      <p:sp>
        <p:nvSpPr>
          <p:cNvPr id="10" name="Shape 8"/>
          <p:cNvSpPr/>
          <p:nvPr/>
        </p:nvSpPr>
        <p:spPr>
          <a:xfrm>
            <a:off x="777240" y="2148840"/>
            <a:ext cx="13304520" cy="1600200"/>
          </a:xfrm>
          <a:prstGeom prst="roundRect">
            <a:avLst>
              <a:gd name="adj" fmla="val 4571"/>
            </a:avLst>
          </a:prstGeom>
          <a:solidFill>
            <a:srgbClr val="FFFFFF"/>
          </a:solidFill>
          <a:ln w="12700">
            <a:solidFill>
              <a:srgbClr val="DCE1E8"/>
            </a:solidFill>
            <a:prstDash val="solid"/>
          </a:ln>
        </p:spPr>
      </p:sp>
      <p:sp>
        <p:nvSpPr>
          <p:cNvPr id="11" name="Text 9"/>
          <p:cNvSpPr/>
          <p:nvPr/>
        </p:nvSpPr>
        <p:spPr>
          <a:xfrm>
            <a:off x="1005840" y="2194560"/>
            <a:ext cx="3200400" cy="365760"/>
          </a:xfrm>
          <a:prstGeom prst="rect">
            <a:avLst/>
          </a:prstGeom>
          <a:noFill/>
          <a:ln/>
        </p:spPr>
        <p:txBody>
          <a:bodyPr wrap="square" rtlCol="0" anchor="ctr"/>
          <a:lstStyle/>
          <a:p>
            <a:pPr indent="0" marL="0">
              <a:buNone/>
            </a:pPr>
            <a:r>
              <a:rPr lang="en-US" sz="1400" dirty="0">
                <a:solidFill>
                  <a:srgbClr val="C0392B"/>
                </a:solidFill>
                <a:latin typeface="Hiragino Sans W6" pitchFamily="34" charset="0"/>
                <a:ea typeface="Hiragino Sans W6" pitchFamily="34" charset="-122"/>
                <a:cs typeface="Hiragino Sans W6" pitchFamily="34" charset="-120"/>
              </a:rPr>
              <a:t>特許1：AI虐待予防</a:t>
            </a:r>
            <a:endParaRPr lang="en-US" sz="1400" dirty="0"/>
          </a:p>
        </p:txBody>
      </p:sp>
      <p:sp>
        <p:nvSpPr>
          <p:cNvPr id="12" name="Text 10"/>
          <p:cNvSpPr/>
          <p:nvPr/>
        </p:nvSpPr>
        <p:spPr>
          <a:xfrm>
            <a:off x="1005840" y="2560320"/>
            <a:ext cx="3200400" cy="274320"/>
          </a:xfrm>
          <a:prstGeom prst="rect">
            <a:avLst/>
          </a:prstGeom>
          <a:noFill/>
          <a:ln/>
        </p:spPr>
        <p:txBody>
          <a:bodyPr wrap="square" rtlCol="0" anchor="ctr"/>
          <a:lstStyle/>
          <a:p>
            <a:pPr indent="0" marL="0">
              <a:buNone/>
            </a:pPr>
            <a:r>
              <a:rPr lang="en-US" sz="1000" dirty="0">
                <a:solidFill>
                  <a:srgbClr val="7F8C8D"/>
                </a:solidFill>
                <a:latin typeface="Hiragino Sans W6" pitchFamily="34" charset="0"/>
                <a:ea typeface="Hiragino Sans W6" pitchFamily="34" charset="-122"/>
                <a:cs typeface="Hiragino Sans W6" pitchFamily="34" charset="-120"/>
              </a:rPr>
              <a:t>最近接技術：</a:t>
            </a:r>
            <a:pPr indent="0" marL="0">
              <a:buNone/>
            </a:pPr>
            <a:r>
              <a:rPr lang="en-US" sz="1000" dirty="0">
                <a:solidFill>
                  <a:srgbClr val="2C3E50"/>
                </a:solidFill>
                <a:latin typeface="Hiragino Sans W3" pitchFamily="34" charset="0"/>
                <a:ea typeface="Hiragino Sans W3" pitchFamily="34" charset="-122"/>
                <a:cs typeface="Hiragino Sans W3" pitchFamily="34" charset="-120"/>
              </a:rPr>
              <a:t>産総研 AiCAN</a:t>
            </a:r>
            <a:endParaRPr lang="en-US" sz="1000" dirty="0"/>
          </a:p>
        </p:txBody>
      </p:sp>
      <p:sp>
        <p:nvSpPr>
          <p:cNvPr id="13" name="Text 11"/>
          <p:cNvSpPr/>
          <p:nvPr/>
        </p:nvSpPr>
        <p:spPr>
          <a:xfrm>
            <a:off x="4572000" y="2194560"/>
            <a:ext cx="731520" cy="320040"/>
          </a:xfrm>
          <a:prstGeom prst="rect">
            <a:avLst/>
          </a:prstGeom>
          <a:noFill/>
          <a:ln/>
        </p:spPr>
        <p:txBody>
          <a:bodyPr wrap="square" rtlCol="0" anchor="ctr"/>
          <a:lstStyle/>
          <a:p>
            <a:pPr indent="0" marL="0">
              <a:buNone/>
            </a:pPr>
            <a:r>
              <a:rPr lang="en-US" sz="1000" dirty="0">
                <a:solidFill>
                  <a:srgbClr val="7F8C8D"/>
                </a:solidFill>
                <a:latin typeface="Hiragino Sans W6" pitchFamily="34" charset="0"/>
                <a:ea typeface="Hiragino Sans W6" pitchFamily="34" charset="-122"/>
                <a:cs typeface="Hiragino Sans W6" pitchFamily="34" charset="-120"/>
              </a:rPr>
              <a:t>差異</a:t>
            </a:r>
            <a:endParaRPr lang="en-US" sz="1000" dirty="0"/>
          </a:p>
        </p:txBody>
      </p:sp>
      <p:sp>
        <p:nvSpPr>
          <p:cNvPr id="14" name="Text 12"/>
          <p:cNvSpPr/>
          <p:nvPr/>
        </p:nvSpPr>
        <p:spPr>
          <a:xfrm>
            <a:off x="4572000" y="2514600"/>
            <a:ext cx="5486400" cy="1005840"/>
          </a:xfrm>
          <a:prstGeom prst="rect">
            <a:avLst/>
          </a:prstGeom>
          <a:noFill/>
          <a:ln/>
        </p:spPr>
        <p:txBody>
          <a:bodyPr wrap="square" rtlCol="0" anchor="ctr"/>
          <a:lstStyle/>
          <a:p>
            <a:pPr indent="0" marL="0">
              <a:lnSpc>
                <a:spcPct val="130000"/>
              </a:lnSpc>
              <a:buNone/>
            </a:pPr>
            <a:r>
              <a:rPr lang="en-US" sz="1100" dirty="0">
                <a:solidFill>
                  <a:srgbClr val="2C3E50"/>
                </a:solidFill>
                <a:latin typeface="Hiragino Sans W3" pitchFamily="34" charset="0"/>
                <a:ea typeface="Hiragino Sans W3" pitchFamily="34" charset="-122"/>
                <a:cs typeface="Hiragino Sans W3" pitchFamily="34" charset="-120"/>
              </a:rPr>
              <a:t>児童相談所の通告データ（事後）vs</a:t>
            </a:r>
            <a:endParaRPr lang="en-US" sz="1100" dirty="0"/>
          </a:p>
          <a:p>
            <a:pPr indent="0" marL="0">
              <a:lnSpc>
                <a:spcPct val="130000"/>
              </a:lnSpc>
              <a:buNone/>
            </a:pPr>
            <a:r>
              <a:rPr lang="en-US" sz="1100" dirty="0">
                <a:solidFill>
                  <a:srgbClr val="2C3E50"/>
                </a:solidFill>
                <a:latin typeface="Hiragino Sans W3" pitchFamily="34" charset="0"/>
                <a:ea typeface="Hiragino Sans W3" pitchFamily="34" charset="-122"/>
                <a:cs typeface="Hiragino Sans W3" pitchFamily="34" charset="-120"/>
              </a:rPr>
              <a:t>施設内支援記録のNLP分析（予防）</a:t>
            </a:r>
            <a:endParaRPr lang="en-US" sz="1100" dirty="0"/>
          </a:p>
        </p:txBody>
      </p:sp>
      <p:sp>
        <p:nvSpPr>
          <p:cNvPr id="15" name="Text 13"/>
          <p:cNvSpPr/>
          <p:nvPr/>
        </p:nvSpPr>
        <p:spPr>
          <a:xfrm>
            <a:off x="10515600" y="2194560"/>
            <a:ext cx="1371600" cy="320040"/>
          </a:xfrm>
          <a:prstGeom prst="rect">
            <a:avLst/>
          </a:prstGeom>
          <a:noFill/>
          <a:ln/>
        </p:spPr>
        <p:txBody>
          <a:bodyPr wrap="square" rtlCol="0" anchor="ctr"/>
          <a:lstStyle/>
          <a:p>
            <a:pPr indent="0" marL="0">
              <a:buNone/>
            </a:pPr>
            <a:r>
              <a:rPr lang="en-US" sz="1000" dirty="0">
                <a:solidFill>
                  <a:srgbClr val="7F8C8D"/>
                </a:solidFill>
                <a:latin typeface="Hiragino Sans W6" pitchFamily="34" charset="0"/>
                <a:ea typeface="Hiragino Sans W6" pitchFamily="34" charset="-122"/>
                <a:cs typeface="Hiragino Sans W6" pitchFamily="34" charset="-120"/>
              </a:rPr>
              <a:t>新規性</a:t>
            </a:r>
            <a:endParaRPr lang="en-US" sz="1000" dirty="0"/>
          </a:p>
        </p:txBody>
      </p:sp>
      <p:sp>
        <p:nvSpPr>
          <p:cNvPr id="16" name="Shape 14"/>
          <p:cNvSpPr/>
          <p:nvPr/>
        </p:nvSpPr>
        <p:spPr>
          <a:xfrm>
            <a:off x="10515600" y="2606040"/>
            <a:ext cx="3200400" cy="640080"/>
          </a:xfrm>
          <a:prstGeom prst="roundRect">
            <a:avLst>
              <a:gd name="adj" fmla="val 7143"/>
            </a:avLst>
          </a:prstGeom>
          <a:solidFill>
            <a:srgbClr val="C0392B"/>
          </a:solidFill>
          <a:ln/>
        </p:spPr>
      </p:sp>
      <p:sp>
        <p:nvSpPr>
          <p:cNvPr id="17" name="Text 15"/>
          <p:cNvSpPr/>
          <p:nvPr/>
        </p:nvSpPr>
        <p:spPr>
          <a:xfrm>
            <a:off x="10515600" y="2606040"/>
            <a:ext cx="3200400" cy="640080"/>
          </a:xfrm>
          <a:prstGeom prst="rect">
            <a:avLst/>
          </a:prstGeom>
          <a:noFill/>
          <a:ln/>
        </p:spPr>
        <p:txBody>
          <a:bodyPr wrap="square" rtlCol="0" anchor="ctr"/>
          <a:lstStyle/>
          <a:p>
            <a:pPr algn="ctr" indent="0" marL="0">
              <a:buNone/>
            </a:pPr>
            <a:r>
              <a:rPr lang="en-US" sz="1600" dirty="0">
                <a:solidFill>
                  <a:srgbClr val="FFFFFF"/>
                </a:solidFill>
                <a:latin typeface="Hiragino Sans W6" pitchFamily="34" charset="0"/>
                <a:ea typeface="Hiragino Sans W6" pitchFamily="34" charset="-122"/>
                <a:cs typeface="Hiragino Sans W6" pitchFamily="34" charset="-120"/>
              </a:rPr>
              <a:t>高い</a:t>
            </a:r>
            <a:endParaRPr lang="en-US" sz="1600" dirty="0"/>
          </a:p>
        </p:txBody>
      </p:sp>
      <p:sp>
        <p:nvSpPr>
          <p:cNvPr id="18" name="Shape 16"/>
          <p:cNvSpPr/>
          <p:nvPr/>
        </p:nvSpPr>
        <p:spPr>
          <a:xfrm>
            <a:off x="548640" y="3977640"/>
            <a:ext cx="109728" cy="1600200"/>
          </a:xfrm>
          <a:prstGeom prst="rect">
            <a:avLst/>
          </a:prstGeom>
          <a:solidFill>
            <a:srgbClr val="27AE60"/>
          </a:solidFill>
          <a:ln/>
        </p:spPr>
      </p:sp>
      <p:sp>
        <p:nvSpPr>
          <p:cNvPr id="19" name="Shape 17"/>
          <p:cNvSpPr/>
          <p:nvPr/>
        </p:nvSpPr>
        <p:spPr>
          <a:xfrm>
            <a:off x="777240" y="3977640"/>
            <a:ext cx="13304520" cy="1600200"/>
          </a:xfrm>
          <a:prstGeom prst="roundRect">
            <a:avLst>
              <a:gd name="adj" fmla="val 4571"/>
            </a:avLst>
          </a:prstGeom>
          <a:solidFill>
            <a:srgbClr val="FFFFFF"/>
          </a:solidFill>
          <a:ln w="12700">
            <a:solidFill>
              <a:srgbClr val="DCE1E8"/>
            </a:solidFill>
            <a:prstDash val="solid"/>
          </a:ln>
        </p:spPr>
      </p:sp>
      <p:sp>
        <p:nvSpPr>
          <p:cNvPr id="20" name="Text 18"/>
          <p:cNvSpPr/>
          <p:nvPr/>
        </p:nvSpPr>
        <p:spPr>
          <a:xfrm>
            <a:off x="1005840" y="4023360"/>
            <a:ext cx="3200400" cy="365760"/>
          </a:xfrm>
          <a:prstGeom prst="rect">
            <a:avLst/>
          </a:prstGeom>
          <a:noFill/>
          <a:ln/>
        </p:spPr>
        <p:txBody>
          <a:bodyPr wrap="square" rtlCol="0" anchor="ctr"/>
          <a:lstStyle/>
          <a:p>
            <a:pPr indent="0" marL="0">
              <a:buNone/>
            </a:pPr>
            <a:r>
              <a:rPr lang="en-US" sz="1400" dirty="0">
                <a:solidFill>
                  <a:srgbClr val="27AE60"/>
                </a:solidFill>
                <a:latin typeface="Hiragino Sans W6" pitchFamily="34" charset="0"/>
                <a:ea typeface="Hiragino Sans W6" pitchFamily="34" charset="-122"/>
                <a:cs typeface="Hiragino Sans W6" pitchFamily="34" charset="-120"/>
              </a:rPr>
              <a:t>特許2：情報開示×課金</a:t>
            </a:r>
            <a:endParaRPr lang="en-US" sz="1400" dirty="0"/>
          </a:p>
        </p:txBody>
      </p:sp>
      <p:sp>
        <p:nvSpPr>
          <p:cNvPr id="21" name="Text 19"/>
          <p:cNvSpPr/>
          <p:nvPr/>
        </p:nvSpPr>
        <p:spPr>
          <a:xfrm>
            <a:off x="1005840" y="4389120"/>
            <a:ext cx="3200400" cy="274320"/>
          </a:xfrm>
          <a:prstGeom prst="rect">
            <a:avLst/>
          </a:prstGeom>
          <a:noFill/>
          <a:ln/>
        </p:spPr>
        <p:txBody>
          <a:bodyPr wrap="square" rtlCol="0" anchor="ctr"/>
          <a:lstStyle/>
          <a:p>
            <a:pPr indent="0" marL="0">
              <a:buNone/>
            </a:pPr>
            <a:r>
              <a:rPr lang="en-US" sz="1000" dirty="0">
                <a:solidFill>
                  <a:srgbClr val="7F8C8D"/>
                </a:solidFill>
                <a:latin typeface="Hiragino Sans W6" pitchFamily="34" charset="0"/>
                <a:ea typeface="Hiragino Sans W6" pitchFamily="34" charset="-122"/>
                <a:cs typeface="Hiragino Sans W6" pitchFamily="34" charset="-120"/>
              </a:rPr>
              <a:t>最近接技術：</a:t>
            </a:r>
            <a:pPr indent="0" marL="0">
              <a:buNone/>
            </a:pPr>
            <a:r>
              <a:rPr lang="en-US" sz="1000" dirty="0">
                <a:solidFill>
                  <a:srgbClr val="2C3E50"/>
                </a:solidFill>
                <a:latin typeface="Hiragino Sans W3" pitchFamily="34" charset="0"/>
                <a:ea typeface="Hiragino Sans W3" pitchFamily="34" charset="-122"/>
                <a:cs typeface="Hiragino Sans W3" pitchFamily="34" charset="-120"/>
              </a:rPr>
              <a:t>（該当なし）</a:t>
            </a:r>
            <a:endParaRPr lang="en-US" sz="1000" dirty="0"/>
          </a:p>
        </p:txBody>
      </p:sp>
      <p:sp>
        <p:nvSpPr>
          <p:cNvPr id="22" name="Text 20"/>
          <p:cNvSpPr/>
          <p:nvPr/>
        </p:nvSpPr>
        <p:spPr>
          <a:xfrm>
            <a:off x="4572000" y="4023360"/>
            <a:ext cx="731520" cy="320040"/>
          </a:xfrm>
          <a:prstGeom prst="rect">
            <a:avLst/>
          </a:prstGeom>
          <a:noFill/>
          <a:ln/>
        </p:spPr>
        <p:txBody>
          <a:bodyPr wrap="square" rtlCol="0" anchor="ctr"/>
          <a:lstStyle/>
          <a:p>
            <a:pPr indent="0" marL="0">
              <a:buNone/>
            </a:pPr>
            <a:r>
              <a:rPr lang="en-US" sz="1000" dirty="0">
                <a:solidFill>
                  <a:srgbClr val="7F8C8D"/>
                </a:solidFill>
                <a:latin typeface="Hiragino Sans W6" pitchFamily="34" charset="0"/>
                <a:ea typeface="Hiragino Sans W6" pitchFamily="34" charset="-122"/>
                <a:cs typeface="Hiragino Sans W6" pitchFamily="34" charset="-120"/>
              </a:rPr>
              <a:t>差異</a:t>
            </a:r>
            <a:endParaRPr lang="en-US" sz="1000" dirty="0"/>
          </a:p>
        </p:txBody>
      </p:sp>
      <p:sp>
        <p:nvSpPr>
          <p:cNvPr id="23" name="Text 21"/>
          <p:cNvSpPr/>
          <p:nvPr/>
        </p:nvSpPr>
        <p:spPr>
          <a:xfrm>
            <a:off x="4572000" y="4343400"/>
            <a:ext cx="5486400" cy="1005840"/>
          </a:xfrm>
          <a:prstGeom prst="rect">
            <a:avLst/>
          </a:prstGeom>
          <a:noFill/>
          <a:ln/>
        </p:spPr>
        <p:txBody>
          <a:bodyPr wrap="square" rtlCol="0" anchor="ctr"/>
          <a:lstStyle/>
          <a:p>
            <a:pPr indent="0" marL="0">
              <a:lnSpc>
                <a:spcPct val="130000"/>
              </a:lnSpc>
              <a:buNone/>
            </a:pPr>
            <a:r>
              <a:rPr lang="en-US" sz="1100" dirty="0">
                <a:solidFill>
                  <a:srgbClr val="2C3E50"/>
                </a:solidFill>
                <a:latin typeface="Hiragino Sans W3" pitchFamily="34" charset="0"/>
                <a:ea typeface="Hiragino Sans W3" pitchFamily="34" charset="-122"/>
                <a:cs typeface="Hiragino Sans W3" pitchFamily="34" charset="-120"/>
              </a:rPr>
              <a:t>情報開示レベルと課金を直接連動</a:t>
            </a:r>
            <a:endParaRPr lang="en-US" sz="1100" dirty="0"/>
          </a:p>
          <a:p>
            <a:pPr indent="0" marL="0">
              <a:lnSpc>
                <a:spcPct val="130000"/>
              </a:lnSpc>
              <a:buNone/>
            </a:pPr>
            <a:r>
              <a:rPr lang="en-US" sz="1100" dirty="0">
                <a:solidFill>
                  <a:srgbClr val="2C3E50"/>
                </a:solidFill>
                <a:latin typeface="Hiragino Sans W3" pitchFamily="34" charset="0"/>
                <a:ea typeface="Hiragino Sans W3" pitchFamily="34" charset="-122"/>
                <a:cs typeface="Hiragino Sans W3" pitchFamily="34" charset="-120"/>
              </a:rPr>
              <a:t>させるモデルは先行特許なし</a:t>
            </a:r>
            <a:endParaRPr lang="en-US" sz="1100" dirty="0"/>
          </a:p>
        </p:txBody>
      </p:sp>
      <p:sp>
        <p:nvSpPr>
          <p:cNvPr id="24" name="Text 22"/>
          <p:cNvSpPr/>
          <p:nvPr/>
        </p:nvSpPr>
        <p:spPr>
          <a:xfrm>
            <a:off x="10515600" y="4023360"/>
            <a:ext cx="1371600" cy="320040"/>
          </a:xfrm>
          <a:prstGeom prst="rect">
            <a:avLst/>
          </a:prstGeom>
          <a:noFill/>
          <a:ln/>
        </p:spPr>
        <p:txBody>
          <a:bodyPr wrap="square" rtlCol="0" anchor="ctr"/>
          <a:lstStyle/>
          <a:p>
            <a:pPr indent="0" marL="0">
              <a:buNone/>
            </a:pPr>
            <a:r>
              <a:rPr lang="en-US" sz="1000" dirty="0">
                <a:solidFill>
                  <a:srgbClr val="7F8C8D"/>
                </a:solidFill>
                <a:latin typeface="Hiragino Sans W6" pitchFamily="34" charset="0"/>
                <a:ea typeface="Hiragino Sans W6" pitchFamily="34" charset="-122"/>
                <a:cs typeface="Hiragino Sans W6" pitchFamily="34" charset="-120"/>
              </a:rPr>
              <a:t>新規性</a:t>
            </a:r>
            <a:endParaRPr lang="en-US" sz="1000" dirty="0"/>
          </a:p>
        </p:txBody>
      </p:sp>
      <p:sp>
        <p:nvSpPr>
          <p:cNvPr id="25" name="Shape 23"/>
          <p:cNvSpPr/>
          <p:nvPr/>
        </p:nvSpPr>
        <p:spPr>
          <a:xfrm>
            <a:off x="10515600" y="4434840"/>
            <a:ext cx="3200400" cy="640080"/>
          </a:xfrm>
          <a:prstGeom prst="roundRect">
            <a:avLst>
              <a:gd name="adj" fmla="val 7143"/>
            </a:avLst>
          </a:prstGeom>
          <a:solidFill>
            <a:srgbClr val="27AE60"/>
          </a:solidFill>
          <a:ln/>
        </p:spPr>
      </p:sp>
      <p:sp>
        <p:nvSpPr>
          <p:cNvPr id="26" name="Text 24"/>
          <p:cNvSpPr/>
          <p:nvPr/>
        </p:nvSpPr>
        <p:spPr>
          <a:xfrm>
            <a:off x="10515600" y="4434840"/>
            <a:ext cx="3200400" cy="640080"/>
          </a:xfrm>
          <a:prstGeom prst="rect">
            <a:avLst/>
          </a:prstGeom>
          <a:noFill/>
          <a:ln/>
        </p:spPr>
        <p:txBody>
          <a:bodyPr wrap="square" rtlCol="0" anchor="ctr"/>
          <a:lstStyle/>
          <a:p>
            <a:pPr algn="ctr" indent="0" marL="0">
              <a:buNone/>
            </a:pPr>
            <a:r>
              <a:rPr lang="en-US" sz="1600" dirty="0">
                <a:solidFill>
                  <a:srgbClr val="FFFFFF"/>
                </a:solidFill>
                <a:latin typeface="Hiragino Sans W6" pitchFamily="34" charset="0"/>
                <a:ea typeface="Hiragino Sans W6" pitchFamily="34" charset="-122"/>
                <a:cs typeface="Hiragino Sans W6" pitchFamily="34" charset="-120"/>
              </a:rPr>
              <a:t>極めて高い</a:t>
            </a:r>
            <a:endParaRPr lang="en-US" sz="1600" dirty="0"/>
          </a:p>
        </p:txBody>
      </p:sp>
      <p:sp>
        <p:nvSpPr>
          <p:cNvPr id="27" name="Shape 25"/>
          <p:cNvSpPr/>
          <p:nvPr/>
        </p:nvSpPr>
        <p:spPr>
          <a:xfrm>
            <a:off x="548640" y="5806440"/>
            <a:ext cx="109728" cy="1600200"/>
          </a:xfrm>
          <a:prstGeom prst="rect">
            <a:avLst/>
          </a:prstGeom>
          <a:solidFill>
            <a:srgbClr val="4A90D9"/>
          </a:solidFill>
          <a:ln/>
        </p:spPr>
      </p:sp>
      <p:sp>
        <p:nvSpPr>
          <p:cNvPr id="28" name="Shape 26"/>
          <p:cNvSpPr/>
          <p:nvPr/>
        </p:nvSpPr>
        <p:spPr>
          <a:xfrm>
            <a:off x="777240" y="5806440"/>
            <a:ext cx="13304520" cy="1600200"/>
          </a:xfrm>
          <a:prstGeom prst="roundRect">
            <a:avLst>
              <a:gd name="adj" fmla="val 4571"/>
            </a:avLst>
          </a:prstGeom>
          <a:solidFill>
            <a:srgbClr val="FFFFFF"/>
          </a:solidFill>
          <a:ln w="12700">
            <a:solidFill>
              <a:srgbClr val="DCE1E8"/>
            </a:solidFill>
            <a:prstDash val="solid"/>
          </a:ln>
        </p:spPr>
      </p:sp>
      <p:sp>
        <p:nvSpPr>
          <p:cNvPr id="29" name="Text 27"/>
          <p:cNvSpPr/>
          <p:nvPr/>
        </p:nvSpPr>
        <p:spPr>
          <a:xfrm>
            <a:off x="1005840" y="5852160"/>
            <a:ext cx="3200400" cy="365760"/>
          </a:xfrm>
          <a:prstGeom prst="rect">
            <a:avLst/>
          </a:prstGeom>
          <a:noFill/>
          <a:ln/>
        </p:spPr>
        <p:txBody>
          <a:bodyPr wrap="square" rtlCol="0" anchor="ctr"/>
          <a:lstStyle/>
          <a:p>
            <a:pPr indent="0" marL="0">
              <a:buNone/>
            </a:pPr>
            <a:r>
              <a:rPr lang="en-US" sz="1400" dirty="0">
                <a:solidFill>
                  <a:srgbClr val="4A90D9"/>
                </a:solidFill>
                <a:latin typeface="Hiragino Sans W6" pitchFamily="34" charset="0"/>
                <a:ea typeface="Hiragino Sans W6" pitchFamily="34" charset="-122"/>
                <a:cs typeface="Hiragino Sans W6" pitchFamily="34" charset="-120"/>
              </a:rPr>
              <a:t>特許3：OCR→UI生成</a:t>
            </a:r>
            <a:endParaRPr lang="en-US" sz="1400" dirty="0"/>
          </a:p>
        </p:txBody>
      </p:sp>
      <p:sp>
        <p:nvSpPr>
          <p:cNvPr id="30" name="Text 28"/>
          <p:cNvSpPr/>
          <p:nvPr/>
        </p:nvSpPr>
        <p:spPr>
          <a:xfrm>
            <a:off x="1005840" y="6217920"/>
            <a:ext cx="3200400" cy="274320"/>
          </a:xfrm>
          <a:prstGeom prst="rect">
            <a:avLst/>
          </a:prstGeom>
          <a:noFill/>
          <a:ln/>
        </p:spPr>
        <p:txBody>
          <a:bodyPr wrap="square" rtlCol="0" anchor="ctr"/>
          <a:lstStyle/>
          <a:p>
            <a:pPr indent="0" marL="0">
              <a:buNone/>
            </a:pPr>
            <a:r>
              <a:rPr lang="en-US" sz="1000" dirty="0">
                <a:solidFill>
                  <a:srgbClr val="7F8C8D"/>
                </a:solidFill>
                <a:latin typeface="Hiragino Sans W6" pitchFamily="34" charset="0"/>
                <a:ea typeface="Hiragino Sans W6" pitchFamily="34" charset="-122"/>
                <a:cs typeface="Hiragino Sans W6" pitchFamily="34" charset="-120"/>
              </a:rPr>
              <a:t>最近接技術：</a:t>
            </a:r>
            <a:pPr indent="0" marL="0">
              <a:buNone/>
            </a:pPr>
            <a:r>
              <a:rPr lang="en-US" sz="1000" dirty="0">
                <a:solidFill>
                  <a:srgbClr val="2C3E50"/>
                </a:solidFill>
                <a:latin typeface="Hiragino Sans W3" pitchFamily="34" charset="0"/>
                <a:ea typeface="Hiragino Sans W3" pitchFamily="34" charset="-122"/>
                <a:cs typeface="Hiragino Sans W3" pitchFamily="34" charset="-120"/>
              </a:rPr>
              <a:t>DrChrono（US10437961B2）</a:t>
            </a:r>
            <a:endParaRPr lang="en-US" sz="1000" dirty="0"/>
          </a:p>
        </p:txBody>
      </p:sp>
      <p:sp>
        <p:nvSpPr>
          <p:cNvPr id="31" name="Text 29"/>
          <p:cNvSpPr/>
          <p:nvPr/>
        </p:nvSpPr>
        <p:spPr>
          <a:xfrm>
            <a:off x="4572000" y="5852160"/>
            <a:ext cx="731520" cy="320040"/>
          </a:xfrm>
          <a:prstGeom prst="rect">
            <a:avLst/>
          </a:prstGeom>
          <a:noFill/>
          <a:ln/>
        </p:spPr>
        <p:txBody>
          <a:bodyPr wrap="square" rtlCol="0" anchor="ctr"/>
          <a:lstStyle/>
          <a:p>
            <a:pPr indent="0" marL="0">
              <a:buNone/>
            </a:pPr>
            <a:r>
              <a:rPr lang="en-US" sz="1000" dirty="0">
                <a:solidFill>
                  <a:srgbClr val="7F8C8D"/>
                </a:solidFill>
                <a:latin typeface="Hiragino Sans W6" pitchFamily="34" charset="0"/>
                <a:ea typeface="Hiragino Sans W6" pitchFamily="34" charset="-122"/>
                <a:cs typeface="Hiragino Sans W6" pitchFamily="34" charset="-120"/>
              </a:rPr>
              <a:t>差異</a:t>
            </a:r>
            <a:endParaRPr lang="en-US" sz="1000" dirty="0"/>
          </a:p>
        </p:txBody>
      </p:sp>
      <p:sp>
        <p:nvSpPr>
          <p:cNvPr id="32" name="Text 30"/>
          <p:cNvSpPr/>
          <p:nvPr/>
        </p:nvSpPr>
        <p:spPr>
          <a:xfrm>
            <a:off x="4572000" y="6172200"/>
            <a:ext cx="5486400" cy="1005840"/>
          </a:xfrm>
          <a:prstGeom prst="rect">
            <a:avLst/>
          </a:prstGeom>
          <a:noFill/>
          <a:ln/>
        </p:spPr>
        <p:txBody>
          <a:bodyPr wrap="square" rtlCol="0" anchor="ctr"/>
          <a:lstStyle/>
          <a:p>
            <a:pPr indent="0" marL="0">
              <a:lnSpc>
                <a:spcPct val="130000"/>
              </a:lnSpc>
              <a:buNone/>
            </a:pPr>
            <a:r>
              <a:rPr lang="en-US" sz="1100" dirty="0">
                <a:solidFill>
                  <a:srgbClr val="2C3E50"/>
                </a:solidFill>
                <a:latin typeface="Hiragino Sans W3" pitchFamily="34" charset="0"/>
                <a:ea typeface="Hiragino Sans W3" pitchFamily="34" charset="-122"/>
                <a:cs typeface="Hiragino Sans W3" pitchFamily="34" charset="-120"/>
              </a:rPr>
              <a:t>ドラッグ&amp;ドロップ式フォームビルダー</a:t>
            </a:r>
            <a:endParaRPr lang="en-US" sz="1100" dirty="0"/>
          </a:p>
          <a:p>
            <a:pPr indent="0" marL="0">
              <a:lnSpc>
                <a:spcPct val="130000"/>
              </a:lnSpc>
              <a:buNone/>
            </a:pPr>
            <a:r>
              <a:rPr lang="en-US" sz="1100" dirty="0">
                <a:solidFill>
                  <a:srgbClr val="2C3E50"/>
                </a:solidFill>
                <a:latin typeface="Hiragino Sans W3" pitchFamily="34" charset="0"/>
                <a:ea typeface="Hiragino Sans W3" pitchFamily="34" charset="-122"/>
                <a:cs typeface="Hiragino Sans W3" pitchFamily="34" charset="-120"/>
              </a:rPr>
              <a:t>vs OCR→形態素解析の自動生成</a:t>
            </a:r>
            <a:endParaRPr lang="en-US" sz="1100" dirty="0"/>
          </a:p>
        </p:txBody>
      </p:sp>
      <p:sp>
        <p:nvSpPr>
          <p:cNvPr id="33" name="Text 31"/>
          <p:cNvSpPr/>
          <p:nvPr/>
        </p:nvSpPr>
        <p:spPr>
          <a:xfrm>
            <a:off x="10515600" y="5852160"/>
            <a:ext cx="1371600" cy="320040"/>
          </a:xfrm>
          <a:prstGeom prst="rect">
            <a:avLst/>
          </a:prstGeom>
          <a:noFill/>
          <a:ln/>
        </p:spPr>
        <p:txBody>
          <a:bodyPr wrap="square" rtlCol="0" anchor="ctr"/>
          <a:lstStyle/>
          <a:p>
            <a:pPr indent="0" marL="0">
              <a:buNone/>
            </a:pPr>
            <a:r>
              <a:rPr lang="en-US" sz="1000" dirty="0">
                <a:solidFill>
                  <a:srgbClr val="7F8C8D"/>
                </a:solidFill>
                <a:latin typeface="Hiragino Sans W6" pitchFamily="34" charset="0"/>
                <a:ea typeface="Hiragino Sans W6" pitchFamily="34" charset="-122"/>
                <a:cs typeface="Hiragino Sans W6" pitchFamily="34" charset="-120"/>
              </a:rPr>
              <a:t>新規性</a:t>
            </a:r>
            <a:endParaRPr lang="en-US" sz="1000" dirty="0"/>
          </a:p>
        </p:txBody>
      </p:sp>
      <p:sp>
        <p:nvSpPr>
          <p:cNvPr id="34" name="Shape 32"/>
          <p:cNvSpPr/>
          <p:nvPr/>
        </p:nvSpPr>
        <p:spPr>
          <a:xfrm>
            <a:off x="10515600" y="6263640"/>
            <a:ext cx="3200400" cy="640080"/>
          </a:xfrm>
          <a:prstGeom prst="roundRect">
            <a:avLst>
              <a:gd name="adj" fmla="val 7143"/>
            </a:avLst>
          </a:prstGeom>
          <a:solidFill>
            <a:srgbClr val="4A90D9"/>
          </a:solidFill>
          <a:ln/>
        </p:spPr>
      </p:sp>
      <p:sp>
        <p:nvSpPr>
          <p:cNvPr id="35" name="Text 33"/>
          <p:cNvSpPr/>
          <p:nvPr/>
        </p:nvSpPr>
        <p:spPr>
          <a:xfrm>
            <a:off x="10515600" y="6263640"/>
            <a:ext cx="3200400" cy="640080"/>
          </a:xfrm>
          <a:prstGeom prst="rect">
            <a:avLst/>
          </a:prstGeom>
          <a:noFill/>
          <a:ln/>
        </p:spPr>
        <p:txBody>
          <a:bodyPr wrap="square" rtlCol="0" anchor="ctr"/>
          <a:lstStyle/>
          <a:p>
            <a:pPr algn="ctr" indent="0" marL="0">
              <a:buNone/>
            </a:pPr>
            <a:r>
              <a:rPr lang="en-US" sz="1600" dirty="0">
                <a:solidFill>
                  <a:srgbClr val="FFFFFF"/>
                </a:solidFill>
                <a:latin typeface="Hiragino Sans W6" pitchFamily="34" charset="0"/>
                <a:ea typeface="Hiragino Sans W6" pitchFamily="34" charset="-122"/>
                <a:cs typeface="Hiragino Sans W6" pitchFamily="34" charset="-120"/>
              </a:rPr>
              <a:t>高い</a:t>
            </a:r>
            <a:endParaRPr lang="en-US" sz="1600" dirty="0"/>
          </a:p>
        </p:txBody>
      </p:sp>
      <p:sp>
        <p:nvSpPr>
          <p:cNvPr id="36" name="Text 34"/>
          <p:cNvSpPr/>
          <p:nvPr/>
        </p:nvSpPr>
        <p:spPr>
          <a:xfrm>
            <a:off x="13258800" y="7818120"/>
            <a:ext cx="914400" cy="274320"/>
          </a:xfrm>
          <a:prstGeom prst="rect">
            <a:avLst/>
          </a:prstGeom>
          <a:noFill/>
          <a:ln/>
        </p:spPr>
        <p:txBody>
          <a:bodyPr wrap="square" rtlCol="0" anchor="ctr"/>
          <a:lstStyle/>
          <a:p>
            <a:pPr algn="r" indent="0" marL="0">
              <a:buNone/>
            </a:pPr>
            <a:r>
              <a:rPr lang="en-US" sz="800" dirty="0">
                <a:solidFill>
                  <a:srgbClr val="7F8C8D"/>
                </a:solidFill>
                <a:latin typeface="Hiragino Sans W3" pitchFamily="34" charset="0"/>
                <a:ea typeface="Hiragino Sans W3" pitchFamily="34" charset="-122"/>
                <a:cs typeface="Hiragino Sans W3" pitchFamily="34" charset="-120"/>
              </a:rPr>
              <a:t>6 / 15</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4630400" cy="1417320"/>
          </a:xfrm>
          <a:prstGeom prst="rect">
            <a:avLst/>
          </a:prstGeom>
          <a:solidFill>
            <a:srgbClr val="1A1A2E"/>
          </a:solidFill>
          <a:ln/>
        </p:spPr>
      </p:sp>
      <p:sp>
        <p:nvSpPr>
          <p:cNvPr id="3" name="Text 1"/>
          <p:cNvSpPr/>
          <p:nvPr/>
        </p:nvSpPr>
        <p:spPr>
          <a:xfrm>
            <a:off x="548640" y="182880"/>
            <a:ext cx="13533120" cy="594360"/>
          </a:xfrm>
          <a:prstGeom prst="rect">
            <a:avLst/>
          </a:prstGeom>
          <a:noFill/>
          <a:ln/>
        </p:spPr>
        <p:txBody>
          <a:bodyPr wrap="square" rtlCol="0" anchor="ctr"/>
          <a:lstStyle/>
          <a:p>
            <a:pPr indent="0" marL="0">
              <a:buNone/>
            </a:pPr>
            <a:r>
              <a:rPr lang="en-US" sz="2600" b="1" dirty="0">
                <a:solidFill>
                  <a:srgbClr val="FFFFFF"/>
                </a:solidFill>
                <a:latin typeface="Hiragino Sans W6" pitchFamily="34" charset="0"/>
                <a:ea typeface="Hiragino Sans W6" pitchFamily="34" charset="-122"/>
                <a:cs typeface="Hiragino Sans W6" pitchFamily="34" charset="-120"/>
              </a:rPr>
              <a:t>コアコンピタンス：自立支援マトリックス「わかるじゃん」</a:t>
            </a:r>
            <a:endParaRPr lang="en-US" sz="2600" dirty="0"/>
          </a:p>
        </p:txBody>
      </p:sp>
      <p:sp>
        <p:nvSpPr>
          <p:cNvPr id="4" name="Text 2"/>
          <p:cNvSpPr/>
          <p:nvPr/>
        </p:nvSpPr>
        <p:spPr>
          <a:xfrm>
            <a:off x="548640" y="822960"/>
            <a:ext cx="13533120" cy="411480"/>
          </a:xfrm>
          <a:prstGeom prst="rect">
            <a:avLst/>
          </a:prstGeom>
          <a:noFill/>
          <a:ln/>
        </p:spPr>
        <p:txBody>
          <a:bodyPr wrap="square" rtlCol="0" anchor="ctr"/>
          <a:lstStyle/>
          <a:p>
            <a:pPr indent="0" marL="0">
              <a:buNone/>
            </a:pPr>
            <a:r>
              <a:rPr lang="en-US" sz="1300" dirty="0">
                <a:solidFill>
                  <a:srgbClr val="B0BEC5"/>
                </a:solidFill>
                <a:latin typeface="Hiragino Sans W3" pitchFamily="34" charset="0"/>
                <a:ea typeface="Hiragino Sans W3" pitchFamily="34" charset="-122"/>
                <a:cs typeface="Hiragino Sans W3" pitchFamily="34" charset="-120"/>
              </a:rPr>
              <a:t>サンライズ独自の13段階×4層の支援プロセスフレームワーク — 全技術の基盤</a:t>
            </a:r>
            <a:endParaRPr lang="en-US" sz="1300" dirty="0"/>
          </a:p>
        </p:txBody>
      </p:sp>
      <p:sp>
        <p:nvSpPr>
          <p:cNvPr id="5" name="Shape 3"/>
          <p:cNvSpPr/>
          <p:nvPr/>
        </p:nvSpPr>
        <p:spPr>
          <a:xfrm>
            <a:off x="548640" y="1508760"/>
            <a:ext cx="13533120" cy="347472"/>
          </a:xfrm>
          <a:prstGeom prst="roundRect">
            <a:avLst>
              <a:gd name="adj" fmla="val 7895"/>
            </a:avLst>
          </a:prstGeom>
          <a:solidFill>
            <a:srgbClr val="4A90D9"/>
          </a:solidFill>
          <a:ln/>
        </p:spPr>
      </p:sp>
      <p:sp>
        <p:nvSpPr>
          <p:cNvPr id="6" name="Text 4"/>
          <p:cNvSpPr/>
          <p:nvPr/>
        </p:nvSpPr>
        <p:spPr>
          <a:xfrm>
            <a:off x="731520" y="1508760"/>
            <a:ext cx="13167360" cy="347472"/>
          </a:xfrm>
          <a:prstGeom prst="rect">
            <a:avLst/>
          </a:prstGeom>
          <a:noFill/>
          <a:ln/>
        </p:spPr>
        <p:txBody>
          <a:bodyPr wrap="square" rtlCol="0" anchor="ctr"/>
          <a:lstStyle/>
          <a:p>
            <a:pPr indent="0" marL="0">
              <a:buNone/>
            </a:pPr>
            <a:r>
              <a:rPr lang="en-US" sz="1100" dirty="0">
                <a:solidFill>
                  <a:srgbClr val="FFFFFF"/>
                </a:solidFill>
                <a:latin typeface="Hiragino Sans W6" pitchFamily="34" charset="0"/>
                <a:ea typeface="Hiragino Sans W6" pitchFamily="34" charset="-122"/>
                <a:cs typeface="Hiragino Sans W6" pitchFamily="34" charset="-120"/>
              </a:rPr>
              <a:t>補足：申請書「5. 自社が持つ強み」— 営業秘密として管理</a:t>
            </a:r>
            <a:endParaRPr lang="en-US" sz="1100" dirty="0"/>
          </a:p>
        </p:txBody>
      </p:sp>
      <p:sp>
        <p:nvSpPr>
          <p:cNvPr id="7" name="Shape 5"/>
          <p:cNvSpPr/>
          <p:nvPr/>
        </p:nvSpPr>
        <p:spPr>
          <a:xfrm>
            <a:off x="10972800" y="1527048"/>
            <a:ext cx="1645920" cy="292608"/>
          </a:xfrm>
          <a:prstGeom prst="roundRect">
            <a:avLst>
              <a:gd name="adj" fmla="val 12500"/>
            </a:avLst>
          </a:prstGeom>
          <a:solidFill>
            <a:srgbClr val="EBF5FB"/>
          </a:solidFill>
          <a:ln w="10160">
            <a:solidFill>
              <a:srgbClr val="2980B9"/>
            </a:solidFill>
            <a:prstDash val="solid"/>
          </a:ln>
        </p:spPr>
      </p:sp>
      <p:sp>
        <p:nvSpPr>
          <p:cNvPr id="8" name="Text 6"/>
          <p:cNvSpPr/>
          <p:nvPr/>
        </p:nvSpPr>
        <p:spPr>
          <a:xfrm>
            <a:off x="10972800" y="1527048"/>
            <a:ext cx="1645920" cy="292608"/>
          </a:xfrm>
          <a:prstGeom prst="rect">
            <a:avLst/>
          </a:prstGeom>
          <a:noFill/>
          <a:ln/>
        </p:spPr>
        <p:txBody>
          <a:bodyPr wrap="square" rtlCol="0" anchor="ctr"/>
          <a:lstStyle/>
          <a:p>
            <a:pPr algn="ctr" indent="0" marL="0">
              <a:buNone/>
            </a:pPr>
            <a:r>
              <a:rPr lang="en-US" sz="900" dirty="0">
                <a:solidFill>
                  <a:srgbClr val="2980B9"/>
                </a:solidFill>
                <a:latin typeface="Hiragino Sans W6" pitchFamily="34" charset="0"/>
                <a:ea typeface="Hiragino Sans W6" pitchFamily="34" charset="-122"/>
                <a:cs typeface="Hiragino Sans W6" pitchFamily="34" charset="-120"/>
              </a:rPr>
              <a:t>審査軸：技術性</a:t>
            </a:r>
            <a:endParaRPr lang="en-US" sz="900" dirty="0"/>
          </a:p>
        </p:txBody>
      </p:sp>
      <p:sp>
        <p:nvSpPr>
          <p:cNvPr id="9" name="Shape 7"/>
          <p:cNvSpPr/>
          <p:nvPr/>
        </p:nvSpPr>
        <p:spPr>
          <a:xfrm>
            <a:off x="12618720" y="1527048"/>
            <a:ext cx="1645920" cy="292608"/>
          </a:xfrm>
          <a:prstGeom prst="roundRect">
            <a:avLst>
              <a:gd name="adj" fmla="val 12500"/>
            </a:avLst>
          </a:prstGeom>
          <a:solidFill>
            <a:srgbClr val="E8FAF0"/>
          </a:solidFill>
          <a:ln w="10160">
            <a:solidFill>
              <a:srgbClr val="27AE60"/>
            </a:solidFill>
            <a:prstDash val="solid"/>
          </a:ln>
        </p:spPr>
      </p:sp>
      <p:sp>
        <p:nvSpPr>
          <p:cNvPr id="10" name="Text 8"/>
          <p:cNvSpPr/>
          <p:nvPr/>
        </p:nvSpPr>
        <p:spPr>
          <a:xfrm>
            <a:off x="12618720" y="1527048"/>
            <a:ext cx="1645920" cy="292608"/>
          </a:xfrm>
          <a:prstGeom prst="rect">
            <a:avLst/>
          </a:prstGeom>
          <a:noFill/>
          <a:ln/>
        </p:spPr>
        <p:txBody>
          <a:bodyPr wrap="square" rtlCol="0" anchor="ctr"/>
          <a:lstStyle/>
          <a:p>
            <a:pPr algn="ctr" indent="0" marL="0">
              <a:buNone/>
            </a:pPr>
            <a:r>
              <a:rPr lang="en-US" sz="900" dirty="0">
                <a:solidFill>
                  <a:srgbClr val="27AE60"/>
                </a:solidFill>
                <a:latin typeface="Hiragino Sans W6" pitchFamily="34" charset="0"/>
                <a:ea typeface="Hiragino Sans W6" pitchFamily="34" charset="-122"/>
                <a:cs typeface="Hiragino Sans W6" pitchFamily="34" charset="-120"/>
              </a:rPr>
              <a:t>審査軸：事業性</a:t>
            </a:r>
            <a:endParaRPr lang="en-US" sz="900" dirty="0"/>
          </a:p>
        </p:txBody>
      </p:sp>
      <p:sp>
        <p:nvSpPr>
          <p:cNvPr id="11" name="Shape 9"/>
          <p:cNvSpPr/>
          <p:nvPr/>
        </p:nvSpPr>
        <p:spPr>
          <a:xfrm>
            <a:off x="548640" y="2057400"/>
            <a:ext cx="9326880" cy="5212080"/>
          </a:xfrm>
          <a:prstGeom prst="roundRect">
            <a:avLst>
              <a:gd name="adj" fmla="val 1404"/>
            </a:avLst>
          </a:prstGeom>
          <a:solidFill>
            <a:srgbClr val="FFFFFF"/>
          </a:solidFill>
          <a:ln w="12700">
            <a:solidFill>
              <a:srgbClr val="DCE1E8"/>
            </a:solidFill>
            <a:prstDash val="solid"/>
          </a:ln>
        </p:spPr>
      </p:sp>
      <p:sp>
        <p:nvSpPr>
          <p:cNvPr id="12" name="Text 10"/>
          <p:cNvSpPr/>
          <p:nvPr/>
        </p:nvSpPr>
        <p:spPr>
          <a:xfrm>
            <a:off x="731520" y="2148840"/>
            <a:ext cx="7315200" cy="320040"/>
          </a:xfrm>
          <a:prstGeom prst="rect">
            <a:avLst/>
          </a:prstGeom>
          <a:noFill/>
          <a:ln/>
        </p:spPr>
        <p:txBody>
          <a:bodyPr wrap="square" rtlCol="0" anchor="ctr"/>
          <a:lstStyle/>
          <a:p>
            <a:pPr indent="0" marL="0">
              <a:buNone/>
            </a:pPr>
            <a:r>
              <a:rPr lang="en-US" sz="1300" dirty="0">
                <a:solidFill>
                  <a:srgbClr val="2C3E50"/>
                </a:solidFill>
                <a:latin typeface="Hiragino Sans W6" pitchFamily="34" charset="0"/>
                <a:ea typeface="Hiragino Sans W6" pitchFamily="34" charset="-122"/>
                <a:cs typeface="Hiragino Sans W6" pitchFamily="34" charset="-120"/>
              </a:rPr>
              <a:t>13段階の支援プロセス → DBテーブル対応</a:t>
            </a:r>
            <a:endParaRPr lang="en-US" sz="1300" dirty="0"/>
          </a:p>
        </p:txBody>
      </p:sp>
      <p:sp>
        <p:nvSpPr>
          <p:cNvPr id="13" name="Text 11"/>
          <p:cNvSpPr/>
          <p:nvPr/>
        </p:nvSpPr>
        <p:spPr>
          <a:xfrm>
            <a:off x="822960" y="2606040"/>
            <a:ext cx="1005840" cy="548640"/>
          </a:xfrm>
          <a:prstGeom prst="rect">
            <a:avLst/>
          </a:prstGeom>
          <a:solidFill>
            <a:srgbClr val="F5F7FA"/>
          </a:solidFill>
          <a:ln/>
        </p:spPr>
        <p:txBody>
          <a:bodyPr wrap="square" rtlCol="0" anchor="ctr"/>
          <a:lstStyle/>
          <a:p>
            <a:pPr algn="ctr" indent="0" marL="0">
              <a:buNone/>
            </a:pPr>
            <a:r>
              <a:rPr lang="en-US" sz="1000" dirty="0">
                <a:solidFill>
                  <a:srgbClr val="4A90D9"/>
                </a:solidFill>
                <a:latin typeface="Hiragino Sans W6" pitchFamily="34" charset="0"/>
                <a:ea typeface="Hiragino Sans W6" pitchFamily="34" charset="-122"/>
                <a:cs typeface="Hiragino Sans W6" pitchFamily="34" charset="-120"/>
              </a:rPr>
              <a:t>Step 1-2</a:t>
            </a:r>
            <a:endParaRPr lang="en-US" sz="1000" dirty="0"/>
          </a:p>
        </p:txBody>
      </p:sp>
      <p:sp>
        <p:nvSpPr>
          <p:cNvPr id="14" name="Text 12"/>
          <p:cNvSpPr/>
          <p:nvPr/>
        </p:nvSpPr>
        <p:spPr>
          <a:xfrm>
            <a:off x="1828800" y="2606040"/>
            <a:ext cx="2286000" cy="548640"/>
          </a:xfrm>
          <a:prstGeom prst="rect">
            <a:avLst/>
          </a:prstGeom>
          <a:solidFill>
            <a:srgbClr val="F5F7FA"/>
          </a:solidFill>
          <a:ln/>
        </p:spPr>
        <p:txBody>
          <a:bodyPr wrap="square" rtlCol="0" anchor="ctr"/>
          <a:lstStyle/>
          <a:p>
            <a:pPr indent="0" marL="0">
              <a:buNone/>
            </a:pPr>
            <a:r>
              <a:rPr lang="en-US" sz="1100" dirty="0">
                <a:solidFill>
                  <a:srgbClr val="2C3E50"/>
                </a:solidFill>
                <a:latin typeface="Hiragino Sans W6" pitchFamily="34" charset="0"/>
                <a:ea typeface="Hiragino Sans W6" pitchFamily="34" charset="-122"/>
                <a:cs typeface="Hiragino Sans W6" pitchFamily="34" charset="-120"/>
              </a:rPr>
              <a:t>面談・傾聴</a:t>
            </a:r>
            <a:endParaRPr lang="en-US" sz="1100" dirty="0"/>
          </a:p>
        </p:txBody>
      </p:sp>
      <p:sp>
        <p:nvSpPr>
          <p:cNvPr id="15" name="Text 13"/>
          <p:cNvSpPr/>
          <p:nvPr/>
        </p:nvSpPr>
        <p:spPr>
          <a:xfrm>
            <a:off x="4114800" y="2606040"/>
            <a:ext cx="1828800" cy="548640"/>
          </a:xfrm>
          <a:prstGeom prst="rect">
            <a:avLst/>
          </a:prstGeom>
          <a:solidFill>
            <a:srgbClr val="F5F7FA"/>
          </a:solidFill>
          <a:ln/>
        </p:spPr>
        <p:txBody>
          <a:bodyPr wrap="square" rtlCol="0" anchor="ctr"/>
          <a:lstStyle/>
          <a:p>
            <a:pPr indent="0" marL="0">
              <a:buNone/>
            </a:pPr>
            <a:r>
              <a:rPr lang="en-US" sz="1000" dirty="0">
                <a:solidFill>
                  <a:srgbClr val="7F8C8D"/>
                </a:solidFill>
                <a:latin typeface="Hiragino Sans W3" pitchFamily="34" charset="0"/>
                <a:ea typeface="Hiragino Sans W3" pitchFamily="34" charset="-122"/>
                <a:cs typeface="Hiragino Sans W3" pitchFamily="34" charset="-120"/>
              </a:rPr>
              <a:t>情報収集</a:t>
            </a:r>
            <a:endParaRPr lang="en-US" sz="1000" dirty="0"/>
          </a:p>
        </p:txBody>
      </p:sp>
      <p:sp>
        <p:nvSpPr>
          <p:cNvPr id="16" name="Text 14"/>
          <p:cNvSpPr/>
          <p:nvPr/>
        </p:nvSpPr>
        <p:spPr>
          <a:xfrm>
            <a:off x="5943600" y="2606040"/>
            <a:ext cx="3749040" cy="548640"/>
          </a:xfrm>
          <a:prstGeom prst="rect">
            <a:avLst/>
          </a:prstGeom>
          <a:solidFill>
            <a:srgbClr val="F5F7FA"/>
          </a:solidFill>
          <a:ln/>
        </p:spPr>
        <p:txBody>
          <a:bodyPr wrap="square" rtlCol="0" anchor="ctr"/>
          <a:lstStyle/>
          <a:p>
            <a:pPr indent="0" marL="0">
              <a:buNone/>
            </a:pPr>
            <a:r>
              <a:rPr lang="en-US" sz="1000" dirty="0">
                <a:solidFill>
                  <a:srgbClr val="4A90D9"/>
                </a:solidFill>
                <a:latin typeface="Hiragino Sans W3" pitchFamily="34" charset="0"/>
                <a:ea typeface="Hiragino Sans W3" pitchFamily="34" charset="-122"/>
                <a:cs typeface="Hiragino Sans W3" pitchFamily="34" charset="-120"/>
              </a:rPr>
              <a:t>support_charts</a:t>
            </a:r>
            <a:endParaRPr lang="en-US" sz="1000" dirty="0"/>
          </a:p>
        </p:txBody>
      </p:sp>
      <p:sp>
        <p:nvSpPr>
          <p:cNvPr id="17" name="Text 15"/>
          <p:cNvSpPr/>
          <p:nvPr/>
        </p:nvSpPr>
        <p:spPr>
          <a:xfrm>
            <a:off x="822960" y="3246120"/>
            <a:ext cx="1005840" cy="548640"/>
          </a:xfrm>
          <a:prstGeom prst="rect">
            <a:avLst/>
          </a:prstGeom>
          <a:solidFill>
            <a:srgbClr val="FFFFFF"/>
          </a:solidFill>
          <a:ln/>
        </p:spPr>
        <p:txBody>
          <a:bodyPr wrap="square" rtlCol="0" anchor="ctr"/>
          <a:lstStyle/>
          <a:p>
            <a:pPr algn="ctr" indent="0" marL="0">
              <a:buNone/>
            </a:pPr>
            <a:r>
              <a:rPr lang="en-US" sz="1000" dirty="0">
                <a:solidFill>
                  <a:srgbClr val="4A90D9"/>
                </a:solidFill>
                <a:latin typeface="Hiragino Sans W6" pitchFamily="34" charset="0"/>
                <a:ea typeface="Hiragino Sans W6" pitchFamily="34" charset="-122"/>
                <a:cs typeface="Hiragino Sans W6" pitchFamily="34" charset="-120"/>
              </a:rPr>
              <a:t>Step 3</a:t>
            </a:r>
            <a:endParaRPr lang="en-US" sz="1000" dirty="0"/>
          </a:p>
        </p:txBody>
      </p:sp>
      <p:sp>
        <p:nvSpPr>
          <p:cNvPr id="18" name="Text 16"/>
          <p:cNvSpPr/>
          <p:nvPr/>
        </p:nvSpPr>
        <p:spPr>
          <a:xfrm>
            <a:off x="1828800" y="3246120"/>
            <a:ext cx="2286000" cy="548640"/>
          </a:xfrm>
          <a:prstGeom prst="rect">
            <a:avLst/>
          </a:prstGeom>
          <a:solidFill>
            <a:srgbClr val="FFFFFF"/>
          </a:solidFill>
          <a:ln/>
        </p:spPr>
        <p:txBody>
          <a:bodyPr wrap="square" rtlCol="0" anchor="ctr"/>
          <a:lstStyle/>
          <a:p>
            <a:pPr indent="0" marL="0">
              <a:buNone/>
            </a:pPr>
            <a:r>
              <a:rPr lang="en-US" sz="1100" dirty="0">
                <a:solidFill>
                  <a:srgbClr val="2C3E50"/>
                </a:solidFill>
                <a:latin typeface="Hiragino Sans W6" pitchFamily="34" charset="0"/>
                <a:ea typeface="Hiragino Sans W6" pitchFamily="34" charset="-122"/>
                <a:cs typeface="Hiragino Sans W6" pitchFamily="34" charset="-120"/>
              </a:rPr>
              <a:t>支援の選択</a:t>
            </a:r>
            <a:endParaRPr lang="en-US" sz="1100" dirty="0"/>
          </a:p>
        </p:txBody>
      </p:sp>
      <p:sp>
        <p:nvSpPr>
          <p:cNvPr id="19" name="Text 17"/>
          <p:cNvSpPr/>
          <p:nvPr/>
        </p:nvSpPr>
        <p:spPr>
          <a:xfrm>
            <a:off x="4114800" y="3246120"/>
            <a:ext cx="1828800" cy="548640"/>
          </a:xfrm>
          <a:prstGeom prst="rect">
            <a:avLst/>
          </a:prstGeom>
          <a:solidFill>
            <a:srgbClr val="FFFFFF"/>
          </a:solidFill>
          <a:ln/>
        </p:spPr>
        <p:txBody>
          <a:bodyPr wrap="square" rtlCol="0" anchor="ctr"/>
          <a:lstStyle/>
          <a:p>
            <a:pPr indent="0" marL="0">
              <a:buNone/>
            </a:pPr>
            <a:r>
              <a:rPr lang="en-US" sz="1000" dirty="0">
                <a:solidFill>
                  <a:srgbClr val="7F8C8D"/>
                </a:solidFill>
                <a:latin typeface="Hiragino Sans W3" pitchFamily="34" charset="0"/>
                <a:ea typeface="Hiragino Sans W3" pitchFamily="34" charset="-122"/>
                <a:cs typeface="Hiragino Sans W3" pitchFamily="34" charset="-120"/>
              </a:rPr>
              <a:t>スタッフ判断</a:t>
            </a:r>
            <a:endParaRPr lang="en-US" sz="1000" dirty="0"/>
          </a:p>
        </p:txBody>
      </p:sp>
      <p:sp>
        <p:nvSpPr>
          <p:cNvPr id="20" name="Text 18"/>
          <p:cNvSpPr/>
          <p:nvPr/>
        </p:nvSpPr>
        <p:spPr>
          <a:xfrm>
            <a:off x="5943600" y="3246120"/>
            <a:ext cx="3749040" cy="548640"/>
          </a:xfrm>
          <a:prstGeom prst="rect">
            <a:avLst/>
          </a:prstGeom>
          <a:solidFill>
            <a:srgbClr val="FFFFFF"/>
          </a:solidFill>
          <a:ln/>
        </p:spPr>
        <p:txBody>
          <a:bodyPr wrap="square" rtlCol="0" anchor="ctr"/>
          <a:lstStyle/>
          <a:p>
            <a:pPr indent="0" marL="0">
              <a:buNone/>
            </a:pPr>
            <a:r>
              <a:rPr lang="en-US" sz="1000" dirty="0">
                <a:solidFill>
                  <a:srgbClr val="4A90D9"/>
                </a:solidFill>
                <a:latin typeface="Hiragino Sans W3" pitchFamily="34" charset="0"/>
                <a:ea typeface="Hiragino Sans W3" pitchFamily="34" charset="-122"/>
                <a:cs typeface="Hiragino Sans W3" pitchFamily="34" charset="-120"/>
              </a:rPr>
              <a:t>support_plans</a:t>
            </a:r>
            <a:endParaRPr lang="en-US" sz="1000" dirty="0"/>
          </a:p>
        </p:txBody>
      </p:sp>
      <p:sp>
        <p:nvSpPr>
          <p:cNvPr id="21" name="Text 19"/>
          <p:cNvSpPr/>
          <p:nvPr/>
        </p:nvSpPr>
        <p:spPr>
          <a:xfrm>
            <a:off x="822960" y="3886200"/>
            <a:ext cx="1005840" cy="548640"/>
          </a:xfrm>
          <a:prstGeom prst="rect">
            <a:avLst/>
          </a:prstGeom>
          <a:solidFill>
            <a:srgbClr val="F5F7FA"/>
          </a:solidFill>
          <a:ln/>
        </p:spPr>
        <p:txBody>
          <a:bodyPr wrap="square" rtlCol="0" anchor="ctr"/>
          <a:lstStyle/>
          <a:p>
            <a:pPr algn="ctr" indent="0" marL="0">
              <a:buNone/>
            </a:pPr>
            <a:r>
              <a:rPr lang="en-US" sz="1000" dirty="0">
                <a:solidFill>
                  <a:srgbClr val="4A90D9"/>
                </a:solidFill>
                <a:latin typeface="Hiragino Sans W6" pitchFamily="34" charset="0"/>
                <a:ea typeface="Hiragino Sans W6" pitchFamily="34" charset="-122"/>
                <a:cs typeface="Hiragino Sans W6" pitchFamily="34" charset="-120"/>
              </a:rPr>
              <a:t>Step 4-5</a:t>
            </a:r>
            <a:endParaRPr lang="en-US" sz="1000" dirty="0"/>
          </a:p>
        </p:txBody>
      </p:sp>
      <p:sp>
        <p:nvSpPr>
          <p:cNvPr id="22" name="Text 20"/>
          <p:cNvSpPr/>
          <p:nvPr/>
        </p:nvSpPr>
        <p:spPr>
          <a:xfrm>
            <a:off x="1828800" y="3886200"/>
            <a:ext cx="2286000" cy="548640"/>
          </a:xfrm>
          <a:prstGeom prst="rect">
            <a:avLst/>
          </a:prstGeom>
          <a:solidFill>
            <a:srgbClr val="F5F7FA"/>
          </a:solidFill>
          <a:ln/>
        </p:spPr>
        <p:txBody>
          <a:bodyPr wrap="square" rtlCol="0" anchor="ctr"/>
          <a:lstStyle/>
          <a:p>
            <a:pPr indent="0" marL="0">
              <a:buNone/>
            </a:pPr>
            <a:r>
              <a:rPr lang="en-US" sz="1100" dirty="0">
                <a:solidFill>
                  <a:srgbClr val="2C3E50"/>
                </a:solidFill>
                <a:latin typeface="Hiragino Sans W6" pitchFamily="34" charset="0"/>
                <a:ea typeface="Hiragino Sans W6" pitchFamily="34" charset="-122"/>
                <a:cs typeface="Hiragino Sans W6" pitchFamily="34" charset="-120"/>
              </a:rPr>
              <a:t>なるほどカード</a:t>
            </a:r>
            <a:endParaRPr lang="en-US" sz="1100" dirty="0"/>
          </a:p>
        </p:txBody>
      </p:sp>
      <p:sp>
        <p:nvSpPr>
          <p:cNvPr id="23" name="Text 21"/>
          <p:cNvSpPr/>
          <p:nvPr/>
        </p:nvSpPr>
        <p:spPr>
          <a:xfrm>
            <a:off x="4114800" y="3886200"/>
            <a:ext cx="1828800" cy="548640"/>
          </a:xfrm>
          <a:prstGeom prst="rect">
            <a:avLst/>
          </a:prstGeom>
          <a:solidFill>
            <a:srgbClr val="F5F7FA"/>
          </a:solidFill>
          <a:ln/>
        </p:spPr>
        <p:txBody>
          <a:bodyPr wrap="square" rtlCol="0" anchor="ctr"/>
          <a:lstStyle/>
          <a:p>
            <a:pPr indent="0" marL="0">
              <a:buNone/>
            </a:pPr>
            <a:r>
              <a:rPr lang="en-US" sz="1000" dirty="0">
                <a:solidFill>
                  <a:srgbClr val="7F8C8D"/>
                </a:solidFill>
                <a:latin typeface="Hiragino Sans W3" pitchFamily="34" charset="0"/>
                <a:ea typeface="Hiragino Sans W3" pitchFamily="34" charset="-122"/>
                <a:cs typeface="Hiragino Sans W3" pitchFamily="34" charset="-120"/>
              </a:rPr>
              <a:t>気づき言語化</a:t>
            </a:r>
            <a:endParaRPr lang="en-US" sz="1000" dirty="0"/>
          </a:p>
        </p:txBody>
      </p:sp>
      <p:sp>
        <p:nvSpPr>
          <p:cNvPr id="24" name="Text 22"/>
          <p:cNvSpPr/>
          <p:nvPr/>
        </p:nvSpPr>
        <p:spPr>
          <a:xfrm>
            <a:off x="5943600" y="3886200"/>
            <a:ext cx="3749040" cy="548640"/>
          </a:xfrm>
          <a:prstGeom prst="rect">
            <a:avLst/>
          </a:prstGeom>
          <a:solidFill>
            <a:srgbClr val="F5F7FA"/>
          </a:solidFill>
          <a:ln/>
        </p:spPr>
        <p:txBody>
          <a:bodyPr wrap="square" rtlCol="0" anchor="ctr"/>
          <a:lstStyle/>
          <a:p>
            <a:pPr indent="0" marL="0">
              <a:buNone/>
            </a:pPr>
            <a:r>
              <a:rPr lang="en-US" sz="1000" dirty="0">
                <a:solidFill>
                  <a:srgbClr val="4A90D9"/>
                </a:solidFill>
                <a:latin typeface="Hiragino Sans W3" pitchFamily="34" charset="0"/>
                <a:ea typeface="Hiragino Sans W3" pitchFamily="34" charset="-122"/>
                <a:cs typeface="Hiragino Sans W3" pitchFamily="34" charset="-120"/>
              </a:rPr>
              <a:t>insights</a:t>
            </a:r>
            <a:endParaRPr lang="en-US" sz="1000" dirty="0"/>
          </a:p>
        </p:txBody>
      </p:sp>
      <p:sp>
        <p:nvSpPr>
          <p:cNvPr id="25" name="Text 23"/>
          <p:cNvSpPr/>
          <p:nvPr/>
        </p:nvSpPr>
        <p:spPr>
          <a:xfrm>
            <a:off x="822960" y="4526280"/>
            <a:ext cx="1005840" cy="548640"/>
          </a:xfrm>
          <a:prstGeom prst="rect">
            <a:avLst/>
          </a:prstGeom>
          <a:solidFill>
            <a:srgbClr val="FFFFFF"/>
          </a:solidFill>
          <a:ln/>
        </p:spPr>
        <p:txBody>
          <a:bodyPr wrap="square" rtlCol="0" anchor="ctr"/>
          <a:lstStyle/>
          <a:p>
            <a:pPr algn="ctr" indent="0" marL="0">
              <a:buNone/>
            </a:pPr>
            <a:r>
              <a:rPr lang="en-US" sz="1000" dirty="0">
                <a:solidFill>
                  <a:srgbClr val="4A90D9"/>
                </a:solidFill>
                <a:latin typeface="Hiragino Sans W6" pitchFamily="34" charset="0"/>
                <a:ea typeface="Hiragino Sans W6" pitchFamily="34" charset="-122"/>
                <a:cs typeface="Hiragino Sans W6" pitchFamily="34" charset="-120"/>
              </a:rPr>
              <a:t>Step 6</a:t>
            </a:r>
            <a:endParaRPr lang="en-US" sz="1000" dirty="0"/>
          </a:p>
        </p:txBody>
      </p:sp>
      <p:sp>
        <p:nvSpPr>
          <p:cNvPr id="26" name="Text 24"/>
          <p:cNvSpPr/>
          <p:nvPr/>
        </p:nvSpPr>
        <p:spPr>
          <a:xfrm>
            <a:off x="1828800" y="4526280"/>
            <a:ext cx="2286000" cy="548640"/>
          </a:xfrm>
          <a:prstGeom prst="rect">
            <a:avLst/>
          </a:prstGeom>
          <a:solidFill>
            <a:srgbClr val="FFFFFF"/>
          </a:solidFill>
          <a:ln/>
        </p:spPr>
        <p:txBody>
          <a:bodyPr wrap="square" rtlCol="0" anchor="ctr"/>
          <a:lstStyle/>
          <a:p>
            <a:pPr indent="0" marL="0">
              <a:buNone/>
            </a:pPr>
            <a:r>
              <a:rPr lang="en-US" sz="1100" dirty="0">
                <a:solidFill>
                  <a:srgbClr val="2C3E50"/>
                </a:solidFill>
                <a:latin typeface="Hiragino Sans W6" pitchFamily="34" charset="0"/>
                <a:ea typeface="Hiragino Sans W6" pitchFamily="34" charset="-122"/>
                <a:cs typeface="Hiragino Sans W6" pitchFamily="34" charset="-120"/>
              </a:rPr>
              <a:t>問題分析(なぜ5回)</a:t>
            </a:r>
            <a:endParaRPr lang="en-US" sz="1100" dirty="0"/>
          </a:p>
        </p:txBody>
      </p:sp>
      <p:sp>
        <p:nvSpPr>
          <p:cNvPr id="27" name="Text 25"/>
          <p:cNvSpPr/>
          <p:nvPr/>
        </p:nvSpPr>
        <p:spPr>
          <a:xfrm>
            <a:off x="4114800" y="4526280"/>
            <a:ext cx="1828800" cy="548640"/>
          </a:xfrm>
          <a:prstGeom prst="rect">
            <a:avLst/>
          </a:prstGeom>
          <a:solidFill>
            <a:srgbClr val="FFFFFF"/>
          </a:solidFill>
          <a:ln/>
        </p:spPr>
        <p:txBody>
          <a:bodyPr wrap="square" rtlCol="0" anchor="ctr"/>
          <a:lstStyle/>
          <a:p>
            <a:pPr indent="0" marL="0">
              <a:buNone/>
            </a:pPr>
            <a:r>
              <a:rPr lang="en-US" sz="1000" dirty="0">
                <a:solidFill>
                  <a:srgbClr val="7F8C8D"/>
                </a:solidFill>
                <a:latin typeface="Hiragino Sans W3" pitchFamily="34" charset="0"/>
                <a:ea typeface="Hiragino Sans W3" pitchFamily="34" charset="-122"/>
                <a:cs typeface="Hiragino Sans W3" pitchFamily="34" charset="-120"/>
              </a:rPr>
              <a:t>仮説検証</a:t>
            </a:r>
            <a:endParaRPr lang="en-US" sz="1000" dirty="0"/>
          </a:p>
        </p:txBody>
      </p:sp>
      <p:sp>
        <p:nvSpPr>
          <p:cNvPr id="28" name="Text 26"/>
          <p:cNvSpPr/>
          <p:nvPr/>
        </p:nvSpPr>
        <p:spPr>
          <a:xfrm>
            <a:off x="5943600" y="4526280"/>
            <a:ext cx="3749040" cy="548640"/>
          </a:xfrm>
          <a:prstGeom prst="rect">
            <a:avLst/>
          </a:prstGeom>
          <a:solidFill>
            <a:srgbClr val="FFFFFF"/>
          </a:solidFill>
          <a:ln/>
        </p:spPr>
        <p:txBody>
          <a:bodyPr wrap="square" rtlCol="0" anchor="ctr"/>
          <a:lstStyle/>
          <a:p>
            <a:pPr indent="0" marL="0">
              <a:buNone/>
            </a:pPr>
            <a:r>
              <a:rPr lang="en-US" sz="1000" dirty="0">
                <a:solidFill>
                  <a:srgbClr val="4A90D9"/>
                </a:solidFill>
                <a:latin typeface="Hiragino Sans W3" pitchFamily="34" charset="0"/>
                <a:ea typeface="Hiragino Sans W3" pitchFamily="34" charset="-122"/>
                <a:cs typeface="Hiragino Sans W3" pitchFamily="34" charset="-120"/>
              </a:rPr>
              <a:t>problem_analyses</a:t>
            </a:r>
            <a:endParaRPr lang="en-US" sz="1000" dirty="0"/>
          </a:p>
        </p:txBody>
      </p:sp>
      <p:sp>
        <p:nvSpPr>
          <p:cNvPr id="29" name="Text 27"/>
          <p:cNvSpPr/>
          <p:nvPr/>
        </p:nvSpPr>
        <p:spPr>
          <a:xfrm>
            <a:off x="822960" y="5166360"/>
            <a:ext cx="1005840" cy="548640"/>
          </a:xfrm>
          <a:prstGeom prst="rect">
            <a:avLst/>
          </a:prstGeom>
          <a:solidFill>
            <a:srgbClr val="F5F7FA"/>
          </a:solidFill>
          <a:ln/>
        </p:spPr>
        <p:txBody>
          <a:bodyPr wrap="square" rtlCol="0" anchor="ctr"/>
          <a:lstStyle/>
          <a:p>
            <a:pPr algn="ctr" indent="0" marL="0">
              <a:buNone/>
            </a:pPr>
            <a:r>
              <a:rPr lang="en-US" sz="1000" dirty="0">
                <a:solidFill>
                  <a:srgbClr val="4A90D9"/>
                </a:solidFill>
                <a:latin typeface="Hiragino Sans W6" pitchFamily="34" charset="0"/>
                <a:ea typeface="Hiragino Sans W6" pitchFamily="34" charset="-122"/>
                <a:cs typeface="Hiragino Sans W6" pitchFamily="34" charset="-120"/>
              </a:rPr>
              <a:t>Step 7-9</a:t>
            </a:r>
            <a:endParaRPr lang="en-US" sz="1000" dirty="0"/>
          </a:p>
        </p:txBody>
      </p:sp>
      <p:sp>
        <p:nvSpPr>
          <p:cNvPr id="30" name="Text 28"/>
          <p:cNvSpPr/>
          <p:nvPr/>
        </p:nvSpPr>
        <p:spPr>
          <a:xfrm>
            <a:off x="1828800" y="5166360"/>
            <a:ext cx="2286000" cy="548640"/>
          </a:xfrm>
          <a:prstGeom prst="rect">
            <a:avLst/>
          </a:prstGeom>
          <a:solidFill>
            <a:srgbClr val="F5F7FA"/>
          </a:solidFill>
          <a:ln/>
        </p:spPr>
        <p:txBody>
          <a:bodyPr wrap="square" rtlCol="0" anchor="ctr"/>
          <a:lstStyle/>
          <a:p>
            <a:pPr indent="0" marL="0">
              <a:buNone/>
            </a:pPr>
            <a:r>
              <a:rPr lang="en-US" sz="1100" dirty="0">
                <a:solidFill>
                  <a:srgbClr val="2C3E50"/>
                </a:solidFill>
                <a:latin typeface="Hiragino Sans W6" pitchFamily="34" charset="0"/>
                <a:ea typeface="Hiragino Sans W6" pitchFamily="34" charset="-122"/>
                <a:cs typeface="Hiragino Sans W6" pitchFamily="34" charset="-120"/>
              </a:rPr>
              <a:t>できるカード</a:t>
            </a:r>
            <a:endParaRPr lang="en-US" sz="1100" dirty="0"/>
          </a:p>
        </p:txBody>
      </p:sp>
      <p:sp>
        <p:nvSpPr>
          <p:cNvPr id="31" name="Text 29"/>
          <p:cNvSpPr/>
          <p:nvPr/>
        </p:nvSpPr>
        <p:spPr>
          <a:xfrm>
            <a:off x="4114800" y="5166360"/>
            <a:ext cx="1828800" cy="548640"/>
          </a:xfrm>
          <a:prstGeom prst="rect">
            <a:avLst/>
          </a:prstGeom>
          <a:solidFill>
            <a:srgbClr val="F5F7FA"/>
          </a:solidFill>
          <a:ln/>
        </p:spPr>
        <p:txBody>
          <a:bodyPr wrap="square" rtlCol="0" anchor="ctr"/>
          <a:lstStyle/>
          <a:p>
            <a:pPr indent="0" marL="0">
              <a:buNone/>
            </a:pPr>
            <a:r>
              <a:rPr lang="en-US" sz="1000" dirty="0">
                <a:solidFill>
                  <a:srgbClr val="7F8C8D"/>
                </a:solidFill>
                <a:latin typeface="Hiragino Sans W3" pitchFamily="34" charset="0"/>
                <a:ea typeface="Hiragino Sans W3" pitchFamily="34" charset="-122"/>
                <a:cs typeface="Hiragino Sans W3" pitchFamily="34" charset="-120"/>
              </a:rPr>
              <a:t>肯定的支援</a:t>
            </a:r>
            <a:endParaRPr lang="en-US" sz="1000" dirty="0"/>
          </a:p>
        </p:txBody>
      </p:sp>
      <p:sp>
        <p:nvSpPr>
          <p:cNvPr id="32" name="Text 30"/>
          <p:cNvSpPr/>
          <p:nvPr/>
        </p:nvSpPr>
        <p:spPr>
          <a:xfrm>
            <a:off x="5943600" y="5166360"/>
            <a:ext cx="3749040" cy="548640"/>
          </a:xfrm>
          <a:prstGeom prst="rect">
            <a:avLst/>
          </a:prstGeom>
          <a:solidFill>
            <a:srgbClr val="F5F7FA"/>
          </a:solidFill>
          <a:ln/>
        </p:spPr>
        <p:txBody>
          <a:bodyPr wrap="square" rtlCol="0" anchor="ctr"/>
          <a:lstStyle/>
          <a:p>
            <a:pPr indent="0" marL="0">
              <a:buNone/>
            </a:pPr>
            <a:r>
              <a:rPr lang="en-US" sz="1000" dirty="0">
                <a:solidFill>
                  <a:srgbClr val="4A90D9"/>
                </a:solidFill>
                <a:latin typeface="Hiragino Sans W3" pitchFamily="34" charset="0"/>
                <a:ea typeface="Hiragino Sans W3" pitchFamily="34" charset="-122"/>
                <a:cs typeface="Hiragino Sans W3" pitchFamily="34" charset="-120"/>
              </a:rPr>
              <a:t>success_milestones</a:t>
            </a:r>
            <a:endParaRPr lang="en-US" sz="1000" dirty="0"/>
          </a:p>
        </p:txBody>
      </p:sp>
      <p:sp>
        <p:nvSpPr>
          <p:cNvPr id="33" name="Text 31"/>
          <p:cNvSpPr/>
          <p:nvPr/>
        </p:nvSpPr>
        <p:spPr>
          <a:xfrm>
            <a:off x="822960" y="5806440"/>
            <a:ext cx="1005840" cy="548640"/>
          </a:xfrm>
          <a:prstGeom prst="rect">
            <a:avLst/>
          </a:prstGeom>
          <a:solidFill>
            <a:srgbClr val="FFFFFF"/>
          </a:solidFill>
          <a:ln/>
        </p:spPr>
        <p:txBody>
          <a:bodyPr wrap="square" rtlCol="0" anchor="ctr"/>
          <a:lstStyle/>
          <a:p>
            <a:pPr algn="ctr" indent="0" marL="0">
              <a:buNone/>
            </a:pPr>
            <a:r>
              <a:rPr lang="en-US" sz="1000" dirty="0">
                <a:solidFill>
                  <a:srgbClr val="4A90D9"/>
                </a:solidFill>
                <a:latin typeface="Hiragino Sans W6" pitchFamily="34" charset="0"/>
                <a:ea typeface="Hiragino Sans W6" pitchFamily="34" charset="-122"/>
                <a:cs typeface="Hiragino Sans W6" pitchFamily="34" charset="-120"/>
              </a:rPr>
              <a:t>Step 10-11</a:t>
            </a:r>
            <a:endParaRPr lang="en-US" sz="1000" dirty="0"/>
          </a:p>
        </p:txBody>
      </p:sp>
      <p:sp>
        <p:nvSpPr>
          <p:cNvPr id="34" name="Text 32"/>
          <p:cNvSpPr/>
          <p:nvPr/>
        </p:nvSpPr>
        <p:spPr>
          <a:xfrm>
            <a:off x="1828800" y="5806440"/>
            <a:ext cx="2286000" cy="548640"/>
          </a:xfrm>
          <a:prstGeom prst="rect">
            <a:avLst/>
          </a:prstGeom>
          <a:solidFill>
            <a:srgbClr val="FFFFFF"/>
          </a:solidFill>
          <a:ln/>
        </p:spPr>
        <p:txBody>
          <a:bodyPr wrap="square" rtlCol="0" anchor="ctr"/>
          <a:lstStyle/>
          <a:p>
            <a:pPr indent="0" marL="0">
              <a:buNone/>
            </a:pPr>
            <a:r>
              <a:rPr lang="en-US" sz="1100" dirty="0">
                <a:solidFill>
                  <a:srgbClr val="2C3E50"/>
                </a:solidFill>
                <a:latin typeface="Hiragino Sans W6" pitchFamily="34" charset="0"/>
                <a:ea typeface="Hiragino Sans W6" pitchFamily="34" charset="-122"/>
                <a:cs typeface="Hiragino Sans W6" pitchFamily="34" charset="-120"/>
              </a:rPr>
              <a:t>達成・自立度</a:t>
            </a:r>
            <a:endParaRPr lang="en-US" sz="1100" dirty="0"/>
          </a:p>
        </p:txBody>
      </p:sp>
      <p:sp>
        <p:nvSpPr>
          <p:cNvPr id="35" name="Text 33"/>
          <p:cNvSpPr/>
          <p:nvPr/>
        </p:nvSpPr>
        <p:spPr>
          <a:xfrm>
            <a:off x="4114800" y="5806440"/>
            <a:ext cx="1828800" cy="548640"/>
          </a:xfrm>
          <a:prstGeom prst="rect">
            <a:avLst/>
          </a:prstGeom>
          <a:solidFill>
            <a:srgbClr val="FFFFFF"/>
          </a:solidFill>
          <a:ln/>
        </p:spPr>
        <p:txBody>
          <a:bodyPr wrap="square" rtlCol="0" anchor="ctr"/>
          <a:lstStyle/>
          <a:p>
            <a:pPr indent="0" marL="0">
              <a:buNone/>
            </a:pPr>
            <a:r>
              <a:rPr lang="en-US" sz="1000" dirty="0">
                <a:solidFill>
                  <a:srgbClr val="7F8C8D"/>
                </a:solidFill>
                <a:latin typeface="Hiragino Sans W3" pitchFamily="34" charset="0"/>
                <a:ea typeface="Hiragino Sans W3" pitchFamily="34" charset="-122"/>
                <a:cs typeface="Hiragino Sans W3" pitchFamily="34" charset="-120"/>
              </a:rPr>
              <a:t>定着化</a:t>
            </a:r>
            <a:endParaRPr lang="en-US" sz="1000" dirty="0"/>
          </a:p>
        </p:txBody>
      </p:sp>
      <p:sp>
        <p:nvSpPr>
          <p:cNvPr id="36" name="Text 34"/>
          <p:cNvSpPr/>
          <p:nvPr/>
        </p:nvSpPr>
        <p:spPr>
          <a:xfrm>
            <a:off x="5943600" y="5806440"/>
            <a:ext cx="3749040" cy="548640"/>
          </a:xfrm>
          <a:prstGeom prst="rect">
            <a:avLst/>
          </a:prstGeom>
          <a:solidFill>
            <a:srgbClr val="FFFFFF"/>
          </a:solidFill>
          <a:ln/>
        </p:spPr>
        <p:txBody>
          <a:bodyPr wrap="square" rtlCol="0" anchor="ctr"/>
          <a:lstStyle/>
          <a:p>
            <a:pPr indent="0" marL="0">
              <a:buNone/>
            </a:pPr>
            <a:r>
              <a:rPr lang="en-US" sz="1000" dirty="0">
                <a:solidFill>
                  <a:srgbClr val="4A90D9"/>
                </a:solidFill>
                <a:latin typeface="Hiragino Sans W3" pitchFamily="34" charset="0"/>
                <a:ea typeface="Hiragino Sans W3" pitchFamily="34" charset="-122"/>
                <a:cs typeface="Hiragino Sans W3" pitchFamily="34" charset="-120"/>
              </a:rPr>
              <a:t>independence_assessments</a:t>
            </a:r>
            <a:endParaRPr lang="en-US" sz="1000" dirty="0"/>
          </a:p>
        </p:txBody>
      </p:sp>
      <p:sp>
        <p:nvSpPr>
          <p:cNvPr id="37" name="Text 35"/>
          <p:cNvSpPr/>
          <p:nvPr/>
        </p:nvSpPr>
        <p:spPr>
          <a:xfrm>
            <a:off x="822960" y="6446520"/>
            <a:ext cx="1005840" cy="548640"/>
          </a:xfrm>
          <a:prstGeom prst="rect">
            <a:avLst/>
          </a:prstGeom>
          <a:solidFill>
            <a:srgbClr val="F5F7FA"/>
          </a:solidFill>
          <a:ln/>
        </p:spPr>
        <p:txBody>
          <a:bodyPr wrap="square" rtlCol="0" anchor="ctr"/>
          <a:lstStyle/>
          <a:p>
            <a:pPr algn="ctr" indent="0" marL="0">
              <a:buNone/>
            </a:pPr>
            <a:r>
              <a:rPr lang="en-US" sz="1000" dirty="0">
                <a:solidFill>
                  <a:srgbClr val="4A90D9"/>
                </a:solidFill>
                <a:latin typeface="Hiragino Sans W6" pitchFamily="34" charset="0"/>
                <a:ea typeface="Hiragino Sans W6" pitchFamily="34" charset="-122"/>
                <a:cs typeface="Hiragino Sans W6" pitchFamily="34" charset="-120"/>
              </a:rPr>
              <a:t>Step 12-13</a:t>
            </a:r>
            <a:endParaRPr lang="en-US" sz="1000" dirty="0"/>
          </a:p>
        </p:txBody>
      </p:sp>
      <p:sp>
        <p:nvSpPr>
          <p:cNvPr id="38" name="Text 36"/>
          <p:cNvSpPr/>
          <p:nvPr/>
        </p:nvSpPr>
        <p:spPr>
          <a:xfrm>
            <a:off x="1828800" y="6446520"/>
            <a:ext cx="2286000" cy="548640"/>
          </a:xfrm>
          <a:prstGeom prst="rect">
            <a:avLst/>
          </a:prstGeom>
          <a:solidFill>
            <a:srgbClr val="F5F7FA"/>
          </a:solidFill>
          <a:ln/>
        </p:spPr>
        <p:txBody>
          <a:bodyPr wrap="square" rtlCol="0" anchor="ctr"/>
          <a:lstStyle/>
          <a:p>
            <a:pPr indent="0" marL="0">
              <a:buNone/>
            </a:pPr>
            <a:r>
              <a:rPr lang="en-US" sz="1100" dirty="0">
                <a:solidFill>
                  <a:srgbClr val="2C3E50"/>
                </a:solidFill>
                <a:latin typeface="Hiragino Sans W6" pitchFamily="34" charset="0"/>
                <a:ea typeface="Hiragino Sans W6" pitchFamily="34" charset="-122"/>
                <a:cs typeface="Hiragino Sans W6" pitchFamily="34" charset="-120"/>
              </a:rPr>
              <a:t>地域と自立</a:t>
            </a:r>
            <a:endParaRPr lang="en-US" sz="1100" dirty="0"/>
          </a:p>
        </p:txBody>
      </p:sp>
      <p:sp>
        <p:nvSpPr>
          <p:cNvPr id="39" name="Text 37"/>
          <p:cNvSpPr/>
          <p:nvPr/>
        </p:nvSpPr>
        <p:spPr>
          <a:xfrm>
            <a:off x="4114800" y="6446520"/>
            <a:ext cx="1828800" cy="548640"/>
          </a:xfrm>
          <a:prstGeom prst="rect">
            <a:avLst/>
          </a:prstGeom>
          <a:solidFill>
            <a:srgbClr val="F5F7FA"/>
          </a:solidFill>
          <a:ln/>
        </p:spPr>
        <p:txBody>
          <a:bodyPr wrap="square" rtlCol="0" anchor="ctr"/>
          <a:lstStyle/>
          <a:p>
            <a:pPr indent="0" marL="0">
              <a:buNone/>
            </a:pPr>
            <a:r>
              <a:rPr lang="en-US" sz="1000" dirty="0">
                <a:solidFill>
                  <a:srgbClr val="7F8C8D"/>
                </a:solidFill>
                <a:latin typeface="Hiragino Sans W3" pitchFamily="34" charset="0"/>
                <a:ea typeface="Hiragino Sans W3" pitchFamily="34" charset="-122"/>
                <a:cs typeface="Hiragino Sans W3" pitchFamily="34" charset="-120"/>
              </a:rPr>
              <a:t>共生・自立</a:t>
            </a:r>
            <a:endParaRPr lang="en-US" sz="1000" dirty="0"/>
          </a:p>
        </p:txBody>
      </p:sp>
      <p:sp>
        <p:nvSpPr>
          <p:cNvPr id="40" name="Text 38"/>
          <p:cNvSpPr/>
          <p:nvPr/>
        </p:nvSpPr>
        <p:spPr>
          <a:xfrm>
            <a:off x="5943600" y="6446520"/>
            <a:ext cx="3749040" cy="548640"/>
          </a:xfrm>
          <a:prstGeom prst="rect">
            <a:avLst/>
          </a:prstGeom>
          <a:solidFill>
            <a:srgbClr val="F5F7FA"/>
          </a:solidFill>
          <a:ln/>
        </p:spPr>
        <p:txBody>
          <a:bodyPr wrap="square" rtlCol="0" anchor="ctr"/>
          <a:lstStyle/>
          <a:p>
            <a:pPr indent="0" marL="0">
              <a:buNone/>
            </a:pPr>
            <a:r>
              <a:rPr lang="en-US" sz="1000" dirty="0">
                <a:solidFill>
                  <a:srgbClr val="4A90D9"/>
                </a:solidFill>
                <a:latin typeface="Hiragino Sans W3" pitchFamily="34" charset="0"/>
                <a:ea typeface="Hiragino Sans W3" pitchFamily="34" charset="-122"/>
                <a:cs typeface="Hiragino Sans W3" pitchFamily="34" charset="-120"/>
              </a:rPr>
              <a:t>community_activities</a:t>
            </a:r>
            <a:endParaRPr lang="en-US" sz="1000" dirty="0"/>
          </a:p>
        </p:txBody>
      </p:sp>
      <p:sp>
        <p:nvSpPr>
          <p:cNvPr id="41" name="Shape 39"/>
          <p:cNvSpPr/>
          <p:nvPr/>
        </p:nvSpPr>
        <p:spPr>
          <a:xfrm>
            <a:off x="10058400" y="2057400"/>
            <a:ext cx="4023360" cy="5212080"/>
          </a:xfrm>
          <a:prstGeom prst="roundRect">
            <a:avLst>
              <a:gd name="adj" fmla="val 1818"/>
            </a:avLst>
          </a:prstGeom>
          <a:solidFill>
            <a:srgbClr val="FFFFFF"/>
          </a:solidFill>
          <a:ln w="12700">
            <a:solidFill>
              <a:srgbClr val="DCE1E8"/>
            </a:solidFill>
            <a:prstDash val="solid"/>
          </a:ln>
        </p:spPr>
      </p:sp>
      <p:sp>
        <p:nvSpPr>
          <p:cNvPr id="42" name="Text 40"/>
          <p:cNvSpPr/>
          <p:nvPr/>
        </p:nvSpPr>
        <p:spPr>
          <a:xfrm>
            <a:off x="10241280" y="2148840"/>
            <a:ext cx="3657600" cy="320040"/>
          </a:xfrm>
          <a:prstGeom prst="rect">
            <a:avLst/>
          </a:prstGeom>
          <a:noFill/>
          <a:ln/>
        </p:spPr>
        <p:txBody>
          <a:bodyPr wrap="square" rtlCol="0" anchor="ctr"/>
          <a:lstStyle/>
          <a:p>
            <a:pPr indent="0" marL="0">
              <a:buNone/>
            </a:pPr>
            <a:r>
              <a:rPr lang="en-US" sz="1300" dirty="0">
                <a:solidFill>
                  <a:srgbClr val="2C3E50"/>
                </a:solidFill>
                <a:latin typeface="Hiragino Sans W6" pitchFamily="34" charset="0"/>
                <a:ea typeface="Hiragino Sans W6" pitchFamily="34" charset="-122"/>
                <a:cs typeface="Hiragino Sans W6" pitchFamily="34" charset="-120"/>
              </a:rPr>
              <a:t>4層パスモデル</a:t>
            </a:r>
            <a:endParaRPr lang="en-US" sz="1300" dirty="0"/>
          </a:p>
        </p:txBody>
      </p:sp>
      <p:sp>
        <p:nvSpPr>
          <p:cNvPr id="43" name="Shape 41"/>
          <p:cNvSpPr/>
          <p:nvPr/>
        </p:nvSpPr>
        <p:spPr>
          <a:xfrm>
            <a:off x="10241280" y="2651760"/>
            <a:ext cx="3657600" cy="868680"/>
          </a:xfrm>
          <a:prstGeom prst="roundRect">
            <a:avLst>
              <a:gd name="adj" fmla="val 5263"/>
            </a:avLst>
          </a:prstGeom>
          <a:solidFill>
            <a:srgbClr val="E8FAF0"/>
          </a:solidFill>
          <a:ln w="12700">
            <a:solidFill>
              <a:srgbClr val="2ECC71"/>
            </a:solidFill>
            <a:prstDash val="solid"/>
          </a:ln>
        </p:spPr>
      </p:sp>
      <p:sp>
        <p:nvSpPr>
          <p:cNvPr id="44" name="Text 42"/>
          <p:cNvSpPr/>
          <p:nvPr/>
        </p:nvSpPr>
        <p:spPr>
          <a:xfrm>
            <a:off x="10424160" y="2651760"/>
            <a:ext cx="3291840" cy="365760"/>
          </a:xfrm>
          <a:prstGeom prst="rect">
            <a:avLst/>
          </a:prstGeom>
          <a:noFill/>
          <a:ln/>
        </p:spPr>
        <p:txBody>
          <a:bodyPr wrap="square" rtlCol="0" anchor="ctr"/>
          <a:lstStyle/>
          <a:p>
            <a:pPr indent="0" marL="0">
              <a:buNone/>
            </a:pPr>
            <a:r>
              <a:rPr lang="en-US" sz="1200" dirty="0">
                <a:solidFill>
                  <a:srgbClr val="2ECC71"/>
                </a:solidFill>
                <a:latin typeface="Hiragino Sans W6" pitchFamily="34" charset="0"/>
                <a:ea typeface="Hiragino Sans W6" pitchFamily="34" charset="-122"/>
                <a:cs typeface="Hiragino Sans W6" pitchFamily="34" charset="-120"/>
              </a:rPr>
              <a:t>L1 理想パス</a:t>
            </a:r>
            <a:endParaRPr lang="en-US" sz="1200" dirty="0"/>
          </a:p>
        </p:txBody>
      </p:sp>
      <p:sp>
        <p:nvSpPr>
          <p:cNvPr id="45" name="Text 43"/>
          <p:cNvSpPr/>
          <p:nvPr/>
        </p:nvSpPr>
        <p:spPr>
          <a:xfrm>
            <a:off x="10424160" y="3017520"/>
            <a:ext cx="3291840" cy="411480"/>
          </a:xfrm>
          <a:prstGeom prst="rect">
            <a:avLst/>
          </a:prstGeom>
          <a:noFill/>
          <a:ln/>
        </p:spPr>
        <p:txBody>
          <a:bodyPr wrap="square" rtlCol="0" anchor="ctr"/>
          <a:lstStyle/>
          <a:p>
            <a:pPr indent="0" marL="0">
              <a:buNone/>
            </a:pPr>
            <a:r>
              <a:rPr lang="en-US" sz="1000" dirty="0">
                <a:solidFill>
                  <a:srgbClr val="2C3E50"/>
                </a:solidFill>
                <a:latin typeface="Hiragino Sans W3" pitchFamily="34" charset="0"/>
                <a:ea typeface="Hiragino Sans W3" pitchFamily="34" charset="-122"/>
                <a:cs typeface="Hiragino Sans W3" pitchFamily="34" charset="-120"/>
              </a:rPr>
              <a:t>正しい支援の流れ</a:t>
            </a:r>
            <a:endParaRPr lang="en-US" sz="1000" dirty="0"/>
          </a:p>
        </p:txBody>
      </p:sp>
      <p:sp>
        <p:nvSpPr>
          <p:cNvPr id="46" name="Shape 44"/>
          <p:cNvSpPr/>
          <p:nvPr/>
        </p:nvSpPr>
        <p:spPr>
          <a:xfrm>
            <a:off x="10241280" y="3749040"/>
            <a:ext cx="3657600" cy="868680"/>
          </a:xfrm>
          <a:prstGeom prst="roundRect">
            <a:avLst>
              <a:gd name="adj" fmla="val 5263"/>
            </a:avLst>
          </a:prstGeom>
          <a:solidFill>
            <a:srgbClr val="EBF5FB"/>
          </a:solidFill>
          <a:ln w="12700">
            <a:solidFill>
              <a:srgbClr val="3498DB"/>
            </a:solidFill>
            <a:prstDash val="solid"/>
          </a:ln>
        </p:spPr>
      </p:sp>
      <p:sp>
        <p:nvSpPr>
          <p:cNvPr id="47" name="Text 45"/>
          <p:cNvSpPr/>
          <p:nvPr/>
        </p:nvSpPr>
        <p:spPr>
          <a:xfrm>
            <a:off x="10424160" y="3749040"/>
            <a:ext cx="3291840" cy="365760"/>
          </a:xfrm>
          <a:prstGeom prst="rect">
            <a:avLst/>
          </a:prstGeom>
          <a:noFill/>
          <a:ln/>
        </p:spPr>
        <p:txBody>
          <a:bodyPr wrap="square" rtlCol="0" anchor="ctr"/>
          <a:lstStyle/>
          <a:p>
            <a:pPr indent="0" marL="0">
              <a:buNone/>
            </a:pPr>
            <a:r>
              <a:rPr lang="en-US" sz="1200" dirty="0">
                <a:solidFill>
                  <a:srgbClr val="3498DB"/>
                </a:solidFill>
                <a:latin typeface="Hiragino Sans W6" pitchFamily="34" charset="0"/>
                <a:ea typeface="Hiragino Sans W6" pitchFamily="34" charset="-122"/>
                <a:cs typeface="Hiragino Sans W6" pitchFamily="34" charset="-120"/>
              </a:rPr>
              <a:t>L2 日常パス</a:t>
            </a:r>
            <a:endParaRPr lang="en-US" sz="1200" dirty="0"/>
          </a:p>
        </p:txBody>
      </p:sp>
      <p:sp>
        <p:nvSpPr>
          <p:cNvPr id="48" name="Text 46"/>
          <p:cNvSpPr/>
          <p:nvPr/>
        </p:nvSpPr>
        <p:spPr>
          <a:xfrm>
            <a:off x="10424160" y="4114800"/>
            <a:ext cx="3291840" cy="411480"/>
          </a:xfrm>
          <a:prstGeom prst="rect">
            <a:avLst/>
          </a:prstGeom>
          <a:noFill/>
          <a:ln/>
        </p:spPr>
        <p:txBody>
          <a:bodyPr wrap="square" rtlCol="0" anchor="ctr"/>
          <a:lstStyle/>
          <a:p>
            <a:pPr indent="0" marL="0">
              <a:buNone/>
            </a:pPr>
            <a:r>
              <a:rPr lang="en-US" sz="1000" dirty="0">
                <a:solidFill>
                  <a:srgbClr val="2C3E50"/>
                </a:solidFill>
                <a:latin typeface="Hiragino Sans W3" pitchFamily="34" charset="0"/>
                <a:ea typeface="Hiragino Sans W3" pitchFamily="34" charset="-122"/>
                <a:cs typeface="Hiragino Sans W3" pitchFamily="34" charset="-120"/>
              </a:rPr>
              <a:t>日常的支援行動</a:t>
            </a:r>
            <a:endParaRPr lang="en-US" sz="1000" dirty="0"/>
          </a:p>
        </p:txBody>
      </p:sp>
      <p:sp>
        <p:nvSpPr>
          <p:cNvPr id="49" name="Shape 47"/>
          <p:cNvSpPr/>
          <p:nvPr/>
        </p:nvSpPr>
        <p:spPr>
          <a:xfrm>
            <a:off x="10241280" y="4846320"/>
            <a:ext cx="3657600" cy="868680"/>
          </a:xfrm>
          <a:prstGeom prst="roundRect">
            <a:avLst>
              <a:gd name="adj" fmla="val 5263"/>
            </a:avLst>
          </a:prstGeom>
          <a:solidFill>
            <a:srgbClr val="FEF5E7"/>
          </a:solidFill>
          <a:ln w="12700">
            <a:solidFill>
              <a:srgbClr val="F39C12"/>
            </a:solidFill>
            <a:prstDash val="solid"/>
          </a:ln>
        </p:spPr>
      </p:sp>
      <p:sp>
        <p:nvSpPr>
          <p:cNvPr id="50" name="Text 48"/>
          <p:cNvSpPr/>
          <p:nvPr/>
        </p:nvSpPr>
        <p:spPr>
          <a:xfrm>
            <a:off x="10424160" y="4846320"/>
            <a:ext cx="3291840" cy="365760"/>
          </a:xfrm>
          <a:prstGeom prst="rect">
            <a:avLst/>
          </a:prstGeom>
          <a:noFill/>
          <a:ln/>
        </p:spPr>
        <p:txBody>
          <a:bodyPr wrap="square" rtlCol="0" anchor="ctr"/>
          <a:lstStyle/>
          <a:p>
            <a:pPr indent="0" marL="0">
              <a:buNone/>
            </a:pPr>
            <a:r>
              <a:rPr lang="en-US" sz="1200" dirty="0">
                <a:solidFill>
                  <a:srgbClr val="F39C12"/>
                </a:solidFill>
                <a:latin typeface="Hiragino Sans W6" pitchFamily="34" charset="0"/>
                <a:ea typeface="Hiragino Sans W6" pitchFamily="34" charset="-122"/>
                <a:cs typeface="Hiragino Sans W6" pitchFamily="34" charset="-120"/>
              </a:rPr>
              <a:t>L3 注意パス</a:t>
            </a:r>
            <a:endParaRPr lang="en-US" sz="1200" dirty="0"/>
          </a:p>
        </p:txBody>
      </p:sp>
      <p:sp>
        <p:nvSpPr>
          <p:cNvPr id="51" name="Text 49"/>
          <p:cNvSpPr/>
          <p:nvPr/>
        </p:nvSpPr>
        <p:spPr>
          <a:xfrm>
            <a:off x="10424160" y="5212080"/>
            <a:ext cx="3291840" cy="411480"/>
          </a:xfrm>
          <a:prstGeom prst="rect">
            <a:avLst/>
          </a:prstGeom>
          <a:noFill/>
          <a:ln/>
        </p:spPr>
        <p:txBody>
          <a:bodyPr wrap="square" rtlCol="0" anchor="ctr"/>
          <a:lstStyle/>
          <a:p>
            <a:pPr indent="0" marL="0">
              <a:buNone/>
            </a:pPr>
            <a:r>
              <a:rPr lang="en-US" sz="1000" dirty="0">
                <a:solidFill>
                  <a:srgbClr val="2C3E50"/>
                </a:solidFill>
                <a:latin typeface="Hiragino Sans W3" pitchFamily="34" charset="0"/>
                <a:ea typeface="Hiragino Sans W3" pitchFamily="34" charset="-122"/>
                <a:cs typeface="Hiragino Sans W3" pitchFamily="34" charset="-120"/>
              </a:rPr>
              <a:t>ズレ始めの兆候</a:t>
            </a:r>
            <a:endParaRPr lang="en-US" sz="1000" dirty="0"/>
          </a:p>
        </p:txBody>
      </p:sp>
      <p:sp>
        <p:nvSpPr>
          <p:cNvPr id="52" name="Shape 50"/>
          <p:cNvSpPr/>
          <p:nvPr/>
        </p:nvSpPr>
        <p:spPr>
          <a:xfrm>
            <a:off x="10241280" y="5943600"/>
            <a:ext cx="3657600" cy="868680"/>
          </a:xfrm>
          <a:prstGeom prst="roundRect">
            <a:avLst>
              <a:gd name="adj" fmla="val 5263"/>
            </a:avLst>
          </a:prstGeom>
          <a:solidFill>
            <a:srgbClr val="FDEDEC"/>
          </a:solidFill>
          <a:ln w="12700">
            <a:solidFill>
              <a:srgbClr val="E74C3C"/>
            </a:solidFill>
            <a:prstDash val="solid"/>
          </a:ln>
        </p:spPr>
      </p:sp>
      <p:sp>
        <p:nvSpPr>
          <p:cNvPr id="53" name="Text 51"/>
          <p:cNvSpPr/>
          <p:nvPr/>
        </p:nvSpPr>
        <p:spPr>
          <a:xfrm>
            <a:off x="10424160" y="5943600"/>
            <a:ext cx="3291840" cy="365760"/>
          </a:xfrm>
          <a:prstGeom prst="rect">
            <a:avLst/>
          </a:prstGeom>
          <a:noFill/>
          <a:ln/>
        </p:spPr>
        <p:txBody>
          <a:bodyPr wrap="square" rtlCol="0" anchor="ctr"/>
          <a:lstStyle/>
          <a:p>
            <a:pPr indent="0" marL="0">
              <a:buNone/>
            </a:pPr>
            <a:r>
              <a:rPr lang="en-US" sz="1200" dirty="0">
                <a:solidFill>
                  <a:srgbClr val="E74C3C"/>
                </a:solidFill>
                <a:latin typeface="Hiragino Sans W6" pitchFamily="34" charset="0"/>
                <a:ea typeface="Hiragino Sans W6" pitchFamily="34" charset="-122"/>
                <a:cs typeface="Hiragino Sans W6" pitchFamily="34" charset="-120"/>
              </a:rPr>
              <a:t>L4 危険パス</a:t>
            </a:r>
            <a:endParaRPr lang="en-US" sz="1200" dirty="0"/>
          </a:p>
        </p:txBody>
      </p:sp>
      <p:sp>
        <p:nvSpPr>
          <p:cNvPr id="54" name="Text 52"/>
          <p:cNvSpPr/>
          <p:nvPr/>
        </p:nvSpPr>
        <p:spPr>
          <a:xfrm>
            <a:off x="10424160" y="6309360"/>
            <a:ext cx="3291840" cy="411480"/>
          </a:xfrm>
          <a:prstGeom prst="rect">
            <a:avLst/>
          </a:prstGeom>
          <a:noFill/>
          <a:ln/>
        </p:spPr>
        <p:txBody>
          <a:bodyPr wrap="square" rtlCol="0" anchor="ctr"/>
          <a:lstStyle/>
          <a:p>
            <a:pPr indent="0" marL="0">
              <a:buNone/>
            </a:pPr>
            <a:r>
              <a:rPr lang="en-US" sz="1000" dirty="0">
                <a:solidFill>
                  <a:srgbClr val="2C3E50"/>
                </a:solidFill>
                <a:latin typeface="Hiragino Sans W3" pitchFamily="34" charset="0"/>
                <a:ea typeface="Hiragino Sans W3" pitchFamily="34" charset="-122"/>
                <a:cs typeface="Hiragino Sans W3" pitchFamily="34" charset="-120"/>
              </a:rPr>
              <a:t>AI虐待予防の検知対象</a:t>
            </a:r>
            <a:endParaRPr lang="en-US" sz="1000" dirty="0"/>
          </a:p>
        </p:txBody>
      </p:sp>
      <p:sp>
        <p:nvSpPr>
          <p:cNvPr id="55" name="Text 53"/>
          <p:cNvSpPr/>
          <p:nvPr/>
        </p:nvSpPr>
        <p:spPr>
          <a:xfrm>
            <a:off x="548640" y="7452360"/>
            <a:ext cx="13533120" cy="274320"/>
          </a:xfrm>
          <a:prstGeom prst="rect">
            <a:avLst/>
          </a:prstGeom>
          <a:noFill/>
          <a:ln/>
        </p:spPr>
        <p:txBody>
          <a:bodyPr wrap="square" rtlCol="0" anchor="ctr"/>
          <a:lstStyle/>
          <a:p>
            <a:pPr indent="0" marL="0">
              <a:buNone/>
            </a:pPr>
            <a:r>
              <a:rPr lang="en-US" sz="1000" dirty="0">
                <a:solidFill>
                  <a:srgbClr val="E67E22"/>
                </a:solidFill>
                <a:latin typeface="Hiragino Sans W3" pitchFamily="34" charset="0"/>
                <a:ea typeface="Hiragino Sans W3" pitchFamily="34" charset="-122"/>
                <a:cs typeface="Hiragino Sans W3" pitchFamily="34" charset="-120"/>
              </a:rPr>
              <a:t>※ 営業秘密として管理。体系的な管理規程の策定が知財課題のひとつ。</a:t>
            </a:r>
            <a:endParaRPr lang="en-US" sz="1000" dirty="0"/>
          </a:p>
        </p:txBody>
      </p:sp>
      <p:sp>
        <p:nvSpPr>
          <p:cNvPr id="56" name="Text 54"/>
          <p:cNvSpPr/>
          <p:nvPr/>
        </p:nvSpPr>
        <p:spPr>
          <a:xfrm>
            <a:off x="13258800" y="7818120"/>
            <a:ext cx="914400" cy="274320"/>
          </a:xfrm>
          <a:prstGeom prst="rect">
            <a:avLst/>
          </a:prstGeom>
          <a:noFill/>
          <a:ln/>
        </p:spPr>
        <p:txBody>
          <a:bodyPr wrap="square" rtlCol="0" anchor="ctr"/>
          <a:lstStyle/>
          <a:p>
            <a:pPr algn="r" indent="0" marL="0">
              <a:buNone/>
            </a:pPr>
            <a:r>
              <a:rPr lang="en-US" sz="800" dirty="0">
                <a:solidFill>
                  <a:srgbClr val="7F8C8D"/>
                </a:solidFill>
                <a:latin typeface="Hiragino Sans W3" pitchFamily="34" charset="0"/>
                <a:ea typeface="Hiragino Sans W3" pitchFamily="34" charset="-122"/>
                <a:cs typeface="Hiragino Sans W3" pitchFamily="34" charset="-120"/>
              </a:rPr>
              <a:t>7 / 15</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4630400" cy="1417320"/>
          </a:xfrm>
          <a:prstGeom prst="rect">
            <a:avLst/>
          </a:prstGeom>
          <a:solidFill>
            <a:srgbClr val="1A1A2E"/>
          </a:solidFill>
          <a:ln/>
        </p:spPr>
      </p:sp>
      <p:sp>
        <p:nvSpPr>
          <p:cNvPr id="3" name="Text 1"/>
          <p:cNvSpPr/>
          <p:nvPr/>
        </p:nvSpPr>
        <p:spPr>
          <a:xfrm>
            <a:off x="548640" y="182880"/>
            <a:ext cx="13533120" cy="594360"/>
          </a:xfrm>
          <a:prstGeom prst="rect">
            <a:avLst/>
          </a:prstGeom>
          <a:noFill/>
          <a:ln/>
        </p:spPr>
        <p:txBody>
          <a:bodyPr wrap="square" rtlCol="0" anchor="ctr"/>
          <a:lstStyle/>
          <a:p>
            <a:pPr indent="0" marL="0">
              <a:buNone/>
            </a:pPr>
            <a:r>
              <a:rPr lang="en-US" sz="2600" b="1" dirty="0">
                <a:solidFill>
                  <a:srgbClr val="FFFFFF"/>
                </a:solidFill>
                <a:latin typeface="Hiragino Sans W6" pitchFamily="34" charset="0"/>
                <a:ea typeface="Hiragino Sans W6" pitchFamily="34" charset="-122"/>
                <a:cs typeface="Hiragino Sans W6" pitchFamily="34" charset="-120"/>
              </a:rPr>
              <a:t>13ヶ月の研究開発実績：設計フェーズを完了</a:t>
            </a:r>
            <a:endParaRPr lang="en-US" sz="2600" dirty="0"/>
          </a:p>
        </p:txBody>
      </p:sp>
      <p:sp>
        <p:nvSpPr>
          <p:cNvPr id="4" name="Text 2"/>
          <p:cNvSpPr/>
          <p:nvPr/>
        </p:nvSpPr>
        <p:spPr>
          <a:xfrm>
            <a:off x="548640" y="822960"/>
            <a:ext cx="13533120" cy="411480"/>
          </a:xfrm>
          <a:prstGeom prst="rect">
            <a:avLst/>
          </a:prstGeom>
          <a:noFill/>
          <a:ln/>
        </p:spPr>
        <p:txBody>
          <a:bodyPr wrap="square" rtlCol="0" anchor="ctr"/>
          <a:lstStyle/>
          <a:p>
            <a:pPr indent="0" marL="0">
              <a:buNone/>
            </a:pPr>
            <a:r>
              <a:rPr lang="en-US" sz="1300" dirty="0">
                <a:solidFill>
                  <a:srgbClr val="B0BEC5"/>
                </a:solidFill>
                <a:latin typeface="Hiragino Sans W3" pitchFamily="34" charset="0"/>
                <a:ea typeface="Hiragino Sans W3" pitchFamily="34" charset="-122"/>
                <a:cs typeface="Hiragino Sans W3" pitchFamily="34" charset="-120"/>
              </a:rPr>
              <a:t>2025年2月〜2026年3月の開発成果 — 実装フェーズへの移行準備が整った段階</a:t>
            </a:r>
            <a:endParaRPr lang="en-US" sz="1300" dirty="0"/>
          </a:p>
        </p:txBody>
      </p:sp>
      <p:sp>
        <p:nvSpPr>
          <p:cNvPr id="5" name="Shape 3"/>
          <p:cNvSpPr/>
          <p:nvPr/>
        </p:nvSpPr>
        <p:spPr>
          <a:xfrm>
            <a:off x="548640" y="1508760"/>
            <a:ext cx="13533120" cy="347472"/>
          </a:xfrm>
          <a:prstGeom prst="roundRect">
            <a:avLst>
              <a:gd name="adj" fmla="val 7895"/>
            </a:avLst>
          </a:prstGeom>
          <a:solidFill>
            <a:srgbClr val="4A90D9"/>
          </a:solidFill>
          <a:ln/>
        </p:spPr>
      </p:sp>
      <p:sp>
        <p:nvSpPr>
          <p:cNvPr id="6" name="Text 4"/>
          <p:cNvSpPr/>
          <p:nvPr/>
        </p:nvSpPr>
        <p:spPr>
          <a:xfrm>
            <a:off x="731520" y="1508760"/>
            <a:ext cx="13167360" cy="347472"/>
          </a:xfrm>
          <a:prstGeom prst="rect">
            <a:avLst/>
          </a:prstGeom>
          <a:noFill/>
          <a:ln/>
        </p:spPr>
        <p:txBody>
          <a:bodyPr wrap="square" rtlCol="0" anchor="ctr"/>
          <a:lstStyle/>
          <a:p>
            <a:pPr indent="0" marL="0">
              <a:buNone/>
            </a:pPr>
            <a:r>
              <a:rPr lang="en-US" sz="1100" dirty="0">
                <a:solidFill>
                  <a:srgbClr val="FFFFFF"/>
                </a:solidFill>
                <a:latin typeface="Hiragino Sans W6" pitchFamily="34" charset="0"/>
                <a:ea typeface="Hiragino Sans W6" pitchFamily="34" charset="-122"/>
                <a:cs typeface="Hiragino Sans W6" pitchFamily="34" charset="-120"/>
              </a:rPr>
              <a:t>補足：申請書「6. これまでの開発状況と今後の技術的課題」</a:t>
            </a:r>
            <a:endParaRPr lang="en-US" sz="1100" dirty="0"/>
          </a:p>
        </p:txBody>
      </p:sp>
      <p:sp>
        <p:nvSpPr>
          <p:cNvPr id="7" name="Shape 5"/>
          <p:cNvSpPr/>
          <p:nvPr/>
        </p:nvSpPr>
        <p:spPr>
          <a:xfrm>
            <a:off x="12618720" y="1527048"/>
            <a:ext cx="1645920" cy="292608"/>
          </a:xfrm>
          <a:prstGeom prst="roundRect">
            <a:avLst>
              <a:gd name="adj" fmla="val 12500"/>
            </a:avLst>
          </a:prstGeom>
          <a:solidFill>
            <a:srgbClr val="E8FAF0"/>
          </a:solidFill>
          <a:ln w="10160">
            <a:solidFill>
              <a:srgbClr val="27AE60"/>
            </a:solidFill>
            <a:prstDash val="solid"/>
          </a:ln>
        </p:spPr>
      </p:sp>
      <p:sp>
        <p:nvSpPr>
          <p:cNvPr id="8" name="Text 6"/>
          <p:cNvSpPr/>
          <p:nvPr/>
        </p:nvSpPr>
        <p:spPr>
          <a:xfrm>
            <a:off x="12618720" y="1527048"/>
            <a:ext cx="1645920" cy="292608"/>
          </a:xfrm>
          <a:prstGeom prst="rect">
            <a:avLst/>
          </a:prstGeom>
          <a:noFill/>
          <a:ln/>
        </p:spPr>
        <p:txBody>
          <a:bodyPr wrap="square" rtlCol="0" anchor="ctr"/>
          <a:lstStyle/>
          <a:p>
            <a:pPr algn="ctr" indent="0" marL="0">
              <a:buNone/>
            </a:pPr>
            <a:r>
              <a:rPr lang="en-US" sz="900" dirty="0">
                <a:solidFill>
                  <a:srgbClr val="27AE60"/>
                </a:solidFill>
                <a:latin typeface="Hiragino Sans W6" pitchFamily="34" charset="0"/>
                <a:ea typeface="Hiragino Sans W6" pitchFamily="34" charset="-122"/>
                <a:cs typeface="Hiragino Sans W6" pitchFamily="34" charset="-120"/>
              </a:rPr>
              <a:t>審査軸：事業性</a:t>
            </a:r>
            <a:endParaRPr lang="en-US" sz="900" dirty="0"/>
          </a:p>
        </p:txBody>
      </p:sp>
      <p:sp>
        <p:nvSpPr>
          <p:cNvPr id="9" name="Shape 7"/>
          <p:cNvSpPr/>
          <p:nvPr/>
        </p:nvSpPr>
        <p:spPr>
          <a:xfrm>
            <a:off x="548640" y="2148840"/>
            <a:ext cx="6766560" cy="1600200"/>
          </a:xfrm>
          <a:prstGeom prst="roundRect">
            <a:avLst>
              <a:gd name="adj" fmla="val 4571"/>
            </a:avLst>
          </a:prstGeom>
          <a:solidFill>
            <a:srgbClr val="FFFFFF"/>
          </a:solidFill>
          <a:ln w="12700">
            <a:solidFill>
              <a:srgbClr val="DCE1E8"/>
            </a:solidFill>
            <a:prstDash val="solid"/>
          </a:ln>
        </p:spPr>
      </p:sp>
      <p:sp>
        <p:nvSpPr>
          <p:cNvPr id="10" name="Text 8"/>
          <p:cNvSpPr/>
          <p:nvPr/>
        </p:nvSpPr>
        <p:spPr>
          <a:xfrm>
            <a:off x="685800" y="2194560"/>
            <a:ext cx="1371600" cy="320040"/>
          </a:xfrm>
          <a:prstGeom prst="rect">
            <a:avLst/>
          </a:prstGeom>
          <a:noFill/>
          <a:ln/>
        </p:spPr>
        <p:txBody>
          <a:bodyPr wrap="square" rtlCol="0" anchor="ctr"/>
          <a:lstStyle/>
          <a:p>
            <a:pPr indent="0" marL="0">
              <a:buNone/>
            </a:pPr>
            <a:r>
              <a:rPr lang="en-US" sz="900" dirty="0">
                <a:solidFill>
                  <a:srgbClr val="7F8C8D"/>
                </a:solidFill>
                <a:latin typeface="Hiragino Sans W3" pitchFamily="34" charset="0"/>
                <a:ea typeface="Hiragino Sans W3" pitchFamily="34" charset="-122"/>
                <a:cs typeface="Hiragino Sans W3" pitchFamily="34" charset="-120"/>
              </a:rPr>
              <a:t>2025/2-4</a:t>
            </a:r>
            <a:endParaRPr lang="en-US" sz="900" dirty="0"/>
          </a:p>
        </p:txBody>
      </p:sp>
      <p:sp>
        <p:nvSpPr>
          <p:cNvPr id="11" name="Text 9"/>
          <p:cNvSpPr/>
          <p:nvPr/>
        </p:nvSpPr>
        <p:spPr>
          <a:xfrm>
            <a:off x="685800" y="2468880"/>
            <a:ext cx="6492240" cy="365760"/>
          </a:xfrm>
          <a:prstGeom prst="rect">
            <a:avLst/>
          </a:prstGeom>
          <a:noFill/>
          <a:ln/>
        </p:spPr>
        <p:txBody>
          <a:bodyPr wrap="square" rtlCol="0" anchor="ctr"/>
          <a:lstStyle/>
          <a:p>
            <a:pPr indent="0" marL="0">
              <a:buNone/>
            </a:pPr>
            <a:r>
              <a:rPr lang="en-US" sz="1300" dirty="0">
                <a:solidFill>
                  <a:srgbClr val="2C3E50"/>
                </a:solidFill>
                <a:latin typeface="Hiragino Sans W6" pitchFamily="34" charset="0"/>
                <a:ea typeface="Hiragino Sans W6" pitchFamily="34" charset="-122"/>
                <a:cs typeface="Hiragino Sans W6" pitchFamily="34" charset="-120"/>
              </a:rPr>
              <a:t>紙フォーマット全量分析</a:t>
            </a:r>
            <a:endParaRPr lang="en-US" sz="1300" dirty="0"/>
          </a:p>
        </p:txBody>
      </p:sp>
      <p:sp>
        <p:nvSpPr>
          <p:cNvPr id="12" name="Text 10"/>
          <p:cNvSpPr/>
          <p:nvPr/>
        </p:nvSpPr>
        <p:spPr>
          <a:xfrm>
            <a:off x="685800" y="2880360"/>
            <a:ext cx="6492240" cy="731520"/>
          </a:xfrm>
          <a:prstGeom prst="rect">
            <a:avLst/>
          </a:prstGeom>
          <a:noFill/>
          <a:ln/>
        </p:spPr>
        <p:txBody>
          <a:bodyPr wrap="square" rtlCol="0" anchor="ctr"/>
          <a:lstStyle/>
          <a:p>
            <a:pPr indent="0" marL="0">
              <a:lnSpc>
                <a:spcPct val="120000"/>
              </a:lnSpc>
              <a:buNone/>
            </a:pPr>
            <a:r>
              <a:rPr lang="en-US" sz="1100" dirty="0">
                <a:solidFill>
                  <a:srgbClr val="7F8C8D"/>
                </a:solidFill>
                <a:latin typeface="Hiragino Sans W3" pitchFamily="34" charset="0"/>
                <a:ea typeface="Hiragino Sans W3" pitchFamily="34" charset="-122"/>
                <a:cs typeface="Hiragino Sans W3" pitchFamily="34" charset="-120"/>
              </a:rPr>
              <a:t>58件・2,897ページを精査</a:t>
            </a:r>
            <a:endParaRPr lang="en-US" sz="1100" dirty="0"/>
          </a:p>
          <a:p>
            <a:pPr indent="0" marL="0">
              <a:lnSpc>
                <a:spcPct val="120000"/>
              </a:lnSpc>
              <a:buNone/>
            </a:pPr>
            <a:r>
              <a:rPr lang="en-US" sz="1100" dirty="0">
                <a:solidFill>
                  <a:srgbClr val="7F8C8D"/>
                </a:solidFill>
                <a:latin typeface="Hiragino Sans W3" pitchFamily="34" charset="0"/>
                <a:ea typeface="Hiragino Sans W3" pitchFamily="34" charset="-122"/>
                <a:cs typeface="Hiragino Sans W3" pitchFamily="34" charset="-120"/>
              </a:rPr>
              <a:t>19カテゴリ・57エントリに再分類</a:t>
            </a:r>
            <a:endParaRPr lang="en-US" sz="1100" dirty="0"/>
          </a:p>
        </p:txBody>
      </p:sp>
      <p:sp>
        <p:nvSpPr>
          <p:cNvPr id="13" name="Shape 11"/>
          <p:cNvSpPr/>
          <p:nvPr/>
        </p:nvSpPr>
        <p:spPr>
          <a:xfrm>
            <a:off x="548640" y="3977640"/>
            <a:ext cx="6766560" cy="1600200"/>
          </a:xfrm>
          <a:prstGeom prst="roundRect">
            <a:avLst>
              <a:gd name="adj" fmla="val 4571"/>
            </a:avLst>
          </a:prstGeom>
          <a:solidFill>
            <a:srgbClr val="FFFFFF"/>
          </a:solidFill>
          <a:ln w="12700">
            <a:solidFill>
              <a:srgbClr val="DCE1E8"/>
            </a:solidFill>
            <a:prstDash val="solid"/>
          </a:ln>
        </p:spPr>
      </p:sp>
      <p:sp>
        <p:nvSpPr>
          <p:cNvPr id="14" name="Text 12"/>
          <p:cNvSpPr/>
          <p:nvPr/>
        </p:nvSpPr>
        <p:spPr>
          <a:xfrm>
            <a:off x="685800" y="4023360"/>
            <a:ext cx="1371600" cy="320040"/>
          </a:xfrm>
          <a:prstGeom prst="rect">
            <a:avLst/>
          </a:prstGeom>
          <a:noFill/>
          <a:ln/>
        </p:spPr>
        <p:txBody>
          <a:bodyPr wrap="square" rtlCol="0" anchor="ctr"/>
          <a:lstStyle/>
          <a:p>
            <a:pPr indent="0" marL="0">
              <a:buNone/>
            </a:pPr>
            <a:r>
              <a:rPr lang="en-US" sz="900" dirty="0">
                <a:solidFill>
                  <a:srgbClr val="7F8C8D"/>
                </a:solidFill>
                <a:latin typeface="Hiragino Sans W3" pitchFamily="34" charset="0"/>
                <a:ea typeface="Hiragino Sans W3" pitchFamily="34" charset="-122"/>
                <a:cs typeface="Hiragino Sans W3" pitchFamily="34" charset="-120"/>
              </a:rPr>
              <a:t>2025/4-8</a:t>
            </a:r>
            <a:endParaRPr lang="en-US" sz="900" dirty="0"/>
          </a:p>
        </p:txBody>
      </p:sp>
      <p:sp>
        <p:nvSpPr>
          <p:cNvPr id="15" name="Text 13"/>
          <p:cNvSpPr/>
          <p:nvPr/>
        </p:nvSpPr>
        <p:spPr>
          <a:xfrm>
            <a:off x="685800" y="4297680"/>
            <a:ext cx="6492240" cy="365760"/>
          </a:xfrm>
          <a:prstGeom prst="rect">
            <a:avLst/>
          </a:prstGeom>
          <a:noFill/>
          <a:ln/>
        </p:spPr>
        <p:txBody>
          <a:bodyPr wrap="square" rtlCol="0" anchor="ctr"/>
          <a:lstStyle/>
          <a:p>
            <a:pPr indent="0" marL="0">
              <a:buNone/>
            </a:pPr>
            <a:r>
              <a:rPr lang="en-US" sz="1300" dirty="0">
                <a:solidFill>
                  <a:srgbClr val="2C3E50"/>
                </a:solidFill>
                <a:latin typeface="Hiragino Sans W6" pitchFamily="34" charset="0"/>
                <a:ea typeface="Hiragino Sans W6" pitchFamily="34" charset="-122"/>
                <a:cs typeface="Hiragino Sans W6" pitchFamily="34" charset="-120"/>
              </a:rPr>
              <a:t>データベース設計</a:t>
            </a:r>
            <a:endParaRPr lang="en-US" sz="1300" dirty="0"/>
          </a:p>
        </p:txBody>
      </p:sp>
      <p:sp>
        <p:nvSpPr>
          <p:cNvPr id="16" name="Text 14"/>
          <p:cNvSpPr/>
          <p:nvPr/>
        </p:nvSpPr>
        <p:spPr>
          <a:xfrm>
            <a:off x="685800" y="4709160"/>
            <a:ext cx="6492240" cy="731520"/>
          </a:xfrm>
          <a:prstGeom prst="rect">
            <a:avLst/>
          </a:prstGeom>
          <a:noFill/>
          <a:ln/>
        </p:spPr>
        <p:txBody>
          <a:bodyPr wrap="square" rtlCol="0" anchor="ctr"/>
          <a:lstStyle/>
          <a:p>
            <a:pPr indent="0" marL="0">
              <a:lnSpc>
                <a:spcPct val="120000"/>
              </a:lnSpc>
              <a:buNone/>
            </a:pPr>
            <a:r>
              <a:rPr lang="en-US" sz="1100" dirty="0">
                <a:solidFill>
                  <a:srgbClr val="7F8C8D"/>
                </a:solidFill>
                <a:latin typeface="Hiragino Sans W3" pitchFamily="34" charset="0"/>
                <a:ea typeface="Hiragino Sans W3" pitchFamily="34" charset="-122"/>
                <a:cs typeface="Hiragino Sans W3" pitchFamily="34" charset="-120"/>
              </a:rPr>
              <a:t>6フェーズ・44テーブル・52画面</a:t>
            </a:r>
            <a:endParaRPr lang="en-US" sz="1100" dirty="0"/>
          </a:p>
          <a:p>
            <a:pPr indent="0" marL="0">
              <a:lnSpc>
                <a:spcPct val="120000"/>
              </a:lnSpc>
              <a:buNone/>
            </a:pPr>
            <a:r>
              <a:rPr lang="en-US" sz="1100" dirty="0">
                <a:solidFill>
                  <a:srgbClr val="7F8C8D"/>
                </a:solidFill>
                <a:latin typeface="Hiragino Sans W3" pitchFamily="34" charset="0"/>
                <a:ea typeface="Hiragino Sans W3" pitchFamily="34" charset="-122"/>
                <a:cs typeface="Hiragino Sans W3" pitchFamily="34" charset="-120"/>
              </a:rPr>
              <a:t>60リレーションの設計完了</a:t>
            </a:r>
            <a:endParaRPr lang="en-US" sz="1100" dirty="0"/>
          </a:p>
        </p:txBody>
      </p:sp>
      <p:sp>
        <p:nvSpPr>
          <p:cNvPr id="17" name="Shape 15"/>
          <p:cNvSpPr/>
          <p:nvPr/>
        </p:nvSpPr>
        <p:spPr>
          <a:xfrm>
            <a:off x="548640" y="5806440"/>
            <a:ext cx="6766560" cy="1600200"/>
          </a:xfrm>
          <a:prstGeom prst="roundRect">
            <a:avLst>
              <a:gd name="adj" fmla="val 4571"/>
            </a:avLst>
          </a:prstGeom>
          <a:solidFill>
            <a:srgbClr val="FFFFFF"/>
          </a:solidFill>
          <a:ln w="12700">
            <a:solidFill>
              <a:srgbClr val="DCE1E8"/>
            </a:solidFill>
            <a:prstDash val="solid"/>
          </a:ln>
        </p:spPr>
      </p:sp>
      <p:sp>
        <p:nvSpPr>
          <p:cNvPr id="18" name="Text 16"/>
          <p:cNvSpPr/>
          <p:nvPr/>
        </p:nvSpPr>
        <p:spPr>
          <a:xfrm>
            <a:off x="685800" y="5852160"/>
            <a:ext cx="1371600" cy="320040"/>
          </a:xfrm>
          <a:prstGeom prst="rect">
            <a:avLst/>
          </a:prstGeom>
          <a:noFill/>
          <a:ln/>
        </p:spPr>
        <p:txBody>
          <a:bodyPr wrap="square" rtlCol="0" anchor="ctr"/>
          <a:lstStyle/>
          <a:p>
            <a:pPr indent="0" marL="0">
              <a:buNone/>
            </a:pPr>
            <a:r>
              <a:rPr lang="en-US" sz="900" dirty="0">
                <a:solidFill>
                  <a:srgbClr val="7F8C8D"/>
                </a:solidFill>
                <a:latin typeface="Hiragino Sans W3" pitchFamily="34" charset="0"/>
                <a:ea typeface="Hiragino Sans W3" pitchFamily="34" charset="-122"/>
                <a:cs typeface="Hiragino Sans W3" pitchFamily="34" charset="-120"/>
              </a:rPr>
              <a:t>2025/8-12</a:t>
            </a:r>
            <a:endParaRPr lang="en-US" sz="900" dirty="0"/>
          </a:p>
        </p:txBody>
      </p:sp>
      <p:sp>
        <p:nvSpPr>
          <p:cNvPr id="19" name="Text 17"/>
          <p:cNvSpPr/>
          <p:nvPr/>
        </p:nvSpPr>
        <p:spPr>
          <a:xfrm>
            <a:off x="685800" y="6126480"/>
            <a:ext cx="6492240" cy="365760"/>
          </a:xfrm>
          <a:prstGeom prst="rect">
            <a:avLst/>
          </a:prstGeom>
          <a:noFill/>
          <a:ln/>
        </p:spPr>
        <p:txBody>
          <a:bodyPr wrap="square" rtlCol="0" anchor="ctr"/>
          <a:lstStyle/>
          <a:p>
            <a:pPr indent="0" marL="0">
              <a:buNone/>
            </a:pPr>
            <a:r>
              <a:rPr lang="en-US" sz="1300" dirty="0">
                <a:solidFill>
                  <a:srgbClr val="2C3E50"/>
                </a:solidFill>
                <a:latin typeface="Hiragino Sans W6" pitchFamily="34" charset="0"/>
                <a:ea typeface="Hiragino Sans W6" pitchFamily="34" charset="-122"/>
                <a:cs typeface="Hiragino Sans W6" pitchFamily="34" charset="-120"/>
              </a:rPr>
              <a:t>分岐入力UI設計</a:t>
            </a:r>
            <a:endParaRPr lang="en-US" sz="1300" dirty="0"/>
          </a:p>
        </p:txBody>
      </p:sp>
      <p:sp>
        <p:nvSpPr>
          <p:cNvPr id="20" name="Text 18"/>
          <p:cNvSpPr/>
          <p:nvPr/>
        </p:nvSpPr>
        <p:spPr>
          <a:xfrm>
            <a:off x="685800" y="6537960"/>
            <a:ext cx="6492240" cy="731520"/>
          </a:xfrm>
          <a:prstGeom prst="rect">
            <a:avLst/>
          </a:prstGeom>
          <a:noFill/>
          <a:ln/>
        </p:spPr>
        <p:txBody>
          <a:bodyPr wrap="square" rtlCol="0" anchor="ctr"/>
          <a:lstStyle/>
          <a:p>
            <a:pPr indent="0" marL="0">
              <a:lnSpc>
                <a:spcPct val="120000"/>
              </a:lnSpc>
              <a:buNone/>
            </a:pPr>
            <a:r>
              <a:rPr lang="en-US" sz="1100" dirty="0">
                <a:solidFill>
                  <a:srgbClr val="7F8C8D"/>
                </a:solidFill>
                <a:latin typeface="Hiragino Sans W3" pitchFamily="34" charset="0"/>
                <a:ea typeface="Hiragino Sans W3" pitchFamily="34" charset="-122"/>
                <a:cs typeface="Hiragino Sans W3" pitchFamily="34" charset="-120"/>
              </a:rPr>
              <a:t>OCR→形態素解析パイプライン</a:t>
            </a:r>
            <a:endParaRPr lang="en-US" sz="1100" dirty="0"/>
          </a:p>
          <a:p>
            <a:pPr indent="0" marL="0">
              <a:lnSpc>
                <a:spcPct val="120000"/>
              </a:lnSpc>
              <a:buNone/>
            </a:pPr>
            <a:r>
              <a:rPr lang="en-US" sz="1100" dirty="0">
                <a:solidFill>
                  <a:srgbClr val="7F8C8D"/>
                </a:solidFill>
                <a:latin typeface="Hiragino Sans W3" pitchFamily="34" charset="0"/>
                <a:ea typeface="Hiragino Sans W3" pitchFamily="34" charset="-122"/>
                <a:cs typeface="Hiragino Sans W3" pitchFamily="34" charset="-120"/>
              </a:rPr>
              <a:t>185F/1,544opt/7UIパターン</a:t>
            </a:r>
            <a:endParaRPr lang="en-US" sz="1100" dirty="0"/>
          </a:p>
        </p:txBody>
      </p:sp>
      <p:sp>
        <p:nvSpPr>
          <p:cNvPr id="21" name="Shape 19"/>
          <p:cNvSpPr/>
          <p:nvPr/>
        </p:nvSpPr>
        <p:spPr>
          <a:xfrm>
            <a:off x="7589520" y="2148840"/>
            <a:ext cx="6766560" cy="1600200"/>
          </a:xfrm>
          <a:prstGeom prst="roundRect">
            <a:avLst>
              <a:gd name="adj" fmla="val 4571"/>
            </a:avLst>
          </a:prstGeom>
          <a:solidFill>
            <a:srgbClr val="FFFFFF"/>
          </a:solidFill>
          <a:ln w="12700">
            <a:solidFill>
              <a:srgbClr val="DCE1E8"/>
            </a:solidFill>
            <a:prstDash val="solid"/>
          </a:ln>
        </p:spPr>
      </p:sp>
      <p:sp>
        <p:nvSpPr>
          <p:cNvPr id="22" name="Text 20"/>
          <p:cNvSpPr/>
          <p:nvPr/>
        </p:nvSpPr>
        <p:spPr>
          <a:xfrm>
            <a:off x="7726680" y="2194560"/>
            <a:ext cx="1371600" cy="320040"/>
          </a:xfrm>
          <a:prstGeom prst="rect">
            <a:avLst/>
          </a:prstGeom>
          <a:noFill/>
          <a:ln/>
        </p:spPr>
        <p:txBody>
          <a:bodyPr wrap="square" rtlCol="0" anchor="ctr"/>
          <a:lstStyle/>
          <a:p>
            <a:pPr indent="0" marL="0">
              <a:buNone/>
            </a:pPr>
            <a:r>
              <a:rPr lang="en-US" sz="900" dirty="0">
                <a:solidFill>
                  <a:srgbClr val="7F8C8D"/>
                </a:solidFill>
                <a:latin typeface="Hiragino Sans W3" pitchFamily="34" charset="0"/>
                <a:ea typeface="Hiragino Sans W3" pitchFamily="34" charset="-122"/>
                <a:cs typeface="Hiragino Sans W3" pitchFamily="34" charset="-120"/>
              </a:rPr>
              <a:t>2025/12-26/1</a:t>
            </a:r>
            <a:endParaRPr lang="en-US" sz="900" dirty="0"/>
          </a:p>
        </p:txBody>
      </p:sp>
      <p:sp>
        <p:nvSpPr>
          <p:cNvPr id="23" name="Text 21"/>
          <p:cNvSpPr/>
          <p:nvPr/>
        </p:nvSpPr>
        <p:spPr>
          <a:xfrm>
            <a:off x="7726680" y="2468880"/>
            <a:ext cx="6492240" cy="365760"/>
          </a:xfrm>
          <a:prstGeom prst="rect">
            <a:avLst/>
          </a:prstGeom>
          <a:noFill/>
          <a:ln/>
        </p:spPr>
        <p:txBody>
          <a:bodyPr wrap="square" rtlCol="0" anchor="ctr"/>
          <a:lstStyle/>
          <a:p>
            <a:pPr indent="0" marL="0">
              <a:buNone/>
            </a:pPr>
            <a:r>
              <a:rPr lang="en-US" sz="1300" dirty="0">
                <a:solidFill>
                  <a:srgbClr val="2C3E50"/>
                </a:solidFill>
                <a:latin typeface="Hiragino Sans W6" pitchFamily="34" charset="0"/>
                <a:ea typeface="Hiragino Sans W6" pitchFamily="34" charset="-122"/>
                <a:cs typeface="Hiragino Sans W6" pitchFamily="34" charset="-120"/>
              </a:rPr>
              <a:t>マトリックスDB化</a:t>
            </a:r>
            <a:endParaRPr lang="en-US" sz="1300" dirty="0"/>
          </a:p>
        </p:txBody>
      </p:sp>
      <p:sp>
        <p:nvSpPr>
          <p:cNvPr id="24" name="Text 22"/>
          <p:cNvSpPr/>
          <p:nvPr/>
        </p:nvSpPr>
        <p:spPr>
          <a:xfrm>
            <a:off x="7726680" y="2880360"/>
            <a:ext cx="6492240" cy="731520"/>
          </a:xfrm>
          <a:prstGeom prst="rect">
            <a:avLst/>
          </a:prstGeom>
          <a:noFill/>
          <a:ln/>
        </p:spPr>
        <p:txBody>
          <a:bodyPr wrap="square" rtlCol="0" anchor="ctr"/>
          <a:lstStyle/>
          <a:p>
            <a:pPr indent="0" marL="0">
              <a:lnSpc>
                <a:spcPct val="120000"/>
              </a:lnSpc>
              <a:buNone/>
            </a:pPr>
            <a:r>
              <a:rPr lang="en-US" sz="1100" dirty="0">
                <a:solidFill>
                  <a:srgbClr val="7F8C8D"/>
                </a:solidFill>
                <a:latin typeface="Hiragino Sans W3" pitchFamily="34" charset="0"/>
                <a:ea typeface="Hiragino Sans W3" pitchFamily="34" charset="-122"/>
                <a:cs typeface="Hiragino Sans W3" pitchFamily="34" charset="-120"/>
              </a:rPr>
              <a:t>13段階×4層を6テーブルに</a:t>
            </a:r>
            <a:endParaRPr lang="en-US" sz="1100" dirty="0"/>
          </a:p>
          <a:p>
            <a:pPr indent="0" marL="0">
              <a:lnSpc>
                <a:spcPct val="120000"/>
              </a:lnSpc>
              <a:buNone/>
            </a:pPr>
            <a:r>
              <a:rPr lang="en-US" sz="1100" dirty="0">
                <a:solidFill>
                  <a:srgbClr val="7F8C8D"/>
                </a:solidFill>
                <a:latin typeface="Hiragino Sans W3" pitchFamily="34" charset="0"/>
                <a:ea typeface="Hiragino Sans W3" pitchFamily="34" charset="-122"/>
                <a:cs typeface="Hiragino Sans W3" pitchFamily="34" charset="-120"/>
              </a:rPr>
              <a:t>正規化</a:t>
            </a:r>
            <a:endParaRPr lang="en-US" sz="1100" dirty="0"/>
          </a:p>
        </p:txBody>
      </p:sp>
      <p:sp>
        <p:nvSpPr>
          <p:cNvPr id="25" name="Shape 23"/>
          <p:cNvSpPr/>
          <p:nvPr/>
        </p:nvSpPr>
        <p:spPr>
          <a:xfrm>
            <a:off x="7589520" y="3977640"/>
            <a:ext cx="6766560" cy="1600200"/>
          </a:xfrm>
          <a:prstGeom prst="roundRect">
            <a:avLst>
              <a:gd name="adj" fmla="val 4571"/>
            </a:avLst>
          </a:prstGeom>
          <a:solidFill>
            <a:srgbClr val="FFFFFF"/>
          </a:solidFill>
          <a:ln w="12700">
            <a:solidFill>
              <a:srgbClr val="DCE1E8"/>
            </a:solidFill>
            <a:prstDash val="solid"/>
          </a:ln>
        </p:spPr>
      </p:sp>
      <p:sp>
        <p:nvSpPr>
          <p:cNvPr id="26" name="Text 24"/>
          <p:cNvSpPr/>
          <p:nvPr/>
        </p:nvSpPr>
        <p:spPr>
          <a:xfrm>
            <a:off x="7726680" y="4023360"/>
            <a:ext cx="1371600" cy="320040"/>
          </a:xfrm>
          <a:prstGeom prst="rect">
            <a:avLst/>
          </a:prstGeom>
          <a:noFill/>
          <a:ln/>
        </p:spPr>
        <p:txBody>
          <a:bodyPr wrap="square" rtlCol="0" anchor="ctr"/>
          <a:lstStyle/>
          <a:p>
            <a:pPr indent="0" marL="0">
              <a:buNone/>
            </a:pPr>
            <a:r>
              <a:rPr lang="en-US" sz="900" dirty="0">
                <a:solidFill>
                  <a:srgbClr val="7F8C8D"/>
                </a:solidFill>
                <a:latin typeface="Hiragino Sans W3" pitchFamily="34" charset="0"/>
                <a:ea typeface="Hiragino Sans W3" pitchFamily="34" charset="-122"/>
                <a:cs typeface="Hiragino Sans W3" pitchFamily="34" charset="-120"/>
              </a:rPr>
              <a:t>2026/1-2</a:t>
            </a:r>
            <a:endParaRPr lang="en-US" sz="900" dirty="0"/>
          </a:p>
        </p:txBody>
      </p:sp>
      <p:sp>
        <p:nvSpPr>
          <p:cNvPr id="27" name="Text 25"/>
          <p:cNvSpPr/>
          <p:nvPr/>
        </p:nvSpPr>
        <p:spPr>
          <a:xfrm>
            <a:off x="7726680" y="4297680"/>
            <a:ext cx="6492240" cy="365760"/>
          </a:xfrm>
          <a:prstGeom prst="rect">
            <a:avLst/>
          </a:prstGeom>
          <a:noFill/>
          <a:ln/>
        </p:spPr>
        <p:txBody>
          <a:bodyPr wrap="square" rtlCol="0" anchor="ctr"/>
          <a:lstStyle/>
          <a:p>
            <a:pPr indent="0" marL="0">
              <a:buNone/>
            </a:pPr>
            <a:r>
              <a:rPr lang="en-US" sz="1300" dirty="0">
                <a:solidFill>
                  <a:srgbClr val="2C3E50"/>
                </a:solidFill>
                <a:latin typeface="Hiragino Sans W6" pitchFamily="34" charset="0"/>
                <a:ea typeface="Hiragino Sans W6" pitchFamily="34" charset="-122"/>
                <a:cs typeface="Hiragino Sans W6" pitchFamily="34" charset="-120"/>
              </a:rPr>
              <a:t>先行技術調査</a:t>
            </a:r>
            <a:endParaRPr lang="en-US" sz="1300" dirty="0"/>
          </a:p>
        </p:txBody>
      </p:sp>
      <p:sp>
        <p:nvSpPr>
          <p:cNvPr id="28" name="Text 26"/>
          <p:cNvSpPr/>
          <p:nvPr/>
        </p:nvSpPr>
        <p:spPr>
          <a:xfrm>
            <a:off x="7726680" y="4709160"/>
            <a:ext cx="6492240" cy="731520"/>
          </a:xfrm>
          <a:prstGeom prst="rect">
            <a:avLst/>
          </a:prstGeom>
          <a:noFill/>
          <a:ln/>
        </p:spPr>
        <p:txBody>
          <a:bodyPr wrap="square" rtlCol="0" anchor="ctr"/>
          <a:lstStyle/>
          <a:p>
            <a:pPr indent="0" marL="0">
              <a:lnSpc>
                <a:spcPct val="120000"/>
              </a:lnSpc>
              <a:buNone/>
            </a:pPr>
            <a:r>
              <a:rPr lang="en-US" sz="1100" dirty="0">
                <a:solidFill>
                  <a:srgbClr val="7F8C8D"/>
                </a:solidFill>
                <a:latin typeface="Hiragino Sans W3" pitchFamily="34" charset="0"/>
                <a:ea typeface="Hiragino Sans W3" pitchFamily="34" charset="-122"/>
                <a:cs typeface="Hiragino Sans W3" pitchFamily="34" charset="-120"/>
              </a:rPr>
              <a:t>3特許の新規性確認</a:t>
            </a:r>
            <a:endParaRPr lang="en-US" sz="1100" dirty="0"/>
          </a:p>
          <a:p>
            <a:pPr indent="0" marL="0">
              <a:lnSpc>
                <a:spcPct val="120000"/>
              </a:lnSpc>
              <a:buNone/>
            </a:pPr>
            <a:r>
              <a:rPr lang="en-US" sz="1100" dirty="0">
                <a:solidFill>
                  <a:srgbClr val="7F8C8D"/>
                </a:solidFill>
                <a:latin typeface="Hiragino Sans W3" pitchFamily="34" charset="0"/>
                <a:ea typeface="Hiragino Sans W3" pitchFamily="34" charset="-122"/>
                <a:cs typeface="Hiragino Sans W3" pitchFamily="34" charset="-120"/>
              </a:rPr>
              <a:t>請求項案作成済み</a:t>
            </a:r>
            <a:endParaRPr lang="en-US" sz="1100" dirty="0"/>
          </a:p>
        </p:txBody>
      </p:sp>
      <p:sp>
        <p:nvSpPr>
          <p:cNvPr id="29" name="Shape 27"/>
          <p:cNvSpPr/>
          <p:nvPr/>
        </p:nvSpPr>
        <p:spPr>
          <a:xfrm>
            <a:off x="7589520" y="5806440"/>
            <a:ext cx="6766560" cy="1600200"/>
          </a:xfrm>
          <a:prstGeom prst="roundRect">
            <a:avLst>
              <a:gd name="adj" fmla="val 4571"/>
            </a:avLst>
          </a:prstGeom>
          <a:solidFill>
            <a:srgbClr val="FFFFFF"/>
          </a:solidFill>
          <a:ln w="12700">
            <a:solidFill>
              <a:srgbClr val="DCE1E8"/>
            </a:solidFill>
            <a:prstDash val="solid"/>
          </a:ln>
        </p:spPr>
      </p:sp>
      <p:sp>
        <p:nvSpPr>
          <p:cNvPr id="30" name="Text 28"/>
          <p:cNvSpPr/>
          <p:nvPr/>
        </p:nvSpPr>
        <p:spPr>
          <a:xfrm>
            <a:off x="7726680" y="5852160"/>
            <a:ext cx="1371600" cy="320040"/>
          </a:xfrm>
          <a:prstGeom prst="rect">
            <a:avLst/>
          </a:prstGeom>
          <a:noFill/>
          <a:ln/>
        </p:spPr>
        <p:txBody>
          <a:bodyPr wrap="square" rtlCol="0" anchor="ctr"/>
          <a:lstStyle/>
          <a:p>
            <a:pPr indent="0" marL="0">
              <a:buNone/>
            </a:pPr>
            <a:r>
              <a:rPr lang="en-US" sz="900" dirty="0">
                <a:solidFill>
                  <a:srgbClr val="7F8C8D"/>
                </a:solidFill>
                <a:latin typeface="Hiragino Sans W3" pitchFamily="34" charset="0"/>
                <a:ea typeface="Hiragino Sans W3" pitchFamily="34" charset="-122"/>
                <a:cs typeface="Hiragino Sans W3" pitchFamily="34" charset="-120"/>
              </a:rPr>
              <a:t>2026/2-3</a:t>
            </a:r>
            <a:endParaRPr lang="en-US" sz="900" dirty="0"/>
          </a:p>
        </p:txBody>
      </p:sp>
      <p:sp>
        <p:nvSpPr>
          <p:cNvPr id="31" name="Text 29"/>
          <p:cNvSpPr/>
          <p:nvPr/>
        </p:nvSpPr>
        <p:spPr>
          <a:xfrm>
            <a:off x="7726680" y="6126480"/>
            <a:ext cx="6492240" cy="365760"/>
          </a:xfrm>
          <a:prstGeom prst="rect">
            <a:avLst/>
          </a:prstGeom>
          <a:noFill/>
          <a:ln/>
        </p:spPr>
        <p:txBody>
          <a:bodyPr wrap="square" rtlCol="0" anchor="ctr"/>
          <a:lstStyle/>
          <a:p>
            <a:pPr indent="0" marL="0">
              <a:buNone/>
            </a:pPr>
            <a:r>
              <a:rPr lang="en-US" sz="1300" dirty="0">
                <a:solidFill>
                  <a:srgbClr val="2C3E50"/>
                </a:solidFill>
                <a:latin typeface="Hiragino Sans W6" pitchFamily="34" charset="0"/>
                <a:ea typeface="Hiragino Sans W6" pitchFamily="34" charset="-122"/>
                <a:cs typeface="Hiragino Sans W6" pitchFamily="34" charset="-120"/>
              </a:rPr>
              <a:t>全画面WF設計</a:t>
            </a:r>
            <a:endParaRPr lang="en-US" sz="1300" dirty="0"/>
          </a:p>
        </p:txBody>
      </p:sp>
      <p:sp>
        <p:nvSpPr>
          <p:cNvPr id="32" name="Text 30"/>
          <p:cNvSpPr/>
          <p:nvPr/>
        </p:nvSpPr>
        <p:spPr>
          <a:xfrm>
            <a:off x="7726680" y="6537960"/>
            <a:ext cx="6492240" cy="731520"/>
          </a:xfrm>
          <a:prstGeom prst="rect">
            <a:avLst/>
          </a:prstGeom>
          <a:noFill/>
          <a:ln/>
        </p:spPr>
        <p:txBody>
          <a:bodyPr wrap="square" rtlCol="0" anchor="ctr"/>
          <a:lstStyle/>
          <a:p>
            <a:pPr indent="0" marL="0">
              <a:lnSpc>
                <a:spcPct val="120000"/>
              </a:lnSpc>
              <a:buNone/>
            </a:pPr>
            <a:r>
              <a:rPr lang="en-US" sz="1100" dirty="0">
                <a:solidFill>
                  <a:srgbClr val="7F8C8D"/>
                </a:solidFill>
                <a:latin typeface="Hiragino Sans W3" pitchFamily="34" charset="0"/>
                <a:ea typeface="Hiragino Sans W3" pitchFamily="34" charset="-122"/>
                <a:cs typeface="Hiragino Sans W3" pitchFamily="34" charset="-120"/>
              </a:rPr>
              <a:t>PC28+タブ12+スマホ40</a:t>
            </a:r>
            <a:endParaRPr lang="en-US" sz="1100" dirty="0"/>
          </a:p>
          <a:p>
            <a:pPr indent="0" marL="0">
              <a:lnSpc>
                <a:spcPct val="120000"/>
              </a:lnSpc>
              <a:buNone/>
            </a:pPr>
            <a:r>
              <a:rPr lang="en-US" sz="1100" dirty="0">
                <a:solidFill>
                  <a:srgbClr val="7F8C8D"/>
                </a:solidFill>
                <a:latin typeface="Hiragino Sans W3" pitchFamily="34" charset="0"/>
                <a:ea typeface="Hiragino Sans W3" pitchFamily="34" charset="-122"/>
                <a:cs typeface="Hiragino Sans W3" pitchFamily="34" charset="-120"/>
              </a:rPr>
              <a:t>= 全80画面</a:t>
            </a:r>
            <a:endParaRPr lang="en-US" sz="1100" dirty="0"/>
          </a:p>
        </p:txBody>
      </p:sp>
      <p:sp>
        <p:nvSpPr>
          <p:cNvPr id="33" name="Text 31"/>
          <p:cNvSpPr/>
          <p:nvPr/>
        </p:nvSpPr>
        <p:spPr>
          <a:xfrm>
            <a:off x="13258800" y="7818120"/>
            <a:ext cx="914400" cy="274320"/>
          </a:xfrm>
          <a:prstGeom prst="rect">
            <a:avLst/>
          </a:prstGeom>
          <a:noFill/>
          <a:ln/>
        </p:spPr>
        <p:txBody>
          <a:bodyPr wrap="square" rtlCol="0" anchor="ctr"/>
          <a:lstStyle/>
          <a:p>
            <a:pPr algn="r" indent="0" marL="0">
              <a:buNone/>
            </a:pPr>
            <a:r>
              <a:rPr lang="en-US" sz="800" dirty="0">
                <a:solidFill>
                  <a:srgbClr val="7F8C8D"/>
                </a:solidFill>
                <a:latin typeface="Hiragino Sans W3" pitchFamily="34" charset="0"/>
                <a:ea typeface="Hiragino Sans W3" pitchFamily="34" charset="-122"/>
                <a:cs typeface="Hiragino Sans W3" pitchFamily="34" charset="-120"/>
              </a:rPr>
              <a:t>8 / 15</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4630400" cy="1417320"/>
          </a:xfrm>
          <a:prstGeom prst="rect">
            <a:avLst/>
          </a:prstGeom>
          <a:solidFill>
            <a:srgbClr val="1A1A2E"/>
          </a:solidFill>
          <a:ln/>
        </p:spPr>
      </p:sp>
      <p:sp>
        <p:nvSpPr>
          <p:cNvPr id="3" name="Text 1"/>
          <p:cNvSpPr/>
          <p:nvPr/>
        </p:nvSpPr>
        <p:spPr>
          <a:xfrm>
            <a:off x="548640" y="182880"/>
            <a:ext cx="13533120" cy="594360"/>
          </a:xfrm>
          <a:prstGeom prst="rect">
            <a:avLst/>
          </a:prstGeom>
          <a:noFill/>
          <a:ln/>
        </p:spPr>
        <p:txBody>
          <a:bodyPr wrap="square" rtlCol="0" anchor="ctr"/>
          <a:lstStyle/>
          <a:p>
            <a:pPr indent="0" marL="0">
              <a:buNone/>
            </a:pPr>
            <a:r>
              <a:rPr lang="en-US" sz="2600" b="1" dirty="0">
                <a:solidFill>
                  <a:srgbClr val="FFFFFF"/>
                </a:solidFill>
                <a:latin typeface="Hiragino Sans W6" pitchFamily="34" charset="0"/>
                <a:ea typeface="Hiragino Sans W6" pitchFamily="34" charset="-122"/>
                <a:cs typeface="Hiragino Sans W6" pitchFamily="34" charset="-120"/>
              </a:rPr>
              <a:t>事業モデルと市場規模：国内432億円＋海外1.7兆円</a:t>
            </a:r>
            <a:endParaRPr lang="en-US" sz="2600" dirty="0"/>
          </a:p>
        </p:txBody>
      </p:sp>
      <p:sp>
        <p:nvSpPr>
          <p:cNvPr id="4" name="Text 2"/>
          <p:cNvSpPr/>
          <p:nvPr/>
        </p:nvSpPr>
        <p:spPr>
          <a:xfrm>
            <a:off x="548640" y="822960"/>
            <a:ext cx="13533120" cy="411480"/>
          </a:xfrm>
          <a:prstGeom prst="rect">
            <a:avLst/>
          </a:prstGeom>
          <a:noFill/>
          <a:ln/>
        </p:spPr>
        <p:txBody>
          <a:bodyPr wrap="square" rtlCol="0" anchor="ctr"/>
          <a:lstStyle/>
          <a:p>
            <a:pPr indent="0" marL="0">
              <a:buNone/>
            </a:pPr>
            <a:r>
              <a:rPr lang="en-US" sz="1300" dirty="0">
                <a:solidFill>
                  <a:srgbClr val="B0BEC5"/>
                </a:solidFill>
                <a:latin typeface="Hiragino Sans W3" pitchFamily="34" charset="0"/>
                <a:ea typeface="Hiragino Sans W3" pitchFamily="34" charset="-122"/>
                <a:cs typeface="Hiragino Sans W3" pitchFamily="34" charset="-120"/>
              </a:rPr>
              <a:t>SaaSサブスクリプション × 段階的情報開示による独自の課金構造</a:t>
            </a:r>
            <a:endParaRPr lang="en-US" sz="1300" dirty="0"/>
          </a:p>
        </p:txBody>
      </p:sp>
      <p:sp>
        <p:nvSpPr>
          <p:cNvPr id="5" name="Shape 3"/>
          <p:cNvSpPr/>
          <p:nvPr/>
        </p:nvSpPr>
        <p:spPr>
          <a:xfrm>
            <a:off x="548640" y="1508760"/>
            <a:ext cx="13533120" cy="347472"/>
          </a:xfrm>
          <a:prstGeom prst="roundRect">
            <a:avLst>
              <a:gd name="adj" fmla="val 7895"/>
            </a:avLst>
          </a:prstGeom>
          <a:solidFill>
            <a:srgbClr val="4A90D9"/>
          </a:solidFill>
          <a:ln/>
        </p:spPr>
      </p:sp>
      <p:sp>
        <p:nvSpPr>
          <p:cNvPr id="6" name="Text 4"/>
          <p:cNvSpPr/>
          <p:nvPr/>
        </p:nvSpPr>
        <p:spPr>
          <a:xfrm>
            <a:off x="731520" y="1508760"/>
            <a:ext cx="13167360" cy="347472"/>
          </a:xfrm>
          <a:prstGeom prst="rect">
            <a:avLst/>
          </a:prstGeom>
          <a:noFill/>
          <a:ln/>
        </p:spPr>
        <p:txBody>
          <a:bodyPr wrap="square" rtlCol="0" anchor="ctr"/>
          <a:lstStyle/>
          <a:p>
            <a:pPr indent="0" marL="0">
              <a:buNone/>
            </a:pPr>
            <a:r>
              <a:rPr lang="en-US" sz="1100" dirty="0">
                <a:solidFill>
                  <a:srgbClr val="FFFFFF"/>
                </a:solidFill>
                <a:latin typeface="Hiragino Sans W6" pitchFamily="34" charset="0"/>
                <a:ea typeface="Hiragino Sans W6" pitchFamily="34" charset="-122"/>
                <a:cs typeface="Hiragino Sans W6" pitchFamily="34" charset="-120"/>
              </a:rPr>
              <a:t>補足：申請書「8. 販路開拓」「ターゲット市場規模」「売上計画」</a:t>
            </a:r>
            <a:endParaRPr lang="en-US" sz="1100" dirty="0"/>
          </a:p>
        </p:txBody>
      </p:sp>
      <p:sp>
        <p:nvSpPr>
          <p:cNvPr id="7" name="Shape 5"/>
          <p:cNvSpPr/>
          <p:nvPr/>
        </p:nvSpPr>
        <p:spPr>
          <a:xfrm>
            <a:off x="12618720" y="1527048"/>
            <a:ext cx="1645920" cy="292608"/>
          </a:xfrm>
          <a:prstGeom prst="roundRect">
            <a:avLst>
              <a:gd name="adj" fmla="val 12500"/>
            </a:avLst>
          </a:prstGeom>
          <a:solidFill>
            <a:srgbClr val="E8FAF0"/>
          </a:solidFill>
          <a:ln w="10160">
            <a:solidFill>
              <a:srgbClr val="27AE60"/>
            </a:solidFill>
            <a:prstDash val="solid"/>
          </a:ln>
        </p:spPr>
      </p:sp>
      <p:sp>
        <p:nvSpPr>
          <p:cNvPr id="8" name="Text 6"/>
          <p:cNvSpPr/>
          <p:nvPr/>
        </p:nvSpPr>
        <p:spPr>
          <a:xfrm>
            <a:off x="12618720" y="1527048"/>
            <a:ext cx="1645920" cy="292608"/>
          </a:xfrm>
          <a:prstGeom prst="rect">
            <a:avLst/>
          </a:prstGeom>
          <a:noFill/>
          <a:ln/>
        </p:spPr>
        <p:txBody>
          <a:bodyPr wrap="square" rtlCol="0" anchor="ctr"/>
          <a:lstStyle/>
          <a:p>
            <a:pPr algn="ctr" indent="0" marL="0">
              <a:buNone/>
            </a:pPr>
            <a:r>
              <a:rPr lang="en-US" sz="900" dirty="0">
                <a:solidFill>
                  <a:srgbClr val="27AE60"/>
                </a:solidFill>
                <a:latin typeface="Hiragino Sans W6" pitchFamily="34" charset="0"/>
                <a:ea typeface="Hiragino Sans W6" pitchFamily="34" charset="-122"/>
                <a:cs typeface="Hiragino Sans W6" pitchFamily="34" charset="-120"/>
              </a:rPr>
              <a:t>審査軸：事業性</a:t>
            </a:r>
            <a:endParaRPr lang="en-US" sz="900" dirty="0"/>
          </a:p>
        </p:txBody>
      </p:sp>
      <p:sp>
        <p:nvSpPr>
          <p:cNvPr id="9" name="Shape 7"/>
          <p:cNvSpPr/>
          <p:nvPr/>
        </p:nvSpPr>
        <p:spPr>
          <a:xfrm>
            <a:off x="548640" y="2057400"/>
            <a:ext cx="13533120" cy="2286000"/>
          </a:xfrm>
          <a:prstGeom prst="roundRect">
            <a:avLst>
              <a:gd name="adj" fmla="val 3200"/>
            </a:avLst>
          </a:prstGeom>
          <a:solidFill>
            <a:srgbClr val="FFFFFF"/>
          </a:solidFill>
          <a:ln w="12700">
            <a:solidFill>
              <a:srgbClr val="DCE1E8"/>
            </a:solidFill>
            <a:prstDash val="solid"/>
          </a:ln>
        </p:spPr>
      </p:sp>
      <p:sp>
        <p:nvSpPr>
          <p:cNvPr id="10" name="Text 8"/>
          <p:cNvSpPr/>
          <p:nvPr/>
        </p:nvSpPr>
        <p:spPr>
          <a:xfrm>
            <a:off x="731520" y="2148840"/>
            <a:ext cx="3657600" cy="320040"/>
          </a:xfrm>
          <a:prstGeom prst="rect">
            <a:avLst/>
          </a:prstGeom>
          <a:noFill/>
          <a:ln/>
        </p:spPr>
        <p:txBody>
          <a:bodyPr wrap="square" rtlCol="0" anchor="ctr"/>
          <a:lstStyle/>
          <a:p>
            <a:pPr indent="0" marL="0">
              <a:buNone/>
            </a:pPr>
            <a:r>
              <a:rPr lang="en-US" sz="1400" dirty="0">
                <a:solidFill>
                  <a:srgbClr val="2C3E50"/>
                </a:solidFill>
                <a:latin typeface="Hiragino Sans W6" pitchFamily="34" charset="0"/>
                <a:ea typeface="Hiragino Sans W6" pitchFamily="34" charset="-122"/>
                <a:cs typeface="Hiragino Sans W6" pitchFamily="34" charset="-120"/>
              </a:rPr>
              <a:t>収益モデル</a:t>
            </a:r>
            <a:endParaRPr lang="en-US" sz="1400" dirty="0"/>
          </a:p>
        </p:txBody>
      </p:sp>
      <p:sp>
        <p:nvSpPr>
          <p:cNvPr id="11" name="Text 9"/>
          <p:cNvSpPr/>
          <p:nvPr/>
        </p:nvSpPr>
        <p:spPr>
          <a:xfrm>
            <a:off x="731520" y="2560320"/>
            <a:ext cx="13167360" cy="1554480"/>
          </a:xfrm>
          <a:prstGeom prst="rect">
            <a:avLst/>
          </a:prstGeom>
          <a:noFill/>
          <a:ln/>
        </p:spPr>
        <p:txBody>
          <a:bodyPr wrap="square" rtlCol="0" anchor="ctr"/>
          <a:lstStyle/>
          <a:p>
            <a:pPr indent="0" marL="0">
              <a:buNone/>
            </a:pPr>
            <a:r>
              <a:rPr lang="en-US" sz="1600" dirty="0">
                <a:solidFill>
                  <a:srgbClr val="4A90D9"/>
                </a:solidFill>
                <a:latin typeface="Hiragino Sans W6" pitchFamily="34" charset="0"/>
                <a:ea typeface="Hiragino Sans W6" pitchFamily="34" charset="-122"/>
                <a:cs typeface="Hiragino Sans W6" pitchFamily="34" charset="-120"/>
              </a:rPr>
              <a:t>SaaSサブスクリプション</a:t>
            </a:r>
            <a:endParaRPr lang="en-US" sz="1600" dirty="0"/>
          </a:p>
          <a:p>
            <a:pPr indent="0" marL="0">
              <a:buNone/>
            </a:pPr>
            <a:r>
              <a:rPr lang="en-US" sz="1200" dirty="0">
                <a:solidFill>
                  <a:srgbClr val="2C3E50"/>
                </a:solidFill>
                <a:latin typeface="Hiragino Sans W3" pitchFamily="34" charset="0"/>
                <a:ea typeface="Hiragino Sans W3" pitchFamily="34" charset="-122"/>
                <a:cs typeface="Hiragino Sans W3" pitchFamily="34" charset="-120"/>
              </a:rPr>
              <a:t>利用者1人あたり日額300〜500円（情報開示レベルL1〜L4）。36名定員施設で月額32〜45万円。</a:t>
            </a:r>
            <a:endParaRPr lang="en-US" sz="1600" dirty="0"/>
          </a:p>
          <a:p>
            <a:pPr indent="0" marL="0">
              <a:buNone/>
            </a:pPr>
            <a:r>
              <a:rPr lang="en-US" sz="1200" dirty="0">
                <a:solidFill>
                  <a:srgbClr val="7F8C8D"/>
                </a:solidFill>
                <a:latin typeface="Hiragino Sans W3" pitchFamily="34" charset="0"/>
                <a:ea typeface="Hiragino Sans W3" pitchFamily="34" charset="-122"/>
                <a:cs typeface="Hiragino Sans W3" pitchFamily="34" charset="-120"/>
              </a:rPr>
              <a:t>情報を多く開示する施設ほど割引 → データ共有のインセンティブ設計</a:t>
            </a:r>
            <a:endParaRPr lang="en-US" sz="1600" dirty="0"/>
          </a:p>
        </p:txBody>
      </p:sp>
      <p:sp>
        <p:nvSpPr>
          <p:cNvPr id="12" name="Shape 10"/>
          <p:cNvSpPr/>
          <p:nvPr/>
        </p:nvSpPr>
        <p:spPr>
          <a:xfrm>
            <a:off x="548640" y="4663440"/>
            <a:ext cx="4297680" cy="2834640"/>
          </a:xfrm>
          <a:prstGeom prst="roundRect">
            <a:avLst>
              <a:gd name="adj" fmla="val 2581"/>
            </a:avLst>
          </a:prstGeom>
          <a:solidFill>
            <a:srgbClr val="EBF5FB"/>
          </a:solidFill>
          <a:ln w="12700">
            <a:solidFill>
              <a:srgbClr val="3498DB"/>
            </a:solidFill>
            <a:prstDash val="solid"/>
          </a:ln>
        </p:spPr>
      </p:sp>
      <p:sp>
        <p:nvSpPr>
          <p:cNvPr id="13" name="Text 11"/>
          <p:cNvSpPr/>
          <p:nvPr/>
        </p:nvSpPr>
        <p:spPr>
          <a:xfrm>
            <a:off x="548640" y="4754880"/>
            <a:ext cx="2011680" cy="365760"/>
          </a:xfrm>
          <a:prstGeom prst="rect">
            <a:avLst/>
          </a:prstGeom>
          <a:noFill/>
          <a:ln/>
        </p:spPr>
        <p:txBody>
          <a:bodyPr wrap="square" rtlCol="0" anchor="ctr"/>
          <a:lstStyle/>
          <a:p>
            <a:pPr indent="0" marL="0">
              <a:buNone/>
            </a:pPr>
            <a:r>
              <a:rPr lang="en-US" sz="1600" dirty="0">
                <a:solidFill>
                  <a:srgbClr val="3498DB"/>
                </a:solidFill>
                <a:latin typeface="Hiragino Sans W6" pitchFamily="34" charset="0"/>
                <a:ea typeface="Hiragino Sans W6" pitchFamily="34" charset="-122"/>
                <a:cs typeface="Hiragino Sans W6" pitchFamily="34" charset="-120"/>
              </a:rPr>
              <a:t>Year 1</a:t>
            </a:r>
            <a:endParaRPr lang="en-US" sz="1600" dirty="0"/>
          </a:p>
        </p:txBody>
      </p:sp>
      <p:sp>
        <p:nvSpPr>
          <p:cNvPr id="14" name="Text 12"/>
          <p:cNvSpPr/>
          <p:nvPr/>
        </p:nvSpPr>
        <p:spPr>
          <a:xfrm>
            <a:off x="2560320" y="4754880"/>
            <a:ext cx="2103120" cy="365760"/>
          </a:xfrm>
          <a:prstGeom prst="rect">
            <a:avLst/>
          </a:prstGeom>
          <a:noFill/>
          <a:ln/>
        </p:spPr>
        <p:txBody>
          <a:bodyPr wrap="square" rtlCol="0" anchor="ctr"/>
          <a:lstStyle/>
          <a:p>
            <a:pPr algn="r" indent="0" marL="0">
              <a:buNone/>
            </a:pPr>
            <a:r>
              <a:rPr lang="en-US" sz="1000" dirty="0">
                <a:solidFill>
                  <a:srgbClr val="7F8C8D"/>
                </a:solidFill>
                <a:latin typeface="Hiragino Sans W3" pitchFamily="34" charset="0"/>
                <a:ea typeface="Hiragino Sans W3" pitchFamily="34" charset="-122"/>
                <a:cs typeface="Hiragino Sans W3" pitchFamily="34" charset="-120"/>
              </a:rPr>
              <a:t>2027/10-2028/9</a:t>
            </a:r>
            <a:endParaRPr lang="en-US" sz="1000" dirty="0"/>
          </a:p>
        </p:txBody>
      </p:sp>
      <p:sp>
        <p:nvSpPr>
          <p:cNvPr id="15" name="Text 13"/>
          <p:cNvSpPr/>
          <p:nvPr/>
        </p:nvSpPr>
        <p:spPr>
          <a:xfrm>
            <a:off x="685800" y="5212080"/>
            <a:ext cx="4023360" cy="365760"/>
          </a:xfrm>
          <a:prstGeom prst="rect">
            <a:avLst/>
          </a:prstGeom>
          <a:noFill/>
          <a:ln/>
        </p:spPr>
        <p:txBody>
          <a:bodyPr wrap="square" rtlCol="0" anchor="ctr"/>
          <a:lstStyle/>
          <a:p>
            <a:pPr indent="0" marL="0">
              <a:buNone/>
            </a:pPr>
            <a:r>
              <a:rPr lang="en-US" sz="1200" dirty="0">
                <a:solidFill>
                  <a:srgbClr val="2C3E50"/>
                </a:solidFill>
                <a:latin typeface="Hiragino Sans W6" pitchFamily="34" charset="0"/>
                <a:ea typeface="Hiragino Sans W6" pitchFamily="34" charset="-122"/>
                <a:cs typeface="Hiragino Sans W6" pitchFamily="34" charset="-120"/>
              </a:rPr>
              <a:t>自社2施設で実証運用</a:t>
            </a:r>
            <a:endParaRPr lang="en-US" sz="1200" dirty="0"/>
          </a:p>
        </p:txBody>
      </p:sp>
      <p:sp>
        <p:nvSpPr>
          <p:cNvPr id="16" name="Text 14"/>
          <p:cNvSpPr/>
          <p:nvPr/>
        </p:nvSpPr>
        <p:spPr>
          <a:xfrm>
            <a:off x="685800" y="5623560"/>
            <a:ext cx="4023360" cy="320040"/>
          </a:xfrm>
          <a:prstGeom prst="rect">
            <a:avLst/>
          </a:prstGeom>
          <a:noFill/>
          <a:ln/>
        </p:spPr>
        <p:txBody>
          <a:bodyPr wrap="square" rtlCol="0" anchor="ctr"/>
          <a:lstStyle/>
          <a:p>
            <a:pPr indent="0" marL="0">
              <a:buNone/>
            </a:pPr>
            <a:r>
              <a:rPr lang="en-US" sz="1200" dirty="0">
                <a:solidFill>
                  <a:srgbClr val="2C3E50"/>
                </a:solidFill>
                <a:latin typeface="Hiragino Sans W3" pitchFamily="34" charset="0"/>
                <a:ea typeface="Hiragino Sans W3" pitchFamily="34" charset="-122"/>
                <a:cs typeface="Hiragino Sans W3" pitchFamily="34" charset="-120"/>
              </a:rPr>
              <a:t>売上：助成金収入</a:t>
            </a:r>
            <a:endParaRPr lang="en-US" sz="1200" dirty="0"/>
          </a:p>
        </p:txBody>
      </p:sp>
      <p:sp>
        <p:nvSpPr>
          <p:cNvPr id="17" name="Text 15"/>
          <p:cNvSpPr/>
          <p:nvPr/>
        </p:nvSpPr>
        <p:spPr>
          <a:xfrm>
            <a:off x="685800" y="6035040"/>
            <a:ext cx="4023360" cy="731520"/>
          </a:xfrm>
          <a:prstGeom prst="rect">
            <a:avLst/>
          </a:prstGeom>
          <a:noFill/>
          <a:ln/>
        </p:spPr>
        <p:txBody>
          <a:bodyPr wrap="square" rtlCol="0" anchor="ctr"/>
          <a:lstStyle/>
          <a:p>
            <a:pPr indent="0" marL="0">
              <a:lnSpc>
                <a:spcPct val="120000"/>
              </a:lnSpc>
              <a:buNone/>
            </a:pPr>
            <a:r>
              <a:rPr lang="en-US" sz="1100" dirty="0">
                <a:solidFill>
                  <a:srgbClr val="7F8C8D"/>
                </a:solidFill>
                <a:latin typeface="Hiragino Sans W3" pitchFamily="34" charset="0"/>
                <a:ea typeface="Hiragino Sans W3" pitchFamily="34" charset="-122"/>
                <a:cs typeface="Hiragino Sans W3" pitchFamily="34" charset="-120"/>
              </a:rPr>
              <a:t>記録時間15%削減</a:t>
            </a:r>
            <a:endParaRPr lang="en-US" sz="1100" dirty="0"/>
          </a:p>
          <a:p>
            <a:pPr indent="0" marL="0">
              <a:lnSpc>
                <a:spcPct val="120000"/>
              </a:lnSpc>
              <a:buNone/>
            </a:pPr>
            <a:r>
              <a:rPr lang="en-US" sz="1100" dirty="0">
                <a:solidFill>
                  <a:srgbClr val="7F8C8D"/>
                </a:solidFill>
                <a:latin typeface="Hiragino Sans W3" pitchFamily="34" charset="0"/>
                <a:ea typeface="Hiragino Sans W3" pitchFamily="34" charset="-122"/>
                <a:cs typeface="Hiragino Sans W3" pitchFamily="34" charset="-120"/>
              </a:rPr>
              <a:t>DAU70%以上</a:t>
            </a:r>
            <a:endParaRPr lang="en-US" sz="1100" dirty="0"/>
          </a:p>
        </p:txBody>
      </p:sp>
      <p:sp>
        <p:nvSpPr>
          <p:cNvPr id="18" name="Shape 16"/>
          <p:cNvSpPr/>
          <p:nvPr/>
        </p:nvSpPr>
        <p:spPr>
          <a:xfrm>
            <a:off x="5120640" y="4663440"/>
            <a:ext cx="4297680" cy="2834640"/>
          </a:xfrm>
          <a:prstGeom prst="roundRect">
            <a:avLst>
              <a:gd name="adj" fmla="val 2581"/>
            </a:avLst>
          </a:prstGeom>
          <a:solidFill>
            <a:srgbClr val="E8FAF0"/>
          </a:solidFill>
          <a:ln w="12700">
            <a:solidFill>
              <a:srgbClr val="2ECC71"/>
            </a:solidFill>
            <a:prstDash val="solid"/>
          </a:ln>
        </p:spPr>
      </p:sp>
      <p:sp>
        <p:nvSpPr>
          <p:cNvPr id="19" name="Text 17"/>
          <p:cNvSpPr/>
          <p:nvPr/>
        </p:nvSpPr>
        <p:spPr>
          <a:xfrm>
            <a:off x="5120640" y="4754880"/>
            <a:ext cx="2011680" cy="365760"/>
          </a:xfrm>
          <a:prstGeom prst="rect">
            <a:avLst/>
          </a:prstGeom>
          <a:noFill/>
          <a:ln/>
        </p:spPr>
        <p:txBody>
          <a:bodyPr wrap="square" rtlCol="0" anchor="ctr"/>
          <a:lstStyle/>
          <a:p>
            <a:pPr indent="0" marL="0">
              <a:buNone/>
            </a:pPr>
            <a:r>
              <a:rPr lang="en-US" sz="1600" dirty="0">
                <a:solidFill>
                  <a:srgbClr val="2ECC71"/>
                </a:solidFill>
                <a:latin typeface="Hiragino Sans W6" pitchFamily="34" charset="0"/>
                <a:ea typeface="Hiragino Sans W6" pitchFamily="34" charset="-122"/>
                <a:cs typeface="Hiragino Sans W6" pitchFamily="34" charset="-120"/>
              </a:rPr>
              <a:t>Year 2</a:t>
            </a:r>
            <a:endParaRPr lang="en-US" sz="1600" dirty="0"/>
          </a:p>
        </p:txBody>
      </p:sp>
      <p:sp>
        <p:nvSpPr>
          <p:cNvPr id="20" name="Text 18"/>
          <p:cNvSpPr/>
          <p:nvPr/>
        </p:nvSpPr>
        <p:spPr>
          <a:xfrm>
            <a:off x="7132320" y="4754880"/>
            <a:ext cx="2103120" cy="365760"/>
          </a:xfrm>
          <a:prstGeom prst="rect">
            <a:avLst/>
          </a:prstGeom>
          <a:noFill/>
          <a:ln/>
        </p:spPr>
        <p:txBody>
          <a:bodyPr wrap="square" rtlCol="0" anchor="ctr"/>
          <a:lstStyle/>
          <a:p>
            <a:pPr algn="r" indent="0" marL="0">
              <a:buNone/>
            </a:pPr>
            <a:r>
              <a:rPr lang="en-US" sz="1000" dirty="0">
                <a:solidFill>
                  <a:srgbClr val="7F8C8D"/>
                </a:solidFill>
                <a:latin typeface="Hiragino Sans W3" pitchFamily="34" charset="0"/>
                <a:ea typeface="Hiragino Sans W3" pitchFamily="34" charset="-122"/>
                <a:cs typeface="Hiragino Sans W3" pitchFamily="34" charset="-120"/>
              </a:rPr>
              <a:t>2027/10-2028/9</a:t>
            </a:r>
            <a:endParaRPr lang="en-US" sz="1000" dirty="0"/>
          </a:p>
        </p:txBody>
      </p:sp>
      <p:sp>
        <p:nvSpPr>
          <p:cNvPr id="21" name="Text 19"/>
          <p:cNvSpPr/>
          <p:nvPr/>
        </p:nvSpPr>
        <p:spPr>
          <a:xfrm>
            <a:off x="5257800" y="5212080"/>
            <a:ext cx="4023360" cy="365760"/>
          </a:xfrm>
          <a:prstGeom prst="rect">
            <a:avLst/>
          </a:prstGeom>
          <a:noFill/>
          <a:ln/>
        </p:spPr>
        <p:txBody>
          <a:bodyPr wrap="square" rtlCol="0" anchor="ctr"/>
          <a:lstStyle/>
          <a:p>
            <a:pPr indent="0" marL="0">
              <a:buNone/>
            </a:pPr>
            <a:r>
              <a:rPr lang="en-US" sz="1200" dirty="0">
                <a:solidFill>
                  <a:srgbClr val="2C3E50"/>
                </a:solidFill>
                <a:latin typeface="Hiragino Sans W6" pitchFamily="34" charset="0"/>
                <a:ea typeface="Hiragino Sans W6" pitchFamily="34" charset="-122"/>
                <a:cs typeface="Hiragino Sans W6" pitchFamily="34" charset="-120"/>
              </a:rPr>
              <a:t>パイロット10施設</a:t>
            </a:r>
            <a:endParaRPr lang="en-US" sz="1200" dirty="0"/>
          </a:p>
        </p:txBody>
      </p:sp>
      <p:sp>
        <p:nvSpPr>
          <p:cNvPr id="22" name="Text 20"/>
          <p:cNvSpPr/>
          <p:nvPr/>
        </p:nvSpPr>
        <p:spPr>
          <a:xfrm>
            <a:off x="5257800" y="5623560"/>
            <a:ext cx="4023360" cy="320040"/>
          </a:xfrm>
          <a:prstGeom prst="rect">
            <a:avLst/>
          </a:prstGeom>
          <a:noFill/>
          <a:ln/>
        </p:spPr>
        <p:txBody>
          <a:bodyPr wrap="square" rtlCol="0" anchor="ctr"/>
          <a:lstStyle/>
          <a:p>
            <a:pPr indent="0" marL="0">
              <a:buNone/>
            </a:pPr>
            <a:r>
              <a:rPr lang="en-US" sz="1200" dirty="0">
                <a:solidFill>
                  <a:srgbClr val="2C3E50"/>
                </a:solidFill>
                <a:latin typeface="Hiragino Sans W3" pitchFamily="34" charset="0"/>
                <a:ea typeface="Hiragino Sans W3" pitchFamily="34" charset="-122"/>
                <a:cs typeface="Hiragino Sans W3" pitchFamily="34" charset="-120"/>
              </a:rPr>
              <a:t>売上：1,750万円</a:t>
            </a:r>
            <a:endParaRPr lang="en-US" sz="1200" dirty="0"/>
          </a:p>
        </p:txBody>
      </p:sp>
      <p:sp>
        <p:nvSpPr>
          <p:cNvPr id="23" name="Text 21"/>
          <p:cNvSpPr/>
          <p:nvPr/>
        </p:nvSpPr>
        <p:spPr>
          <a:xfrm>
            <a:off x="5257800" y="6035040"/>
            <a:ext cx="4023360" cy="731520"/>
          </a:xfrm>
          <a:prstGeom prst="rect">
            <a:avLst/>
          </a:prstGeom>
          <a:noFill/>
          <a:ln/>
        </p:spPr>
        <p:txBody>
          <a:bodyPr wrap="square" rtlCol="0" anchor="ctr"/>
          <a:lstStyle/>
          <a:p>
            <a:pPr indent="0" marL="0">
              <a:lnSpc>
                <a:spcPct val="120000"/>
              </a:lnSpc>
              <a:buNone/>
            </a:pPr>
            <a:r>
              <a:rPr lang="en-US" sz="1100" dirty="0">
                <a:solidFill>
                  <a:srgbClr val="7F8C8D"/>
                </a:solidFill>
                <a:latin typeface="Hiragino Sans W3" pitchFamily="34" charset="0"/>
                <a:ea typeface="Hiragino Sans W3" pitchFamily="34" charset="-122"/>
                <a:cs typeface="Hiragino Sans W3" pitchFamily="34" charset="-120"/>
              </a:rPr>
              <a:t>NPS50以上</a:t>
            </a:r>
            <a:endParaRPr lang="en-US" sz="1100" dirty="0"/>
          </a:p>
          <a:p>
            <a:pPr indent="0" marL="0">
              <a:lnSpc>
                <a:spcPct val="120000"/>
              </a:lnSpc>
              <a:buNone/>
            </a:pPr>
            <a:r>
              <a:rPr lang="en-US" sz="1100" dirty="0">
                <a:solidFill>
                  <a:srgbClr val="7F8C8D"/>
                </a:solidFill>
                <a:latin typeface="Hiragino Sans W3" pitchFamily="34" charset="0"/>
                <a:ea typeface="Hiragino Sans W3" pitchFamily="34" charset="-122"/>
                <a:cs typeface="Hiragino Sans W3" pitchFamily="34" charset="-120"/>
              </a:rPr>
              <a:t>有償5施設</a:t>
            </a:r>
            <a:endParaRPr lang="en-US" sz="1100" dirty="0"/>
          </a:p>
        </p:txBody>
      </p:sp>
      <p:sp>
        <p:nvSpPr>
          <p:cNvPr id="24" name="Shape 22"/>
          <p:cNvSpPr/>
          <p:nvPr/>
        </p:nvSpPr>
        <p:spPr>
          <a:xfrm>
            <a:off x="9692640" y="4663440"/>
            <a:ext cx="4297680" cy="2834640"/>
          </a:xfrm>
          <a:prstGeom prst="roundRect">
            <a:avLst>
              <a:gd name="adj" fmla="val 2581"/>
            </a:avLst>
          </a:prstGeom>
          <a:solidFill>
            <a:srgbClr val="FDEDEC"/>
          </a:solidFill>
          <a:ln w="12700">
            <a:solidFill>
              <a:srgbClr val="E74C3C"/>
            </a:solidFill>
            <a:prstDash val="solid"/>
          </a:ln>
        </p:spPr>
      </p:sp>
      <p:sp>
        <p:nvSpPr>
          <p:cNvPr id="25" name="Text 23"/>
          <p:cNvSpPr/>
          <p:nvPr/>
        </p:nvSpPr>
        <p:spPr>
          <a:xfrm>
            <a:off x="9692640" y="4754880"/>
            <a:ext cx="2011680" cy="365760"/>
          </a:xfrm>
          <a:prstGeom prst="rect">
            <a:avLst/>
          </a:prstGeom>
          <a:noFill/>
          <a:ln/>
        </p:spPr>
        <p:txBody>
          <a:bodyPr wrap="square" rtlCol="0" anchor="ctr"/>
          <a:lstStyle/>
          <a:p>
            <a:pPr indent="0" marL="0">
              <a:buNone/>
            </a:pPr>
            <a:r>
              <a:rPr lang="en-US" sz="1600" dirty="0">
                <a:solidFill>
                  <a:srgbClr val="E74C3C"/>
                </a:solidFill>
                <a:latin typeface="Hiragino Sans W6" pitchFamily="34" charset="0"/>
                <a:ea typeface="Hiragino Sans W6" pitchFamily="34" charset="-122"/>
                <a:cs typeface="Hiragino Sans W6" pitchFamily="34" charset="-120"/>
              </a:rPr>
              <a:t>Year 3</a:t>
            </a:r>
            <a:endParaRPr lang="en-US" sz="1600" dirty="0"/>
          </a:p>
        </p:txBody>
      </p:sp>
      <p:sp>
        <p:nvSpPr>
          <p:cNvPr id="26" name="Text 24"/>
          <p:cNvSpPr/>
          <p:nvPr/>
        </p:nvSpPr>
        <p:spPr>
          <a:xfrm>
            <a:off x="11704320" y="4754880"/>
            <a:ext cx="2103120" cy="365760"/>
          </a:xfrm>
          <a:prstGeom prst="rect">
            <a:avLst/>
          </a:prstGeom>
          <a:noFill/>
          <a:ln/>
        </p:spPr>
        <p:txBody>
          <a:bodyPr wrap="square" rtlCol="0" anchor="ctr"/>
          <a:lstStyle/>
          <a:p>
            <a:pPr algn="r" indent="0" marL="0">
              <a:buNone/>
            </a:pPr>
            <a:r>
              <a:rPr lang="en-US" sz="1000" dirty="0">
                <a:solidFill>
                  <a:srgbClr val="7F8C8D"/>
                </a:solidFill>
                <a:latin typeface="Hiragino Sans W3" pitchFamily="34" charset="0"/>
                <a:ea typeface="Hiragino Sans W3" pitchFamily="34" charset="-122"/>
                <a:cs typeface="Hiragino Sans W3" pitchFamily="34" charset="-120"/>
              </a:rPr>
              <a:t>2028/10-2029/9</a:t>
            </a:r>
            <a:endParaRPr lang="en-US" sz="1000" dirty="0"/>
          </a:p>
        </p:txBody>
      </p:sp>
      <p:sp>
        <p:nvSpPr>
          <p:cNvPr id="27" name="Text 25"/>
          <p:cNvSpPr/>
          <p:nvPr/>
        </p:nvSpPr>
        <p:spPr>
          <a:xfrm>
            <a:off x="9829800" y="5212080"/>
            <a:ext cx="4023360" cy="365760"/>
          </a:xfrm>
          <a:prstGeom prst="rect">
            <a:avLst/>
          </a:prstGeom>
          <a:noFill/>
          <a:ln/>
        </p:spPr>
        <p:txBody>
          <a:bodyPr wrap="square" rtlCol="0" anchor="ctr"/>
          <a:lstStyle/>
          <a:p>
            <a:pPr indent="0" marL="0">
              <a:buNone/>
            </a:pPr>
            <a:r>
              <a:rPr lang="en-US" sz="1200" dirty="0">
                <a:solidFill>
                  <a:srgbClr val="2C3E50"/>
                </a:solidFill>
                <a:latin typeface="Hiragino Sans W6" pitchFamily="34" charset="0"/>
                <a:ea typeface="Hiragino Sans W6" pitchFamily="34" charset="-122"/>
                <a:cs typeface="Hiragino Sans W6" pitchFamily="34" charset="-120"/>
              </a:rPr>
              <a:t>有償30施設+海外3</a:t>
            </a:r>
            <a:endParaRPr lang="en-US" sz="1200" dirty="0"/>
          </a:p>
        </p:txBody>
      </p:sp>
      <p:sp>
        <p:nvSpPr>
          <p:cNvPr id="28" name="Text 26"/>
          <p:cNvSpPr/>
          <p:nvPr/>
        </p:nvSpPr>
        <p:spPr>
          <a:xfrm>
            <a:off x="9829800" y="5623560"/>
            <a:ext cx="4023360" cy="320040"/>
          </a:xfrm>
          <a:prstGeom prst="rect">
            <a:avLst/>
          </a:prstGeom>
          <a:noFill/>
          <a:ln/>
        </p:spPr>
        <p:txBody>
          <a:bodyPr wrap="square" rtlCol="0" anchor="ctr"/>
          <a:lstStyle/>
          <a:p>
            <a:pPr indent="0" marL="0">
              <a:buNone/>
            </a:pPr>
            <a:r>
              <a:rPr lang="en-US" sz="1200" dirty="0">
                <a:solidFill>
                  <a:srgbClr val="2C3E50"/>
                </a:solidFill>
                <a:latin typeface="Hiragino Sans W3" pitchFamily="34" charset="0"/>
                <a:ea typeface="Hiragino Sans W3" pitchFamily="34" charset="-122"/>
                <a:cs typeface="Hiragino Sans W3" pitchFamily="34" charset="-120"/>
              </a:rPr>
              <a:t>売上：1.7億円</a:t>
            </a:r>
            <a:endParaRPr lang="en-US" sz="1200" dirty="0"/>
          </a:p>
        </p:txBody>
      </p:sp>
      <p:sp>
        <p:nvSpPr>
          <p:cNvPr id="29" name="Text 27"/>
          <p:cNvSpPr/>
          <p:nvPr/>
        </p:nvSpPr>
        <p:spPr>
          <a:xfrm>
            <a:off x="9829800" y="6035040"/>
            <a:ext cx="4023360" cy="731520"/>
          </a:xfrm>
          <a:prstGeom prst="rect">
            <a:avLst/>
          </a:prstGeom>
          <a:noFill/>
          <a:ln/>
        </p:spPr>
        <p:txBody>
          <a:bodyPr wrap="square" rtlCol="0" anchor="ctr"/>
          <a:lstStyle/>
          <a:p>
            <a:pPr indent="0" marL="0">
              <a:lnSpc>
                <a:spcPct val="120000"/>
              </a:lnSpc>
              <a:buNone/>
            </a:pPr>
            <a:r>
              <a:rPr lang="en-US" sz="1100" dirty="0">
                <a:solidFill>
                  <a:srgbClr val="7F8C8D"/>
                </a:solidFill>
                <a:latin typeface="Hiragino Sans W3" pitchFamily="34" charset="0"/>
                <a:ea typeface="Hiragino Sans W3" pitchFamily="34" charset="-122"/>
                <a:cs typeface="Hiragino Sans W3" pitchFamily="34" charset="-120"/>
              </a:rPr>
              <a:t>1,000ID達成</a:t>
            </a:r>
            <a:endParaRPr lang="en-US" sz="1100" dirty="0"/>
          </a:p>
          <a:p>
            <a:pPr indent="0" marL="0">
              <a:lnSpc>
                <a:spcPct val="120000"/>
              </a:lnSpc>
              <a:buNone/>
            </a:pPr>
            <a:r>
              <a:rPr lang="en-US" sz="1100" dirty="0">
                <a:solidFill>
                  <a:srgbClr val="7F8C8D"/>
                </a:solidFill>
                <a:latin typeface="Hiragino Sans W3" pitchFamily="34" charset="0"/>
                <a:ea typeface="Hiragino Sans W3" pitchFamily="34" charset="-122"/>
                <a:cs typeface="Hiragino Sans W3" pitchFamily="34" charset="-120"/>
              </a:rPr>
              <a:t>海外展開開始</a:t>
            </a:r>
            <a:endParaRPr lang="en-US" sz="1100" dirty="0"/>
          </a:p>
        </p:txBody>
      </p:sp>
      <p:sp>
        <p:nvSpPr>
          <p:cNvPr id="30" name="Text 28"/>
          <p:cNvSpPr/>
          <p:nvPr/>
        </p:nvSpPr>
        <p:spPr>
          <a:xfrm>
            <a:off x="13258800" y="7818120"/>
            <a:ext cx="914400" cy="274320"/>
          </a:xfrm>
          <a:prstGeom prst="rect">
            <a:avLst/>
          </a:prstGeom>
          <a:noFill/>
          <a:ln/>
        </p:spPr>
        <p:txBody>
          <a:bodyPr wrap="square" rtlCol="0" anchor="ctr"/>
          <a:lstStyle/>
          <a:p>
            <a:pPr algn="r" indent="0" marL="0">
              <a:buNone/>
            </a:pPr>
            <a:r>
              <a:rPr lang="en-US" sz="800" dirty="0">
                <a:solidFill>
                  <a:srgbClr val="7F8C8D"/>
                </a:solidFill>
                <a:latin typeface="Hiragino Sans W3" pitchFamily="34" charset="0"/>
                <a:ea typeface="Hiragino Sans W3" pitchFamily="34" charset="-122"/>
                <a:cs typeface="Hiragino Sans W3" pitchFamily="34" charset="-120"/>
              </a:rPr>
              <a:t>9 / 15</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4630400" cy="1417320"/>
          </a:xfrm>
          <a:prstGeom prst="rect">
            <a:avLst/>
          </a:prstGeom>
          <a:solidFill>
            <a:srgbClr val="1A1A2E"/>
          </a:solidFill>
          <a:ln/>
        </p:spPr>
      </p:sp>
      <p:sp>
        <p:nvSpPr>
          <p:cNvPr id="3" name="Text 1"/>
          <p:cNvSpPr/>
          <p:nvPr/>
        </p:nvSpPr>
        <p:spPr>
          <a:xfrm>
            <a:off x="548640" y="182880"/>
            <a:ext cx="13533120" cy="594360"/>
          </a:xfrm>
          <a:prstGeom prst="rect">
            <a:avLst/>
          </a:prstGeom>
          <a:noFill/>
          <a:ln/>
        </p:spPr>
        <p:txBody>
          <a:bodyPr wrap="square" rtlCol="0" anchor="ctr"/>
          <a:lstStyle/>
          <a:p>
            <a:pPr indent="0" marL="0">
              <a:buNone/>
            </a:pPr>
            <a:r>
              <a:rPr lang="en-US" sz="2600" b="1" dirty="0">
                <a:solidFill>
                  <a:srgbClr val="FFFFFF"/>
                </a:solidFill>
                <a:latin typeface="Hiragino Sans W6" pitchFamily="34" charset="0"/>
                <a:ea typeface="Hiragino Sans W6" pitchFamily="34" charset="-122"/>
                <a:cs typeface="Hiragino Sans W6" pitchFamily="34" charset="-120"/>
              </a:rPr>
              <a:t>海外展開戦略：国内1,000ID達成を起点に中国・アジアへ</a:t>
            </a:r>
            <a:endParaRPr lang="en-US" sz="2600" dirty="0"/>
          </a:p>
        </p:txBody>
      </p:sp>
      <p:sp>
        <p:nvSpPr>
          <p:cNvPr id="4" name="Text 2"/>
          <p:cNvSpPr/>
          <p:nvPr/>
        </p:nvSpPr>
        <p:spPr>
          <a:xfrm>
            <a:off x="548640" y="822960"/>
            <a:ext cx="13533120" cy="411480"/>
          </a:xfrm>
          <a:prstGeom prst="rect">
            <a:avLst/>
          </a:prstGeom>
          <a:noFill/>
          <a:ln/>
        </p:spPr>
        <p:txBody>
          <a:bodyPr wrap="square" rtlCol="0" anchor="ctr"/>
          <a:lstStyle/>
          <a:p>
            <a:pPr indent="0" marL="0">
              <a:buNone/>
            </a:pPr>
            <a:r>
              <a:rPr lang="en-US" sz="1300" dirty="0">
                <a:solidFill>
                  <a:srgbClr val="B0BEC5"/>
                </a:solidFill>
                <a:latin typeface="Hiragino Sans W3" pitchFamily="34" charset="0"/>
                <a:ea typeface="Hiragino Sans W3" pitchFamily="34" charset="-122"/>
                <a:cs typeface="Hiragino Sans W3" pitchFamily="34" charset="-120"/>
              </a:rPr>
              <a:t>戦略パートナーと共に、日本発の福祉ICT国際標準を構築</a:t>
            </a:r>
            <a:endParaRPr lang="en-US" sz="1300" dirty="0"/>
          </a:p>
        </p:txBody>
      </p:sp>
      <p:sp>
        <p:nvSpPr>
          <p:cNvPr id="5" name="Shape 3"/>
          <p:cNvSpPr/>
          <p:nvPr/>
        </p:nvSpPr>
        <p:spPr>
          <a:xfrm>
            <a:off x="548640" y="1508760"/>
            <a:ext cx="13533120" cy="347472"/>
          </a:xfrm>
          <a:prstGeom prst="roundRect">
            <a:avLst>
              <a:gd name="adj" fmla="val 7895"/>
            </a:avLst>
          </a:prstGeom>
          <a:solidFill>
            <a:srgbClr val="4A90D9"/>
          </a:solidFill>
          <a:ln/>
        </p:spPr>
      </p:sp>
      <p:sp>
        <p:nvSpPr>
          <p:cNvPr id="6" name="Text 4"/>
          <p:cNvSpPr/>
          <p:nvPr/>
        </p:nvSpPr>
        <p:spPr>
          <a:xfrm>
            <a:off x="731520" y="1508760"/>
            <a:ext cx="13167360" cy="347472"/>
          </a:xfrm>
          <a:prstGeom prst="rect">
            <a:avLst/>
          </a:prstGeom>
          <a:noFill/>
          <a:ln/>
        </p:spPr>
        <p:txBody>
          <a:bodyPr wrap="square" rtlCol="0" anchor="ctr"/>
          <a:lstStyle/>
          <a:p>
            <a:pPr indent="0" marL="0">
              <a:buNone/>
            </a:pPr>
            <a:r>
              <a:rPr lang="en-US" sz="1100" dirty="0">
                <a:solidFill>
                  <a:srgbClr val="FFFFFF"/>
                </a:solidFill>
                <a:latin typeface="Hiragino Sans W6" pitchFamily="34" charset="0"/>
                <a:ea typeface="Hiragino Sans W6" pitchFamily="34" charset="-122"/>
                <a:cs typeface="Hiragino Sans W6" pitchFamily="34" charset="-120"/>
              </a:rPr>
              <a:t>補足：申請書「8. 販路開拓の手法」— 海外販路、「ターゲット市場規模」— 海外市場</a:t>
            </a:r>
            <a:endParaRPr lang="en-US" sz="1100" dirty="0"/>
          </a:p>
        </p:txBody>
      </p:sp>
      <p:sp>
        <p:nvSpPr>
          <p:cNvPr id="7" name="Shape 5"/>
          <p:cNvSpPr/>
          <p:nvPr/>
        </p:nvSpPr>
        <p:spPr>
          <a:xfrm>
            <a:off x="12618720" y="1527048"/>
            <a:ext cx="1645920" cy="292608"/>
          </a:xfrm>
          <a:prstGeom prst="roundRect">
            <a:avLst>
              <a:gd name="adj" fmla="val 12500"/>
            </a:avLst>
          </a:prstGeom>
          <a:solidFill>
            <a:srgbClr val="E8FAF0"/>
          </a:solidFill>
          <a:ln w="10160">
            <a:solidFill>
              <a:srgbClr val="27AE60"/>
            </a:solidFill>
            <a:prstDash val="solid"/>
          </a:ln>
        </p:spPr>
      </p:sp>
      <p:sp>
        <p:nvSpPr>
          <p:cNvPr id="8" name="Text 6"/>
          <p:cNvSpPr/>
          <p:nvPr/>
        </p:nvSpPr>
        <p:spPr>
          <a:xfrm>
            <a:off x="12618720" y="1527048"/>
            <a:ext cx="1645920" cy="292608"/>
          </a:xfrm>
          <a:prstGeom prst="rect">
            <a:avLst/>
          </a:prstGeom>
          <a:noFill/>
          <a:ln/>
        </p:spPr>
        <p:txBody>
          <a:bodyPr wrap="square" rtlCol="0" anchor="ctr"/>
          <a:lstStyle/>
          <a:p>
            <a:pPr algn="ctr" indent="0" marL="0">
              <a:buNone/>
            </a:pPr>
            <a:r>
              <a:rPr lang="en-US" sz="900" dirty="0">
                <a:solidFill>
                  <a:srgbClr val="27AE60"/>
                </a:solidFill>
                <a:latin typeface="Hiragino Sans W6" pitchFamily="34" charset="0"/>
                <a:ea typeface="Hiragino Sans W6" pitchFamily="34" charset="-122"/>
                <a:cs typeface="Hiragino Sans W6" pitchFamily="34" charset="-120"/>
              </a:rPr>
              <a:t>審査軸：事業性</a:t>
            </a:r>
            <a:endParaRPr lang="en-US" sz="900" dirty="0"/>
          </a:p>
        </p:txBody>
      </p:sp>
      <p:sp>
        <p:nvSpPr>
          <p:cNvPr id="9" name="Shape 7"/>
          <p:cNvSpPr/>
          <p:nvPr/>
        </p:nvSpPr>
        <p:spPr>
          <a:xfrm>
            <a:off x="548640" y="2057400"/>
            <a:ext cx="6766560" cy="5486400"/>
          </a:xfrm>
          <a:prstGeom prst="roundRect">
            <a:avLst>
              <a:gd name="adj" fmla="val 1333"/>
            </a:avLst>
          </a:prstGeom>
          <a:solidFill>
            <a:srgbClr val="FFFFFF"/>
          </a:solidFill>
          <a:ln w="12700">
            <a:solidFill>
              <a:srgbClr val="DCE1E8"/>
            </a:solidFill>
            <a:prstDash val="solid"/>
          </a:ln>
        </p:spPr>
      </p:sp>
      <p:sp>
        <p:nvSpPr>
          <p:cNvPr id="10" name="Text 8"/>
          <p:cNvSpPr/>
          <p:nvPr/>
        </p:nvSpPr>
        <p:spPr>
          <a:xfrm>
            <a:off x="731520" y="2148840"/>
            <a:ext cx="5486400" cy="320040"/>
          </a:xfrm>
          <a:prstGeom prst="rect">
            <a:avLst/>
          </a:prstGeom>
          <a:noFill/>
          <a:ln/>
        </p:spPr>
        <p:txBody>
          <a:bodyPr wrap="square" rtlCol="0" anchor="ctr"/>
          <a:lstStyle/>
          <a:p>
            <a:pPr indent="0" marL="0">
              <a:buNone/>
            </a:pPr>
            <a:r>
              <a:rPr lang="en-US" sz="1300" dirty="0">
                <a:solidFill>
                  <a:srgbClr val="2C3E50"/>
                </a:solidFill>
                <a:latin typeface="Hiragino Sans W6" pitchFamily="34" charset="0"/>
                <a:ea typeface="Hiragino Sans W6" pitchFamily="34" charset="-122"/>
                <a:cs typeface="Hiragino Sans W6" pitchFamily="34" charset="-120"/>
              </a:rPr>
              <a:t>海外展開トリガーと段階的ロードマップ</a:t>
            </a:r>
            <a:endParaRPr lang="en-US" sz="1300" dirty="0"/>
          </a:p>
        </p:txBody>
      </p:sp>
      <p:sp>
        <p:nvSpPr>
          <p:cNvPr id="11" name="Text 9"/>
          <p:cNvSpPr/>
          <p:nvPr/>
        </p:nvSpPr>
        <p:spPr>
          <a:xfrm>
            <a:off x="822960" y="2651760"/>
            <a:ext cx="1188720" cy="868680"/>
          </a:xfrm>
          <a:prstGeom prst="rect">
            <a:avLst/>
          </a:prstGeom>
          <a:solidFill>
            <a:srgbClr val="F5F7FA"/>
          </a:solidFill>
          <a:ln/>
        </p:spPr>
        <p:txBody>
          <a:bodyPr wrap="square" rtlCol="0" anchor="ctr"/>
          <a:lstStyle/>
          <a:p>
            <a:pPr algn="ctr" indent="0" marL="0">
              <a:buNone/>
            </a:pPr>
            <a:r>
              <a:rPr lang="en-US" sz="1100" dirty="0">
                <a:solidFill>
                  <a:srgbClr val="4A90D9"/>
                </a:solidFill>
                <a:latin typeface="Hiragino Sans W6" pitchFamily="34" charset="0"/>
                <a:ea typeface="Hiragino Sans W6" pitchFamily="34" charset="-122"/>
                <a:cs typeface="Hiragino Sans W6" pitchFamily="34" charset="-120"/>
              </a:rPr>
              <a:t>Year 1-2</a:t>
            </a:r>
            <a:endParaRPr lang="en-US" sz="1100" dirty="0"/>
          </a:p>
        </p:txBody>
      </p:sp>
      <p:sp>
        <p:nvSpPr>
          <p:cNvPr id="12" name="Text 10"/>
          <p:cNvSpPr/>
          <p:nvPr/>
        </p:nvSpPr>
        <p:spPr>
          <a:xfrm>
            <a:off x="2011680" y="2651760"/>
            <a:ext cx="3474720" cy="868680"/>
          </a:xfrm>
          <a:prstGeom prst="rect">
            <a:avLst/>
          </a:prstGeom>
          <a:solidFill>
            <a:srgbClr val="F5F7FA"/>
          </a:solidFill>
          <a:ln/>
        </p:spPr>
        <p:txBody>
          <a:bodyPr wrap="square" rtlCol="0" anchor="ctr"/>
          <a:lstStyle/>
          <a:p>
            <a:pPr indent="0" marL="0">
              <a:buNone/>
            </a:pPr>
            <a:r>
              <a:rPr lang="en-US" sz="1100" dirty="0">
                <a:solidFill>
                  <a:srgbClr val="2C3E50"/>
                </a:solidFill>
                <a:latin typeface="Hiragino Sans W3" pitchFamily="34" charset="0"/>
                <a:ea typeface="Hiragino Sans W3" pitchFamily="34" charset="-122"/>
                <a:cs typeface="Hiragino Sans W3" pitchFamily="34" charset="-120"/>
              </a:rPr>
              <a:t>国内実証（自社2施設→10施設パイロット）</a:t>
            </a:r>
            <a:endParaRPr lang="en-US" sz="1100" dirty="0"/>
          </a:p>
        </p:txBody>
      </p:sp>
      <p:sp>
        <p:nvSpPr>
          <p:cNvPr id="13" name="Text 11"/>
          <p:cNvSpPr/>
          <p:nvPr/>
        </p:nvSpPr>
        <p:spPr>
          <a:xfrm>
            <a:off x="5486400" y="2651760"/>
            <a:ext cx="1645920" cy="868680"/>
          </a:xfrm>
          <a:prstGeom prst="rect">
            <a:avLst/>
          </a:prstGeom>
          <a:solidFill>
            <a:srgbClr val="F5F7FA"/>
          </a:solidFill>
          <a:ln/>
        </p:spPr>
        <p:txBody>
          <a:bodyPr wrap="square" rtlCol="0" anchor="ctr"/>
          <a:lstStyle/>
          <a:p>
            <a:pPr algn="ctr" indent="0" marL="0">
              <a:buNone/>
            </a:pPr>
            <a:r>
              <a:rPr lang="en-US" sz="1000" dirty="0">
                <a:solidFill>
                  <a:srgbClr val="7F8C8D"/>
                </a:solidFill>
                <a:latin typeface="Hiragino Sans W6" pitchFamily="34" charset="0"/>
                <a:ea typeface="Hiragino Sans W6" pitchFamily="34" charset="-122"/>
                <a:cs typeface="Hiragino Sans W6" pitchFamily="34" charset="-120"/>
              </a:rPr>
              <a:t>—</a:t>
            </a:r>
            <a:endParaRPr lang="en-US" sz="1000" dirty="0"/>
          </a:p>
        </p:txBody>
      </p:sp>
      <p:sp>
        <p:nvSpPr>
          <p:cNvPr id="14" name="Text 12"/>
          <p:cNvSpPr/>
          <p:nvPr/>
        </p:nvSpPr>
        <p:spPr>
          <a:xfrm>
            <a:off x="822960" y="3749040"/>
            <a:ext cx="1188720" cy="868680"/>
          </a:xfrm>
          <a:prstGeom prst="rect">
            <a:avLst/>
          </a:prstGeom>
          <a:solidFill>
            <a:srgbClr val="FFF3E0"/>
          </a:solidFill>
          <a:ln/>
        </p:spPr>
        <p:txBody>
          <a:bodyPr wrap="square" rtlCol="0" anchor="ctr"/>
          <a:lstStyle/>
          <a:p>
            <a:pPr algn="ctr" indent="0" marL="0">
              <a:buNone/>
            </a:pPr>
            <a:r>
              <a:rPr lang="en-US" sz="1100" dirty="0">
                <a:solidFill>
                  <a:srgbClr val="4A90D9"/>
                </a:solidFill>
                <a:latin typeface="Hiragino Sans W6" pitchFamily="34" charset="0"/>
                <a:ea typeface="Hiragino Sans W6" pitchFamily="34" charset="-122"/>
                <a:cs typeface="Hiragino Sans W6" pitchFamily="34" charset="-120"/>
              </a:rPr>
              <a:t>Year 3</a:t>
            </a:r>
            <a:endParaRPr lang="en-US" sz="1100" dirty="0"/>
          </a:p>
        </p:txBody>
      </p:sp>
      <p:sp>
        <p:nvSpPr>
          <p:cNvPr id="15" name="Text 13"/>
          <p:cNvSpPr/>
          <p:nvPr/>
        </p:nvSpPr>
        <p:spPr>
          <a:xfrm>
            <a:off x="2011680" y="3749040"/>
            <a:ext cx="3474720" cy="868680"/>
          </a:xfrm>
          <a:prstGeom prst="rect">
            <a:avLst/>
          </a:prstGeom>
          <a:solidFill>
            <a:srgbClr val="FFF3E0"/>
          </a:solidFill>
          <a:ln/>
        </p:spPr>
        <p:txBody>
          <a:bodyPr wrap="square" rtlCol="0" anchor="ctr"/>
          <a:lstStyle/>
          <a:p>
            <a:pPr indent="0" marL="0">
              <a:buNone/>
            </a:pPr>
            <a:r>
              <a:rPr lang="en-US" sz="1100" dirty="0">
                <a:solidFill>
                  <a:srgbClr val="2C3E50"/>
                </a:solidFill>
                <a:latin typeface="Hiragino Sans W3" pitchFamily="34" charset="0"/>
                <a:ea typeface="Hiragino Sans W3" pitchFamily="34" charset="-122"/>
                <a:cs typeface="Hiragino Sans W3" pitchFamily="34" charset="-120"/>
              </a:rPr>
              <a:t>国内30施設＋1,000ID達成 → 海外展開開始</a:t>
            </a:r>
            <a:endParaRPr lang="en-US" sz="1100" dirty="0"/>
          </a:p>
        </p:txBody>
      </p:sp>
      <p:sp>
        <p:nvSpPr>
          <p:cNvPr id="16" name="Text 14"/>
          <p:cNvSpPr/>
          <p:nvPr/>
        </p:nvSpPr>
        <p:spPr>
          <a:xfrm>
            <a:off x="5486400" y="3749040"/>
            <a:ext cx="1645920" cy="868680"/>
          </a:xfrm>
          <a:prstGeom prst="rect">
            <a:avLst/>
          </a:prstGeom>
          <a:solidFill>
            <a:srgbClr val="FFF3E0"/>
          </a:solidFill>
          <a:ln/>
        </p:spPr>
        <p:txBody>
          <a:bodyPr wrap="square" rtlCol="0" anchor="ctr"/>
          <a:lstStyle/>
          <a:p>
            <a:pPr algn="ctr" indent="0" marL="0">
              <a:buNone/>
            </a:pPr>
            <a:r>
              <a:rPr lang="en-US" sz="1000" dirty="0">
                <a:solidFill>
                  <a:srgbClr val="E67E22"/>
                </a:solidFill>
                <a:latin typeface="Hiragino Sans W6" pitchFamily="34" charset="0"/>
                <a:ea typeface="Hiragino Sans W6" pitchFamily="34" charset="-122"/>
                <a:cs typeface="Hiragino Sans W6" pitchFamily="34" charset="-120"/>
              </a:rPr>
              <a:t>★トリガー</a:t>
            </a:r>
            <a:endParaRPr lang="en-US" sz="1000" dirty="0"/>
          </a:p>
        </p:txBody>
      </p:sp>
      <p:sp>
        <p:nvSpPr>
          <p:cNvPr id="17" name="Text 15"/>
          <p:cNvSpPr/>
          <p:nvPr/>
        </p:nvSpPr>
        <p:spPr>
          <a:xfrm>
            <a:off x="822960" y="4846320"/>
            <a:ext cx="1188720" cy="868680"/>
          </a:xfrm>
          <a:prstGeom prst="rect">
            <a:avLst/>
          </a:prstGeom>
          <a:solidFill>
            <a:srgbClr val="F5F7FA"/>
          </a:solidFill>
          <a:ln/>
        </p:spPr>
        <p:txBody>
          <a:bodyPr wrap="square" rtlCol="0" anchor="ctr"/>
          <a:lstStyle/>
          <a:p>
            <a:pPr algn="ctr" indent="0" marL="0">
              <a:buNone/>
            </a:pPr>
            <a:r>
              <a:rPr lang="en-US" sz="1100" dirty="0">
                <a:solidFill>
                  <a:srgbClr val="4A90D9"/>
                </a:solidFill>
                <a:latin typeface="Hiragino Sans W6" pitchFamily="34" charset="0"/>
                <a:ea typeface="Hiragino Sans W6" pitchFamily="34" charset="-122"/>
                <a:cs typeface="Hiragino Sans W6" pitchFamily="34" charset="-120"/>
              </a:rPr>
              <a:t>Year 3-4</a:t>
            </a:r>
            <a:endParaRPr lang="en-US" sz="1100" dirty="0"/>
          </a:p>
        </p:txBody>
      </p:sp>
      <p:sp>
        <p:nvSpPr>
          <p:cNvPr id="18" name="Text 16"/>
          <p:cNvSpPr/>
          <p:nvPr/>
        </p:nvSpPr>
        <p:spPr>
          <a:xfrm>
            <a:off x="2011680" y="4846320"/>
            <a:ext cx="3474720" cy="868680"/>
          </a:xfrm>
          <a:prstGeom prst="rect">
            <a:avLst/>
          </a:prstGeom>
          <a:solidFill>
            <a:srgbClr val="F5F7FA"/>
          </a:solidFill>
          <a:ln/>
        </p:spPr>
        <p:txBody>
          <a:bodyPr wrap="square" rtlCol="0" anchor="ctr"/>
          <a:lstStyle/>
          <a:p>
            <a:pPr indent="0" marL="0">
              <a:buNone/>
            </a:pPr>
            <a:r>
              <a:rPr lang="en-US" sz="1100" dirty="0">
                <a:solidFill>
                  <a:srgbClr val="2C3E50"/>
                </a:solidFill>
                <a:latin typeface="Hiragino Sans W3" pitchFamily="34" charset="0"/>
                <a:ea typeface="Hiragino Sans W3" pitchFamily="34" charset="-122"/>
                <a:cs typeface="Hiragino Sans W3" pitchFamily="34" charset="-120"/>
              </a:rPr>
              <a:t>中国3施設パイロット（上海・北京）</a:t>
            </a:r>
            <a:endParaRPr lang="en-US" sz="1100" dirty="0"/>
          </a:p>
        </p:txBody>
      </p:sp>
      <p:sp>
        <p:nvSpPr>
          <p:cNvPr id="19" name="Text 17"/>
          <p:cNvSpPr/>
          <p:nvPr/>
        </p:nvSpPr>
        <p:spPr>
          <a:xfrm>
            <a:off x="5486400" y="4846320"/>
            <a:ext cx="1645920" cy="868680"/>
          </a:xfrm>
          <a:prstGeom prst="rect">
            <a:avLst/>
          </a:prstGeom>
          <a:solidFill>
            <a:srgbClr val="F5F7FA"/>
          </a:solidFill>
          <a:ln/>
        </p:spPr>
        <p:txBody>
          <a:bodyPr wrap="square" rtlCol="0" anchor="ctr"/>
          <a:lstStyle/>
          <a:p>
            <a:pPr algn="ctr" indent="0" marL="0">
              <a:buNone/>
            </a:pPr>
            <a:r>
              <a:rPr lang="en-US" sz="1000" dirty="0">
                <a:solidFill>
                  <a:srgbClr val="7F8C8D"/>
                </a:solidFill>
                <a:latin typeface="Hiragino Sans W6" pitchFamily="34" charset="0"/>
                <a:ea typeface="Hiragino Sans W6" pitchFamily="34" charset="-122"/>
                <a:cs typeface="Hiragino Sans W6" pitchFamily="34" charset="-120"/>
              </a:rPr>
              <a:t>ルイスマーケティング</a:t>
            </a:r>
            <a:endParaRPr lang="en-US" sz="1000" dirty="0"/>
          </a:p>
        </p:txBody>
      </p:sp>
      <p:sp>
        <p:nvSpPr>
          <p:cNvPr id="20" name="Text 18"/>
          <p:cNvSpPr/>
          <p:nvPr/>
        </p:nvSpPr>
        <p:spPr>
          <a:xfrm>
            <a:off x="822960" y="5943600"/>
            <a:ext cx="1188720" cy="868680"/>
          </a:xfrm>
          <a:prstGeom prst="rect">
            <a:avLst/>
          </a:prstGeom>
          <a:solidFill>
            <a:srgbClr val="FFFFFF"/>
          </a:solidFill>
          <a:ln/>
        </p:spPr>
        <p:txBody>
          <a:bodyPr wrap="square" rtlCol="0" anchor="ctr"/>
          <a:lstStyle/>
          <a:p>
            <a:pPr algn="ctr" indent="0" marL="0">
              <a:buNone/>
            </a:pPr>
            <a:r>
              <a:rPr lang="en-US" sz="1100" dirty="0">
                <a:solidFill>
                  <a:srgbClr val="4A90D9"/>
                </a:solidFill>
                <a:latin typeface="Hiragino Sans W6" pitchFamily="34" charset="0"/>
                <a:ea typeface="Hiragino Sans W6" pitchFamily="34" charset="-122"/>
                <a:cs typeface="Hiragino Sans W6" pitchFamily="34" charset="-120"/>
              </a:rPr>
              <a:t>Year 5+</a:t>
            </a:r>
            <a:endParaRPr lang="en-US" sz="1100" dirty="0"/>
          </a:p>
        </p:txBody>
      </p:sp>
      <p:sp>
        <p:nvSpPr>
          <p:cNvPr id="21" name="Text 19"/>
          <p:cNvSpPr/>
          <p:nvPr/>
        </p:nvSpPr>
        <p:spPr>
          <a:xfrm>
            <a:off x="2011680" y="5943600"/>
            <a:ext cx="3474720" cy="868680"/>
          </a:xfrm>
          <a:prstGeom prst="rect">
            <a:avLst/>
          </a:prstGeom>
          <a:solidFill>
            <a:srgbClr val="FFFFFF"/>
          </a:solidFill>
          <a:ln/>
        </p:spPr>
        <p:txBody>
          <a:bodyPr wrap="square" rtlCol="0" anchor="ctr"/>
          <a:lstStyle/>
          <a:p>
            <a:pPr indent="0" marL="0">
              <a:buNone/>
            </a:pPr>
            <a:r>
              <a:rPr lang="en-US" sz="1100" dirty="0">
                <a:solidFill>
                  <a:srgbClr val="2C3E50"/>
                </a:solidFill>
                <a:latin typeface="Hiragino Sans W3" pitchFamily="34" charset="0"/>
                <a:ea typeface="Hiragino Sans W3" pitchFamily="34" charset="-122"/>
                <a:cs typeface="Hiragino Sans W3" pitchFamily="34" charset="-120"/>
              </a:rPr>
              <a:t>ASEAN展開（タイ・ベトナム・インドネシア）</a:t>
            </a:r>
            <a:endParaRPr lang="en-US" sz="1100" dirty="0"/>
          </a:p>
        </p:txBody>
      </p:sp>
      <p:sp>
        <p:nvSpPr>
          <p:cNvPr id="22" name="Text 20"/>
          <p:cNvSpPr/>
          <p:nvPr/>
        </p:nvSpPr>
        <p:spPr>
          <a:xfrm>
            <a:off x="5486400" y="5943600"/>
            <a:ext cx="1645920" cy="868680"/>
          </a:xfrm>
          <a:prstGeom prst="rect">
            <a:avLst/>
          </a:prstGeom>
          <a:solidFill>
            <a:srgbClr val="FFFFFF"/>
          </a:solidFill>
          <a:ln/>
        </p:spPr>
        <p:txBody>
          <a:bodyPr wrap="square" rtlCol="0" anchor="ctr"/>
          <a:lstStyle/>
          <a:p>
            <a:pPr algn="ctr" indent="0" marL="0">
              <a:buNone/>
            </a:pPr>
            <a:r>
              <a:rPr lang="en-US" sz="1000" dirty="0">
                <a:solidFill>
                  <a:srgbClr val="7F8C8D"/>
                </a:solidFill>
                <a:latin typeface="Hiragino Sans W6" pitchFamily="34" charset="0"/>
                <a:ea typeface="Hiragino Sans W6" pitchFamily="34" charset="-122"/>
                <a:cs typeface="Hiragino Sans W6" pitchFamily="34" charset="-120"/>
              </a:rPr>
              <a:t>現地パートナー</a:t>
            </a:r>
            <a:endParaRPr lang="en-US" sz="1000" dirty="0"/>
          </a:p>
        </p:txBody>
      </p:sp>
      <p:sp>
        <p:nvSpPr>
          <p:cNvPr id="23" name="Shape 21"/>
          <p:cNvSpPr/>
          <p:nvPr/>
        </p:nvSpPr>
        <p:spPr>
          <a:xfrm>
            <a:off x="7589520" y="2057400"/>
            <a:ext cx="6492240" cy="3200400"/>
          </a:xfrm>
          <a:prstGeom prst="roundRect">
            <a:avLst>
              <a:gd name="adj" fmla="val 2286"/>
            </a:avLst>
          </a:prstGeom>
          <a:solidFill>
            <a:srgbClr val="FFFFFF"/>
          </a:solidFill>
          <a:ln w="12700">
            <a:solidFill>
              <a:srgbClr val="DCE1E8"/>
            </a:solidFill>
            <a:prstDash val="solid"/>
          </a:ln>
        </p:spPr>
      </p:sp>
      <p:sp>
        <p:nvSpPr>
          <p:cNvPr id="24" name="Text 22"/>
          <p:cNvSpPr/>
          <p:nvPr/>
        </p:nvSpPr>
        <p:spPr>
          <a:xfrm>
            <a:off x="7772400" y="2148840"/>
            <a:ext cx="3657600" cy="320040"/>
          </a:xfrm>
          <a:prstGeom prst="rect">
            <a:avLst/>
          </a:prstGeom>
          <a:noFill/>
          <a:ln/>
        </p:spPr>
        <p:txBody>
          <a:bodyPr wrap="square" rtlCol="0" anchor="ctr"/>
          <a:lstStyle/>
          <a:p>
            <a:pPr indent="0" marL="0">
              <a:buNone/>
            </a:pPr>
            <a:r>
              <a:rPr lang="en-US" sz="1300" dirty="0">
                <a:solidFill>
                  <a:srgbClr val="2C3E50"/>
                </a:solidFill>
                <a:latin typeface="Hiragino Sans W6" pitchFamily="34" charset="0"/>
                <a:ea typeface="Hiragino Sans W6" pitchFamily="34" charset="-122"/>
                <a:cs typeface="Hiragino Sans W6" pitchFamily="34" charset="-120"/>
              </a:rPr>
              <a:t>戦略パートナー</a:t>
            </a:r>
            <a:endParaRPr lang="en-US" sz="1300" dirty="0"/>
          </a:p>
        </p:txBody>
      </p:sp>
      <p:sp>
        <p:nvSpPr>
          <p:cNvPr id="25" name="Text 23"/>
          <p:cNvSpPr/>
          <p:nvPr/>
        </p:nvSpPr>
        <p:spPr>
          <a:xfrm>
            <a:off x="7772400" y="2560320"/>
            <a:ext cx="6126480" cy="2560320"/>
          </a:xfrm>
          <a:prstGeom prst="rect">
            <a:avLst/>
          </a:prstGeom>
          <a:noFill/>
          <a:ln/>
        </p:spPr>
        <p:txBody>
          <a:bodyPr wrap="square" rtlCol="0" anchor="ctr"/>
          <a:lstStyle/>
          <a:p>
            <a:pPr indent="0" marL="0">
              <a:buNone/>
            </a:pPr>
            <a:r>
              <a:rPr lang="en-US" sz="1400" dirty="0">
                <a:solidFill>
                  <a:srgbClr val="2C3E50"/>
                </a:solidFill>
                <a:latin typeface="Hiragino Sans W6" pitchFamily="34" charset="0"/>
                <a:ea typeface="Hiragino Sans W6" pitchFamily="34" charset="-122"/>
                <a:cs typeface="Hiragino Sans W6" pitchFamily="34" charset="-120"/>
              </a:rPr>
              <a:t>株式会社ルイスマーケティング</a:t>
            </a:r>
            <a:endParaRPr lang="en-US" sz="1400" dirty="0"/>
          </a:p>
          <a:p>
            <a:pPr indent="0" marL="0">
              <a:buNone/>
            </a:pPr>
            <a:r>
              <a:rPr lang="en-US" sz="1000" dirty="0">
                <a:solidFill>
                  <a:srgbClr val="7F8C8D"/>
                </a:solidFill>
                <a:latin typeface="Hiragino Sans W3" pitchFamily="34" charset="0"/>
                <a:ea typeface="Hiragino Sans W3" pitchFamily="34" charset="-122"/>
                <a:cs typeface="Hiragino Sans W3" pitchFamily="34" charset="-120"/>
              </a:rPr>
              <a:t>（Digima〜出島〜認定パートナー）</a:t>
            </a:r>
            <a:endParaRPr lang="en-US" sz="1400" dirty="0"/>
          </a:p>
          <a:p>
            <a:pPr indent="0" marL="0">
              <a:buNone/>
            </a:pPr>
            <a:endParaRPr lang="en-US" sz="1400" dirty="0"/>
          </a:p>
          <a:p>
            <a:pPr indent="0" marL="0">
              <a:buNone/>
            </a:pPr>
            <a:r>
              <a:rPr lang="en-US" sz="1100" dirty="0">
                <a:solidFill>
                  <a:srgbClr val="2C3E50"/>
                </a:solidFill>
                <a:latin typeface="Hiragino Sans W3" pitchFamily="34" charset="0"/>
                <a:ea typeface="Hiragino Sans W3" pitchFamily="34" charset="-122"/>
                <a:cs typeface="Hiragino Sans W3" pitchFamily="34" charset="-120"/>
              </a:rPr>
              <a:t>代表：陶 頤｜東京＋上海拠点</a:t>
            </a:r>
            <a:endParaRPr lang="en-US" sz="1400" dirty="0"/>
          </a:p>
          <a:p>
            <a:pPr indent="0" marL="0">
              <a:buNone/>
            </a:pPr>
            <a:r>
              <a:rPr lang="en-US" sz="1100" dirty="0">
                <a:solidFill>
                  <a:srgbClr val="2C3E50"/>
                </a:solidFill>
                <a:latin typeface="Hiragino Sans W3" pitchFamily="34" charset="0"/>
                <a:ea typeface="Hiragino Sans W3" pitchFamily="34" charset="-122"/>
                <a:cs typeface="Hiragino Sans W3" pitchFamily="34" charset="-120"/>
              </a:rPr>
              <a:t>日本7名＋中国70名 / 上海12年の実績</a:t>
            </a:r>
            <a:endParaRPr lang="en-US" sz="1400" dirty="0"/>
          </a:p>
          <a:p>
            <a:pPr indent="0" marL="0">
              <a:buNone/>
            </a:pPr>
            <a:r>
              <a:rPr lang="en-US" sz="1100" dirty="0">
                <a:solidFill>
                  <a:srgbClr val="2C3E50"/>
                </a:solidFill>
                <a:latin typeface="Hiragino Sans W3" pitchFamily="34" charset="0"/>
                <a:ea typeface="Hiragino Sans W3" pitchFamily="34" charset="-122"/>
                <a:cs typeface="Hiragino Sans W3" pitchFamily="34" charset="-120"/>
              </a:rPr>
              <a:t>60社以上の日系企業の中国進出を支援</a:t>
            </a:r>
            <a:endParaRPr lang="en-US" sz="1400" dirty="0"/>
          </a:p>
          <a:p>
            <a:pPr indent="0" marL="0">
              <a:buNone/>
            </a:pPr>
            <a:r>
              <a:rPr lang="en-US" sz="1000" dirty="0">
                <a:solidFill>
                  <a:srgbClr val="7F8C8D"/>
                </a:solidFill>
                <a:latin typeface="Hiragino Sans W3" pitchFamily="34" charset="0"/>
                <a:ea typeface="Hiragino Sans W3" pitchFamily="34" charset="-122"/>
                <a:cs typeface="Hiragino Sans W3" pitchFamily="34" charset="-120"/>
              </a:rPr>
              <a:t>主要取引先：三越伊勢丹/資生堂/三菱地所 等</a:t>
            </a:r>
            <a:endParaRPr lang="en-US" sz="1400" dirty="0"/>
          </a:p>
        </p:txBody>
      </p:sp>
      <p:sp>
        <p:nvSpPr>
          <p:cNvPr id="26" name="Shape 24"/>
          <p:cNvSpPr/>
          <p:nvPr/>
        </p:nvSpPr>
        <p:spPr>
          <a:xfrm>
            <a:off x="7589520" y="5486400"/>
            <a:ext cx="6492240" cy="2057400"/>
          </a:xfrm>
          <a:prstGeom prst="roundRect">
            <a:avLst>
              <a:gd name="adj" fmla="val 3556"/>
            </a:avLst>
          </a:prstGeom>
          <a:solidFill>
            <a:srgbClr val="FFFFFF"/>
          </a:solidFill>
          <a:ln w="12700">
            <a:solidFill>
              <a:srgbClr val="DCE1E8"/>
            </a:solidFill>
            <a:prstDash val="solid"/>
          </a:ln>
        </p:spPr>
      </p:sp>
      <p:sp>
        <p:nvSpPr>
          <p:cNvPr id="27" name="Text 25"/>
          <p:cNvSpPr/>
          <p:nvPr/>
        </p:nvSpPr>
        <p:spPr>
          <a:xfrm>
            <a:off x="7772400" y="5577840"/>
            <a:ext cx="3657600" cy="274320"/>
          </a:xfrm>
          <a:prstGeom prst="rect">
            <a:avLst/>
          </a:prstGeom>
          <a:noFill/>
          <a:ln/>
        </p:spPr>
        <p:txBody>
          <a:bodyPr wrap="square" rtlCol="0" anchor="ctr"/>
          <a:lstStyle/>
          <a:p>
            <a:pPr indent="0" marL="0">
              <a:buNone/>
            </a:pPr>
            <a:r>
              <a:rPr lang="en-US" sz="1200" dirty="0">
                <a:solidFill>
                  <a:srgbClr val="2C3E50"/>
                </a:solidFill>
                <a:latin typeface="Hiragino Sans W6" pitchFamily="34" charset="0"/>
                <a:ea typeface="Hiragino Sans W6" pitchFamily="34" charset="-122"/>
                <a:cs typeface="Hiragino Sans W6" pitchFamily="34" charset="-120"/>
              </a:rPr>
              <a:t>海外市場規模</a:t>
            </a:r>
            <a:endParaRPr lang="en-US" sz="1200" dirty="0"/>
          </a:p>
        </p:txBody>
      </p:sp>
      <p:sp>
        <p:nvSpPr>
          <p:cNvPr id="28" name="Text 26"/>
          <p:cNvSpPr/>
          <p:nvPr/>
        </p:nvSpPr>
        <p:spPr>
          <a:xfrm>
            <a:off x="7772400" y="5897880"/>
            <a:ext cx="6126480" cy="1371600"/>
          </a:xfrm>
          <a:prstGeom prst="rect">
            <a:avLst/>
          </a:prstGeom>
          <a:noFill/>
          <a:ln/>
        </p:spPr>
        <p:txBody>
          <a:bodyPr wrap="square" rtlCol="0" anchor="ctr"/>
          <a:lstStyle/>
          <a:p>
            <a:pPr indent="0" marL="0">
              <a:buNone/>
            </a:pPr>
            <a:r>
              <a:rPr lang="en-US" sz="1100" dirty="0">
                <a:solidFill>
                  <a:srgbClr val="2C3E50"/>
                </a:solidFill>
                <a:latin typeface="Hiragino Sans W3" pitchFamily="34" charset="0"/>
                <a:ea typeface="Hiragino Sans W3" pitchFamily="34" charset="-122"/>
                <a:cs typeface="Hiragino Sans W3" pitchFamily="34" charset="-120"/>
              </a:rPr>
              <a:t>中国：障害者福祉施設10万カ所 / ICT市場推定1.2兆円</a:t>
            </a:r>
            <a:endParaRPr lang="en-US" sz="1100" dirty="0"/>
          </a:p>
          <a:p>
            <a:pPr indent="0" marL="0">
              <a:buNone/>
            </a:pPr>
            <a:r>
              <a:rPr lang="en-US" sz="1100" dirty="0">
                <a:solidFill>
                  <a:srgbClr val="2C3E50"/>
                </a:solidFill>
                <a:latin typeface="Hiragino Sans W3" pitchFamily="34" charset="0"/>
                <a:ea typeface="Hiragino Sans W3" pitchFamily="34" charset="-122"/>
                <a:cs typeface="Hiragino Sans W3" pitchFamily="34" charset="-120"/>
              </a:rPr>
              <a:t>ASEAN 6カ国：50万施設超 / 市場推定5,000億円</a:t>
            </a:r>
            <a:endParaRPr lang="en-US" sz="1100" dirty="0"/>
          </a:p>
          <a:p>
            <a:pPr indent="0" marL="0">
              <a:buNone/>
            </a:pPr>
            <a:r>
              <a:rPr lang="en-US" sz="1000" dirty="0">
                <a:solidFill>
                  <a:srgbClr val="7F8C8D"/>
                </a:solidFill>
                <a:latin typeface="Hiragino Sans W3" pitchFamily="34" charset="0"/>
                <a:ea typeface="Hiragino Sans W3" pitchFamily="34" charset="-122"/>
                <a:cs typeface="Hiragino Sans W3" pitchFamily="34" charset="-120"/>
              </a:rPr>
              <a:t>「十四五」規画で障害者サービスのスマート化が国家戦略</a:t>
            </a:r>
            <a:endParaRPr lang="en-US" sz="1100" dirty="0"/>
          </a:p>
        </p:txBody>
      </p:sp>
      <p:sp>
        <p:nvSpPr>
          <p:cNvPr id="29" name="Text 27"/>
          <p:cNvSpPr/>
          <p:nvPr/>
        </p:nvSpPr>
        <p:spPr>
          <a:xfrm>
            <a:off x="13258800" y="7818120"/>
            <a:ext cx="914400" cy="274320"/>
          </a:xfrm>
          <a:prstGeom prst="rect">
            <a:avLst/>
          </a:prstGeom>
          <a:noFill/>
          <a:ln/>
        </p:spPr>
        <p:txBody>
          <a:bodyPr wrap="square" rtlCol="0" anchor="ctr"/>
          <a:lstStyle/>
          <a:p>
            <a:pPr algn="r" indent="0" marL="0">
              <a:buNone/>
            </a:pPr>
            <a:r>
              <a:rPr lang="en-US" sz="800" dirty="0">
                <a:solidFill>
                  <a:srgbClr val="7F8C8D"/>
                </a:solidFill>
                <a:latin typeface="Hiragino Sans W3" pitchFamily="34" charset="0"/>
                <a:ea typeface="Hiragino Sans W3" pitchFamily="34" charset="-122"/>
                <a:cs typeface="Hiragino Sans W3" pitchFamily="34" charset="-120"/>
              </a:rPr>
              <a:t>10 / 15</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4630400" cy="1417320"/>
          </a:xfrm>
          <a:prstGeom prst="rect">
            <a:avLst/>
          </a:prstGeom>
          <a:solidFill>
            <a:srgbClr val="1A1A2E"/>
          </a:solidFill>
          <a:ln/>
        </p:spPr>
      </p:sp>
      <p:sp>
        <p:nvSpPr>
          <p:cNvPr id="3" name="Text 1"/>
          <p:cNvSpPr/>
          <p:nvPr/>
        </p:nvSpPr>
        <p:spPr>
          <a:xfrm>
            <a:off x="548640" y="182880"/>
            <a:ext cx="13533120" cy="594360"/>
          </a:xfrm>
          <a:prstGeom prst="rect">
            <a:avLst/>
          </a:prstGeom>
          <a:noFill/>
          <a:ln/>
        </p:spPr>
        <p:txBody>
          <a:bodyPr wrap="square" rtlCol="0" anchor="ctr"/>
          <a:lstStyle/>
          <a:p>
            <a:pPr indent="0" marL="0">
              <a:buNone/>
            </a:pPr>
            <a:r>
              <a:rPr lang="en-US" sz="2600" b="1" dirty="0">
                <a:solidFill>
                  <a:srgbClr val="FFFFFF"/>
                </a:solidFill>
                <a:latin typeface="Hiragino Sans W6" pitchFamily="34" charset="0"/>
                <a:ea typeface="Hiragino Sans W6" pitchFamily="34" charset="-122"/>
                <a:cs typeface="Hiragino Sans W6" pitchFamily="34" charset="-120"/>
              </a:rPr>
              <a:t>研究開発体制と役割分担</a:t>
            </a:r>
            <a:endParaRPr lang="en-US" sz="2600" dirty="0"/>
          </a:p>
        </p:txBody>
      </p:sp>
      <p:sp>
        <p:nvSpPr>
          <p:cNvPr id="4" name="Text 2"/>
          <p:cNvSpPr/>
          <p:nvPr/>
        </p:nvSpPr>
        <p:spPr>
          <a:xfrm>
            <a:off x="548640" y="822960"/>
            <a:ext cx="13533120" cy="411480"/>
          </a:xfrm>
          <a:prstGeom prst="rect">
            <a:avLst/>
          </a:prstGeom>
          <a:noFill/>
          <a:ln/>
        </p:spPr>
        <p:txBody>
          <a:bodyPr wrap="square" rtlCol="0" anchor="ctr"/>
          <a:lstStyle/>
          <a:p>
            <a:pPr indent="0" marL="0">
              <a:buNone/>
            </a:pPr>
            <a:r>
              <a:rPr lang="en-US" sz="1300" dirty="0">
                <a:solidFill>
                  <a:srgbClr val="B0BEC5"/>
                </a:solidFill>
                <a:latin typeface="Hiragino Sans W3" pitchFamily="34" charset="0"/>
                <a:ea typeface="Hiragino Sans W3" pitchFamily="34" charset="-122"/>
                <a:cs typeface="Hiragino Sans W3" pitchFamily="34" charset="-120"/>
              </a:rPr>
              <a:t>福祉現場の当事者が主導し、専門パートナーが技術を支える体制</a:t>
            </a:r>
            <a:endParaRPr lang="en-US" sz="1300" dirty="0"/>
          </a:p>
        </p:txBody>
      </p:sp>
      <p:sp>
        <p:nvSpPr>
          <p:cNvPr id="5" name="Shape 3"/>
          <p:cNvSpPr/>
          <p:nvPr/>
        </p:nvSpPr>
        <p:spPr>
          <a:xfrm>
            <a:off x="548640" y="1508760"/>
            <a:ext cx="13533120" cy="347472"/>
          </a:xfrm>
          <a:prstGeom prst="roundRect">
            <a:avLst>
              <a:gd name="adj" fmla="val 7895"/>
            </a:avLst>
          </a:prstGeom>
          <a:solidFill>
            <a:srgbClr val="4A90D9"/>
          </a:solidFill>
          <a:ln/>
        </p:spPr>
      </p:sp>
      <p:sp>
        <p:nvSpPr>
          <p:cNvPr id="6" name="Text 4"/>
          <p:cNvSpPr/>
          <p:nvPr/>
        </p:nvSpPr>
        <p:spPr>
          <a:xfrm>
            <a:off x="731520" y="1508760"/>
            <a:ext cx="13167360" cy="347472"/>
          </a:xfrm>
          <a:prstGeom prst="rect">
            <a:avLst/>
          </a:prstGeom>
          <a:noFill/>
          <a:ln/>
        </p:spPr>
        <p:txBody>
          <a:bodyPr wrap="square" rtlCol="0" anchor="ctr"/>
          <a:lstStyle/>
          <a:p>
            <a:pPr indent="0" marL="0">
              <a:buNone/>
            </a:pPr>
            <a:r>
              <a:rPr lang="en-US" sz="1100" dirty="0">
                <a:solidFill>
                  <a:srgbClr val="FFFFFF"/>
                </a:solidFill>
                <a:latin typeface="Hiragino Sans W6" pitchFamily="34" charset="0"/>
                <a:ea typeface="Hiragino Sans W6" pitchFamily="34" charset="-122"/>
                <a:cs typeface="Hiragino Sans W6" pitchFamily="34" charset="-120"/>
              </a:rPr>
              <a:t>補足：申請書「7. 研究開発の実施体制」「外部連携先」</a:t>
            </a:r>
            <a:endParaRPr lang="en-US" sz="1100" dirty="0"/>
          </a:p>
        </p:txBody>
      </p:sp>
      <p:sp>
        <p:nvSpPr>
          <p:cNvPr id="7" name="Shape 5"/>
          <p:cNvSpPr/>
          <p:nvPr/>
        </p:nvSpPr>
        <p:spPr>
          <a:xfrm>
            <a:off x="12618720" y="1527048"/>
            <a:ext cx="1645920" cy="292608"/>
          </a:xfrm>
          <a:prstGeom prst="roundRect">
            <a:avLst>
              <a:gd name="adj" fmla="val 12500"/>
            </a:avLst>
          </a:prstGeom>
          <a:solidFill>
            <a:srgbClr val="E8FAF0"/>
          </a:solidFill>
          <a:ln w="10160">
            <a:solidFill>
              <a:srgbClr val="27AE60"/>
            </a:solidFill>
            <a:prstDash val="solid"/>
          </a:ln>
        </p:spPr>
      </p:sp>
      <p:sp>
        <p:nvSpPr>
          <p:cNvPr id="8" name="Text 6"/>
          <p:cNvSpPr/>
          <p:nvPr/>
        </p:nvSpPr>
        <p:spPr>
          <a:xfrm>
            <a:off x="12618720" y="1527048"/>
            <a:ext cx="1645920" cy="292608"/>
          </a:xfrm>
          <a:prstGeom prst="rect">
            <a:avLst/>
          </a:prstGeom>
          <a:noFill/>
          <a:ln/>
        </p:spPr>
        <p:txBody>
          <a:bodyPr wrap="square" rtlCol="0" anchor="ctr"/>
          <a:lstStyle/>
          <a:p>
            <a:pPr algn="ctr" indent="0" marL="0">
              <a:buNone/>
            </a:pPr>
            <a:r>
              <a:rPr lang="en-US" sz="900" dirty="0">
                <a:solidFill>
                  <a:srgbClr val="27AE60"/>
                </a:solidFill>
                <a:latin typeface="Hiragino Sans W6" pitchFamily="34" charset="0"/>
                <a:ea typeface="Hiragino Sans W6" pitchFamily="34" charset="-122"/>
                <a:cs typeface="Hiragino Sans W6" pitchFamily="34" charset="-120"/>
              </a:rPr>
              <a:t>審査軸：事業性</a:t>
            </a:r>
            <a:endParaRPr lang="en-US" sz="900" dirty="0"/>
          </a:p>
        </p:txBody>
      </p:sp>
      <p:sp>
        <p:nvSpPr>
          <p:cNvPr id="9" name="Shape 7"/>
          <p:cNvSpPr/>
          <p:nvPr/>
        </p:nvSpPr>
        <p:spPr>
          <a:xfrm>
            <a:off x="548640" y="2057400"/>
            <a:ext cx="4389120" cy="5303520"/>
          </a:xfrm>
          <a:prstGeom prst="roundRect">
            <a:avLst>
              <a:gd name="adj" fmla="val 1667"/>
            </a:avLst>
          </a:prstGeom>
          <a:solidFill>
            <a:srgbClr val="FFFFFF"/>
          </a:solidFill>
          <a:ln w="12700">
            <a:solidFill>
              <a:srgbClr val="4A90D9"/>
            </a:solidFill>
            <a:prstDash val="solid"/>
          </a:ln>
        </p:spPr>
      </p:sp>
      <p:sp>
        <p:nvSpPr>
          <p:cNvPr id="10" name="Shape 8"/>
          <p:cNvSpPr/>
          <p:nvPr/>
        </p:nvSpPr>
        <p:spPr>
          <a:xfrm>
            <a:off x="548640" y="2057400"/>
            <a:ext cx="4389120" cy="548640"/>
          </a:xfrm>
          <a:prstGeom prst="rect">
            <a:avLst/>
          </a:prstGeom>
          <a:solidFill>
            <a:srgbClr val="4A90D9"/>
          </a:solidFill>
          <a:ln/>
        </p:spPr>
      </p:sp>
      <p:sp>
        <p:nvSpPr>
          <p:cNvPr id="11" name="Text 9"/>
          <p:cNvSpPr/>
          <p:nvPr/>
        </p:nvSpPr>
        <p:spPr>
          <a:xfrm>
            <a:off x="548640" y="2057400"/>
            <a:ext cx="4389120" cy="548640"/>
          </a:xfrm>
          <a:prstGeom prst="rect">
            <a:avLst/>
          </a:prstGeom>
          <a:noFill/>
          <a:ln/>
        </p:spPr>
        <p:txBody>
          <a:bodyPr wrap="square" rtlCol="0" anchor="ctr"/>
          <a:lstStyle/>
          <a:p>
            <a:pPr algn="ctr" indent="0" marL="0">
              <a:buNone/>
            </a:pPr>
            <a:r>
              <a:rPr lang="en-US" sz="1400" dirty="0">
                <a:solidFill>
                  <a:srgbClr val="FFFFFF"/>
                </a:solidFill>
                <a:latin typeface="Hiragino Sans W6" pitchFamily="34" charset="0"/>
                <a:ea typeface="Hiragino Sans W6" pitchFamily="34" charset="-122"/>
                <a:cs typeface="Hiragino Sans W6" pitchFamily="34" charset="-120"/>
              </a:rPr>
              <a:t>サンライズ（申請者）</a:t>
            </a:r>
            <a:endParaRPr lang="en-US" sz="1400" dirty="0"/>
          </a:p>
        </p:txBody>
      </p:sp>
      <p:sp>
        <p:nvSpPr>
          <p:cNvPr id="12" name="Text 10"/>
          <p:cNvSpPr/>
          <p:nvPr/>
        </p:nvSpPr>
        <p:spPr>
          <a:xfrm>
            <a:off x="731520" y="2834640"/>
            <a:ext cx="4023360" cy="1463040"/>
          </a:xfrm>
          <a:prstGeom prst="rect">
            <a:avLst/>
          </a:prstGeom>
          <a:noFill/>
          <a:ln/>
        </p:spPr>
        <p:txBody>
          <a:bodyPr wrap="square" rtlCol="0" anchor="ctr"/>
          <a:lstStyle/>
          <a:p>
            <a:pPr indent="0" marL="0">
              <a:lnSpc>
                <a:spcPct val="140000"/>
              </a:lnSpc>
              <a:buNone/>
            </a:pPr>
            <a:r>
              <a:rPr lang="en-US" sz="1200" dirty="0">
                <a:solidFill>
                  <a:srgbClr val="2C3E50"/>
                </a:solidFill>
                <a:latin typeface="Hiragino Sans W6" pitchFamily="34" charset="0"/>
                <a:ea typeface="Hiragino Sans W6" pitchFamily="34" charset="-122"/>
                <a:cs typeface="Hiragino Sans W6" pitchFamily="34" charset="-120"/>
              </a:rPr>
              <a:t>プロジェクト統括</a:t>
            </a:r>
            <a:endParaRPr lang="en-US" sz="1200" dirty="0"/>
          </a:p>
          <a:p>
            <a:pPr indent="0" marL="0">
              <a:lnSpc>
                <a:spcPct val="140000"/>
              </a:lnSpc>
              <a:buNone/>
            </a:pPr>
            <a:r>
              <a:rPr lang="en-US" sz="1200" dirty="0">
                <a:solidFill>
                  <a:srgbClr val="2C3E50"/>
                </a:solidFill>
                <a:latin typeface="Hiragino Sans W6" pitchFamily="34" charset="0"/>
                <a:ea typeface="Hiragino Sans W6" pitchFamily="34" charset="-122"/>
                <a:cs typeface="Hiragino Sans W6" pitchFamily="34" charset="-120"/>
              </a:rPr>
              <a:t>福祉ドメイン知識</a:t>
            </a:r>
            <a:endParaRPr lang="en-US" sz="1200" dirty="0"/>
          </a:p>
          <a:p>
            <a:pPr indent="0" marL="0">
              <a:lnSpc>
                <a:spcPct val="140000"/>
              </a:lnSpc>
              <a:buNone/>
            </a:pPr>
            <a:r>
              <a:rPr lang="en-US" sz="1200" dirty="0">
                <a:solidFill>
                  <a:srgbClr val="2C3E50"/>
                </a:solidFill>
                <a:latin typeface="Hiragino Sans W6" pitchFamily="34" charset="0"/>
                <a:ea typeface="Hiragino Sans W6" pitchFamily="34" charset="-122"/>
                <a:cs typeface="Hiragino Sans W6" pitchFamily="34" charset="-120"/>
              </a:rPr>
              <a:t>実証フィールド提供</a:t>
            </a:r>
            <a:endParaRPr lang="en-US" sz="1200" dirty="0"/>
          </a:p>
        </p:txBody>
      </p:sp>
      <p:sp>
        <p:nvSpPr>
          <p:cNvPr id="13" name="Shape 11"/>
          <p:cNvSpPr/>
          <p:nvPr/>
        </p:nvSpPr>
        <p:spPr>
          <a:xfrm>
            <a:off x="914400" y="4389120"/>
            <a:ext cx="3657600" cy="18288"/>
          </a:xfrm>
          <a:prstGeom prst="rect">
            <a:avLst/>
          </a:prstGeom>
          <a:solidFill>
            <a:srgbClr val="DCE1E8"/>
          </a:solidFill>
          <a:ln/>
        </p:spPr>
      </p:sp>
      <p:sp>
        <p:nvSpPr>
          <p:cNvPr id="14" name="Text 12"/>
          <p:cNvSpPr/>
          <p:nvPr/>
        </p:nvSpPr>
        <p:spPr>
          <a:xfrm>
            <a:off x="731520" y="4572000"/>
            <a:ext cx="4023360" cy="2286000"/>
          </a:xfrm>
          <a:prstGeom prst="rect">
            <a:avLst/>
          </a:prstGeom>
          <a:noFill/>
          <a:ln/>
        </p:spPr>
        <p:txBody>
          <a:bodyPr wrap="square" rtlCol="0" anchor="ctr"/>
          <a:lstStyle/>
          <a:p>
            <a:pPr indent="0" marL="0">
              <a:lnSpc>
                <a:spcPct val="140000"/>
              </a:lnSpc>
              <a:buNone/>
            </a:pPr>
            <a:r>
              <a:rPr lang="en-US" sz="1100" dirty="0">
                <a:solidFill>
                  <a:srgbClr val="7F8C8D"/>
                </a:solidFill>
                <a:latin typeface="Hiragino Sans W3" pitchFamily="34" charset="0"/>
                <a:ea typeface="Hiragino Sans W3" pitchFamily="34" charset="-122"/>
                <a:cs typeface="Hiragino Sans W3" pitchFamily="34" charset="-120"/>
              </a:rPr>
              <a:t>施設2カ所・利用者72名</a:t>
            </a:r>
            <a:endParaRPr lang="en-US" sz="1100" dirty="0"/>
          </a:p>
          <a:p>
            <a:pPr indent="0" marL="0">
              <a:lnSpc>
                <a:spcPct val="140000"/>
              </a:lnSpc>
              <a:buNone/>
            </a:pPr>
            <a:r>
              <a:rPr lang="en-US" sz="1100" dirty="0">
                <a:solidFill>
                  <a:srgbClr val="7F8C8D"/>
                </a:solidFill>
                <a:latin typeface="Hiragino Sans W3" pitchFamily="34" charset="0"/>
                <a:ea typeface="Hiragino Sans W3" pitchFamily="34" charset="-122"/>
                <a:cs typeface="Hiragino Sans W3" pitchFamily="34" charset="-120"/>
              </a:rPr>
              <a:t>従業員50名・7年の現場経験</a:t>
            </a:r>
            <a:endParaRPr lang="en-US" sz="1100" dirty="0"/>
          </a:p>
          <a:p>
            <a:pPr indent="0" marL="0">
              <a:lnSpc>
                <a:spcPct val="140000"/>
              </a:lnSpc>
              <a:buNone/>
            </a:pPr>
            <a:r>
              <a:rPr lang="en-US" sz="1100" dirty="0">
                <a:solidFill>
                  <a:srgbClr val="7F8C8D"/>
                </a:solidFill>
                <a:latin typeface="Hiragino Sans W3" pitchFamily="34" charset="0"/>
                <a:ea typeface="Hiragino Sans W3" pitchFamily="34" charset="-122"/>
                <a:cs typeface="Hiragino Sans W3" pitchFamily="34" charset="-120"/>
              </a:rPr>
              <a:t>自立支援マトリックス開発元</a:t>
            </a:r>
            <a:endParaRPr lang="en-US" sz="1100" dirty="0"/>
          </a:p>
        </p:txBody>
      </p:sp>
      <p:sp>
        <p:nvSpPr>
          <p:cNvPr id="15" name="Shape 13"/>
          <p:cNvSpPr/>
          <p:nvPr/>
        </p:nvSpPr>
        <p:spPr>
          <a:xfrm>
            <a:off x="5212080" y="2057400"/>
            <a:ext cx="4389120" cy="5303520"/>
          </a:xfrm>
          <a:prstGeom prst="roundRect">
            <a:avLst>
              <a:gd name="adj" fmla="val 1667"/>
            </a:avLst>
          </a:prstGeom>
          <a:solidFill>
            <a:srgbClr val="FFFFFF"/>
          </a:solidFill>
          <a:ln w="12700">
            <a:solidFill>
              <a:srgbClr val="27AE60"/>
            </a:solidFill>
            <a:prstDash val="solid"/>
          </a:ln>
        </p:spPr>
      </p:sp>
      <p:sp>
        <p:nvSpPr>
          <p:cNvPr id="16" name="Shape 14"/>
          <p:cNvSpPr/>
          <p:nvPr/>
        </p:nvSpPr>
        <p:spPr>
          <a:xfrm>
            <a:off x="5212080" y="2057400"/>
            <a:ext cx="4389120" cy="548640"/>
          </a:xfrm>
          <a:prstGeom prst="rect">
            <a:avLst/>
          </a:prstGeom>
          <a:solidFill>
            <a:srgbClr val="27AE60"/>
          </a:solidFill>
          <a:ln/>
        </p:spPr>
      </p:sp>
      <p:sp>
        <p:nvSpPr>
          <p:cNvPr id="17" name="Text 15"/>
          <p:cNvSpPr/>
          <p:nvPr/>
        </p:nvSpPr>
        <p:spPr>
          <a:xfrm>
            <a:off x="5212080" y="2057400"/>
            <a:ext cx="4389120" cy="548640"/>
          </a:xfrm>
          <a:prstGeom prst="rect">
            <a:avLst/>
          </a:prstGeom>
          <a:noFill/>
          <a:ln/>
        </p:spPr>
        <p:txBody>
          <a:bodyPr wrap="square" rtlCol="0" anchor="ctr"/>
          <a:lstStyle/>
          <a:p>
            <a:pPr algn="ctr" indent="0" marL="0">
              <a:buNone/>
            </a:pPr>
            <a:r>
              <a:rPr lang="en-US" sz="1400" dirty="0">
                <a:solidFill>
                  <a:srgbClr val="FFFFFF"/>
                </a:solidFill>
                <a:latin typeface="Hiragino Sans W6" pitchFamily="34" charset="0"/>
                <a:ea typeface="Hiragino Sans W6" pitchFamily="34" charset="-122"/>
                <a:cs typeface="Hiragino Sans W6" pitchFamily="34" charset="-120"/>
              </a:rPr>
              <a:t>DataBee（開発）</a:t>
            </a:r>
            <a:endParaRPr lang="en-US" sz="1400" dirty="0"/>
          </a:p>
        </p:txBody>
      </p:sp>
      <p:sp>
        <p:nvSpPr>
          <p:cNvPr id="18" name="Text 16"/>
          <p:cNvSpPr/>
          <p:nvPr/>
        </p:nvSpPr>
        <p:spPr>
          <a:xfrm>
            <a:off x="5394960" y="2834640"/>
            <a:ext cx="4023360" cy="1463040"/>
          </a:xfrm>
          <a:prstGeom prst="rect">
            <a:avLst/>
          </a:prstGeom>
          <a:noFill/>
          <a:ln/>
        </p:spPr>
        <p:txBody>
          <a:bodyPr wrap="square" rtlCol="0" anchor="ctr"/>
          <a:lstStyle/>
          <a:p>
            <a:pPr indent="0" marL="0">
              <a:lnSpc>
                <a:spcPct val="140000"/>
              </a:lnSpc>
              <a:buNone/>
            </a:pPr>
            <a:r>
              <a:rPr lang="en-US" sz="1200" dirty="0">
                <a:solidFill>
                  <a:srgbClr val="2C3E50"/>
                </a:solidFill>
                <a:latin typeface="Hiragino Sans W6" pitchFamily="34" charset="0"/>
                <a:ea typeface="Hiragino Sans W6" pitchFamily="34" charset="-122"/>
                <a:cs typeface="Hiragino Sans W6" pitchFamily="34" charset="-120"/>
              </a:rPr>
              <a:t>SaaS開発・運用</a:t>
            </a:r>
            <a:endParaRPr lang="en-US" sz="1200" dirty="0"/>
          </a:p>
          <a:p>
            <a:pPr indent="0" marL="0">
              <a:lnSpc>
                <a:spcPct val="140000"/>
              </a:lnSpc>
              <a:buNone/>
            </a:pPr>
            <a:r>
              <a:rPr lang="en-US" sz="1200" dirty="0">
                <a:solidFill>
                  <a:srgbClr val="2C3E50"/>
                </a:solidFill>
                <a:latin typeface="Hiragino Sans W6" pitchFamily="34" charset="0"/>
                <a:ea typeface="Hiragino Sans W6" pitchFamily="34" charset="-122"/>
                <a:cs typeface="Hiragino Sans W6" pitchFamily="34" charset="-120"/>
              </a:rPr>
              <a:t>インフラ構築</a:t>
            </a:r>
            <a:endParaRPr lang="en-US" sz="1200" dirty="0"/>
          </a:p>
          <a:p>
            <a:pPr indent="0" marL="0">
              <a:lnSpc>
                <a:spcPct val="140000"/>
              </a:lnSpc>
              <a:buNone/>
            </a:pPr>
            <a:r>
              <a:rPr lang="en-US" sz="1200" dirty="0">
                <a:solidFill>
                  <a:srgbClr val="2C3E50"/>
                </a:solidFill>
                <a:latin typeface="Hiragino Sans W6" pitchFamily="34" charset="0"/>
                <a:ea typeface="Hiragino Sans W6" pitchFamily="34" charset="-122"/>
                <a:cs typeface="Hiragino Sans W6" pitchFamily="34" charset="-120"/>
              </a:rPr>
              <a:t>品質管理</a:t>
            </a:r>
            <a:endParaRPr lang="en-US" sz="1200" dirty="0"/>
          </a:p>
        </p:txBody>
      </p:sp>
      <p:sp>
        <p:nvSpPr>
          <p:cNvPr id="19" name="Shape 17"/>
          <p:cNvSpPr/>
          <p:nvPr/>
        </p:nvSpPr>
        <p:spPr>
          <a:xfrm>
            <a:off x="5577840" y="4389120"/>
            <a:ext cx="3657600" cy="18288"/>
          </a:xfrm>
          <a:prstGeom prst="rect">
            <a:avLst/>
          </a:prstGeom>
          <a:solidFill>
            <a:srgbClr val="DCE1E8"/>
          </a:solidFill>
          <a:ln/>
        </p:spPr>
      </p:sp>
      <p:sp>
        <p:nvSpPr>
          <p:cNvPr id="20" name="Text 18"/>
          <p:cNvSpPr/>
          <p:nvPr/>
        </p:nvSpPr>
        <p:spPr>
          <a:xfrm>
            <a:off x="5394960" y="4572000"/>
            <a:ext cx="4023360" cy="2286000"/>
          </a:xfrm>
          <a:prstGeom prst="rect">
            <a:avLst/>
          </a:prstGeom>
          <a:noFill/>
          <a:ln/>
        </p:spPr>
        <p:txBody>
          <a:bodyPr wrap="square" rtlCol="0" anchor="ctr"/>
          <a:lstStyle/>
          <a:p>
            <a:pPr indent="0" marL="0">
              <a:lnSpc>
                <a:spcPct val="140000"/>
              </a:lnSpc>
              <a:buNone/>
            </a:pPr>
            <a:r>
              <a:rPr lang="en-US" sz="1100" dirty="0">
                <a:solidFill>
                  <a:srgbClr val="7F8C8D"/>
                </a:solidFill>
                <a:latin typeface="Hiragino Sans W3" pitchFamily="34" charset="0"/>
                <a:ea typeface="Hiragino Sans W3" pitchFamily="34" charset="-122"/>
                <a:cs typeface="Hiragino Sans W3" pitchFamily="34" charset="-120"/>
              </a:rPr>
              <a:t>資本金1,000万円・51名</a:t>
            </a:r>
            <a:endParaRPr lang="en-US" sz="1100" dirty="0"/>
          </a:p>
          <a:p>
            <a:pPr indent="0" marL="0">
              <a:lnSpc>
                <a:spcPct val="140000"/>
              </a:lnSpc>
              <a:buNone/>
            </a:pPr>
            <a:r>
              <a:rPr lang="en-US" sz="1100" dirty="0">
                <a:solidFill>
                  <a:srgbClr val="7F8C8D"/>
                </a:solidFill>
                <a:latin typeface="Hiragino Sans W3" pitchFamily="34" charset="0"/>
                <a:ea typeface="Hiragino Sans W3" pitchFamily="34" charset="-122"/>
                <a:cs typeface="Hiragino Sans W3" pitchFamily="34" charset="-120"/>
              </a:rPr>
              <a:t>ASPICクラウドアワード2023</a:t>
            </a:r>
            <a:endParaRPr lang="en-US" sz="1100" dirty="0"/>
          </a:p>
          <a:p>
            <a:pPr indent="0" marL="0">
              <a:lnSpc>
                <a:spcPct val="140000"/>
              </a:lnSpc>
              <a:buNone/>
            </a:pPr>
            <a:r>
              <a:rPr lang="en-US" sz="1100" dirty="0">
                <a:solidFill>
                  <a:srgbClr val="7F8C8D"/>
                </a:solidFill>
                <a:latin typeface="Hiragino Sans W3" pitchFamily="34" charset="0"/>
                <a:ea typeface="Hiragino Sans W3" pitchFamily="34" charset="-122"/>
                <a:cs typeface="Hiragino Sans W3" pitchFamily="34" charset="-120"/>
              </a:rPr>
              <a:t>不動産SaaS「みらいえ」実績</a:t>
            </a:r>
            <a:endParaRPr lang="en-US" sz="1100" dirty="0"/>
          </a:p>
        </p:txBody>
      </p:sp>
      <p:sp>
        <p:nvSpPr>
          <p:cNvPr id="21" name="Shape 19"/>
          <p:cNvSpPr/>
          <p:nvPr/>
        </p:nvSpPr>
        <p:spPr>
          <a:xfrm>
            <a:off x="9875520" y="2057400"/>
            <a:ext cx="4389120" cy="5303520"/>
          </a:xfrm>
          <a:prstGeom prst="roundRect">
            <a:avLst>
              <a:gd name="adj" fmla="val 1667"/>
            </a:avLst>
          </a:prstGeom>
          <a:solidFill>
            <a:srgbClr val="FFFFFF"/>
          </a:solidFill>
          <a:ln w="12700">
            <a:solidFill>
              <a:srgbClr val="E67E22"/>
            </a:solidFill>
            <a:prstDash val="solid"/>
          </a:ln>
        </p:spPr>
      </p:sp>
      <p:sp>
        <p:nvSpPr>
          <p:cNvPr id="22" name="Shape 20"/>
          <p:cNvSpPr/>
          <p:nvPr/>
        </p:nvSpPr>
        <p:spPr>
          <a:xfrm>
            <a:off x="9875520" y="2057400"/>
            <a:ext cx="4389120" cy="548640"/>
          </a:xfrm>
          <a:prstGeom prst="rect">
            <a:avLst/>
          </a:prstGeom>
          <a:solidFill>
            <a:srgbClr val="E67E22"/>
          </a:solidFill>
          <a:ln/>
        </p:spPr>
      </p:sp>
      <p:sp>
        <p:nvSpPr>
          <p:cNvPr id="23" name="Text 21"/>
          <p:cNvSpPr/>
          <p:nvPr/>
        </p:nvSpPr>
        <p:spPr>
          <a:xfrm>
            <a:off x="9875520" y="2057400"/>
            <a:ext cx="4389120" cy="548640"/>
          </a:xfrm>
          <a:prstGeom prst="rect">
            <a:avLst/>
          </a:prstGeom>
          <a:noFill/>
          <a:ln/>
        </p:spPr>
        <p:txBody>
          <a:bodyPr wrap="square" rtlCol="0" anchor="ctr"/>
          <a:lstStyle/>
          <a:p>
            <a:pPr algn="ctr" indent="0" marL="0">
              <a:buNone/>
            </a:pPr>
            <a:r>
              <a:rPr lang="en-US" sz="1400" dirty="0">
                <a:solidFill>
                  <a:srgbClr val="FFFFFF"/>
                </a:solidFill>
                <a:latin typeface="Hiragino Sans W6" pitchFamily="34" charset="0"/>
                <a:ea typeface="Hiragino Sans W6" pitchFamily="34" charset="-122"/>
                <a:cs typeface="Hiragino Sans W6" pitchFamily="34" charset="-120"/>
              </a:rPr>
              <a:t>FDSi（AI/分析）</a:t>
            </a:r>
            <a:endParaRPr lang="en-US" sz="1400" dirty="0"/>
          </a:p>
        </p:txBody>
      </p:sp>
      <p:sp>
        <p:nvSpPr>
          <p:cNvPr id="24" name="Text 22"/>
          <p:cNvSpPr/>
          <p:nvPr/>
        </p:nvSpPr>
        <p:spPr>
          <a:xfrm>
            <a:off x="10058400" y="2834640"/>
            <a:ext cx="4023360" cy="1463040"/>
          </a:xfrm>
          <a:prstGeom prst="rect">
            <a:avLst/>
          </a:prstGeom>
          <a:noFill/>
          <a:ln/>
        </p:spPr>
        <p:txBody>
          <a:bodyPr wrap="square" rtlCol="0" anchor="ctr"/>
          <a:lstStyle/>
          <a:p>
            <a:pPr indent="0" marL="0">
              <a:lnSpc>
                <a:spcPct val="140000"/>
              </a:lnSpc>
              <a:buNone/>
            </a:pPr>
            <a:r>
              <a:rPr lang="en-US" sz="1200" dirty="0">
                <a:solidFill>
                  <a:srgbClr val="2C3E50"/>
                </a:solidFill>
                <a:latin typeface="Hiragino Sans W6" pitchFamily="34" charset="0"/>
                <a:ea typeface="Hiragino Sans W6" pitchFamily="34" charset="-122"/>
                <a:cs typeface="Hiragino Sans W6" pitchFamily="34" charset="-120"/>
              </a:rPr>
              <a:t>AI/MLモデル開発</a:t>
            </a:r>
            <a:endParaRPr lang="en-US" sz="1200" dirty="0"/>
          </a:p>
          <a:p>
            <a:pPr indent="0" marL="0">
              <a:lnSpc>
                <a:spcPct val="140000"/>
              </a:lnSpc>
              <a:buNone/>
            </a:pPr>
            <a:r>
              <a:rPr lang="en-US" sz="1200" dirty="0">
                <a:solidFill>
                  <a:srgbClr val="2C3E50"/>
                </a:solidFill>
                <a:latin typeface="Hiragino Sans W6" pitchFamily="34" charset="0"/>
                <a:ea typeface="Hiragino Sans W6" pitchFamily="34" charset="-122"/>
                <a:cs typeface="Hiragino Sans W6" pitchFamily="34" charset="-120"/>
              </a:rPr>
              <a:t>データ分析</a:t>
            </a:r>
            <a:endParaRPr lang="en-US" sz="1200" dirty="0"/>
          </a:p>
          <a:p>
            <a:pPr indent="0" marL="0">
              <a:lnSpc>
                <a:spcPct val="140000"/>
              </a:lnSpc>
              <a:buNone/>
            </a:pPr>
            <a:r>
              <a:rPr lang="en-US" sz="1200" dirty="0">
                <a:solidFill>
                  <a:srgbClr val="2C3E50"/>
                </a:solidFill>
                <a:latin typeface="Hiragino Sans W6" pitchFamily="34" charset="0"/>
                <a:ea typeface="Hiragino Sans W6" pitchFamily="34" charset="-122"/>
                <a:cs typeface="Hiragino Sans W6" pitchFamily="34" charset="-120"/>
              </a:rPr>
              <a:t>技術アドバイザリー</a:t>
            </a:r>
            <a:endParaRPr lang="en-US" sz="1200" dirty="0"/>
          </a:p>
        </p:txBody>
      </p:sp>
      <p:sp>
        <p:nvSpPr>
          <p:cNvPr id="25" name="Shape 23"/>
          <p:cNvSpPr/>
          <p:nvPr/>
        </p:nvSpPr>
        <p:spPr>
          <a:xfrm>
            <a:off x="10241280" y="4389120"/>
            <a:ext cx="3657600" cy="18288"/>
          </a:xfrm>
          <a:prstGeom prst="rect">
            <a:avLst/>
          </a:prstGeom>
          <a:solidFill>
            <a:srgbClr val="DCE1E8"/>
          </a:solidFill>
          <a:ln/>
        </p:spPr>
      </p:sp>
      <p:sp>
        <p:nvSpPr>
          <p:cNvPr id="26" name="Text 24"/>
          <p:cNvSpPr/>
          <p:nvPr/>
        </p:nvSpPr>
        <p:spPr>
          <a:xfrm>
            <a:off x="10058400" y="4572000"/>
            <a:ext cx="4023360" cy="2286000"/>
          </a:xfrm>
          <a:prstGeom prst="rect">
            <a:avLst/>
          </a:prstGeom>
          <a:noFill/>
          <a:ln/>
        </p:spPr>
        <p:txBody>
          <a:bodyPr wrap="square" rtlCol="0" anchor="ctr"/>
          <a:lstStyle/>
          <a:p>
            <a:pPr indent="0" marL="0">
              <a:lnSpc>
                <a:spcPct val="140000"/>
              </a:lnSpc>
              <a:buNone/>
            </a:pPr>
            <a:r>
              <a:rPr lang="en-US" sz="1100" dirty="0">
                <a:solidFill>
                  <a:srgbClr val="7F8C8D"/>
                </a:solidFill>
                <a:latin typeface="Hiragino Sans W3" pitchFamily="34" charset="0"/>
                <a:ea typeface="Hiragino Sans W3" pitchFamily="34" charset="-122"/>
                <a:cs typeface="Hiragino Sans W3" pitchFamily="34" charset="-120"/>
              </a:rPr>
              <a:t>13ヶ月の設計フェーズ実績</a:t>
            </a:r>
            <a:endParaRPr lang="en-US" sz="1100" dirty="0"/>
          </a:p>
          <a:p>
            <a:pPr indent="0" marL="0">
              <a:lnSpc>
                <a:spcPct val="140000"/>
              </a:lnSpc>
              <a:buNone/>
            </a:pPr>
            <a:r>
              <a:rPr lang="en-US" sz="1100" dirty="0">
                <a:solidFill>
                  <a:srgbClr val="7F8C8D"/>
                </a:solidFill>
                <a:latin typeface="Hiragino Sans W3" pitchFamily="34" charset="0"/>
                <a:ea typeface="Hiragino Sans W3" pitchFamily="34" charset="-122"/>
                <a:cs typeface="Hiragino Sans W3" pitchFamily="34" charset="-120"/>
              </a:rPr>
              <a:t>OCR・NLP・形態素解析</a:t>
            </a:r>
            <a:endParaRPr lang="en-US" sz="1100" dirty="0"/>
          </a:p>
          <a:p>
            <a:pPr indent="0" marL="0">
              <a:lnSpc>
                <a:spcPct val="140000"/>
              </a:lnSpc>
              <a:buNone/>
            </a:pPr>
            <a:r>
              <a:rPr lang="en-US" sz="1100" dirty="0">
                <a:solidFill>
                  <a:srgbClr val="7F8C8D"/>
                </a:solidFill>
                <a:latin typeface="Hiragino Sans W3" pitchFamily="34" charset="0"/>
                <a:ea typeface="Hiragino Sans W3" pitchFamily="34" charset="-122"/>
                <a:cs typeface="Hiragino Sans W3" pitchFamily="34" charset="-120"/>
              </a:rPr>
              <a:t>先行技術調査を主導</a:t>
            </a:r>
            <a:endParaRPr lang="en-US" sz="1100" dirty="0"/>
          </a:p>
        </p:txBody>
      </p:sp>
      <p:sp>
        <p:nvSpPr>
          <p:cNvPr id="27" name="Text 25"/>
          <p:cNvSpPr/>
          <p:nvPr/>
        </p:nvSpPr>
        <p:spPr>
          <a:xfrm>
            <a:off x="13258800" y="7818120"/>
            <a:ext cx="914400" cy="274320"/>
          </a:xfrm>
          <a:prstGeom prst="rect">
            <a:avLst/>
          </a:prstGeom>
          <a:noFill/>
          <a:ln/>
        </p:spPr>
        <p:txBody>
          <a:bodyPr wrap="square" rtlCol="0" anchor="ctr"/>
          <a:lstStyle/>
          <a:p>
            <a:pPr algn="r" indent="0" marL="0">
              <a:buNone/>
            </a:pPr>
            <a:r>
              <a:rPr lang="en-US" sz="800" dirty="0">
                <a:solidFill>
                  <a:srgbClr val="7F8C8D"/>
                </a:solidFill>
                <a:latin typeface="Hiragino Sans W3" pitchFamily="34" charset="0"/>
                <a:ea typeface="Hiragino Sans W3" pitchFamily="34" charset="-122"/>
                <a:cs typeface="Hiragino Sans W3" pitchFamily="34" charset="-120"/>
              </a:rPr>
              <a:t>11 / 15</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4630400" cy="1417320"/>
          </a:xfrm>
          <a:prstGeom prst="rect">
            <a:avLst/>
          </a:prstGeom>
          <a:solidFill>
            <a:srgbClr val="1A1A2E"/>
          </a:solidFill>
          <a:ln/>
        </p:spPr>
      </p:sp>
      <p:sp>
        <p:nvSpPr>
          <p:cNvPr id="3" name="Text 1"/>
          <p:cNvSpPr/>
          <p:nvPr/>
        </p:nvSpPr>
        <p:spPr>
          <a:xfrm>
            <a:off x="548640" y="182880"/>
            <a:ext cx="13533120" cy="594360"/>
          </a:xfrm>
          <a:prstGeom prst="rect">
            <a:avLst/>
          </a:prstGeom>
          <a:noFill/>
          <a:ln/>
        </p:spPr>
        <p:txBody>
          <a:bodyPr wrap="square" rtlCol="0" anchor="ctr"/>
          <a:lstStyle/>
          <a:p>
            <a:pPr indent="0" marL="0">
              <a:buNone/>
            </a:pPr>
            <a:r>
              <a:rPr lang="en-US" sz="2600" b="1" dirty="0">
                <a:solidFill>
                  <a:srgbClr val="FFFFFF"/>
                </a:solidFill>
                <a:latin typeface="Hiragino Sans W6" pitchFamily="34" charset="0"/>
                <a:ea typeface="Hiragino Sans W6" pitchFamily="34" charset="-122"/>
                <a:cs typeface="Hiragino Sans W6" pitchFamily="34" charset="-120"/>
              </a:rPr>
              <a:t>知財課題とハンズオン支援への期待</a:t>
            </a:r>
            <a:endParaRPr lang="en-US" sz="2600" dirty="0"/>
          </a:p>
        </p:txBody>
      </p:sp>
      <p:sp>
        <p:nvSpPr>
          <p:cNvPr id="4" name="Text 2"/>
          <p:cNvSpPr/>
          <p:nvPr/>
        </p:nvSpPr>
        <p:spPr>
          <a:xfrm>
            <a:off x="548640" y="822960"/>
            <a:ext cx="13533120" cy="411480"/>
          </a:xfrm>
          <a:prstGeom prst="rect">
            <a:avLst/>
          </a:prstGeom>
          <a:noFill/>
          <a:ln/>
        </p:spPr>
        <p:txBody>
          <a:bodyPr wrap="square" rtlCol="0" anchor="ctr"/>
          <a:lstStyle/>
          <a:p>
            <a:pPr indent="0" marL="0">
              <a:buNone/>
            </a:pPr>
            <a:r>
              <a:rPr lang="en-US" sz="1300" dirty="0">
                <a:solidFill>
                  <a:srgbClr val="B0BEC5"/>
                </a:solidFill>
                <a:latin typeface="Hiragino Sans W3" pitchFamily="34" charset="0"/>
                <a:ea typeface="Hiragino Sans W3" pitchFamily="34" charset="-122"/>
                <a:cs typeface="Hiragino Sans W3" pitchFamily="34" charset="-120"/>
              </a:rPr>
              <a:t>福祉施設運営者として初めての知財戦略 — 専門家の伴走が不可欠</a:t>
            </a:r>
            <a:endParaRPr lang="en-US" sz="1300" dirty="0"/>
          </a:p>
        </p:txBody>
      </p:sp>
      <p:sp>
        <p:nvSpPr>
          <p:cNvPr id="5" name="Shape 3"/>
          <p:cNvSpPr/>
          <p:nvPr/>
        </p:nvSpPr>
        <p:spPr>
          <a:xfrm>
            <a:off x="548640" y="1508760"/>
            <a:ext cx="13533120" cy="347472"/>
          </a:xfrm>
          <a:prstGeom prst="roundRect">
            <a:avLst>
              <a:gd name="adj" fmla="val 7895"/>
            </a:avLst>
          </a:prstGeom>
          <a:solidFill>
            <a:srgbClr val="4A90D9"/>
          </a:solidFill>
          <a:ln/>
        </p:spPr>
      </p:sp>
      <p:sp>
        <p:nvSpPr>
          <p:cNvPr id="6" name="Text 4"/>
          <p:cNvSpPr/>
          <p:nvPr/>
        </p:nvSpPr>
        <p:spPr>
          <a:xfrm>
            <a:off x="731520" y="1508760"/>
            <a:ext cx="13167360" cy="347472"/>
          </a:xfrm>
          <a:prstGeom prst="rect">
            <a:avLst/>
          </a:prstGeom>
          <a:noFill/>
          <a:ln/>
        </p:spPr>
        <p:txBody>
          <a:bodyPr wrap="square" rtlCol="0" anchor="ctr"/>
          <a:lstStyle/>
          <a:p>
            <a:pPr indent="0" marL="0">
              <a:buNone/>
            </a:pPr>
            <a:r>
              <a:rPr lang="en-US" sz="1100" dirty="0">
                <a:solidFill>
                  <a:srgbClr val="FFFFFF"/>
                </a:solidFill>
                <a:latin typeface="Hiragino Sans W6" pitchFamily="34" charset="0"/>
                <a:ea typeface="Hiragino Sans W6" pitchFamily="34" charset="-122"/>
                <a:cs typeface="Hiragino Sans W6" pitchFamily="34" charset="-120"/>
              </a:rPr>
              <a:t>補足：申請書「10. 知財面の課題」「11. ハンズオン支援が必要な理由」</a:t>
            </a:r>
            <a:endParaRPr lang="en-US" sz="1100" dirty="0"/>
          </a:p>
        </p:txBody>
      </p:sp>
      <p:sp>
        <p:nvSpPr>
          <p:cNvPr id="7" name="Shape 5"/>
          <p:cNvSpPr/>
          <p:nvPr/>
        </p:nvSpPr>
        <p:spPr>
          <a:xfrm>
            <a:off x="12618720" y="1527048"/>
            <a:ext cx="1645920" cy="292608"/>
          </a:xfrm>
          <a:prstGeom prst="roundRect">
            <a:avLst>
              <a:gd name="adj" fmla="val 12500"/>
            </a:avLst>
          </a:prstGeom>
          <a:solidFill>
            <a:srgbClr val="FEF5E7"/>
          </a:solidFill>
          <a:ln w="10160">
            <a:solidFill>
              <a:srgbClr val="D35400"/>
            </a:solidFill>
            <a:prstDash val="solid"/>
          </a:ln>
        </p:spPr>
      </p:sp>
      <p:sp>
        <p:nvSpPr>
          <p:cNvPr id="8" name="Text 6"/>
          <p:cNvSpPr/>
          <p:nvPr/>
        </p:nvSpPr>
        <p:spPr>
          <a:xfrm>
            <a:off x="12618720" y="1527048"/>
            <a:ext cx="1645920" cy="292608"/>
          </a:xfrm>
          <a:prstGeom prst="rect">
            <a:avLst/>
          </a:prstGeom>
          <a:noFill/>
          <a:ln/>
        </p:spPr>
        <p:txBody>
          <a:bodyPr wrap="square" rtlCol="0" anchor="ctr"/>
          <a:lstStyle/>
          <a:p>
            <a:pPr algn="ctr" indent="0" marL="0">
              <a:buNone/>
            </a:pPr>
            <a:r>
              <a:rPr lang="en-US" sz="900" dirty="0">
                <a:solidFill>
                  <a:srgbClr val="D35400"/>
                </a:solidFill>
                <a:latin typeface="Hiragino Sans W6" pitchFamily="34" charset="0"/>
                <a:ea typeface="Hiragino Sans W6" pitchFamily="34" charset="-122"/>
                <a:cs typeface="Hiragino Sans W6" pitchFamily="34" charset="-120"/>
              </a:rPr>
              <a:t>審査軸：妥当性</a:t>
            </a:r>
            <a:endParaRPr lang="en-US" sz="900" dirty="0"/>
          </a:p>
        </p:txBody>
      </p:sp>
      <p:sp>
        <p:nvSpPr>
          <p:cNvPr id="9" name="Shape 7"/>
          <p:cNvSpPr/>
          <p:nvPr/>
        </p:nvSpPr>
        <p:spPr>
          <a:xfrm>
            <a:off x="548640" y="2057400"/>
            <a:ext cx="6766560" cy="5486400"/>
          </a:xfrm>
          <a:prstGeom prst="roundRect">
            <a:avLst>
              <a:gd name="adj" fmla="val 1333"/>
            </a:avLst>
          </a:prstGeom>
          <a:solidFill>
            <a:srgbClr val="FFFFFF"/>
          </a:solidFill>
          <a:ln w="12700">
            <a:solidFill>
              <a:srgbClr val="DCE1E8"/>
            </a:solidFill>
            <a:prstDash val="solid"/>
          </a:ln>
        </p:spPr>
      </p:sp>
      <p:sp>
        <p:nvSpPr>
          <p:cNvPr id="10" name="Text 8"/>
          <p:cNvSpPr/>
          <p:nvPr/>
        </p:nvSpPr>
        <p:spPr>
          <a:xfrm>
            <a:off x="731520" y="2148840"/>
            <a:ext cx="5486400" cy="320040"/>
          </a:xfrm>
          <a:prstGeom prst="rect">
            <a:avLst/>
          </a:prstGeom>
          <a:noFill/>
          <a:ln/>
        </p:spPr>
        <p:txBody>
          <a:bodyPr wrap="square" rtlCol="0" anchor="ctr"/>
          <a:lstStyle/>
          <a:p>
            <a:pPr indent="0" marL="0">
              <a:buNone/>
            </a:pPr>
            <a:r>
              <a:rPr lang="en-US" sz="1400" dirty="0">
                <a:solidFill>
                  <a:srgbClr val="2C3E50"/>
                </a:solidFill>
                <a:latin typeface="Hiragino Sans W6" pitchFamily="34" charset="0"/>
                <a:ea typeface="Hiragino Sans W6" pitchFamily="34" charset="-122"/>
                <a:cs typeface="Hiragino Sans W6" pitchFamily="34" charset="-120"/>
              </a:rPr>
              <a:t>現在の知財課題</a:t>
            </a:r>
            <a:endParaRPr lang="en-US" sz="1400" dirty="0"/>
          </a:p>
        </p:txBody>
      </p:sp>
      <p:sp>
        <p:nvSpPr>
          <p:cNvPr id="11" name="Shape 9"/>
          <p:cNvSpPr/>
          <p:nvPr/>
        </p:nvSpPr>
        <p:spPr>
          <a:xfrm>
            <a:off x="822960" y="2606040"/>
            <a:ext cx="73152" cy="960120"/>
          </a:xfrm>
          <a:prstGeom prst="rect">
            <a:avLst/>
          </a:prstGeom>
          <a:solidFill>
            <a:srgbClr val="E67E22"/>
          </a:solidFill>
          <a:ln/>
        </p:spPr>
      </p:sp>
      <p:sp>
        <p:nvSpPr>
          <p:cNvPr id="12" name="Text 10"/>
          <p:cNvSpPr/>
          <p:nvPr/>
        </p:nvSpPr>
        <p:spPr>
          <a:xfrm>
            <a:off x="1051560" y="2606040"/>
            <a:ext cx="5943600" cy="320040"/>
          </a:xfrm>
          <a:prstGeom prst="rect">
            <a:avLst/>
          </a:prstGeom>
          <a:noFill/>
          <a:ln/>
        </p:spPr>
        <p:txBody>
          <a:bodyPr wrap="square" rtlCol="0" anchor="ctr"/>
          <a:lstStyle/>
          <a:p>
            <a:pPr indent="0" marL="0">
              <a:buNone/>
            </a:pPr>
            <a:r>
              <a:rPr lang="en-US" sz="1200" dirty="0">
                <a:solidFill>
                  <a:srgbClr val="2C3E50"/>
                </a:solidFill>
                <a:latin typeface="Hiragino Sans W6" pitchFamily="34" charset="0"/>
                <a:ea typeface="Hiragino Sans W6" pitchFamily="34" charset="-122"/>
                <a:cs typeface="Hiragino Sans W6" pitchFamily="34" charset="-120"/>
              </a:rPr>
              <a:t>特許出願の経験不足</a:t>
            </a:r>
            <a:endParaRPr lang="en-US" sz="1200" dirty="0"/>
          </a:p>
        </p:txBody>
      </p:sp>
      <p:sp>
        <p:nvSpPr>
          <p:cNvPr id="13" name="Text 11"/>
          <p:cNvSpPr/>
          <p:nvPr/>
        </p:nvSpPr>
        <p:spPr>
          <a:xfrm>
            <a:off x="1051560" y="2926080"/>
            <a:ext cx="5943600" cy="640080"/>
          </a:xfrm>
          <a:prstGeom prst="rect">
            <a:avLst/>
          </a:prstGeom>
          <a:noFill/>
          <a:ln/>
        </p:spPr>
        <p:txBody>
          <a:bodyPr wrap="square" rtlCol="0" anchor="ctr"/>
          <a:lstStyle/>
          <a:p>
            <a:pPr indent="0" marL="0">
              <a:lnSpc>
                <a:spcPct val="130000"/>
              </a:lnSpc>
              <a:buNone/>
            </a:pPr>
            <a:r>
              <a:rPr lang="en-US" sz="1100" dirty="0">
                <a:solidFill>
                  <a:srgbClr val="7F8C8D"/>
                </a:solidFill>
                <a:latin typeface="Hiragino Sans W3" pitchFamily="34" charset="0"/>
                <a:ea typeface="Hiragino Sans W3" pitchFamily="34" charset="-122"/>
                <a:cs typeface="Hiragino Sans W3" pitchFamily="34" charset="-120"/>
              </a:rPr>
              <a:t>福祉施設運営者として初のソフトウェア特許。請求項の書き方・先行技術との差別化表現に専門家の指導が不可欠。</a:t>
            </a:r>
            <a:endParaRPr lang="en-US" sz="1100" dirty="0"/>
          </a:p>
        </p:txBody>
      </p:sp>
      <p:sp>
        <p:nvSpPr>
          <p:cNvPr id="14" name="Shape 12"/>
          <p:cNvSpPr/>
          <p:nvPr/>
        </p:nvSpPr>
        <p:spPr>
          <a:xfrm>
            <a:off x="822960" y="3794760"/>
            <a:ext cx="73152" cy="960120"/>
          </a:xfrm>
          <a:prstGeom prst="rect">
            <a:avLst/>
          </a:prstGeom>
          <a:solidFill>
            <a:srgbClr val="E67E22"/>
          </a:solidFill>
          <a:ln/>
        </p:spPr>
      </p:sp>
      <p:sp>
        <p:nvSpPr>
          <p:cNvPr id="15" name="Text 13"/>
          <p:cNvSpPr/>
          <p:nvPr/>
        </p:nvSpPr>
        <p:spPr>
          <a:xfrm>
            <a:off x="1051560" y="3794760"/>
            <a:ext cx="5943600" cy="320040"/>
          </a:xfrm>
          <a:prstGeom prst="rect">
            <a:avLst/>
          </a:prstGeom>
          <a:noFill/>
          <a:ln/>
        </p:spPr>
        <p:txBody>
          <a:bodyPr wrap="square" rtlCol="0" anchor="ctr"/>
          <a:lstStyle/>
          <a:p>
            <a:pPr indent="0" marL="0">
              <a:buNone/>
            </a:pPr>
            <a:r>
              <a:rPr lang="en-US" sz="1200" dirty="0">
                <a:solidFill>
                  <a:srgbClr val="2C3E50"/>
                </a:solidFill>
                <a:latin typeface="Hiragino Sans W6" pitchFamily="34" charset="0"/>
                <a:ea typeface="Hiragino Sans W6" pitchFamily="34" charset="-122"/>
                <a:cs typeface="Hiragino Sans W6" pitchFamily="34" charset="-120"/>
              </a:rPr>
              <a:t>AI特許の権利範囲設定</a:t>
            </a:r>
            <a:endParaRPr lang="en-US" sz="1200" dirty="0"/>
          </a:p>
        </p:txBody>
      </p:sp>
      <p:sp>
        <p:nvSpPr>
          <p:cNvPr id="16" name="Text 14"/>
          <p:cNvSpPr/>
          <p:nvPr/>
        </p:nvSpPr>
        <p:spPr>
          <a:xfrm>
            <a:off x="1051560" y="4114800"/>
            <a:ext cx="5943600" cy="640080"/>
          </a:xfrm>
          <a:prstGeom prst="rect">
            <a:avLst/>
          </a:prstGeom>
          <a:noFill/>
          <a:ln/>
        </p:spPr>
        <p:txBody>
          <a:bodyPr wrap="square" rtlCol="0" anchor="ctr"/>
          <a:lstStyle/>
          <a:p>
            <a:pPr indent="0" marL="0">
              <a:lnSpc>
                <a:spcPct val="130000"/>
              </a:lnSpc>
              <a:buNone/>
            </a:pPr>
            <a:r>
              <a:rPr lang="en-US" sz="1100" dirty="0">
                <a:solidFill>
                  <a:srgbClr val="7F8C8D"/>
                </a:solidFill>
                <a:latin typeface="Hiragino Sans W3" pitchFamily="34" charset="0"/>
                <a:ea typeface="Hiragino Sans W3" pitchFamily="34" charset="-122"/>
                <a:cs typeface="Hiragino Sans W3" pitchFamily="34" charset="-120"/>
              </a:rPr>
              <a:t>アルゴリズム単体ではなく「福祉記録×NLP×マトリックス」の組み合わせでどこまでクレームできるか判断困難。</a:t>
            </a:r>
            <a:endParaRPr lang="en-US" sz="1100" dirty="0"/>
          </a:p>
        </p:txBody>
      </p:sp>
      <p:sp>
        <p:nvSpPr>
          <p:cNvPr id="17" name="Shape 15"/>
          <p:cNvSpPr/>
          <p:nvPr/>
        </p:nvSpPr>
        <p:spPr>
          <a:xfrm>
            <a:off x="822960" y="4983480"/>
            <a:ext cx="73152" cy="960120"/>
          </a:xfrm>
          <a:prstGeom prst="rect">
            <a:avLst/>
          </a:prstGeom>
          <a:solidFill>
            <a:srgbClr val="E67E22"/>
          </a:solidFill>
          <a:ln/>
        </p:spPr>
      </p:sp>
      <p:sp>
        <p:nvSpPr>
          <p:cNvPr id="18" name="Text 16"/>
          <p:cNvSpPr/>
          <p:nvPr/>
        </p:nvSpPr>
        <p:spPr>
          <a:xfrm>
            <a:off x="1051560" y="4983480"/>
            <a:ext cx="5943600" cy="320040"/>
          </a:xfrm>
          <a:prstGeom prst="rect">
            <a:avLst/>
          </a:prstGeom>
          <a:noFill/>
          <a:ln/>
        </p:spPr>
        <p:txBody>
          <a:bodyPr wrap="square" rtlCol="0" anchor="ctr"/>
          <a:lstStyle/>
          <a:p>
            <a:pPr indent="0" marL="0">
              <a:buNone/>
            </a:pPr>
            <a:r>
              <a:rPr lang="en-US" sz="1200" dirty="0">
                <a:solidFill>
                  <a:srgbClr val="2C3E50"/>
                </a:solidFill>
                <a:latin typeface="Hiragino Sans W6" pitchFamily="34" charset="0"/>
                <a:ea typeface="Hiragino Sans W6" pitchFamily="34" charset="-122"/>
                <a:cs typeface="Hiragino Sans W6" pitchFamily="34" charset="-120"/>
              </a:rPr>
              <a:t>営業秘密の管理体系</a:t>
            </a:r>
            <a:endParaRPr lang="en-US" sz="1200" dirty="0"/>
          </a:p>
        </p:txBody>
      </p:sp>
      <p:sp>
        <p:nvSpPr>
          <p:cNvPr id="19" name="Text 17"/>
          <p:cNvSpPr/>
          <p:nvPr/>
        </p:nvSpPr>
        <p:spPr>
          <a:xfrm>
            <a:off x="1051560" y="5303520"/>
            <a:ext cx="5943600" cy="640080"/>
          </a:xfrm>
          <a:prstGeom prst="rect">
            <a:avLst/>
          </a:prstGeom>
          <a:noFill/>
          <a:ln/>
        </p:spPr>
        <p:txBody>
          <a:bodyPr wrap="square" rtlCol="0" anchor="ctr"/>
          <a:lstStyle/>
          <a:p>
            <a:pPr indent="0" marL="0">
              <a:lnSpc>
                <a:spcPct val="130000"/>
              </a:lnSpc>
              <a:buNone/>
            </a:pPr>
            <a:r>
              <a:rPr lang="en-US" sz="1100" dirty="0">
                <a:solidFill>
                  <a:srgbClr val="7F8C8D"/>
                </a:solidFill>
                <a:latin typeface="Hiragino Sans W3" pitchFamily="34" charset="0"/>
                <a:ea typeface="Hiragino Sans W3" pitchFamily="34" charset="-122"/>
                <a:cs typeface="Hiragino Sans W3" pitchFamily="34" charset="-120"/>
              </a:rPr>
              <a:t>自立支援マトリックスは営業秘密として管理するが、体系的な管理規程がない。不正競争防止法の要件充足が課題。</a:t>
            </a:r>
            <a:endParaRPr lang="en-US" sz="1100" dirty="0"/>
          </a:p>
        </p:txBody>
      </p:sp>
      <p:sp>
        <p:nvSpPr>
          <p:cNvPr id="20" name="Shape 18"/>
          <p:cNvSpPr/>
          <p:nvPr/>
        </p:nvSpPr>
        <p:spPr>
          <a:xfrm>
            <a:off x="822960" y="6172200"/>
            <a:ext cx="73152" cy="960120"/>
          </a:xfrm>
          <a:prstGeom prst="rect">
            <a:avLst/>
          </a:prstGeom>
          <a:solidFill>
            <a:srgbClr val="E67E22"/>
          </a:solidFill>
          <a:ln/>
        </p:spPr>
      </p:sp>
      <p:sp>
        <p:nvSpPr>
          <p:cNvPr id="21" name="Text 19"/>
          <p:cNvSpPr/>
          <p:nvPr/>
        </p:nvSpPr>
        <p:spPr>
          <a:xfrm>
            <a:off x="1051560" y="6172200"/>
            <a:ext cx="5943600" cy="320040"/>
          </a:xfrm>
          <a:prstGeom prst="rect">
            <a:avLst/>
          </a:prstGeom>
          <a:noFill/>
          <a:ln/>
        </p:spPr>
        <p:txBody>
          <a:bodyPr wrap="square" rtlCol="0" anchor="ctr"/>
          <a:lstStyle/>
          <a:p>
            <a:pPr indent="0" marL="0">
              <a:buNone/>
            </a:pPr>
            <a:r>
              <a:rPr lang="en-US" sz="1200" dirty="0">
                <a:solidFill>
                  <a:srgbClr val="2C3E50"/>
                </a:solidFill>
                <a:latin typeface="Hiragino Sans W6" pitchFamily="34" charset="0"/>
                <a:ea typeface="Hiragino Sans W6" pitchFamily="34" charset="-122"/>
                <a:cs typeface="Hiragino Sans W6" pitchFamily="34" charset="-120"/>
              </a:rPr>
              <a:t>海外出願戦略</a:t>
            </a:r>
            <a:endParaRPr lang="en-US" sz="1200" dirty="0"/>
          </a:p>
        </p:txBody>
      </p:sp>
      <p:sp>
        <p:nvSpPr>
          <p:cNvPr id="22" name="Text 20"/>
          <p:cNvSpPr/>
          <p:nvPr/>
        </p:nvSpPr>
        <p:spPr>
          <a:xfrm>
            <a:off x="1051560" y="6492240"/>
            <a:ext cx="5943600" cy="640080"/>
          </a:xfrm>
          <a:prstGeom prst="rect">
            <a:avLst/>
          </a:prstGeom>
          <a:noFill/>
          <a:ln/>
        </p:spPr>
        <p:txBody>
          <a:bodyPr wrap="square" rtlCol="0" anchor="ctr"/>
          <a:lstStyle/>
          <a:p>
            <a:pPr indent="0" marL="0">
              <a:lnSpc>
                <a:spcPct val="130000"/>
              </a:lnSpc>
              <a:buNone/>
            </a:pPr>
            <a:r>
              <a:rPr lang="en-US" sz="1100" dirty="0">
                <a:solidFill>
                  <a:srgbClr val="7F8C8D"/>
                </a:solidFill>
                <a:latin typeface="Hiragino Sans W3" pitchFamily="34" charset="0"/>
                <a:ea typeface="Hiragino Sans W3" pitchFamily="34" charset="-122"/>
                <a:cs typeface="Hiragino Sans W3" pitchFamily="34" charset="-120"/>
              </a:rPr>
              <a:t>PCT出願のタイミング・対象国の選定。中国の実用新案制度も含め、戦略的な出願計画が必要。</a:t>
            </a:r>
            <a:endParaRPr lang="en-US" sz="1100" dirty="0"/>
          </a:p>
        </p:txBody>
      </p:sp>
      <p:sp>
        <p:nvSpPr>
          <p:cNvPr id="23" name="Shape 21"/>
          <p:cNvSpPr/>
          <p:nvPr/>
        </p:nvSpPr>
        <p:spPr>
          <a:xfrm>
            <a:off x="7589520" y="2057400"/>
            <a:ext cx="6492240" cy="5486400"/>
          </a:xfrm>
          <a:prstGeom prst="roundRect">
            <a:avLst>
              <a:gd name="adj" fmla="val 1333"/>
            </a:avLst>
          </a:prstGeom>
          <a:solidFill>
            <a:srgbClr val="FFFFFF"/>
          </a:solidFill>
          <a:ln w="12700">
            <a:solidFill>
              <a:srgbClr val="4A90D9"/>
            </a:solidFill>
            <a:prstDash val="solid"/>
          </a:ln>
        </p:spPr>
      </p:sp>
      <p:sp>
        <p:nvSpPr>
          <p:cNvPr id="24" name="Text 22"/>
          <p:cNvSpPr/>
          <p:nvPr/>
        </p:nvSpPr>
        <p:spPr>
          <a:xfrm>
            <a:off x="7772400" y="2148840"/>
            <a:ext cx="5486400" cy="320040"/>
          </a:xfrm>
          <a:prstGeom prst="rect">
            <a:avLst/>
          </a:prstGeom>
          <a:noFill/>
          <a:ln/>
        </p:spPr>
        <p:txBody>
          <a:bodyPr wrap="square" rtlCol="0" anchor="ctr"/>
          <a:lstStyle/>
          <a:p>
            <a:pPr indent="0" marL="0">
              <a:buNone/>
            </a:pPr>
            <a:r>
              <a:rPr lang="en-US" sz="1400" dirty="0">
                <a:solidFill>
                  <a:srgbClr val="4A90D9"/>
                </a:solidFill>
                <a:latin typeface="Hiragino Sans W6" pitchFamily="34" charset="0"/>
                <a:ea typeface="Hiragino Sans W6" pitchFamily="34" charset="-122"/>
                <a:cs typeface="Hiragino Sans W6" pitchFamily="34" charset="-120"/>
              </a:rPr>
              <a:t>ハンズオン支援で期待すること</a:t>
            </a:r>
            <a:endParaRPr lang="en-US" sz="1400" dirty="0"/>
          </a:p>
        </p:txBody>
      </p:sp>
      <p:sp>
        <p:nvSpPr>
          <p:cNvPr id="25" name="Text 23"/>
          <p:cNvSpPr/>
          <p:nvPr/>
        </p:nvSpPr>
        <p:spPr>
          <a:xfrm>
            <a:off x="7772400" y="2560320"/>
            <a:ext cx="6126480" cy="4754880"/>
          </a:xfrm>
          <a:prstGeom prst="rect">
            <a:avLst/>
          </a:prstGeom>
          <a:noFill/>
          <a:ln/>
        </p:spPr>
        <p:txBody>
          <a:bodyPr wrap="square" rtlCol="0" anchor="ctr"/>
          <a:lstStyle/>
          <a:p>
            <a:pPr indent="0" marL="0">
              <a:buNone/>
            </a:pPr>
            <a:r>
              <a:rPr lang="en-US" sz="1200" dirty="0">
                <a:solidFill>
                  <a:srgbClr val="2C3E50"/>
                </a:solidFill>
                <a:latin typeface="Hiragino Sans W6" pitchFamily="34" charset="0"/>
                <a:ea typeface="Hiragino Sans W6" pitchFamily="34" charset="-122"/>
                <a:cs typeface="Hiragino Sans W6" pitchFamily="34" charset="-120"/>
              </a:rPr>
              <a:t>① 特許出願の実務指導</a:t>
            </a:r>
            <a:endParaRPr lang="en-US" sz="1200" dirty="0"/>
          </a:p>
          <a:p>
            <a:pPr indent="0" marL="0">
              <a:buNone/>
            </a:pPr>
            <a:r>
              <a:rPr lang="en-US" sz="1100" dirty="0">
                <a:solidFill>
                  <a:srgbClr val="7F8C8D"/>
                </a:solidFill>
                <a:latin typeface="Hiragino Sans W3" pitchFamily="34" charset="0"/>
                <a:ea typeface="Hiragino Sans W3" pitchFamily="34" charset="-122"/>
                <a:cs typeface="Hiragino Sans W3" pitchFamily="34" charset="-120"/>
              </a:rPr>
              <a:t>3件の特許の請求項最適化・明細書作成・出願手続き</a:t>
            </a:r>
            <a:endParaRPr lang="en-US" sz="1200" dirty="0"/>
          </a:p>
          <a:p>
            <a:pPr indent="0" marL="0">
              <a:buNone/>
            </a:pPr>
            <a:endParaRPr lang="en-US" sz="1200" dirty="0"/>
          </a:p>
          <a:p>
            <a:pPr indent="0" marL="0">
              <a:buNone/>
            </a:pPr>
            <a:r>
              <a:rPr lang="en-US" sz="1200" dirty="0">
                <a:solidFill>
                  <a:srgbClr val="2C3E50"/>
                </a:solidFill>
                <a:latin typeface="Hiragino Sans W6" pitchFamily="34" charset="0"/>
                <a:ea typeface="Hiragino Sans W6" pitchFamily="34" charset="-122"/>
                <a:cs typeface="Hiragino Sans W6" pitchFamily="34" charset="-120"/>
              </a:rPr>
              <a:t>② 知財ポートフォリオ設計</a:t>
            </a:r>
            <a:endParaRPr lang="en-US" sz="1200" dirty="0"/>
          </a:p>
          <a:p>
            <a:pPr indent="0" marL="0">
              <a:buNone/>
            </a:pPr>
            <a:r>
              <a:rPr lang="en-US" sz="1100" dirty="0">
                <a:solidFill>
                  <a:srgbClr val="7F8C8D"/>
                </a:solidFill>
                <a:latin typeface="Hiragino Sans W3" pitchFamily="34" charset="0"/>
                <a:ea typeface="Hiragino Sans W3" pitchFamily="34" charset="-122"/>
                <a:cs typeface="Hiragino Sans W3" pitchFamily="34" charset="-120"/>
              </a:rPr>
              <a:t>特許・意匠・商標・営業秘密を組み合わせた総合的知財戦略</a:t>
            </a:r>
            <a:endParaRPr lang="en-US" sz="1200" dirty="0"/>
          </a:p>
          <a:p>
            <a:pPr indent="0" marL="0">
              <a:buNone/>
            </a:pPr>
            <a:endParaRPr lang="en-US" sz="1200" dirty="0"/>
          </a:p>
          <a:p>
            <a:pPr indent="0" marL="0">
              <a:buNone/>
            </a:pPr>
            <a:r>
              <a:rPr lang="en-US" sz="1200" dirty="0">
                <a:solidFill>
                  <a:srgbClr val="2C3E50"/>
                </a:solidFill>
                <a:latin typeface="Hiragino Sans W6" pitchFamily="34" charset="0"/>
                <a:ea typeface="Hiragino Sans W6" pitchFamily="34" charset="-122"/>
                <a:cs typeface="Hiragino Sans W6" pitchFamily="34" charset="-120"/>
              </a:rPr>
              <a:t>③ 海外出願戦略</a:t>
            </a:r>
            <a:endParaRPr lang="en-US" sz="1200" dirty="0"/>
          </a:p>
          <a:p>
            <a:pPr indent="0" marL="0">
              <a:buNone/>
            </a:pPr>
            <a:r>
              <a:rPr lang="en-US" sz="1100" dirty="0">
                <a:solidFill>
                  <a:srgbClr val="7F8C8D"/>
                </a:solidFill>
                <a:latin typeface="Hiragino Sans W3" pitchFamily="34" charset="0"/>
                <a:ea typeface="Hiragino Sans W3" pitchFamily="34" charset="-122"/>
                <a:cs typeface="Hiragino Sans W3" pitchFamily="34" charset="-120"/>
              </a:rPr>
              <a:t>PCT出願・中国実用新案の活用・アジア展開時の知財保護</a:t>
            </a:r>
            <a:endParaRPr lang="en-US" sz="1200" dirty="0"/>
          </a:p>
          <a:p>
            <a:pPr indent="0" marL="0">
              <a:buNone/>
            </a:pPr>
            <a:endParaRPr lang="en-US" sz="1200" dirty="0"/>
          </a:p>
          <a:p>
            <a:pPr indent="0" marL="0">
              <a:buNone/>
            </a:pPr>
            <a:r>
              <a:rPr lang="en-US" sz="1200" dirty="0">
                <a:solidFill>
                  <a:srgbClr val="2C3E50"/>
                </a:solidFill>
                <a:latin typeface="Hiragino Sans W6" pitchFamily="34" charset="0"/>
                <a:ea typeface="Hiragino Sans W6" pitchFamily="34" charset="-122"/>
                <a:cs typeface="Hiragino Sans W6" pitchFamily="34" charset="-120"/>
              </a:rPr>
              <a:t>④ 営業秘密管理規程の策定</a:t>
            </a:r>
            <a:endParaRPr lang="en-US" sz="1200" dirty="0"/>
          </a:p>
          <a:p>
            <a:pPr indent="0" marL="0">
              <a:buNone/>
            </a:pPr>
            <a:r>
              <a:rPr lang="en-US" sz="1100" dirty="0">
                <a:solidFill>
                  <a:srgbClr val="7F8C8D"/>
                </a:solidFill>
                <a:latin typeface="Hiragino Sans W3" pitchFamily="34" charset="0"/>
                <a:ea typeface="Hiragino Sans W3" pitchFamily="34" charset="-122"/>
                <a:cs typeface="Hiragino Sans W3" pitchFamily="34" charset="-120"/>
              </a:rPr>
              <a:t>不正競争防止法の要件を満たす管理体系の構築支援</a:t>
            </a:r>
            <a:endParaRPr lang="en-US" sz="1200" dirty="0"/>
          </a:p>
          <a:p>
            <a:pPr indent="0" marL="0">
              <a:buNone/>
            </a:pPr>
            <a:endParaRPr lang="en-US" sz="1200" dirty="0"/>
          </a:p>
          <a:p>
            <a:pPr indent="0" marL="0">
              <a:buNone/>
            </a:pPr>
            <a:r>
              <a:rPr lang="en-US" sz="1200" dirty="0">
                <a:solidFill>
                  <a:srgbClr val="2C3E50"/>
                </a:solidFill>
                <a:latin typeface="Hiragino Sans W6" pitchFamily="34" charset="0"/>
                <a:ea typeface="Hiragino Sans W6" pitchFamily="34" charset="-122"/>
                <a:cs typeface="Hiragino Sans W6" pitchFamily="34" charset="-120"/>
              </a:rPr>
              <a:t>⑤ 弁理士の紹介・マッチング</a:t>
            </a:r>
            <a:endParaRPr lang="en-US" sz="1200" dirty="0"/>
          </a:p>
          <a:p>
            <a:pPr indent="0" marL="0">
              <a:buNone/>
            </a:pPr>
            <a:r>
              <a:rPr lang="en-US" sz="1100" dirty="0">
                <a:solidFill>
                  <a:srgbClr val="7F8C8D"/>
                </a:solidFill>
                <a:latin typeface="Hiragino Sans W3" pitchFamily="34" charset="0"/>
                <a:ea typeface="Hiragino Sans W3" pitchFamily="34" charset="-122"/>
                <a:cs typeface="Hiragino Sans W3" pitchFamily="34" charset="-120"/>
              </a:rPr>
              <a:t>AI×福祉SaaSに知見のある弁理士事務所との連携</a:t>
            </a:r>
            <a:endParaRPr lang="en-US" sz="1200" dirty="0"/>
          </a:p>
        </p:txBody>
      </p:sp>
      <p:sp>
        <p:nvSpPr>
          <p:cNvPr id="26" name="Text 24"/>
          <p:cNvSpPr/>
          <p:nvPr/>
        </p:nvSpPr>
        <p:spPr>
          <a:xfrm>
            <a:off x="13258800" y="7818120"/>
            <a:ext cx="914400" cy="274320"/>
          </a:xfrm>
          <a:prstGeom prst="rect">
            <a:avLst/>
          </a:prstGeom>
          <a:noFill/>
          <a:ln/>
        </p:spPr>
        <p:txBody>
          <a:bodyPr wrap="square" rtlCol="0" anchor="ctr"/>
          <a:lstStyle/>
          <a:p>
            <a:pPr algn="r" indent="0" marL="0">
              <a:buNone/>
            </a:pPr>
            <a:r>
              <a:rPr lang="en-US" sz="800" dirty="0">
                <a:solidFill>
                  <a:srgbClr val="7F8C8D"/>
                </a:solidFill>
                <a:latin typeface="Hiragino Sans W3" pitchFamily="34" charset="0"/>
                <a:ea typeface="Hiragino Sans W3" pitchFamily="34" charset="-122"/>
                <a:cs typeface="Hiragino Sans W3" pitchFamily="34" charset="-120"/>
              </a:rPr>
              <a:t>12 / 15</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4630400" cy="1417320"/>
          </a:xfrm>
          <a:prstGeom prst="rect">
            <a:avLst/>
          </a:prstGeom>
          <a:solidFill>
            <a:srgbClr val="1A1A2E"/>
          </a:solidFill>
          <a:ln/>
        </p:spPr>
      </p:sp>
      <p:sp>
        <p:nvSpPr>
          <p:cNvPr id="3" name="Text 1"/>
          <p:cNvSpPr/>
          <p:nvPr/>
        </p:nvSpPr>
        <p:spPr>
          <a:xfrm>
            <a:off x="548640" y="182880"/>
            <a:ext cx="13533120" cy="594360"/>
          </a:xfrm>
          <a:prstGeom prst="rect">
            <a:avLst/>
          </a:prstGeom>
          <a:noFill/>
          <a:ln/>
        </p:spPr>
        <p:txBody>
          <a:bodyPr wrap="square" rtlCol="0" anchor="ctr"/>
          <a:lstStyle/>
          <a:p>
            <a:pPr indent="0" marL="0">
              <a:buNone/>
            </a:pPr>
            <a:r>
              <a:rPr lang="en-US" sz="2600" b="1" dirty="0">
                <a:solidFill>
                  <a:srgbClr val="FFFFFF"/>
                </a:solidFill>
                <a:latin typeface="Hiragino Sans W6" pitchFamily="34" charset="0"/>
                <a:ea typeface="Hiragino Sans W6" pitchFamily="34" charset="-122"/>
                <a:cs typeface="Hiragino Sans W6" pitchFamily="34" charset="-120"/>
              </a:rPr>
              <a:t>知的財産権の取得計画：特許3件・意匠3件・商標4件</a:t>
            </a:r>
            <a:endParaRPr lang="en-US" sz="2600" dirty="0"/>
          </a:p>
        </p:txBody>
      </p:sp>
      <p:sp>
        <p:nvSpPr>
          <p:cNvPr id="4" name="Text 2"/>
          <p:cNvSpPr/>
          <p:nvPr/>
        </p:nvSpPr>
        <p:spPr>
          <a:xfrm>
            <a:off x="548640" y="822960"/>
            <a:ext cx="13533120" cy="411480"/>
          </a:xfrm>
          <a:prstGeom prst="rect">
            <a:avLst/>
          </a:prstGeom>
          <a:noFill/>
          <a:ln/>
        </p:spPr>
        <p:txBody>
          <a:bodyPr wrap="square" rtlCol="0" anchor="ctr"/>
          <a:lstStyle/>
          <a:p>
            <a:pPr indent="0" marL="0">
              <a:buNone/>
            </a:pPr>
            <a:r>
              <a:rPr lang="en-US" sz="1300" dirty="0">
                <a:solidFill>
                  <a:srgbClr val="B0BEC5"/>
                </a:solidFill>
                <a:latin typeface="Hiragino Sans W3" pitchFamily="34" charset="0"/>
                <a:ea typeface="Hiragino Sans W3" pitchFamily="34" charset="-122"/>
                <a:cs typeface="Hiragino Sans W3" pitchFamily="34" charset="-120"/>
              </a:rPr>
              <a:t>本ハンズオン支援を通じて3年間で知財ポートフォリオを確立する</a:t>
            </a:r>
            <a:endParaRPr lang="en-US" sz="1300" dirty="0"/>
          </a:p>
        </p:txBody>
      </p:sp>
      <p:sp>
        <p:nvSpPr>
          <p:cNvPr id="5" name="Shape 3"/>
          <p:cNvSpPr/>
          <p:nvPr/>
        </p:nvSpPr>
        <p:spPr>
          <a:xfrm>
            <a:off x="548640" y="1508760"/>
            <a:ext cx="13533120" cy="347472"/>
          </a:xfrm>
          <a:prstGeom prst="roundRect">
            <a:avLst>
              <a:gd name="adj" fmla="val 7895"/>
            </a:avLst>
          </a:prstGeom>
          <a:solidFill>
            <a:srgbClr val="4A90D9"/>
          </a:solidFill>
          <a:ln/>
        </p:spPr>
      </p:sp>
      <p:sp>
        <p:nvSpPr>
          <p:cNvPr id="6" name="Text 4"/>
          <p:cNvSpPr/>
          <p:nvPr/>
        </p:nvSpPr>
        <p:spPr>
          <a:xfrm>
            <a:off x="731520" y="1508760"/>
            <a:ext cx="13167360" cy="347472"/>
          </a:xfrm>
          <a:prstGeom prst="rect">
            <a:avLst/>
          </a:prstGeom>
          <a:noFill/>
          <a:ln/>
        </p:spPr>
        <p:txBody>
          <a:bodyPr wrap="square" rtlCol="0" anchor="ctr"/>
          <a:lstStyle/>
          <a:p>
            <a:pPr indent="0" marL="0">
              <a:buNone/>
            </a:pPr>
            <a:r>
              <a:rPr lang="en-US" sz="1100" dirty="0">
                <a:solidFill>
                  <a:srgbClr val="FFFFFF"/>
                </a:solidFill>
                <a:latin typeface="Hiragino Sans W6" pitchFamily="34" charset="0"/>
                <a:ea typeface="Hiragino Sans W6" pitchFamily="34" charset="-122"/>
                <a:cs typeface="Hiragino Sans W6" pitchFamily="34" charset="-120"/>
              </a:rPr>
              <a:t>補足：申請書「9. 知的財産権の取得状況」「知財面の課題と今後の計画」</a:t>
            </a:r>
            <a:endParaRPr lang="en-US" sz="1100" dirty="0"/>
          </a:p>
        </p:txBody>
      </p:sp>
      <p:sp>
        <p:nvSpPr>
          <p:cNvPr id="7" name="Shape 5"/>
          <p:cNvSpPr/>
          <p:nvPr/>
        </p:nvSpPr>
        <p:spPr>
          <a:xfrm>
            <a:off x="12618720" y="1527048"/>
            <a:ext cx="1645920" cy="292608"/>
          </a:xfrm>
          <a:prstGeom prst="roundRect">
            <a:avLst>
              <a:gd name="adj" fmla="val 12500"/>
            </a:avLst>
          </a:prstGeom>
          <a:solidFill>
            <a:srgbClr val="FEF5E7"/>
          </a:solidFill>
          <a:ln w="10160">
            <a:solidFill>
              <a:srgbClr val="D35400"/>
            </a:solidFill>
            <a:prstDash val="solid"/>
          </a:ln>
        </p:spPr>
      </p:sp>
      <p:sp>
        <p:nvSpPr>
          <p:cNvPr id="8" name="Text 6"/>
          <p:cNvSpPr/>
          <p:nvPr/>
        </p:nvSpPr>
        <p:spPr>
          <a:xfrm>
            <a:off x="12618720" y="1527048"/>
            <a:ext cx="1645920" cy="292608"/>
          </a:xfrm>
          <a:prstGeom prst="rect">
            <a:avLst/>
          </a:prstGeom>
          <a:noFill/>
          <a:ln/>
        </p:spPr>
        <p:txBody>
          <a:bodyPr wrap="square" rtlCol="0" anchor="ctr"/>
          <a:lstStyle/>
          <a:p>
            <a:pPr algn="ctr" indent="0" marL="0">
              <a:buNone/>
            </a:pPr>
            <a:r>
              <a:rPr lang="en-US" sz="900" dirty="0">
                <a:solidFill>
                  <a:srgbClr val="D35400"/>
                </a:solidFill>
                <a:latin typeface="Hiragino Sans W6" pitchFamily="34" charset="0"/>
                <a:ea typeface="Hiragino Sans W6" pitchFamily="34" charset="-122"/>
                <a:cs typeface="Hiragino Sans W6" pitchFamily="34" charset="-120"/>
              </a:rPr>
              <a:t>審査軸：妥当性</a:t>
            </a:r>
            <a:endParaRPr lang="en-US" sz="900" dirty="0"/>
          </a:p>
        </p:txBody>
      </p:sp>
      <p:sp>
        <p:nvSpPr>
          <p:cNvPr id="9" name="Shape 7"/>
          <p:cNvSpPr/>
          <p:nvPr/>
        </p:nvSpPr>
        <p:spPr>
          <a:xfrm>
            <a:off x="548640" y="2057400"/>
            <a:ext cx="13533120" cy="4754880"/>
          </a:xfrm>
          <a:prstGeom prst="roundRect">
            <a:avLst>
              <a:gd name="adj" fmla="val 1538"/>
            </a:avLst>
          </a:prstGeom>
          <a:solidFill>
            <a:srgbClr val="FFFFFF"/>
          </a:solidFill>
          <a:ln w="12700">
            <a:solidFill>
              <a:srgbClr val="DCE1E8"/>
            </a:solidFill>
            <a:prstDash val="solid"/>
          </a:ln>
        </p:spPr>
      </p:sp>
      <p:sp>
        <p:nvSpPr>
          <p:cNvPr id="10" name="Text 8"/>
          <p:cNvSpPr/>
          <p:nvPr/>
        </p:nvSpPr>
        <p:spPr>
          <a:xfrm>
            <a:off x="731520" y="2194560"/>
            <a:ext cx="1097280" cy="411480"/>
          </a:xfrm>
          <a:prstGeom prst="rect">
            <a:avLst/>
          </a:prstGeom>
          <a:solidFill>
            <a:srgbClr val="1A1A2E"/>
          </a:solidFill>
          <a:ln/>
        </p:spPr>
        <p:txBody>
          <a:bodyPr wrap="square" rtlCol="0" anchor="ctr"/>
          <a:lstStyle/>
          <a:p>
            <a:pPr algn="ctr" indent="0" marL="0">
              <a:buNone/>
            </a:pPr>
            <a:r>
              <a:rPr lang="en-US" sz="1100" dirty="0">
                <a:solidFill>
                  <a:srgbClr val="FFFFFF"/>
                </a:solidFill>
                <a:latin typeface="Hiragino Sans W6" pitchFamily="34" charset="0"/>
                <a:ea typeface="Hiragino Sans W6" pitchFamily="34" charset="-122"/>
                <a:cs typeface="Hiragino Sans W6" pitchFamily="34" charset="-120"/>
              </a:rPr>
              <a:t>種別</a:t>
            </a:r>
            <a:endParaRPr lang="en-US" sz="1100" dirty="0"/>
          </a:p>
        </p:txBody>
      </p:sp>
      <p:sp>
        <p:nvSpPr>
          <p:cNvPr id="11" name="Text 9"/>
          <p:cNvSpPr/>
          <p:nvPr/>
        </p:nvSpPr>
        <p:spPr>
          <a:xfrm>
            <a:off x="1920240" y="2194560"/>
            <a:ext cx="5486400" cy="411480"/>
          </a:xfrm>
          <a:prstGeom prst="rect">
            <a:avLst/>
          </a:prstGeom>
          <a:solidFill>
            <a:srgbClr val="1A1A2E"/>
          </a:solidFill>
          <a:ln/>
        </p:spPr>
        <p:txBody>
          <a:bodyPr wrap="square" rtlCol="0" anchor="ctr"/>
          <a:lstStyle/>
          <a:p>
            <a:pPr algn="ctr" indent="0" marL="0">
              <a:buNone/>
            </a:pPr>
            <a:r>
              <a:rPr lang="en-US" sz="1100" dirty="0">
                <a:solidFill>
                  <a:srgbClr val="FFFFFF"/>
                </a:solidFill>
                <a:latin typeface="Hiragino Sans W6" pitchFamily="34" charset="0"/>
                <a:ea typeface="Hiragino Sans W6" pitchFamily="34" charset="-122"/>
                <a:cs typeface="Hiragino Sans W6" pitchFamily="34" charset="-120"/>
              </a:rPr>
              <a:t>対象</a:t>
            </a:r>
            <a:endParaRPr lang="en-US" sz="1100" dirty="0"/>
          </a:p>
        </p:txBody>
      </p:sp>
      <p:sp>
        <p:nvSpPr>
          <p:cNvPr id="12" name="Text 10"/>
          <p:cNvSpPr/>
          <p:nvPr/>
        </p:nvSpPr>
        <p:spPr>
          <a:xfrm>
            <a:off x="7498080" y="2194560"/>
            <a:ext cx="2286000" cy="411480"/>
          </a:xfrm>
          <a:prstGeom prst="rect">
            <a:avLst/>
          </a:prstGeom>
          <a:solidFill>
            <a:srgbClr val="1A1A2E"/>
          </a:solidFill>
          <a:ln/>
        </p:spPr>
        <p:txBody>
          <a:bodyPr wrap="square" rtlCol="0" anchor="ctr"/>
          <a:lstStyle/>
          <a:p>
            <a:pPr algn="ctr" indent="0" marL="0">
              <a:buNone/>
            </a:pPr>
            <a:r>
              <a:rPr lang="en-US" sz="1100" dirty="0">
                <a:solidFill>
                  <a:srgbClr val="FFFFFF"/>
                </a:solidFill>
                <a:latin typeface="Hiragino Sans W6" pitchFamily="34" charset="0"/>
                <a:ea typeface="Hiragino Sans W6" pitchFamily="34" charset="-122"/>
                <a:cs typeface="Hiragino Sans W6" pitchFamily="34" charset="-120"/>
              </a:rPr>
              <a:t>出願時期</a:t>
            </a:r>
            <a:endParaRPr lang="en-US" sz="1100" dirty="0"/>
          </a:p>
        </p:txBody>
      </p:sp>
      <p:sp>
        <p:nvSpPr>
          <p:cNvPr id="13" name="Text 11"/>
          <p:cNvSpPr/>
          <p:nvPr/>
        </p:nvSpPr>
        <p:spPr>
          <a:xfrm>
            <a:off x="9875520" y="2194560"/>
            <a:ext cx="1371600" cy="411480"/>
          </a:xfrm>
          <a:prstGeom prst="rect">
            <a:avLst/>
          </a:prstGeom>
          <a:solidFill>
            <a:srgbClr val="1A1A2E"/>
          </a:solidFill>
          <a:ln/>
        </p:spPr>
        <p:txBody>
          <a:bodyPr wrap="square" rtlCol="0" anchor="ctr"/>
          <a:lstStyle/>
          <a:p>
            <a:pPr algn="ctr" indent="0" marL="0">
              <a:buNone/>
            </a:pPr>
            <a:r>
              <a:rPr lang="en-US" sz="1100" dirty="0">
                <a:solidFill>
                  <a:srgbClr val="FFFFFF"/>
                </a:solidFill>
                <a:latin typeface="Hiragino Sans W6" pitchFamily="34" charset="0"/>
                <a:ea typeface="Hiragino Sans W6" pitchFamily="34" charset="-122"/>
                <a:cs typeface="Hiragino Sans W6" pitchFamily="34" charset="-120"/>
              </a:rPr>
              <a:t>PCT</a:t>
            </a:r>
            <a:endParaRPr lang="en-US" sz="1100" dirty="0"/>
          </a:p>
        </p:txBody>
      </p:sp>
      <p:sp>
        <p:nvSpPr>
          <p:cNvPr id="14" name="Text 12"/>
          <p:cNvSpPr/>
          <p:nvPr/>
        </p:nvSpPr>
        <p:spPr>
          <a:xfrm>
            <a:off x="11338560" y="2194560"/>
            <a:ext cx="2286000" cy="411480"/>
          </a:xfrm>
          <a:prstGeom prst="rect">
            <a:avLst/>
          </a:prstGeom>
          <a:solidFill>
            <a:srgbClr val="1A1A2E"/>
          </a:solidFill>
          <a:ln/>
        </p:spPr>
        <p:txBody>
          <a:bodyPr wrap="square" rtlCol="0" anchor="ctr"/>
          <a:lstStyle/>
          <a:p>
            <a:pPr algn="ctr" indent="0" marL="0">
              <a:buNone/>
            </a:pPr>
            <a:r>
              <a:rPr lang="en-US" sz="1100" dirty="0">
                <a:solidFill>
                  <a:srgbClr val="FFFFFF"/>
                </a:solidFill>
                <a:latin typeface="Hiragino Sans W6" pitchFamily="34" charset="0"/>
                <a:ea typeface="Hiragino Sans W6" pitchFamily="34" charset="-122"/>
                <a:cs typeface="Hiragino Sans W6" pitchFamily="34" charset="-120"/>
              </a:rPr>
              <a:t>状態</a:t>
            </a:r>
            <a:endParaRPr lang="en-US" sz="1100" dirty="0"/>
          </a:p>
        </p:txBody>
      </p:sp>
      <p:sp>
        <p:nvSpPr>
          <p:cNvPr id="15" name="Text 13"/>
          <p:cNvSpPr/>
          <p:nvPr/>
        </p:nvSpPr>
        <p:spPr>
          <a:xfrm>
            <a:off x="731520" y="2697480"/>
            <a:ext cx="1097280" cy="457200"/>
          </a:xfrm>
          <a:prstGeom prst="rect">
            <a:avLst/>
          </a:prstGeom>
          <a:solidFill>
            <a:srgbClr val="F5F7FA"/>
          </a:solidFill>
          <a:ln/>
        </p:spPr>
        <p:txBody>
          <a:bodyPr wrap="square" rtlCol="0" anchor="ctr"/>
          <a:lstStyle/>
          <a:p>
            <a:pPr algn="ctr" indent="0" marL="0">
              <a:buNone/>
            </a:pPr>
            <a:r>
              <a:rPr lang="en-US" sz="1100" dirty="0">
                <a:solidFill>
                  <a:srgbClr val="2C3E50"/>
                </a:solidFill>
                <a:latin typeface="Hiragino Sans W6" pitchFamily="34" charset="0"/>
                <a:ea typeface="Hiragino Sans W6" pitchFamily="34" charset="-122"/>
                <a:cs typeface="Hiragino Sans W6" pitchFamily="34" charset="-120"/>
              </a:rPr>
              <a:t>特許1</a:t>
            </a:r>
            <a:endParaRPr lang="en-US" sz="1100" dirty="0"/>
          </a:p>
        </p:txBody>
      </p:sp>
      <p:sp>
        <p:nvSpPr>
          <p:cNvPr id="16" name="Text 14"/>
          <p:cNvSpPr/>
          <p:nvPr/>
        </p:nvSpPr>
        <p:spPr>
          <a:xfrm>
            <a:off x="1920240" y="2697480"/>
            <a:ext cx="5486400" cy="457200"/>
          </a:xfrm>
          <a:prstGeom prst="rect">
            <a:avLst/>
          </a:prstGeom>
          <a:solidFill>
            <a:srgbClr val="F5F7FA"/>
          </a:solidFill>
          <a:ln/>
        </p:spPr>
        <p:txBody>
          <a:bodyPr wrap="square" rtlCol="0" anchor="ctr"/>
          <a:lstStyle/>
          <a:p>
            <a:pPr algn="l" indent="0" marL="0">
              <a:buNone/>
            </a:pPr>
            <a:r>
              <a:rPr lang="en-US" sz="1100" dirty="0">
                <a:solidFill>
                  <a:srgbClr val="2C3E50"/>
                </a:solidFill>
                <a:latin typeface="Hiragino Sans W3" pitchFamily="34" charset="0"/>
                <a:ea typeface="Hiragino Sans W3" pitchFamily="34" charset="-122"/>
                <a:cs typeface="Hiragino Sans W3" pitchFamily="34" charset="-120"/>
              </a:rPr>
              <a:t>AI虐待予防システム（支援記録NLP分析×危険パス検知）</a:t>
            </a:r>
            <a:endParaRPr lang="en-US" sz="1100" dirty="0"/>
          </a:p>
        </p:txBody>
      </p:sp>
      <p:sp>
        <p:nvSpPr>
          <p:cNvPr id="17" name="Text 15"/>
          <p:cNvSpPr/>
          <p:nvPr/>
        </p:nvSpPr>
        <p:spPr>
          <a:xfrm>
            <a:off x="7498080" y="2697480"/>
            <a:ext cx="2286000" cy="457200"/>
          </a:xfrm>
          <a:prstGeom prst="rect">
            <a:avLst/>
          </a:prstGeom>
          <a:solidFill>
            <a:srgbClr val="F5F7FA"/>
          </a:solidFill>
          <a:ln/>
        </p:spPr>
        <p:txBody>
          <a:bodyPr wrap="square" rtlCol="0" anchor="ctr"/>
          <a:lstStyle/>
          <a:p>
            <a:pPr algn="l" indent="0" marL="0">
              <a:buNone/>
            </a:pPr>
            <a:r>
              <a:rPr lang="en-US" sz="1100" dirty="0">
                <a:solidFill>
                  <a:srgbClr val="2C3E50"/>
                </a:solidFill>
                <a:latin typeface="Hiragino Sans W3" pitchFamily="34" charset="0"/>
                <a:ea typeface="Hiragino Sans W3" pitchFamily="34" charset="-122"/>
                <a:cs typeface="Hiragino Sans W3" pitchFamily="34" charset="-120"/>
              </a:rPr>
              <a:t>2027年Q1</a:t>
            </a:r>
            <a:endParaRPr lang="en-US" sz="1100" dirty="0"/>
          </a:p>
        </p:txBody>
      </p:sp>
      <p:sp>
        <p:nvSpPr>
          <p:cNvPr id="18" name="Text 16"/>
          <p:cNvSpPr/>
          <p:nvPr/>
        </p:nvSpPr>
        <p:spPr>
          <a:xfrm>
            <a:off x="9875520" y="2697480"/>
            <a:ext cx="1371600" cy="457200"/>
          </a:xfrm>
          <a:prstGeom prst="rect">
            <a:avLst/>
          </a:prstGeom>
          <a:solidFill>
            <a:srgbClr val="F5F7FA"/>
          </a:solidFill>
          <a:ln/>
        </p:spPr>
        <p:txBody>
          <a:bodyPr wrap="square" rtlCol="0" anchor="ctr"/>
          <a:lstStyle/>
          <a:p>
            <a:pPr algn="l" indent="0" marL="0">
              <a:buNone/>
            </a:pPr>
            <a:r>
              <a:rPr lang="en-US" sz="1100" dirty="0">
                <a:solidFill>
                  <a:srgbClr val="2C3E50"/>
                </a:solidFill>
                <a:latin typeface="Hiragino Sans W3" pitchFamily="34" charset="0"/>
                <a:ea typeface="Hiragino Sans W3" pitchFamily="34" charset="-122"/>
                <a:cs typeface="Hiragino Sans W3" pitchFamily="34" charset="-120"/>
              </a:rPr>
              <a:t>予定</a:t>
            </a:r>
            <a:endParaRPr lang="en-US" sz="1100" dirty="0"/>
          </a:p>
        </p:txBody>
      </p:sp>
      <p:sp>
        <p:nvSpPr>
          <p:cNvPr id="19" name="Text 17"/>
          <p:cNvSpPr/>
          <p:nvPr/>
        </p:nvSpPr>
        <p:spPr>
          <a:xfrm>
            <a:off x="11338560" y="2697480"/>
            <a:ext cx="2286000" cy="457200"/>
          </a:xfrm>
          <a:prstGeom prst="rect">
            <a:avLst/>
          </a:prstGeom>
          <a:solidFill>
            <a:srgbClr val="F5F7FA"/>
          </a:solidFill>
          <a:ln/>
        </p:spPr>
        <p:txBody>
          <a:bodyPr wrap="square" rtlCol="0" anchor="ctr"/>
          <a:lstStyle/>
          <a:p>
            <a:pPr algn="l" indent="0" marL="0">
              <a:buNone/>
            </a:pPr>
            <a:r>
              <a:rPr lang="en-US" sz="1100" dirty="0">
                <a:solidFill>
                  <a:srgbClr val="2C3E50"/>
                </a:solidFill>
                <a:latin typeface="Hiragino Sans W3" pitchFamily="34" charset="0"/>
                <a:ea typeface="Hiragino Sans W3" pitchFamily="34" charset="-122"/>
                <a:cs typeface="Hiragino Sans W3" pitchFamily="34" charset="-120"/>
              </a:rPr>
              <a:t>請求項案作成済</a:t>
            </a:r>
            <a:endParaRPr lang="en-US" sz="1100" dirty="0"/>
          </a:p>
        </p:txBody>
      </p:sp>
      <p:sp>
        <p:nvSpPr>
          <p:cNvPr id="20" name="Text 18"/>
          <p:cNvSpPr/>
          <p:nvPr/>
        </p:nvSpPr>
        <p:spPr>
          <a:xfrm>
            <a:off x="731520" y="3227832"/>
            <a:ext cx="1097280" cy="457200"/>
          </a:xfrm>
          <a:prstGeom prst="rect">
            <a:avLst/>
          </a:prstGeom>
          <a:solidFill>
            <a:srgbClr val="FFFFFF"/>
          </a:solidFill>
          <a:ln/>
        </p:spPr>
        <p:txBody>
          <a:bodyPr wrap="square" rtlCol="0" anchor="ctr"/>
          <a:lstStyle/>
          <a:p>
            <a:pPr algn="ctr" indent="0" marL="0">
              <a:buNone/>
            </a:pPr>
            <a:r>
              <a:rPr lang="en-US" sz="1100" dirty="0">
                <a:solidFill>
                  <a:srgbClr val="2C3E50"/>
                </a:solidFill>
                <a:latin typeface="Hiragino Sans W6" pitchFamily="34" charset="0"/>
                <a:ea typeface="Hiragino Sans W6" pitchFamily="34" charset="-122"/>
                <a:cs typeface="Hiragino Sans W6" pitchFamily="34" charset="-120"/>
              </a:rPr>
              <a:t>特許2</a:t>
            </a:r>
            <a:endParaRPr lang="en-US" sz="1100" dirty="0"/>
          </a:p>
        </p:txBody>
      </p:sp>
      <p:sp>
        <p:nvSpPr>
          <p:cNvPr id="21" name="Text 19"/>
          <p:cNvSpPr/>
          <p:nvPr/>
        </p:nvSpPr>
        <p:spPr>
          <a:xfrm>
            <a:off x="1920240" y="3227832"/>
            <a:ext cx="5486400" cy="457200"/>
          </a:xfrm>
          <a:prstGeom prst="rect">
            <a:avLst/>
          </a:prstGeom>
          <a:solidFill>
            <a:srgbClr val="FFFFFF"/>
          </a:solidFill>
          <a:ln/>
        </p:spPr>
        <p:txBody>
          <a:bodyPr wrap="square" rtlCol="0" anchor="ctr"/>
          <a:lstStyle/>
          <a:p>
            <a:pPr algn="l" indent="0" marL="0">
              <a:buNone/>
            </a:pPr>
            <a:r>
              <a:rPr lang="en-US" sz="1100" dirty="0">
                <a:solidFill>
                  <a:srgbClr val="2C3E50"/>
                </a:solidFill>
                <a:latin typeface="Hiragino Sans W3" pitchFamily="34" charset="0"/>
                <a:ea typeface="Hiragino Sans W3" pitchFamily="34" charset="-122"/>
                <a:cs typeface="Hiragino Sans W3" pitchFamily="34" charset="-120"/>
              </a:rPr>
              <a:t>段階的情報開示×課金連動モデル</a:t>
            </a:r>
            <a:endParaRPr lang="en-US" sz="1100" dirty="0"/>
          </a:p>
        </p:txBody>
      </p:sp>
      <p:sp>
        <p:nvSpPr>
          <p:cNvPr id="22" name="Text 20"/>
          <p:cNvSpPr/>
          <p:nvPr/>
        </p:nvSpPr>
        <p:spPr>
          <a:xfrm>
            <a:off x="7498080" y="3227832"/>
            <a:ext cx="2286000" cy="457200"/>
          </a:xfrm>
          <a:prstGeom prst="rect">
            <a:avLst/>
          </a:prstGeom>
          <a:solidFill>
            <a:srgbClr val="FFFFFF"/>
          </a:solidFill>
          <a:ln/>
        </p:spPr>
        <p:txBody>
          <a:bodyPr wrap="square" rtlCol="0" anchor="ctr"/>
          <a:lstStyle/>
          <a:p>
            <a:pPr algn="l" indent="0" marL="0">
              <a:buNone/>
            </a:pPr>
            <a:r>
              <a:rPr lang="en-US" sz="1100" dirty="0">
                <a:solidFill>
                  <a:srgbClr val="2C3E50"/>
                </a:solidFill>
                <a:latin typeface="Hiragino Sans W3" pitchFamily="34" charset="0"/>
                <a:ea typeface="Hiragino Sans W3" pitchFamily="34" charset="-122"/>
                <a:cs typeface="Hiragino Sans W3" pitchFamily="34" charset="-120"/>
              </a:rPr>
              <a:t>2027年Q1</a:t>
            </a:r>
            <a:endParaRPr lang="en-US" sz="1100" dirty="0"/>
          </a:p>
        </p:txBody>
      </p:sp>
      <p:sp>
        <p:nvSpPr>
          <p:cNvPr id="23" name="Text 21"/>
          <p:cNvSpPr/>
          <p:nvPr/>
        </p:nvSpPr>
        <p:spPr>
          <a:xfrm>
            <a:off x="9875520" y="3227832"/>
            <a:ext cx="1371600" cy="457200"/>
          </a:xfrm>
          <a:prstGeom prst="rect">
            <a:avLst/>
          </a:prstGeom>
          <a:solidFill>
            <a:srgbClr val="FFFFFF"/>
          </a:solidFill>
          <a:ln/>
        </p:spPr>
        <p:txBody>
          <a:bodyPr wrap="square" rtlCol="0" anchor="ctr"/>
          <a:lstStyle/>
          <a:p>
            <a:pPr algn="l" indent="0" marL="0">
              <a:buNone/>
            </a:pPr>
            <a:r>
              <a:rPr lang="en-US" sz="1100" dirty="0">
                <a:solidFill>
                  <a:srgbClr val="2C3E50"/>
                </a:solidFill>
                <a:latin typeface="Hiragino Sans W3" pitchFamily="34" charset="0"/>
                <a:ea typeface="Hiragino Sans W3" pitchFamily="34" charset="-122"/>
                <a:cs typeface="Hiragino Sans W3" pitchFamily="34" charset="-120"/>
              </a:rPr>
              <a:t>予定</a:t>
            </a:r>
            <a:endParaRPr lang="en-US" sz="1100" dirty="0"/>
          </a:p>
        </p:txBody>
      </p:sp>
      <p:sp>
        <p:nvSpPr>
          <p:cNvPr id="24" name="Text 22"/>
          <p:cNvSpPr/>
          <p:nvPr/>
        </p:nvSpPr>
        <p:spPr>
          <a:xfrm>
            <a:off x="11338560" y="3227832"/>
            <a:ext cx="2286000" cy="457200"/>
          </a:xfrm>
          <a:prstGeom prst="rect">
            <a:avLst/>
          </a:prstGeom>
          <a:solidFill>
            <a:srgbClr val="FFFFFF"/>
          </a:solidFill>
          <a:ln/>
        </p:spPr>
        <p:txBody>
          <a:bodyPr wrap="square" rtlCol="0" anchor="ctr"/>
          <a:lstStyle/>
          <a:p>
            <a:pPr algn="l" indent="0" marL="0">
              <a:buNone/>
            </a:pPr>
            <a:r>
              <a:rPr lang="en-US" sz="1100" dirty="0">
                <a:solidFill>
                  <a:srgbClr val="2C3E50"/>
                </a:solidFill>
                <a:latin typeface="Hiragino Sans W3" pitchFamily="34" charset="0"/>
                <a:ea typeface="Hiragino Sans W3" pitchFamily="34" charset="-122"/>
                <a:cs typeface="Hiragino Sans W3" pitchFamily="34" charset="-120"/>
              </a:rPr>
              <a:t>請求項案作成済</a:t>
            </a:r>
            <a:endParaRPr lang="en-US" sz="1100" dirty="0"/>
          </a:p>
        </p:txBody>
      </p:sp>
      <p:sp>
        <p:nvSpPr>
          <p:cNvPr id="25" name="Text 23"/>
          <p:cNvSpPr/>
          <p:nvPr/>
        </p:nvSpPr>
        <p:spPr>
          <a:xfrm>
            <a:off x="731520" y="3758184"/>
            <a:ext cx="1097280" cy="457200"/>
          </a:xfrm>
          <a:prstGeom prst="rect">
            <a:avLst/>
          </a:prstGeom>
          <a:solidFill>
            <a:srgbClr val="F5F7FA"/>
          </a:solidFill>
          <a:ln/>
        </p:spPr>
        <p:txBody>
          <a:bodyPr wrap="square" rtlCol="0" anchor="ctr"/>
          <a:lstStyle/>
          <a:p>
            <a:pPr algn="ctr" indent="0" marL="0">
              <a:buNone/>
            </a:pPr>
            <a:r>
              <a:rPr lang="en-US" sz="1100" dirty="0">
                <a:solidFill>
                  <a:srgbClr val="2C3E50"/>
                </a:solidFill>
                <a:latin typeface="Hiragino Sans W6" pitchFamily="34" charset="0"/>
                <a:ea typeface="Hiragino Sans W6" pitchFamily="34" charset="-122"/>
                <a:cs typeface="Hiragino Sans W6" pitchFamily="34" charset="-120"/>
              </a:rPr>
              <a:t>特許3</a:t>
            </a:r>
            <a:endParaRPr lang="en-US" sz="1100" dirty="0"/>
          </a:p>
        </p:txBody>
      </p:sp>
      <p:sp>
        <p:nvSpPr>
          <p:cNvPr id="26" name="Text 24"/>
          <p:cNvSpPr/>
          <p:nvPr/>
        </p:nvSpPr>
        <p:spPr>
          <a:xfrm>
            <a:off x="1920240" y="3758184"/>
            <a:ext cx="5486400" cy="457200"/>
          </a:xfrm>
          <a:prstGeom prst="rect">
            <a:avLst/>
          </a:prstGeom>
          <a:solidFill>
            <a:srgbClr val="F5F7FA"/>
          </a:solidFill>
          <a:ln/>
        </p:spPr>
        <p:txBody>
          <a:bodyPr wrap="square" rtlCol="0" anchor="ctr"/>
          <a:lstStyle/>
          <a:p>
            <a:pPr algn="l" indent="0" marL="0">
              <a:buNone/>
            </a:pPr>
            <a:r>
              <a:rPr lang="en-US" sz="1100" dirty="0">
                <a:solidFill>
                  <a:srgbClr val="2C3E50"/>
                </a:solidFill>
                <a:latin typeface="Hiragino Sans W3" pitchFamily="34" charset="0"/>
                <a:ea typeface="Hiragino Sans W3" pitchFamily="34" charset="-122"/>
                <a:cs typeface="Hiragino Sans W3" pitchFamily="34" charset="-120"/>
              </a:rPr>
              <a:t>OCR→形態素解析→分岐入力UI自動生成パイプライン</a:t>
            </a:r>
            <a:endParaRPr lang="en-US" sz="1100" dirty="0"/>
          </a:p>
        </p:txBody>
      </p:sp>
      <p:sp>
        <p:nvSpPr>
          <p:cNvPr id="27" name="Text 25"/>
          <p:cNvSpPr/>
          <p:nvPr/>
        </p:nvSpPr>
        <p:spPr>
          <a:xfrm>
            <a:off x="7498080" y="3758184"/>
            <a:ext cx="2286000" cy="457200"/>
          </a:xfrm>
          <a:prstGeom prst="rect">
            <a:avLst/>
          </a:prstGeom>
          <a:solidFill>
            <a:srgbClr val="F5F7FA"/>
          </a:solidFill>
          <a:ln/>
        </p:spPr>
        <p:txBody>
          <a:bodyPr wrap="square" rtlCol="0" anchor="ctr"/>
          <a:lstStyle/>
          <a:p>
            <a:pPr algn="l" indent="0" marL="0">
              <a:buNone/>
            </a:pPr>
            <a:r>
              <a:rPr lang="en-US" sz="1100" dirty="0">
                <a:solidFill>
                  <a:srgbClr val="2C3E50"/>
                </a:solidFill>
                <a:latin typeface="Hiragino Sans W3" pitchFamily="34" charset="0"/>
                <a:ea typeface="Hiragino Sans W3" pitchFamily="34" charset="-122"/>
                <a:cs typeface="Hiragino Sans W3" pitchFamily="34" charset="-120"/>
              </a:rPr>
              <a:t>2027年Q2</a:t>
            </a:r>
            <a:endParaRPr lang="en-US" sz="1100" dirty="0"/>
          </a:p>
        </p:txBody>
      </p:sp>
      <p:sp>
        <p:nvSpPr>
          <p:cNvPr id="28" name="Text 26"/>
          <p:cNvSpPr/>
          <p:nvPr/>
        </p:nvSpPr>
        <p:spPr>
          <a:xfrm>
            <a:off x="9875520" y="3758184"/>
            <a:ext cx="1371600" cy="457200"/>
          </a:xfrm>
          <a:prstGeom prst="rect">
            <a:avLst/>
          </a:prstGeom>
          <a:solidFill>
            <a:srgbClr val="F5F7FA"/>
          </a:solidFill>
          <a:ln/>
        </p:spPr>
        <p:txBody>
          <a:bodyPr wrap="square" rtlCol="0" anchor="ctr"/>
          <a:lstStyle/>
          <a:p>
            <a:pPr algn="l" indent="0" marL="0">
              <a:buNone/>
            </a:pPr>
            <a:r>
              <a:rPr lang="en-US" sz="1100" dirty="0">
                <a:solidFill>
                  <a:srgbClr val="2C3E50"/>
                </a:solidFill>
                <a:latin typeface="Hiragino Sans W3" pitchFamily="34" charset="0"/>
                <a:ea typeface="Hiragino Sans W3" pitchFamily="34" charset="-122"/>
                <a:cs typeface="Hiragino Sans W3" pitchFamily="34" charset="-120"/>
              </a:rPr>
              <a:t>検討中</a:t>
            </a:r>
            <a:endParaRPr lang="en-US" sz="1100" dirty="0"/>
          </a:p>
        </p:txBody>
      </p:sp>
      <p:sp>
        <p:nvSpPr>
          <p:cNvPr id="29" name="Text 27"/>
          <p:cNvSpPr/>
          <p:nvPr/>
        </p:nvSpPr>
        <p:spPr>
          <a:xfrm>
            <a:off x="11338560" y="3758184"/>
            <a:ext cx="2286000" cy="457200"/>
          </a:xfrm>
          <a:prstGeom prst="rect">
            <a:avLst/>
          </a:prstGeom>
          <a:solidFill>
            <a:srgbClr val="F5F7FA"/>
          </a:solidFill>
          <a:ln/>
        </p:spPr>
        <p:txBody>
          <a:bodyPr wrap="square" rtlCol="0" anchor="ctr"/>
          <a:lstStyle/>
          <a:p>
            <a:pPr algn="l" indent="0" marL="0">
              <a:buNone/>
            </a:pPr>
            <a:r>
              <a:rPr lang="en-US" sz="1100" dirty="0">
                <a:solidFill>
                  <a:srgbClr val="2C3E50"/>
                </a:solidFill>
                <a:latin typeface="Hiragino Sans W3" pitchFamily="34" charset="0"/>
                <a:ea typeface="Hiragino Sans W3" pitchFamily="34" charset="-122"/>
                <a:cs typeface="Hiragino Sans W3" pitchFamily="34" charset="-120"/>
              </a:rPr>
              <a:t>請求項案作成済</a:t>
            </a:r>
            <a:endParaRPr lang="en-US" sz="1100" dirty="0"/>
          </a:p>
        </p:txBody>
      </p:sp>
      <p:sp>
        <p:nvSpPr>
          <p:cNvPr id="30" name="Text 28"/>
          <p:cNvSpPr/>
          <p:nvPr/>
        </p:nvSpPr>
        <p:spPr>
          <a:xfrm>
            <a:off x="731520" y="4288536"/>
            <a:ext cx="1097280" cy="457200"/>
          </a:xfrm>
          <a:prstGeom prst="rect">
            <a:avLst/>
          </a:prstGeom>
          <a:solidFill>
            <a:srgbClr val="FFFFFF"/>
          </a:solidFill>
          <a:ln/>
        </p:spPr>
        <p:txBody>
          <a:bodyPr wrap="square" rtlCol="0" anchor="ctr"/>
          <a:lstStyle/>
          <a:p>
            <a:pPr algn="ctr" indent="0" marL="0">
              <a:buNone/>
            </a:pPr>
            <a:r>
              <a:rPr lang="en-US" sz="1100" dirty="0">
                <a:solidFill>
                  <a:srgbClr val="2C3E50"/>
                </a:solidFill>
                <a:latin typeface="Hiragino Sans W6" pitchFamily="34" charset="0"/>
                <a:ea typeface="Hiragino Sans W6" pitchFamily="34" charset="-122"/>
                <a:cs typeface="Hiragino Sans W6" pitchFamily="34" charset="-120"/>
              </a:rPr>
              <a:t>意匠1</a:t>
            </a:r>
            <a:endParaRPr lang="en-US" sz="1100" dirty="0"/>
          </a:p>
        </p:txBody>
      </p:sp>
      <p:sp>
        <p:nvSpPr>
          <p:cNvPr id="31" name="Text 29"/>
          <p:cNvSpPr/>
          <p:nvPr/>
        </p:nvSpPr>
        <p:spPr>
          <a:xfrm>
            <a:off x="1920240" y="4288536"/>
            <a:ext cx="5486400" cy="457200"/>
          </a:xfrm>
          <a:prstGeom prst="rect">
            <a:avLst/>
          </a:prstGeom>
          <a:solidFill>
            <a:srgbClr val="FFFFFF"/>
          </a:solidFill>
          <a:ln/>
        </p:spPr>
        <p:txBody>
          <a:bodyPr wrap="square" rtlCol="0" anchor="ctr"/>
          <a:lstStyle/>
          <a:p>
            <a:pPr algn="l" indent="0" marL="0">
              <a:buNone/>
            </a:pPr>
            <a:r>
              <a:rPr lang="en-US" sz="1100" dirty="0">
                <a:solidFill>
                  <a:srgbClr val="2C3E50"/>
                </a:solidFill>
                <a:latin typeface="Hiragino Sans W3" pitchFamily="34" charset="0"/>
                <a:ea typeface="Hiragino Sans W3" pitchFamily="34" charset="-122"/>
                <a:cs typeface="Hiragino Sans W3" pitchFamily="34" charset="-120"/>
              </a:rPr>
              <a:t>タブレット入力画面（音声入力＋分岐UI）</a:t>
            </a:r>
            <a:endParaRPr lang="en-US" sz="1100" dirty="0"/>
          </a:p>
        </p:txBody>
      </p:sp>
      <p:sp>
        <p:nvSpPr>
          <p:cNvPr id="32" name="Text 30"/>
          <p:cNvSpPr/>
          <p:nvPr/>
        </p:nvSpPr>
        <p:spPr>
          <a:xfrm>
            <a:off x="7498080" y="4288536"/>
            <a:ext cx="2286000" cy="457200"/>
          </a:xfrm>
          <a:prstGeom prst="rect">
            <a:avLst/>
          </a:prstGeom>
          <a:solidFill>
            <a:srgbClr val="FFFFFF"/>
          </a:solidFill>
          <a:ln/>
        </p:spPr>
        <p:txBody>
          <a:bodyPr wrap="square" rtlCol="0" anchor="ctr"/>
          <a:lstStyle/>
          <a:p>
            <a:pPr algn="l" indent="0" marL="0">
              <a:buNone/>
            </a:pPr>
            <a:r>
              <a:rPr lang="en-US" sz="1100" dirty="0">
                <a:solidFill>
                  <a:srgbClr val="2C3E50"/>
                </a:solidFill>
                <a:latin typeface="Hiragino Sans W3" pitchFamily="34" charset="0"/>
                <a:ea typeface="Hiragino Sans W3" pitchFamily="34" charset="-122"/>
                <a:cs typeface="Hiragino Sans W3" pitchFamily="34" charset="-120"/>
              </a:rPr>
              <a:t>2027年Q3</a:t>
            </a:r>
            <a:endParaRPr lang="en-US" sz="1100" dirty="0"/>
          </a:p>
        </p:txBody>
      </p:sp>
      <p:sp>
        <p:nvSpPr>
          <p:cNvPr id="33" name="Text 31"/>
          <p:cNvSpPr/>
          <p:nvPr/>
        </p:nvSpPr>
        <p:spPr>
          <a:xfrm>
            <a:off x="9875520" y="4288536"/>
            <a:ext cx="1371600" cy="457200"/>
          </a:xfrm>
          <a:prstGeom prst="rect">
            <a:avLst/>
          </a:prstGeom>
          <a:solidFill>
            <a:srgbClr val="FFFFFF"/>
          </a:solidFill>
          <a:ln/>
        </p:spPr>
        <p:txBody>
          <a:bodyPr wrap="square" rtlCol="0" anchor="ctr"/>
          <a:lstStyle/>
          <a:p>
            <a:pPr algn="l" indent="0" marL="0">
              <a:buNone/>
            </a:pPr>
            <a:r>
              <a:rPr lang="en-US" sz="1100" dirty="0">
                <a:solidFill>
                  <a:srgbClr val="2C3E50"/>
                </a:solidFill>
                <a:latin typeface="Hiragino Sans W3" pitchFamily="34" charset="0"/>
                <a:ea typeface="Hiragino Sans W3" pitchFamily="34" charset="-122"/>
                <a:cs typeface="Hiragino Sans W3" pitchFamily="34" charset="-120"/>
              </a:rPr>
              <a:t>—</a:t>
            </a:r>
            <a:endParaRPr lang="en-US" sz="1100" dirty="0"/>
          </a:p>
        </p:txBody>
      </p:sp>
      <p:sp>
        <p:nvSpPr>
          <p:cNvPr id="34" name="Text 32"/>
          <p:cNvSpPr/>
          <p:nvPr/>
        </p:nvSpPr>
        <p:spPr>
          <a:xfrm>
            <a:off x="11338560" y="4288536"/>
            <a:ext cx="2286000" cy="457200"/>
          </a:xfrm>
          <a:prstGeom prst="rect">
            <a:avLst/>
          </a:prstGeom>
          <a:solidFill>
            <a:srgbClr val="FFFFFF"/>
          </a:solidFill>
          <a:ln/>
        </p:spPr>
        <p:txBody>
          <a:bodyPr wrap="square" rtlCol="0" anchor="ctr"/>
          <a:lstStyle/>
          <a:p>
            <a:pPr algn="l" indent="0" marL="0">
              <a:buNone/>
            </a:pPr>
            <a:r>
              <a:rPr lang="en-US" sz="1100" dirty="0">
                <a:solidFill>
                  <a:srgbClr val="2C3E50"/>
                </a:solidFill>
                <a:latin typeface="Hiragino Sans W3" pitchFamily="34" charset="0"/>
                <a:ea typeface="Hiragino Sans W3" pitchFamily="34" charset="-122"/>
                <a:cs typeface="Hiragino Sans W3" pitchFamily="34" charset="-120"/>
              </a:rPr>
              <a:t>画面設計完了</a:t>
            </a:r>
            <a:endParaRPr lang="en-US" sz="1100" dirty="0"/>
          </a:p>
        </p:txBody>
      </p:sp>
      <p:sp>
        <p:nvSpPr>
          <p:cNvPr id="35" name="Text 33"/>
          <p:cNvSpPr/>
          <p:nvPr/>
        </p:nvSpPr>
        <p:spPr>
          <a:xfrm>
            <a:off x="731520" y="4818888"/>
            <a:ext cx="1097280" cy="457200"/>
          </a:xfrm>
          <a:prstGeom prst="rect">
            <a:avLst/>
          </a:prstGeom>
          <a:solidFill>
            <a:srgbClr val="F5F7FA"/>
          </a:solidFill>
          <a:ln/>
        </p:spPr>
        <p:txBody>
          <a:bodyPr wrap="square" rtlCol="0" anchor="ctr"/>
          <a:lstStyle/>
          <a:p>
            <a:pPr algn="ctr" indent="0" marL="0">
              <a:buNone/>
            </a:pPr>
            <a:r>
              <a:rPr lang="en-US" sz="1100" dirty="0">
                <a:solidFill>
                  <a:srgbClr val="2C3E50"/>
                </a:solidFill>
                <a:latin typeface="Hiragino Sans W6" pitchFamily="34" charset="0"/>
                <a:ea typeface="Hiragino Sans W6" pitchFamily="34" charset="-122"/>
                <a:cs typeface="Hiragino Sans W6" pitchFamily="34" charset="-120"/>
              </a:rPr>
              <a:t>意匠2</a:t>
            </a:r>
            <a:endParaRPr lang="en-US" sz="1100" dirty="0"/>
          </a:p>
        </p:txBody>
      </p:sp>
      <p:sp>
        <p:nvSpPr>
          <p:cNvPr id="36" name="Text 34"/>
          <p:cNvSpPr/>
          <p:nvPr/>
        </p:nvSpPr>
        <p:spPr>
          <a:xfrm>
            <a:off x="1920240" y="4818888"/>
            <a:ext cx="5486400" cy="457200"/>
          </a:xfrm>
          <a:prstGeom prst="rect">
            <a:avLst/>
          </a:prstGeom>
          <a:solidFill>
            <a:srgbClr val="F5F7FA"/>
          </a:solidFill>
          <a:ln/>
        </p:spPr>
        <p:txBody>
          <a:bodyPr wrap="square" rtlCol="0" anchor="ctr"/>
          <a:lstStyle/>
          <a:p>
            <a:pPr algn="l" indent="0" marL="0">
              <a:buNone/>
            </a:pPr>
            <a:r>
              <a:rPr lang="en-US" sz="1100" dirty="0">
                <a:solidFill>
                  <a:srgbClr val="2C3E50"/>
                </a:solidFill>
                <a:latin typeface="Hiragino Sans W3" pitchFamily="34" charset="0"/>
                <a:ea typeface="Hiragino Sans W3" pitchFamily="34" charset="-122"/>
                <a:cs typeface="Hiragino Sans W3" pitchFamily="34" charset="-120"/>
              </a:rPr>
              <a:t>利用者ポータル（ひらがな・やさしいUI）</a:t>
            </a:r>
            <a:endParaRPr lang="en-US" sz="1100" dirty="0"/>
          </a:p>
        </p:txBody>
      </p:sp>
      <p:sp>
        <p:nvSpPr>
          <p:cNvPr id="37" name="Text 35"/>
          <p:cNvSpPr/>
          <p:nvPr/>
        </p:nvSpPr>
        <p:spPr>
          <a:xfrm>
            <a:off x="7498080" y="4818888"/>
            <a:ext cx="2286000" cy="457200"/>
          </a:xfrm>
          <a:prstGeom prst="rect">
            <a:avLst/>
          </a:prstGeom>
          <a:solidFill>
            <a:srgbClr val="F5F7FA"/>
          </a:solidFill>
          <a:ln/>
        </p:spPr>
        <p:txBody>
          <a:bodyPr wrap="square" rtlCol="0" anchor="ctr"/>
          <a:lstStyle/>
          <a:p>
            <a:pPr algn="l" indent="0" marL="0">
              <a:buNone/>
            </a:pPr>
            <a:r>
              <a:rPr lang="en-US" sz="1100" dirty="0">
                <a:solidFill>
                  <a:srgbClr val="2C3E50"/>
                </a:solidFill>
                <a:latin typeface="Hiragino Sans W3" pitchFamily="34" charset="0"/>
                <a:ea typeface="Hiragino Sans W3" pitchFamily="34" charset="-122"/>
                <a:cs typeface="Hiragino Sans W3" pitchFamily="34" charset="-120"/>
              </a:rPr>
              <a:t>2027年Q3</a:t>
            </a:r>
            <a:endParaRPr lang="en-US" sz="1100" dirty="0"/>
          </a:p>
        </p:txBody>
      </p:sp>
      <p:sp>
        <p:nvSpPr>
          <p:cNvPr id="38" name="Text 36"/>
          <p:cNvSpPr/>
          <p:nvPr/>
        </p:nvSpPr>
        <p:spPr>
          <a:xfrm>
            <a:off x="9875520" y="4818888"/>
            <a:ext cx="1371600" cy="457200"/>
          </a:xfrm>
          <a:prstGeom prst="rect">
            <a:avLst/>
          </a:prstGeom>
          <a:solidFill>
            <a:srgbClr val="F5F7FA"/>
          </a:solidFill>
          <a:ln/>
        </p:spPr>
        <p:txBody>
          <a:bodyPr wrap="square" rtlCol="0" anchor="ctr"/>
          <a:lstStyle/>
          <a:p>
            <a:pPr algn="l" indent="0" marL="0">
              <a:buNone/>
            </a:pPr>
            <a:r>
              <a:rPr lang="en-US" sz="1100" dirty="0">
                <a:solidFill>
                  <a:srgbClr val="2C3E50"/>
                </a:solidFill>
                <a:latin typeface="Hiragino Sans W3" pitchFamily="34" charset="0"/>
                <a:ea typeface="Hiragino Sans W3" pitchFamily="34" charset="-122"/>
                <a:cs typeface="Hiragino Sans W3" pitchFamily="34" charset="-120"/>
              </a:rPr>
              <a:t>—</a:t>
            </a:r>
            <a:endParaRPr lang="en-US" sz="1100" dirty="0"/>
          </a:p>
        </p:txBody>
      </p:sp>
      <p:sp>
        <p:nvSpPr>
          <p:cNvPr id="39" name="Text 37"/>
          <p:cNvSpPr/>
          <p:nvPr/>
        </p:nvSpPr>
        <p:spPr>
          <a:xfrm>
            <a:off x="11338560" y="4818888"/>
            <a:ext cx="2286000" cy="457200"/>
          </a:xfrm>
          <a:prstGeom prst="rect">
            <a:avLst/>
          </a:prstGeom>
          <a:solidFill>
            <a:srgbClr val="F5F7FA"/>
          </a:solidFill>
          <a:ln/>
        </p:spPr>
        <p:txBody>
          <a:bodyPr wrap="square" rtlCol="0" anchor="ctr"/>
          <a:lstStyle/>
          <a:p>
            <a:pPr algn="l" indent="0" marL="0">
              <a:buNone/>
            </a:pPr>
            <a:r>
              <a:rPr lang="en-US" sz="1100" dirty="0">
                <a:solidFill>
                  <a:srgbClr val="2C3E50"/>
                </a:solidFill>
                <a:latin typeface="Hiragino Sans W3" pitchFamily="34" charset="0"/>
                <a:ea typeface="Hiragino Sans W3" pitchFamily="34" charset="-122"/>
                <a:cs typeface="Hiragino Sans W3" pitchFamily="34" charset="-120"/>
              </a:rPr>
              <a:t>画面設計完了</a:t>
            </a:r>
            <a:endParaRPr lang="en-US" sz="1100" dirty="0"/>
          </a:p>
        </p:txBody>
      </p:sp>
      <p:sp>
        <p:nvSpPr>
          <p:cNvPr id="40" name="Text 38"/>
          <p:cNvSpPr/>
          <p:nvPr/>
        </p:nvSpPr>
        <p:spPr>
          <a:xfrm>
            <a:off x="731520" y="5349240"/>
            <a:ext cx="1097280" cy="457200"/>
          </a:xfrm>
          <a:prstGeom prst="rect">
            <a:avLst/>
          </a:prstGeom>
          <a:solidFill>
            <a:srgbClr val="FFFFFF"/>
          </a:solidFill>
          <a:ln/>
        </p:spPr>
        <p:txBody>
          <a:bodyPr wrap="square" rtlCol="0" anchor="ctr"/>
          <a:lstStyle/>
          <a:p>
            <a:pPr algn="ctr" indent="0" marL="0">
              <a:buNone/>
            </a:pPr>
            <a:r>
              <a:rPr lang="en-US" sz="1100" dirty="0">
                <a:solidFill>
                  <a:srgbClr val="2C3E50"/>
                </a:solidFill>
                <a:latin typeface="Hiragino Sans W6" pitchFamily="34" charset="0"/>
                <a:ea typeface="Hiragino Sans W6" pitchFamily="34" charset="-122"/>
                <a:cs typeface="Hiragino Sans W6" pitchFamily="34" charset="-120"/>
              </a:rPr>
              <a:t>商標1</a:t>
            </a:r>
            <a:endParaRPr lang="en-US" sz="1100" dirty="0"/>
          </a:p>
        </p:txBody>
      </p:sp>
      <p:sp>
        <p:nvSpPr>
          <p:cNvPr id="41" name="Text 39"/>
          <p:cNvSpPr/>
          <p:nvPr/>
        </p:nvSpPr>
        <p:spPr>
          <a:xfrm>
            <a:off x="1920240" y="5349240"/>
            <a:ext cx="5486400" cy="457200"/>
          </a:xfrm>
          <a:prstGeom prst="rect">
            <a:avLst/>
          </a:prstGeom>
          <a:solidFill>
            <a:srgbClr val="FFFFFF"/>
          </a:solidFill>
          <a:ln/>
        </p:spPr>
        <p:txBody>
          <a:bodyPr wrap="square" rtlCol="0" anchor="ctr"/>
          <a:lstStyle/>
          <a:p>
            <a:pPr algn="l" indent="0" marL="0">
              <a:buNone/>
            </a:pPr>
            <a:r>
              <a:rPr lang="en-US" sz="1100" dirty="0">
                <a:solidFill>
                  <a:srgbClr val="2C3E50"/>
                </a:solidFill>
                <a:latin typeface="Hiragino Sans W3" pitchFamily="34" charset="0"/>
                <a:ea typeface="Hiragino Sans W3" pitchFamily="34" charset="-122"/>
                <a:cs typeface="Hiragino Sans W3" pitchFamily="34" charset="-120"/>
              </a:rPr>
              <a:t>Universal Care OS / ユニバーサルケアOS</a:t>
            </a:r>
            <a:endParaRPr lang="en-US" sz="1100" dirty="0"/>
          </a:p>
        </p:txBody>
      </p:sp>
      <p:sp>
        <p:nvSpPr>
          <p:cNvPr id="42" name="Text 40"/>
          <p:cNvSpPr/>
          <p:nvPr/>
        </p:nvSpPr>
        <p:spPr>
          <a:xfrm>
            <a:off x="7498080" y="5349240"/>
            <a:ext cx="2286000" cy="457200"/>
          </a:xfrm>
          <a:prstGeom prst="rect">
            <a:avLst/>
          </a:prstGeom>
          <a:solidFill>
            <a:srgbClr val="FFFFFF"/>
          </a:solidFill>
          <a:ln/>
        </p:spPr>
        <p:txBody>
          <a:bodyPr wrap="square" rtlCol="0" anchor="ctr"/>
          <a:lstStyle/>
          <a:p>
            <a:pPr algn="l" indent="0" marL="0">
              <a:buNone/>
            </a:pPr>
            <a:r>
              <a:rPr lang="en-US" sz="1100" dirty="0">
                <a:solidFill>
                  <a:srgbClr val="2C3E50"/>
                </a:solidFill>
                <a:latin typeface="Hiragino Sans W3" pitchFamily="34" charset="0"/>
                <a:ea typeface="Hiragino Sans W3" pitchFamily="34" charset="-122"/>
                <a:cs typeface="Hiragino Sans W3" pitchFamily="34" charset="-120"/>
              </a:rPr>
              <a:t>2027年Q1</a:t>
            </a:r>
            <a:endParaRPr lang="en-US" sz="1100" dirty="0"/>
          </a:p>
        </p:txBody>
      </p:sp>
      <p:sp>
        <p:nvSpPr>
          <p:cNvPr id="43" name="Text 41"/>
          <p:cNvSpPr/>
          <p:nvPr/>
        </p:nvSpPr>
        <p:spPr>
          <a:xfrm>
            <a:off x="9875520" y="5349240"/>
            <a:ext cx="1371600" cy="457200"/>
          </a:xfrm>
          <a:prstGeom prst="rect">
            <a:avLst/>
          </a:prstGeom>
          <a:solidFill>
            <a:srgbClr val="FFFFFF"/>
          </a:solidFill>
          <a:ln/>
        </p:spPr>
        <p:txBody>
          <a:bodyPr wrap="square" rtlCol="0" anchor="ctr"/>
          <a:lstStyle/>
          <a:p>
            <a:pPr algn="l" indent="0" marL="0">
              <a:buNone/>
            </a:pPr>
            <a:r>
              <a:rPr lang="en-US" sz="1100" dirty="0">
                <a:solidFill>
                  <a:srgbClr val="2C3E50"/>
                </a:solidFill>
                <a:latin typeface="Hiragino Sans W3" pitchFamily="34" charset="0"/>
                <a:ea typeface="Hiragino Sans W3" pitchFamily="34" charset="-122"/>
                <a:cs typeface="Hiragino Sans W3" pitchFamily="34" charset="-120"/>
              </a:rPr>
              <a:t>—</a:t>
            </a:r>
            <a:endParaRPr lang="en-US" sz="1100" dirty="0"/>
          </a:p>
        </p:txBody>
      </p:sp>
      <p:sp>
        <p:nvSpPr>
          <p:cNvPr id="44" name="Text 42"/>
          <p:cNvSpPr/>
          <p:nvPr/>
        </p:nvSpPr>
        <p:spPr>
          <a:xfrm>
            <a:off x="11338560" y="5349240"/>
            <a:ext cx="2286000" cy="457200"/>
          </a:xfrm>
          <a:prstGeom prst="rect">
            <a:avLst/>
          </a:prstGeom>
          <a:solidFill>
            <a:srgbClr val="FFFFFF"/>
          </a:solidFill>
          <a:ln/>
        </p:spPr>
        <p:txBody>
          <a:bodyPr wrap="square" rtlCol="0" anchor="ctr"/>
          <a:lstStyle/>
          <a:p>
            <a:pPr algn="l" indent="0" marL="0">
              <a:buNone/>
            </a:pPr>
            <a:r>
              <a:rPr lang="en-US" sz="1100" dirty="0">
                <a:solidFill>
                  <a:srgbClr val="2C3E50"/>
                </a:solidFill>
                <a:latin typeface="Hiragino Sans W3" pitchFamily="34" charset="0"/>
                <a:ea typeface="Hiragino Sans W3" pitchFamily="34" charset="-122"/>
                <a:cs typeface="Hiragino Sans W3" pitchFamily="34" charset="-120"/>
              </a:rPr>
              <a:t>出願準備中</a:t>
            </a:r>
            <a:endParaRPr lang="en-US" sz="1100" dirty="0"/>
          </a:p>
        </p:txBody>
      </p:sp>
      <p:sp>
        <p:nvSpPr>
          <p:cNvPr id="45" name="Text 43"/>
          <p:cNvSpPr/>
          <p:nvPr/>
        </p:nvSpPr>
        <p:spPr>
          <a:xfrm>
            <a:off x="731520" y="5879592"/>
            <a:ext cx="1097280" cy="457200"/>
          </a:xfrm>
          <a:prstGeom prst="rect">
            <a:avLst/>
          </a:prstGeom>
          <a:solidFill>
            <a:srgbClr val="F5F7FA"/>
          </a:solidFill>
          <a:ln/>
        </p:spPr>
        <p:txBody>
          <a:bodyPr wrap="square" rtlCol="0" anchor="ctr"/>
          <a:lstStyle/>
          <a:p>
            <a:pPr algn="ctr" indent="0" marL="0">
              <a:buNone/>
            </a:pPr>
            <a:r>
              <a:rPr lang="en-US" sz="1100" dirty="0">
                <a:solidFill>
                  <a:srgbClr val="2C3E50"/>
                </a:solidFill>
                <a:latin typeface="Hiragino Sans W6" pitchFamily="34" charset="0"/>
                <a:ea typeface="Hiragino Sans W6" pitchFamily="34" charset="-122"/>
                <a:cs typeface="Hiragino Sans W6" pitchFamily="34" charset="-120"/>
              </a:rPr>
              <a:t>商標2</a:t>
            </a:r>
            <a:endParaRPr lang="en-US" sz="1100" dirty="0"/>
          </a:p>
        </p:txBody>
      </p:sp>
      <p:sp>
        <p:nvSpPr>
          <p:cNvPr id="46" name="Text 44"/>
          <p:cNvSpPr/>
          <p:nvPr/>
        </p:nvSpPr>
        <p:spPr>
          <a:xfrm>
            <a:off x="1920240" y="5879592"/>
            <a:ext cx="5486400" cy="457200"/>
          </a:xfrm>
          <a:prstGeom prst="rect">
            <a:avLst/>
          </a:prstGeom>
          <a:solidFill>
            <a:srgbClr val="F5F7FA"/>
          </a:solidFill>
          <a:ln/>
        </p:spPr>
        <p:txBody>
          <a:bodyPr wrap="square" rtlCol="0" anchor="ctr"/>
          <a:lstStyle/>
          <a:p>
            <a:pPr algn="l" indent="0" marL="0">
              <a:buNone/>
            </a:pPr>
            <a:r>
              <a:rPr lang="en-US" sz="1100" dirty="0">
                <a:solidFill>
                  <a:srgbClr val="2C3E50"/>
                </a:solidFill>
                <a:latin typeface="Hiragino Sans W3" pitchFamily="34" charset="0"/>
                <a:ea typeface="Hiragino Sans W3" pitchFamily="34" charset="-122"/>
                <a:cs typeface="Hiragino Sans W3" pitchFamily="34" charset="-120"/>
              </a:rPr>
              <a:t>わかるじゃん（自立支援マトリックス名称）</a:t>
            </a:r>
            <a:endParaRPr lang="en-US" sz="1100" dirty="0"/>
          </a:p>
        </p:txBody>
      </p:sp>
      <p:sp>
        <p:nvSpPr>
          <p:cNvPr id="47" name="Text 45"/>
          <p:cNvSpPr/>
          <p:nvPr/>
        </p:nvSpPr>
        <p:spPr>
          <a:xfrm>
            <a:off x="7498080" y="5879592"/>
            <a:ext cx="2286000" cy="457200"/>
          </a:xfrm>
          <a:prstGeom prst="rect">
            <a:avLst/>
          </a:prstGeom>
          <a:solidFill>
            <a:srgbClr val="F5F7FA"/>
          </a:solidFill>
          <a:ln/>
        </p:spPr>
        <p:txBody>
          <a:bodyPr wrap="square" rtlCol="0" anchor="ctr"/>
          <a:lstStyle/>
          <a:p>
            <a:pPr algn="l" indent="0" marL="0">
              <a:buNone/>
            </a:pPr>
            <a:r>
              <a:rPr lang="en-US" sz="1100" dirty="0">
                <a:solidFill>
                  <a:srgbClr val="2C3E50"/>
                </a:solidFill>
                <a:latin typeface="Hiragino Sans W3" pitchFamily="34" charset="0"/>
                <a:ea typeface="Hiragino Sans W3" pitchFamily="34" charset="-122"/>
                <a:cs typeface="Hiragino Sans W3" pitchFamily="34" charset="-120"/>
              </a:rPr>
              <a:t>2027年Q1</a:t>
            </a:r>
            <a:endParaRPr lang="en-US" sz="1100" dirty="0"/>
          </a:p>
        </p:txBody>
      </p:sp>
      <p:sp>
        <p:nvSpPr>
          <p:cNvPr id="48" name="Text 46"/>
          <p:cNvSpPr/>
          <p:nvPr/>
        </p:nvSpPr>
        <p:spPr>
          <a:xfrm>
            <a:off x="9875520" y="5879592"/>
            <a:ext cx="1371600" cy="457200"/>
          </a:xfrm>
          <a:prstGeom prst="rect">
            <a:avLst/>
          </a:prstGeom>
          <a:solidFill>
            <a:srgbClr val="F5F7FA"/>
          </a:solidFill>
          <a:ln/>
        </p:spPr>
        <p:txBody>
          <a:bodyPr wrap="square" rtlCol="0" anchor="ctr"/>
          <a:lstStyle/>
          <a:p>
            <a:pPr algn="l" indent="0" marL="0">
              <a:buNone/>
            </a:pPr>
            <a:r>
              <a:rPr lang="en-US" sz="1100" dirty="0">
                <a:solidFill>
                  <a:srgbClr val="2C3E50"/>
                </a:solidFill>
                <a:latin typeface="Hiragino Sans W3" pitchFamily="34" charset="0"/>
                <a:ea typeface="Hiragino Sans W3" pitchFamily="34" charset="-122"/>
                <a:cs typeface="Hiragino Sans W3" pitchFamily="34" charset="-120"/>
              </a:rPr>
              <a:t>—</a:t>
            </a:r>
            <a:endParaRPr lang="en-US" sz="1100" dirty="0"/>
          </a:p>
        </p:txBody>
      </p:sp>
      <p:sp>
        <p:nvSpPr>
          <p:cNvPr id="49" name="Text 47"/>
          <p:cNvSpPr/>
          <p:nvPr/>
        </p:nvSpPr>
        <p:spPr>
          <a:xfrm>
            <a:off x="11338560" y="5879592"/>
            <a:ext cx="2286000" cy="457200"/>
          </a:xfrm>
          <a:prstGeom prst="rect">
            <a:avLst/>
          </a:prstGeom>
          <a:solidFill>
            <a:srgbClr val="F5F7FA"/>
          </a:solidFill>
          <a:ln/>
        </p:spPr>
        <p:txBody>
          <a:bodyPr wrap="square" rtlCol="0" anchor="ctr"/>
          <a:lstStyle/>
          <a:p>
            <a:pPr algn="l" indent="0" marL="0">
              <a:buNone/>
            </a:pPr>
            <a:r>
              <a:rPr lang="en-US" sz="1100" dirty="0">
                <a:solidFill>
                  <a:srgbClr val="2C3E50"/>
                </a:solidFill>
                <a:latin typeface="Hiragino Sans W3" pitchFamily="34" charset="0"/>
                <a:ea typeface="Hiragino Sans W3" pitchFamily="34" charset="-122"/>
                <a:cs typeface="Hiragino Sans W3" pitchFamily="34" charset="-120"/>
              </a:rPr>
              <a:t>出願準備中</a:t>
            </a:r>
            <a:endParaRPr lang="en-US" sz="1100" dirty="0"/>
          </a:p>
        </p:txBody>
      </p:sp>
      <p:sp>
        <p:nvSpPr>
          <p:cNvPr id="50" name="Shape 48"/>
          <p:cNvSpPr/>
          <p:nvPr/>
        </p:nvSpPr>
        <p:spPr>
          <a:xfrm>
            <a:off x="548640" y="6995160"/>
            <a:ext cx="13533120" cy="594360"/>
          </a:xfrm>
          <a:prstGeom prst="roundRect">
            <a:avLst>
              <a:gd name="adj" fmla="val 9231"/>
            </a:avLst>
          </a:prstGeom>
          <a:solidFill>
            <a:srgbClr val="EBF0F7"/>
          </a:solidFill>
          <a:ln w="12700">
            <a:solidFill>
              <a:srgbClr val="DCE1E8"/>
            </a:solidFill>
            <a:prstDash val="solid"/>
          </a:ln>
        </p:spPr>
      </p:sp>
      <p:sp>
        <p:nvSpPr>
          <p:cNvPr id="51" name="Text 49"/>
          <p:cNvSpPr/>
          <p:nvPr/>
        </p:nvSpPr>
        <p:spPr>
          <a:xfrm>
            <a:off x="731520" y="6995160"/>
            <a:ext cx="13167360" cy="594360"/>
          </a:xfrm>
          <a:prstGeom prst="rect">
            <a:avLst/>
          </a:prstGeom>
          <a:noFill/>
          <a:ln/>
        </p:spPr>
        <p:txBody>
          <a:bodyPr wrap="square" rtlCol="0" anchor="ctr"/>
          <a:lstStyle/>
          <a:p>
            <a:pPr indent="0" marL="0">
              <a:buNone/>
            </a:pPr>
            <a:r>
              <a:rPr lang="en-US" sz="1200" dirty="0">
                <a:solidFill>
                  <a:srgbClr val="2C3E50"/>
                </a:solidFill>
                <a:latin typeface="Hiragino Sans W6" pitchFamily="34" charset="0"/>
                <a:ea typeface="Hiragino Sans W6" pitchFamily="34" charset="-122"/>
                <a:cs typeface="Hiragino Sans W6" pitchFamily="34" charset="-120"/>
              </a:rPr>
              <a:t>知財費用概算（3年間）：350〜475万円</a:t>
            </a:r>
            <a:pPr indent="0" marL="0">
              <a:buNone/>
            </a:pPr>
            <a:r>
              <a:rPr lang="en-US" sz="1100" dirty="0">
                <a:solidFill>
                  <a:srgbClr val="2C3E50"/>
                </a:solidFill>
                <a:latin typeface="Hiragino Sans W3" pitchFamily="34" charset="0"/>
                <a:ea typeface="Hiragino Sans W3" pitchFamily="34" charset="-122"/>
                <a:cs typeface="Hiragino Sans W3" pitchFamily="34" charset="-120"/>
              </a:rPr>
              <a:t>　→ 特許庁中小企業減免（1/2〜1/3）＋振興公社知財助成活用後：</a:t>
            </a:r>
            <a:pPr indent="0" marL="0">
              <a:buNone/>
            </a:pPr>
            <a:r>
              <a:rPr lang="en-US" sz="1400" dirty="0">
                <a:solidFill>
                  <a:srgbClr val="4A90D9"/>
                </a:solidFill>
                <a:latin typeface="Hiragino Sans W6" pitchFamily="34" charset="0"/>
                <a:ea typeface="Hiragino Sans W6" pitchFamily="34" charset="-122"/>
                <a:cs typeface="Hiragino Sans W6" pitchFamily="34" charset="-120"/>
              </a:rPr>
              <a:t>180〜280万円</a:t>
            </a:r>
            <a:endParaRPr lang="en-US" sz="1200" dirty="0"/>
          </a:p>
        </p:txBody>
      </p:sp>
      <p:sp>
        <p:nvSpPr>
          <p:cNvPr id="52" name="Text 50"/>
          <p:cNvSpPr/>
          <p:nvPr/>
        </p:nvSpPr>
        <p:spPr>
          <a:xfrm>
            <a:off x="13258800" y="7818120"/>
            <a:ext cx="914400" cy="274320"/>
          </a:xfrm>
          <a:prstGeom prst="rect">
            <a:avLst/>
          </a:prstGeom>
          <a:noFill/>
          <a:ln/>
        </p:spPr>
        <p:txBody>
          <a:bodyPr wrap="square" rtlCol="0" anchor="ctr"/>
          <a:lstStyle/>
          <a:p>
            <a:pPr algn="r" indent="0" marL="0">
              <a:buNone/>
            </a:pPr>
            <a:r>
              <a:rPr lang="en-US" sz="800" dirty="0">
                <a:solidFill>
                  <a:srgbClr val="7F8C8D"/>
                </a:solidFill>
                <a:latin typeface="Hiragino Sans W3" pitchFamily="34" charset="0"/>
                <a:ea typeface="Hiragino Sans W3" pitchFamily="34" charset="-122"/>
                <a:cs typeface="Hiragino Sans W3" pitchFamily="34" charset="-120"/>
              </a:rPr>
              <a:t>13 / 15</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4630400" cy="1417320"/>
          </a:xfrm>
          <a:prstGeom prst="rect">
            <a:avLst/>
          </a:prstGeom>
          <a:solidFill>
            <a:srgbClr val="1A1A2E"/>
          </a:solidFill>
          <a:ln/>
        </p:spPr>
      </p:sp>
      <p:sp>
        <p:nvSpPr>
          <p:cNvPr id="3" name="Text 1"/>
          <p:cNvSpPr/>
          <p:nvPr/>
        </p:nvSpPr>
        <p:spPr>
          <a:xfrm>
            <a:off x="548640" y="182880"/>
            <a:ext cx="13533120" cy="594360"/>
          </a:xfrm>
          <a:prstGeom prst="rect">
            <a:avLst/>
          </a:prstGeom>
          <a:noFill/>
          <a:ln/>
        </p:spPr>
        <p:txBody>
          <a:bodyPr wrap="square" rtlCol="0" anchor="ctr"/>
          <a:lstStyle/>
          <a:p>
            <a:pPr indent="0" marL="0">
              <a:buNone/>
            </a:pPr>
            <a:r>
              <a:rPr lang="en-US" sz="2600" b="1" dirty="0">
                <a:solidFill>
                  <a:srgbClr val="FFFFFF"/>
                </a:solidFill>
                <a:latin typeface="Hiragino Sans W6" pitchFamily="34" charset="0"/>
                <a:ea typeface="Hiragino Sans W6" pitchFamily="34" charset="-122"/>
                <a:cs typeface="Hiragino Sans W6" pitchFamily="34" charset="-120"/>
              </a:rPr>
              <a:t>支援効果：ハンズオン支援前後で何が変わるか</a:t>
            </a:r>
            <a:endParaRPr lang="en-US" sz="2600" dirty="0"/>
          </a:p>
        </p:txBody>
      </p:sp>
      <p:sp>
        <p:nvSpPr>
          <p:cNvPr id="4" name="Text 2"/>
          <p:cNvSpPr/>
          <p:nvPr/>
        </p:nvSpPr>
        <p:spPr>
          <a:xfrm>
            <a:off x="548640" y="822960"/>
            <a:ext cx="13533120" cy="411480"/>
          </a:xfrm>
          <a:prstGeom prst="rect">
            <a:avLst/>
          </a:prstGeom>
          <a:noFill/>
          <a:ln/>
        </p:spPr>
        <p:txBody>
          <a:bodyPr wrap="square" rtlCol="0" anchor="ctr"/>
          <a:lstStyle/>
          <a:p>
            <a:pPr indent="0" marL="0">
              <a:buNone/>
            </a:pPr>
            <a:r>
              <a:rPr lang="en-US" sz="1300" dirty="0">
                <a:solidFill>
                  <a:srgbClr val="B0BEC5"/>
                </a:solidFill>
                <a:latin typeface="Hiragino Sans W3" pitchFamily="34" charset="0"/>
                <a:ea typeface="Hiragino Sans W3" pitchFamily="34" charset="-122"/>
                <a:cs typeface="Hiragino Sans W3" pitchFamily="34" charset="-120"/>
              </a:rPr>
              <a:t>3年間の伴走支援による具体的な変化</a:t>
            </a:r>
            <a:endParaRPr lang="en-US" sz="1300" dirty="0"/>
          </a:p>
        </p:txBody>
      </p:sp>
      <p:sp>
        <p:nvSpPr>
          <p:cNvPr id="5" name="Shape 3"/>
          <p:cNvSpPr/>
          <p:nvPr/>
        </p:nvSpPr>
        <p:spPr>
          <a:xfrm>
            <a:off x="548640" y="1508760"/>
            <a:ext cx="13533120" cy="347472"/>
          </a:xfrm>
          <a:prstGeom prst="roundRect">
            <a:avLst>
              <a:gd name="adj" fmla="val 7895"/>
            </a:avLst>
          </a:prstGeom>
          <a:solidFill>
            <a:srgbClr val="4A90D9"/>
          </a:solidFill>
          <a:ln/>
        </p:spPr>
      </p:sp>
      <p:sp>
        <p:nvSpPr>
          <p:cNvPr id="6" name="Text 4"/>
          <p:cNvSpPr/>
          <p:nvPr/>
        </p:nvSpPr>
        <p:spPr>
          <a:xfrm>
            <a:off x="731520" y="1508760"/>
            <a:ext cx="13167360" cy="347472"/>
          </a:xfrm>
          <a:prstGeom prst="rect">
            <a:avLst/>
          </a:prstGeom>
          <a:noFill/>
          <a:ln/>
        </p:spPr>
        <p:txBody>
          <a:bodyPr wrap="square" rtlCol="0" anchor="ctr"/>
          <a:lstStyle/>
          <a:p>
            <a:pPr indent="0" marL="0">
              <a:buNone/>
            </a:pPr>
            <a:r>
              <a:rPr lang="en-US" sz="1100" dirty="0">
                <a:solidFill>
                  <a:srgbClr val="FFFFFF"/>
                </a:solidFill>
                <a:latin typeface="Hiragino Sans W6" pitchFamily="34" charset="0"/>
                <a:ea typeface="Hiragino Sans W6" pitchFamily="34" charset="-122"/>
                <a:cs typeface="Hiragino Sans W6" pitchFamily="34" charset="-120"/>
              </a:rPr>
              <a:t>補足：申請書「11. ハンズオン支援が必要な理由」「12. 支援で期待すること」</a:t>
            </a:r>
            <a:endParaRPr lang="en-US" sz="1100" dirty="0"/>
          </a:p>
        </p:txBody>
      </p:sp>
      <p:sp>
        <p:nvSpPr>
          <p:cNvPr id="7" name="Shape 5"/>
          <p:cNvSpPr/>
          <p:nvPr/>
        </p:nvSpPr>
        <p:spPr>
          <a:xfrm>
            <a:off x="12618720" y="1527048"/>
            <a:ext cx="1645920" cy="292608"/>
          </a:xfrm>
          <a:prstGeom prst="roundRect">
            <a:avLst>
              <a:gd name="adj" fmla="val 12500"/>
            </a:avLst>
          </a:prstGeom>
          <a:solidFill>
            <a:srgbClr val="FEF5E7"/>
          </a:solidFill>
          <a:ln w="10160">
            <a:solidFill>
              <a:srgbClr val="D35400"/>
            </a:solidFill>
            <a:prstDash val="solid"/>
          </a:ln>
        </p:spPr>
      </p:sp>
      <p:sp>
        <p:nvSpPr>
          <p:cNvPr id="8" name="Text 6"/>
          <p:cNvSpPr/>
          <p:nvPr/>
        </p:nvSpPr>
        <p:spPr>
          <a:xfrm>
            <a:off x="12618720" y="1527048"/>
            <a:ext cx="1645920" cy="292608"/>
          </a:xfrm>
          <a:prstGeom prst="rect">
            <a:avLst/>
          </a:prstGeom>
          <a:noFill/>
          <a:ln/>
        </p:spPr>
        <p:txBody>
          <a:bodyPr wrap="square" rtlCol="0" anchor="ctr"/>
          <a:lstStyle/>
          <a:p>
            <a:pPr algn="ctr" indent="0" marL="0">
              <a:buNone/>
            </a:pPr>
            <a:r>
              <a:rPr lang="en-US" sz="900" dirty="0">
                <a:solidFill>
                  <a:srgbClr val="D35400"/>
                </a:solidFill>
                <a:latin typeface="Hiragino Sans W6" pitchFamily="34" charset="0"/>
                <a:ea typeface="Hiragino Sans W6" pitchFamily="34" charset="-122"/>
                <a:cs typeface="Hiragino Sans W6" pitchFamily="34" charset="-120"/>
              </a:rPr>
              <a:t>審査軸：妥当性</a:t>
            </a:r>
            <a:endParaRPr lang="en-US" sz="900" dirty="0"/>
          </a:p>
        </p:txBody>
      </p:sp>
      <p:sp>
        <p:nvSpPr>
          <p:cNvPr id="9" name="Shape 7"/>
          <p:cNvSpPr/>
          <p:nvPr/>
        </p:nvSpPr>
        <p:spPr>
          <a:xfrm>
            <a:off x="548640" y="2057400"/>
            <a:ext cx="6583680" cy="5303520"/>
          </a:xfrm>
          <a:prstGeom prst="roundRect">
            <a:avLst>
              <a:gd name="adj" fmla="val 1379"/>
            </a:avLst>
          </a:prstGeom>
          <a:solidFill>
            <a:srgbClr val="FFFFFF"/>
          </a:solidFill>
          <a:ln w="12700">
            <a:solidFill>
              <a:srgbClr val="7F8C8D"/>
            </a:solidFill>
            <a:prstDash val="solid"/>
          </a:ln>
        </p:spPr>
      </p:sp>
      <p:sp>
        <p:nvSpPr>
          <p:cNvPr id="10" name="Shape 8"/>
          <p:cNvSpPr/>
          <p:nvPr/>
        </p:nvSpPr>
        <p:spPr>
          <a:xfrm>
            <a:off x="548640" y="2057400"/>
            <a:ext cx="6583680" cy="502920"/>
          </a:xfrm>
          <a:prstGeom prst="rect">
            <a:avLst/>
          </a:prstGeom>
          <a:solidFill>
            <a:srgbClr val="7F8C8D"/>
          </a:solidFill>
          <a:ln/>
        </p:spPr>
      </p:sp>
      <p:sp>
        <p:nvSpPr>
          <p:cNvPr id="11" name="Text 9"/>
          <p:cNvSpPr/>
          <p:nvPr/>
        </p:nvSpPr>
        <p:spPr>
          <a:xfrm>
            <a:off x="548640" y="2057400"/>
            <a:ext cx="6583680" cy="502920"/>
          </a:xfrm>
          <a:prstGeom prst="rect">
            <a:avLst/>
          </a:prstGeom>
          <a:noFill/>
          <a:ln/>
        </p:spPr>
        <p:txBody>
          <a:bodyPr wrap="square" rtlCol="0" anchor="ctr"/>
          <a:lstStyle/>
          <a:p>
            <a:pPr algn="ctr" indent="0" marL="0">
              <a:buNone/>
            </a:pPr>
            <a:r>
              <a:rPr lang="en-US" sz="1400" dirty="0">
                <a:solidFill>
                  <a:srgbClr val="FFFFFF"/>
                </a:solidFill>
                <a:latin typeface="Hiragino Sans W6" pitchFamily="34" charset="0"/>
                <a:ea typeface="Hiragino Sans W6" pitchFamily="34" charset="-122"/>
                <a:cs typeface="Hiragino Sans W6" pitchFamily="34" charset="-120"/>
              </a:rPr>
              <a:t>BEFORE（支援前）</a:t>
            </a:r>
            <a:endParaRPr lang="en-US" sz="1400" dirty="0"/>
          </a:p>
        </p:txBody>
      </p:sp>
      <p:sp>
        <p:nvSpPr>
          <p:cNvPr id="12" name="Text 10"/>
          <p:cNvSpPr/>
          <p:nvPr/>
        </p:nvSpPr>
        <p:spPr>
          <a:xfrm>
            <a:off x="822960" y="2743200"/>
            <a:ext cx="6126480" cy="548640"/>
          </a:xfrm>
          <a:prstGeom prst="rect">
            <a:avLst/>
          </a:prstGeom>
          <a:noFill/>
          <a:ln/>
        </p:spPr>
        <p:txBody>
          <a:bodyPr wrap="square" rtlCol="0" anchor="ctr"/>
          <a:lstStyle/>
          <a:p>
            <a:pPr indent="0" marL="0">
              <a:buNone/>
            </a:pPr>
            <a:r>
              <a:rPr lang="en-US" sz="1200" dirty="0">
                <a:solidFill>
                  <a:srgbClr val="7F8C8D"/>
                </a:solidFill>
                <a:latin typeface="Hiragino Sans W3" pitchFamily="34" charset="0"/>
                <a:ea typeface="Hiragino Sans W3" pitchFamily="34" charset="-122"/>
                <a:cs typeface="Hiragino Sans W3" pitchFamily="34" charset="-120"/>
              </a:rPr>
              <a:t>✕ 特許出願の実務経験ゼロ</a:t>
            </a:r>
            <a:endParaRPr lang="en-US" sz="1200" dirty="0"/>
          </a:p>
        </p:txBody>
      </p:sp>
      <p:sp>
        <p:nvSpPr>
          <p:cNvPr id="13" name="Text 11"/>
          <p:cNvSpPr/>
          <p:nvPr/>
        </p:nvSpPr>
        <p:spPr>
          <a:xfrm>
            <a:off x="822960" y="3401568"/>
            <a:ext cx="6126480" cy="548640"/>
          </a:xfrm>
          <a:prstGeom prst="rect">
            <a:avLst/>
          </a:prstGeom>
          <a:noFill/>
          <a:ln/>
        </p:spPr>
        <p:txBody>
          <a:bodyPr wrap="square" rtlCol="0" anchor="ctr"/>
          <a:lstStyle/>
          <a:p>
            <a:pPr indent="0" marL="0">
              <a:buNone/>
            </a:pPr>
            <a:r>
              <a:rPr lang="en-US" sz="1200" dirty="0">
                <a:solidFill>
                  <a:srgbClr val="7F8C8D"/>
                </a:solidFill>
                <a:latin typeface="Hiragino Sans W3" pitchFamily="34" charset="0"/>
                <a:ea typeface="Hiragino Sans W3" pitchFamily="34" charset="-122"/>
                <a:cs typeface="Hiragino Sans W3" pitchFamily="34" charset="-120"/>
              </a:rPr>
              <a:t>✕ 請求項案はあるがクレーム範囲が未最適化</a:t>
            </a:r>
            <a:endParaRPr lang="en-US" sz="1200" dirty="0"/>
          </a:p>
        </p:txBody>
      </p:sp>
      <p:sp>
        <p:nvSpPr>
          <p:cNvPr id="14" name="Text 12"/>
          <p:cNvSpPr/>
          <p:nvPr/>
        </p:nvSpPr>
        <p:spPr>
          <a:xfrm>
            <a:off x="822960" y="4059936"/>
            <a:ext cx="6126480" cy="548640"/>
          </a:xfrm>
          <a:prstGeom prst="rect">
            <a:avLst/>
          </a:prstGeom>
          <a:noFill/>
          <a:ln/>
        </p:spPr>
        <p:txBody>
          <a:bodyPr wrap="square" rtlCol="0" anchor="ctr"/>
          <a:lstStyle/>
          <a:p>
            <a:pPr indent="0" marL="0">
              <a:buNone/>
            </a:pPr>
            <a:r>
              <a:rPr lang="en-US" sz="1200" dirty="0">
                <a:solidFill>
                  <a:srgbClr val="7F8C8D"/>
                </a:solidFill>
                <a:latin typeface="Hiragino Sans W3" pitchFamily="34" charset="0"/>
                <a:ea typeface="Hiragino Sans W3" pitchFamily="34" charset="-122"/>
                <a:cs typeface="Hiragino Sans W3" pitchFamily="34" charset="-120"/>
              </a:rPr>
              <a:t>✕ 営業秘密の管理規程なし</a:t>
            </a:r>
            <a:endParaRPr lang="en-US" sz="1200" dirty="0"/>
          </a:p>
        </p:txBody>
      </p:sp>
      <p:sp>
        <p:nvSpPr>
          <p:cNvPr id="15" name="Text 13"/>
          <p:cNvSpPr/>
          <p:nvPr/>
        </p:nvSpPr>
        <p:spPr>
          <a:xfrm>
            <a:off x="822960" y="4718304"/>
            <a:ext cx="6126480" cy="548640"/>
          </a:xfrm>
          <a:prstGeom prst="rect">
            <a:avLst/>
          </a:prstGeom>
          <a:noFill/>
          <a:ln/>
        </p:spPr>
        <p:txBody>
          <a:bodyPr wrap="square" rtlCol="0" anchor="ctr"/>
          <a:lstStyle/>
          <a:p>
            <a:pPr indent="0" marL="0">
              <a:buNone/>
            </a:pPr>
            <a:r>
              <a:rPr lang="en-US" sz="1200" dirty="0">
                <a:solidFill>
                  <a:srgbClr val="7F8C8D"/>
                </a:solidFill>
                <a:latin typeface="Hiragino Sans W3" pitchFamily="34" charset="0"/>
                <a:ea typeface="Hiragino Sans W3" pitchFamily="34" charset="-122"/>
                <a:cs typeface="Hiragino Sans W3" pitchFamily="34" charset="-120"/>
              </a:rPr>
              <a:t>✕ 海外出願の知識・経験なし</a:t>
            </a:r>
            <a:endParaRPr lang="en-US" sz="1200" dirty="0"/>
          </a:p>
        </p:txBody>
      </p:sp>
      <p:sp>
        <p:nvSpPr>
          <p:cNvPr id="16" name="Text 14"/>
          <p:cNvSpPr/>
          <p:nvPr/>
        </p:nvSpPr>
        <p:spPr>
          <a:xfrm>
            <a:off x="822960" y="5376672"/>
            <a:ext cx="6126480" cy="548640"/>
          </a:xfrm>
          <a:prstGeom prst="rect">
            <a:avLst/>
          </a:prstGeom>
          <a:noFill/>
          <a:ln/>
        </p:spPr>
        <p:txBody>
          <a:bodyPr wrap="square" rtlCol="0" anchor="ctr"/>
          <a:lstStyle/>
          <a:p>
            <a:pPr indent="0" marL="0">
              <a:buNone/>
            </a:pPr>
            <a:r>
              <a:rPr lang="en-US" sz="1200" dirty="0">
                <a:solidFill>
                  <a:srgbClr val="7F8C8D"/>
                </a:solidFill>
                <a:latin typeface="Hiragino Sans W3" pitchFamily="34" charset="0"/>
                <a:ea typeface="Hiragino Sans W3" pitchFamily="34" charset="-122"/>
                <a:cs typeface="Hiragino Sans W3" pitchFamily="34" charset="-120"/>
              </a:rPr>
              <a:t>✕ 弁理士との繋がりなし</a:t>
            </a:r>
            <a:endParaRPr lang="en-US" sz="1200" dirty="0"/>
          </a:p>
        </p:txBody>
      </p:sp>
      <p:sp>
        <p:nvSpPr>
          <p:cNvPr id="17" name="Text 15"/>
          <p:cNvSpPr/>
          <p:nvPr/>
        </p:nvSpPr>
        <p:spPr>
          <a:xfrm>
            <a:off x="822960" y="6035040"/>
            <a:ext cx="6126480" cy="548640"/>
          </a:xfrm>
          <a:prstGeom prst="rect">
            <a:avLst/>
          </a:prstGeom>
          <a:noFill/>
          <a:ln/>
        </p:spPr>
        <p:txBody>
          <a:bodyPr wrap="square" rtlCol="0" anchor="ctr"/>
          <a:lstStyle/>
          <a:p>
            <a:pPr indent="0" marL="0">
              <a:buNone/>
            </a:pPr>
            <a:r>
              <a:rPr lang="en-US" sz="1200" dirty="0">
                <a:solidFill>
                  <a:srgbClr val="7F8C8D"/>
                </a:solidFill>
                <a:latin typeface="Hiragino Sans W3" pitchFamily="34" charset="0"/>
                <a:ea typeface="Hiragino Sans W3" pitchFamily="34" charset="-122"/>
                <a:cs typeface="Hiragino Sans W3" pitchFamily="34" charset="-120"/>
              </a:rPr>
              <a:t>✕ 知財コストの見通しが不透明</a:t>
            </a:r>
            <a:endParaRPr lang="en-US" sz="1200" dirty="0"/>
          </a:p>
        </p:txBody>
      </p:sp>
      <p:sp>
        <p:nvSpPr>
          <p:cNvPr id="18" name="Shape 16"/>
          <p:cNvSpPr/>
          <p:nvPr/>
        </p:nvSpPr>
        <p:spPr>
          <a:xfrm>
            <a:off x="7498080" y="2057400"/>
            <a:ext cx="6583680" cy="5303520"/>
          </a:xfrm>
          <a:prstGeom prst="roundRect">
            <a:avLst>
              <a:gd name="adj" fmla="val 1379"/>
            </a:avLst>
          </a:prstGeom>
          <a:solidFill>
            <a:srgbClr val="FFFFFF"/>
          </a:solidFill>
          <a:ln w="12700">
            <a:solidFill>
              <a:srgbClr val="27AE60"/>
            </a:solidFill>
            <a:prstDash val="solid"/>
          </a:ln>
        </p:spPr>
      </p:sp>
      <p:sp>
        <p:nvSpPr>
          <p:cNvPr id="19" name="Shape 17"/>
          <p:cNvSpPr/>
          <p:nvPr/>
        </p:nvSpPr>
        <p:spPr>
          <a:xfrm>
            <a:off x="7498080" y="2057400"/>
            <a:ext cx="6583680" cy="502920"/>
          </a:xfrm>
          <a:prstGeom prst="rect">
            <a:avLst/>
          </a:prstGeom>
          <a:solidFill>
            <a:srgbClr val="27AE60"/>
          </a:solidFill>
          <a:ln/>
        </p:spPr>
      </p:sp>
      <p:sp>
        <p:nvSpPr>
          <p:cNvPr id="20" name="Text 18"/>
          <p:cNvSpPr/>
          <p:nvPr/>
        </p:nvSpPr>
        <p:spPr>
          <a:xfrm>
            <a:off x="7498080" y="2057400"/>
            <a:ext cx="6583680" cy="502920"/>
          </a:xfrm>
          <a:prstGeom prst="rect">
            <a:avLst/>
          </a:prstGeom>
          <a:noFill/>
          <a:ln/>
        </p:spPr>
        <p:txBody>
          <a:bodyPr wrap="square" rtlCol="0" anchor="ctr"/>
          <a:lstStyle/>
          <a:p>
            <a:pPr algn="ctr" indent="0" marL="0">
              <a:buNone/>
            </a:pPr>
            <a:r>
              <a:rPr lang="en-US" sz="1400" dirty="0">
                <a:solidFill>
                  <a:srgbClr val="FFFFFF"/>
                </a:solidFill>
                <a:latin typeface="Hiragino Sans W6" pitchFamily="34" charset="0"/>
                <a:ea typeface="Hiragino Sans W6" pitchFamily="34" charset="-122"/>
                <a:cs typeface="Hiragino Sans W6" pitchFamily="34" charset="-120"/>
              </a:rPr>
              <a:t>AFTER（支援終了時）</a:t>
            </a:r>
            <a:endParaRPr lang="en-US" sz="1400" dirty="0"/>
          </a:p>
        </p:txBody>
      </p:sp>
      <p:sp>
        <p:nvSpPr>
          <p:cNvPr id="21" name="Text 19"/>
          <p:cNvSpPr/>
          <p:nvPr/>
        </p:nvSpPr>
        <p:spPr>
          <a:xfrm>
            <a:off x="7772400" y="2743200"/>
            <a:ext cx="6126480" cy="548640"/>
          </a:xfrm>
          <a:prstGeom prst="rect">
            <a:avLst/>
          </a:prstGeom>
          <a:noFill/>
          <a:ln/>
        </p:spPr>
        <p:txBody>
          <a:bodyPr wrap="square" rtlCol="0" anchor="ctr"/>
          <a:lstStyle/>
          <a:p>
            <a:pPr indent="0" marL="0">
              <a:buNone/>
            </a:pPr>
            <a:r>
              <a:rPr lang="en-US" sz="1200" dirty="0">
                <a:solidFill>
                  <a:srgbClr val="2C3E50"/>
                </a:solidFill>
                <a:latin typeface="Hiragino Sans W6" pitchFamily="34" charset="0"/>
                <a:ea typeface="Hiragino Sans W6" pitchFamily="34" charset="-122"/>
                <a:cs typeface="Hiragino Sans W6" pitchFamily="34" charset="-120"/>
              </a:rPr>
              <a:t>✓ 特許3件出願完了（国内＋PCT準備）</a:t>
            </a:r>
            <a:endParaRPr lang="en-US" sz="1200" dirty="0"/>
          </a:p>
        </p:txBody>
      </p:sp>
      <p:sp>
        <p:nvSpPr>
          <p:cNvPr id="22" name="Text 20"/>
          <p:cNvSpPr/>
          <p:nvPr/>
        </p:nvSpPr>
        <p:spPr>
          <a:xfrm>
            <a:off x="7772400" y="3401568"/>
            <a:ext cx="6126480" cy="548640"/>
          </a:xfrm>
          <a:prstGeom prst="rect">
            <a:avLst/>
          </a:prstGeom>
          <a:noFill/>
          <a:ln/>
        </p:spPr>
        <p:txBody>
          <a:bodyPr wrap="square" rtlCol="0" anchor="ctr"/>
          <a:lstStyle/>
          <a:p>
            <a:pPr indent="0" marL="0">
              <a:buNone/>
            </a:pPr>
            <a:r>
              <a:rPr lang="en-US" sz="1200" dirty="0">
                <a:solidFill>
                  <a:srgbClr val="2C3E50"/>
                </a:solidFill>
                <a:latin typeface="Hiragino Sans W6" pitchFamily="34" charset="0"/>
                <a:ea typeface="Hiragino Sans W6" pitchFamily="34" charset="-122"/>
                <a:cs typeface="Hiragino Sans W6" pitchFamily="34" charset="-120"/>
              </a:rPr>
              <a:t>✓ クレーム範囲を専門家と最適化済み</a:t>
            </a:r>
            <a:endParaRPr lang="en-US" sz="1200" dirty="0"/>
          </a:p>
        </p:txBody>
      </p:sp>
      <p:sp>
        <p:nvSpPr>
          <p:cNvPr id="23" name="Text 21"/>
          <p:cNvSpPr/>
          <p:nvPr/>
        </p:nvSpPr>
        <p:spPr>
          <a:xfrm>
            <a:off x="7772400" y="4059936"/>
            <a:ext cx="6126480" cy="548640"/>
          </a:xfrm>
          <a:prstGeom prst="rect">
            <a:avLst/>
          </a:prstGeom>
          <a:noFill/>
          <a:ln/>
        </p:spPr>
        <p:txBody>
          <a:bodyPr wrap="square" rtlCol="0" anchor="ctr"/>
          <a:lstStyle/>
          <a:p>
            <a:pPr indent="0" marL="0">
              <a:buNone/>
            </a:pPr>
            <a:r>
              <a:rPr lang="en-US" sz="1200" dirty="0">
                <a:solidFill>
                  <a:srgbClr val="2C3E50"/>
                </a:solidFill>
                <a:latin typeface="Hiragino Sans W6" pitchFamily="34" charset="0"/>
                <a:ea typeface="Hiragino Sans W6" pitchFamily="34" charset="-122"/>
                <a:cs typeface="Hiragino Sans W6" pitchFamily="34" charset="-120"/>
              </a:rPr>
              <a:t>✓ 営業秘密管理規程を策定・運用中</a:t>
            </a:r>
            <a:endParaRPr lang="en-US" sz="1200" dirty="0"/>
          </a:p>
        </p:txBody>
      </p:sp>
      <p:sp>
        <p:nvSpPr>
          <p:cNvPr id="24" name="Text 22"/>
          <p:cNvSpPr/>
          <p:nvPr/>
        </p:nvSpPr>
        <p:spPr>
          <a:xfrm>
            <a:off x="7772400" y="4718304"/>
            <a:ext cx="6126480" cy="548640"/>
          </a:xfrm>
          <a:prstGeom prst="rect">
            <a:avLst/>
          </a:prstGeom>
          <a:noFill/>
          <a:ln/>
        </p:spPr>
        <p:txBody>
          <a:bodyPr wrap="square" rtlCol="0" anchor="ctr"/>
          <a:lstStyle/>
          <a:p>
            <a:pPr indent="0" marL="0">
              <a:buNone/>
            </a:pPr>
            <a:r>
              <a:rPr lang="en-US" sz="1200" dirty="0">
                <a:solidFill>
                  <a:srgbClr val="2C3E50"/>
                </a:solidFill>
                <a:latin typeface="Hiragino Sans W6" pitchFamily="34" charset="0"/>
                <a:ea typeface="Hiragino Sans W6" pitchFamily="34" charset="-122"/>
                <a:cs typeface="Hiragino Sans W6" pitchFamily="34" charset="-120"/>
              </a:rPr>
              <a:t>✓ PCT出願・中国実用新案の計画確定</a:t>
            </a:r>
            <a:endParaRPr lang="en-US" sz="1200" dirty="0"/>
          </a:p>
        </p:txBody>
      </p:sp>
      <p:sp>
        <p:nvSpPr>
          <p:cNvPr id="25" name="Text 23"/>
          <p:cNvSpPr/>
          <p:nvPr/>
        </p:nvSpPr>
        <p:spPr>
          <a:xfrm>
            <a:off x="7772400" y="5376672"/>
            <a:ext cx="6126480" cy="548640"/>
          </a:xfrm>
          <a:prstGeom prst="rect">
            <a:avLst/>
          </a:prstGeom>
          <a:noFill/>
          <a:ln/>
        </p:spPr>
        <p:txBody>
          <a:bodyPr wrap="square" rtlCol="0" anchor="ctr"/>
          <a:lstStyle/>
          <a:p>
            <a:pPr indent="0" marL="0">
              <a:buNone/>
            </a:pPr>
            <a:r>
              <a:rPr lang="en-US" sz="1200" dirty="0">
                <a:solidFill>
                  <a:srgbClr val="2C3E50"/>
                </a:solidFill>
                <a:latin typeface="Hiragino Sans W6" pitchFamily="34" charset="0"/>
                <a:ea typeface="Hiragino Sans W6" pitchFamily="34" charset="-122"/>
                <a:cs typeface="Hiragino Sans W6" pitchFamily="34" charset="-120"/>
              </a:rPr>
              <a:t>✓ 継続的に相談できる弁理士事務所と契約</a:t>
            </a:r>
            <a:endParaRPr lang="en-US" sz="1200" dirty="0"/>
          </a:p>
        </p:txBody>
      </p:sp>
      <p:sp>
        <p:nvSpPr>
          <p:cNvPr id="26" name="Text 24"/>
          <p:cNvSpPr/>
          <p:nvPr/>
        </p:nvSpPr>
        <p:spPr>
          <a:xfrm>
            <a:off x="7772400" y="6035040"/>
            <a:ext cx="6126480" cy="548640"/>
          </a:xfrm>
          <a:prstGeom prst="rect">
            <a:avLst/>
          </a:prstGeom>
          <a:noFill/>
          <a:ln/>
        </p:spPr>
        <p:txBody>
          <a:bodyPr wrap="square" rtlCol="0" anchor="ctr"/>
          <a:lstStyle/>
          <a:p>
            <a:pPr indent="0" marL="0">
              <a:buNone/>
            </a:pPr>
            <a:r>
              <a:rPr lang="en-US" sz="1200" dirty="0">
                <a:solidFill>
                  <a:srgbClr val="2C3E50"/>
                </a:solidFill>
                <a:latin typeface="Hiragino Sans W6" pitchFamily="34" charset="0"/>
                <a:ea typeface="Hiragino Sans W6" pitchFamily="34" charset="-122"/>
                <a:cs typeface="Hiragino Sans W6" pitchFamily="34" charset="-120"/>
              </a:rPr>
              <a:t>✓ 助成金活用で知財コスト50%削減を実現</a:t>
            </a:r>
            <a:endParaRPr lang="en-US" sz="1200" dirty="0"/>
          </a:p>
        </p:txBody>
      </p:sp>
      <p:sp>
        <p:nvSpPr>
          <p:cNvPr id="27" name="Text 25"/>
          <p:cNvSpPr/>
          <p:nvPr/>
        </p:nvSpPr>
        <p:spPr>
          <a:xfrm>
            <a:off x="13258800" y="7818120"/>
            <a:ext cx="914400" cy="274320"/>
          </a:xfrm>
          <a:prstGeom prst="rect">
            <a:avLst/>
          </a:prstGeom>
          <a:noFill/>
          <a:ln/>
        </p:spPr>
        <p:txBody>
          <a:bodyPr wrap="square" rtlCol="0" anchor="ctr"/>
          <a:lstStyle/>
          <a:p>
            <a:pPr algn="r" indent="0" marL="0">
              <a:buNone/>
            </a:pPr>
            <a:r>
              <a:rPr lang="en-US" sz="800" dirty="0">
                <a:solidFill>
                  <a:srgbClr val="7F8C8D"/>
                </a:solidFill>
                <a:latin typeface="Hiragino Sans W3" pitchFamily="34" charset="0"/>
                <a:ea typeface="Hiragino Sans W3" pitchFamily="34" charset="-122"/>
                <a:cs typeface="Hiragino Sans W3" pitchFamily="34" charset="-120"/>
              </a:rPr>
              <a:t>14 / 15</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4630400" cy="1417320"/>
          </a:xfrm>
          <a:prstGeom prst="rect">
            <a:avLst/>
          </a:prstGeom>
          <a:solidFill>
            <a:srgbClr val="1A1A2E"/>
          </a:solidFill>
          <a:ln/>
        </p:spPr>
      </p:sp>
      <p:sp>
        <p:nvSpPr>
          <p:cNvPr id="3" name="Text 1"/>
          <p:cNvSpPr/>
          <p:nvPr/>
        </p:nvSpPr>
        <p:spPr>
          <a:xfrm>
            <a:off x="548640" y="182880"/>
            <a:ext cx="13533120" cy="594360"/>
          </a:xfrm>
          <a:prstGeom prst="rect">
            <a:avLst/>
          </a:prstGeom>
          <a:noFill/>
          <a:ln/>
        </p:spPr>
        <p:txBody>
          <a:bodyPr wrap="square" rtlCol="0" anchor="ctr"/>
          <a:lstStyle/>
          <a:p>
            <a:pPr indent="0" marL="0">
              <a:buNone/>
            </a:pPr>
            <a:r>
              <a:rPr lang="en-US" sz="2600" b="1" dirty="0">
                <a:solidFill>
                  <a:srgbClr val="FFFFFF"/>
                </a:solidFill>
                <a:latin typeface="Hiragino Sans W6" pitchFamily="34" charset="0"/>
                <a:ea typeface="Hiragino Sans W6" pitchFamily="34" charset="-122"/>
                <a:cs typeface="Hiragino Sans W6" pitchFamily="34" charset="-120"/>
              </a:rPr>
              <a:t>ハンズオン支援終了時の目標像</a:t>
            </a:r>
            <a:endParaRPr lang="en-US" sz="2600" dirty="0"/>
          </a:p>
        </p:txBody>
      </p:sp>
      <p:sp>
        <p:nvSpPr>
          <p:cNvPr id="4" name="Text 2"/>
          <p:cNvSpPr/>
          <p:nvPr/>
        </p:nvSpPr>
        <p:spPr>
          <a:xfrm>
            <a:off x="548640" y="822960"/>
            <a:ext cx="13533120" cy="411480"/>
          </a:xfrm>
          <a:prstGeom prst="rect">
            <a:avLst/>
          </a:prstGeom>
          <a:noFill/>
          <a:ln/>
        </p:spPr>
        <p:txBody>
          <a:bodyPr wrap="square" rtlCol="0" anchor="ctr"/>
          <a:lstStyle/>
          <a:p>
            <a:pPr indent="0" marL="0">
              <a:buNone/>
            </a:pPr>
            <a:r>
              <a:rPr lang="en-US" sz="1300" dirty="0">
                <a:solidFill>
                  <a:srgbClr val="B0BEC5"/>
                </a:solidFill>
                <a:latin typeface="Hiragino Sans W3" pitchFamily="34" charset="0"/>
                <a:ea typeface="Hiragino Sans W3" pitchFamily="34" charset="-122"/>
                <a:cs typeface="Hiragino Sans W3" pitchFamily="34" charset="-120"/>
              </a:rPr>
              <a:t>3年間の支援で達成する、知財面・事業面の具体的ゴール</a:t>
            </a:r>
            <a:endParaRPr lang="en-US" sz="1300" dirty="0"/>
          </a:p>
        </p:txBody>
      </p:sp>
      <p:sp>
        <p:nvSpPr>
          <p:cNvPr id="5" name="Shape 3"/>
          <p:cNvSpPr/>
          <p:nvPr/>
        </p:nvSpPr>
        <p:spPr>
          <a:xfrm>
            <a:off x="548640" y="1508760"/>
            <a:ext cx="13533120" cy="347472"/>
          </a:xfrm>
          <a:prstGeom prst="roundRect">
            <a:avLst>
              <a:gd name="adj" fmla="val 7895"/>
            </a:avLst>
          </a:prstGeom>
          <a:solidFill>
            <a:srgbClr val="4A90D9"/>
          </a:solidFill>
          <a:ln/>
        </p:spPr>
      </p:sp>
      <p:sp>
        <p:nvSpPr>
          <p:cNvPr id="6" name="Text 4"/>
          <p:cNvSpPr/>
          <p:nvPr/>
        </p:nvSpPr>
        <p:spPr>
          <a:xfrm>
            <a:off x="731520" y="1508760"/>
            <a:ext cx="13167360" cy="347472"/>
          </a:xfrm>
          <a:prstGeom prst="rect">
            <a:avLst/>
          </a:prstGeom>
          <a:noFill/>
          <a:ln/>
        </p:spPr>
        <p:txBody>
          <a:bodyPr wrap="square" rtlCol="0" anchor="ctr"/>
          <a:lstStyle/>
          <a:p>
            <a:pPr indent="0" marL="0">
              <a:buNone/>
            </a:pPr>
            <a:r>
              <a:rPr lang="en-US" sz="1100" dirty="0">
                <a:solidFill>
                  <a:srgbClr val="FFFFFF"/>
                </a:solidFill>
                <a:latin typeface="Hiragino Sans W6" pitchFamily="34" charset="0"/>
                <a:ea typeface="Hiragino Sans W6" pitchFamily="34" charset="-122"/>
                <a:cs typeface="Hiragino Sans W6" pitchFamily="34" charset="-120"/>
              </a:rPr>
              <a:t>補足：申請書「11. ハンズオン支援が必要な理由」— 支援終了時の目標</a:t>
            </a:r>
            <a:endParaRPr lang="en-US" sz="1100" dirty="0"/>
          </a:p>
        </p:txBody>
      </p:sp>
      <p:sp>
        <p:nvSpPr>
          <p:cNvPr id="7" name="Shape 5"/>
          <p:cNvSpPr/>
          <p:nvPr/>
        </p:nvSpPr>
        <p:spPr>
          <a:xfrm>
            <a:off x="12618720" y="1527048"/>
            <a:ext cx="1645920" cy="292608"/>
          </a:xfrm>
          <a:prstGeom prst="roundRect">
            <a:avLst>
              <a:gd name="adj" fmla="val 12500"/>
            </a:avLst>
          </a:prstGeom>
          <a:solidFill>
            <a:srgbClr val="FEF5E7"/>
          </a:solidFill>
          <a:ln w="10160">
            <a:solidFill>
              <a:srgbClr val="D35400"/>
            </a:solidFill>
            <a:prstDash val="solid"/>
          </a:ln>
        </p:spPr>
      </p:sp>
      <p:sp>
        <p:nvSpPr>
          <p:cNvPr id="8" name="Text 6"/>
          <p:cNvSpPr/>
          <p:nvPr/>
        </p:nvSpPr>
        <p:spPr>
          <a:xfrm>
            <a:off x="12618720" y="1527048"/>
            <a:ext cx="1645920" cy="292608"/>
          </a:xfrm>
          <a:prstGeom prst="rect">
            <a:avLst/>
          </a:prstGeom>
          <a:noFill/>
          <a:ln/>
        </p:spPr>
        <p:txBody>
          <a:bodyPr wrap="square" rtlCol="0" anchor="ctr"/>
          <a:lstStyle/>
          <a:p>
            <a:pPr algn="ctr" indent="0" marL="0">
              <a:buNone/>
            </a:pPr>
            <a:r>
              <a:rPr lang="en-US" sz="900" dirty="0">
                <a:solidFill>
                  <a:srgbClr val="D35400"/>
                </a:solidFill>
                <a:latin typeface="Hiragino Sans W6" pitchFamily="34" charset="0"/>
                <a:ea typeface="Hiragino Sans W6" pitchFamily="34" charset="-122"/>
                <a:cs typeface="Hiragino Sans W6" pitchFamily="34" charset="-120"/>
              </a:rPr>
              <a:t>審査軸：妥当性</a:t>
            </a:r>
            <a:endParaRPr lang="en-US" sz="900" dirty="0"/>
          </a:p>
        </p:txBody>
      </p:sp>
      <p:sp>
        <p:nvSpPr>
          <p:cNvPr id="9" name="Shape 7"/>
          <p:cNvSpPr/>
          <p:nvPr/>
        </p:nvSpPr>
        <p:spPr>
          <a:xfrm>
            <a:off x="548640" y="2103120"/>
            <a:ext cx="13533120" cy="914400"/>
          </a:xfrm>
          <a:prstGeom prst="roundRect">
            <a:avLst>
              <a:gd name="adj" fmla="val 6000"/>
            </a:avLst>
          </a:prstGeom>
          <a:solidFill>
            <a:srgbClr val="FFFFFF"/>
          </a:solidFill>
          <a:ln w="12700">
            <a:solidFill>
              <a:srgbClr val="DCE1E8"/>
            </a:solidFill>
            <a:prstDash val="solid"/>
          </a:ln>
        </p:spPr>
      </p:sp>
      <p:sp>
        <p:nvSpPr>
          <p:cNvPr id="10" name="Text 8"/>
          <p:cNvSpPr/>
          <p:nvPr/>
        </p:nvSpPr>
        <p:spPr>
          <a:xfrm>
            <a:off x="731520" y="2103120"/>
            <a:ext cx="731520" cy="914400"/>
          </a:xfrm>
          <a:prstGeom prst="rect">
            <a:avLst/>
          </a:prstGeom>
          <a:noFill/>
          <a:ln/>
        </p:spPr>
        <p:txBody>
          <a:bodyPr wrap="square" rtlCol="0" anchor="ctr"/>
          <a:lstStyle/>
          <a:p>
            <a:pPr algn="ctr" indent="0" marL="0">
              <a:buNone/>
            </a:pPr>
            <a:r>
              <a:rPr lang="en-US" sz="2200" dirty="0">
                <a:solidFill>
                  <a:srgbClr val="4A90D9"/>
                </a:solidFill>
                <a:latin typeface="Hiragino Sans W6" pitchFamily="34" charset="0"/>
                <a:ea typeface="Hiragino Sans W6" pitchFamily="34" charset="-122"/>
                <a:cs typeface="Hiragino Sans W6" pitchFamily="34" charset="-120"/>
              </a:rPr>
              <a:t>01</a:t>
            </a:r>
            <a:endParaRPr lang="en-US" sz="2200" dirty="0"/>
          </a:p>
        </p:txBody>
      </p:sp>
      <p:sp>
        <p:nvSpPr>
          <p:cNvPr id="11" name="Shape 9"/>
          <p:cNvSpPr/>
          <p:nvPr/>
        </p:nvSpPr>
        <p:spPr>
          <a:xfrm>
            <a:off x="1554480" y="2240280"/>
            <a:ext cx="27432" cy="640080"/>
          </a:xfrm>
          <a:prstGeom prst="rect">
            <a:avLst/>
          </a:prstGeom>
          <a:solidFill>
            <a:srgbClr val="DCE1E8"/>
          </a:solidFill>
          <a:ln/>
        </p:spPr>
      </p:sp>
      <p:sp>
        <p:nvSpPr>
          <p:cNvPr id="12" name="Text 10"/>
          <p:cNvSpPr/>
          <p:nvPr/>
        </p:nvSpPr>
        <p:spPr>
          <a:xfrm>
            <a:off x="1783080" y="2103120"/>
            <a:ext cx="4114800" cy="914400"/>
          </a:xfrm>
          <a:prstGeom prst="rect">
            <a:avLst/>
          </a:prstGeom>
          <a:noFill/>
          <a:ln/>
        </p:spPr>
        <p:txBody>
          <a:bodyPr wrap="square" rtlCol="0" anchor="ctr"/>
          <a:lstStyle/>
          <a:p>
            <a:pPr indent="0" marL="0">
              <a:buNone/>
            </a:pPr>
            <a:r>
              <a:rPr lang="en-US" sz="1400" dirty="0">
                <a:solidFill>
                  <a:srgbClr val="2C3E50"/>
                </a:solidFill>
                <a:latin typeface="Hiragino Sans W6" pitchFamily="34" charset="0"/>
                <a:ea typeface="Hiragino Sans W6" pitchFamily="34" charset="-122"/>
                <a:cs typeface="Hiragino Sans W6" pitchFamily="34" charset="-120"/>
              </a:rPr>
              <a:t>知財ポートフォリオの確立</a:t>
            </a:r>
            <a:endParaRPr lang="en-US" sz="1400" dirty="0"/>
          </a:p>
        </p:txBody>
      </p:sp>
      <p:sp>
        <p:nvSpPr>
          <p:cNvPr id="13" name="Text 11"/>
          <p:cNvSpPr/>
          <p:nvPr/>
        </p:nvSpPr>
        <p:spPr>
          <a:xfrm>
            <a:off x="5943600" y="2103120"/>
            <a:ext cx="7863840" cy="914400"/>
          </a:xfrm>
          <a:prstGeom prst="rect">
            <a:avLst/>
          </a:prstGeom>
          <a:noFill/>
          <a:ln/>
        </p:spPr>
        <p:txBody>
          <a:bodyPr wrap="square" rtlCol="0" anchor="ctr"/>
          <a:lstStyle/>
          <a:p>
            <a:pPr indent="0" marL="0">
              <a:lnSpc>
                <a:spcPct val="130000"/>
              </a:lnSpc>
              <a:buNone/>
            </a:pPr>
            <a:r>
              <a:rPr lang="en-US" sz="1100" dirty="0">
                <a:solidFill>
                  <a:srgbClr val="2C3E50"/>
                </a:solidFill>
                <a:latin typeface="Hiragino Sans W3" pitchFamily="34" charset="0"/>
                <a:ea typeface="Hiragino Sans W3" pitchFamily="34" charset="-122"/>
                <a:cs typeface="Hiragino Sans W3" pitchFamily="34" charset="-120"/>
              </a:rPr>
              <a:t>特許3件・意匠3件・商標4件の出願完了。AI虐待予防の特許を中核に、攻めと守りの知財網を構築。</a:t>
            </a:r>
            <a:endParaRPr lang="en-US" sz="1100" dirty="0"/>
          </a:p>
        </p:txBody>
      </p:sp>
      <p:sp>
        <p:nvSpPr>
          <p:cNvPr id="14" name="Shape 12"/>
          <p:cNvSpPr/>
          <p:nvPr/>
        </p:nvSpPr>
        <p:spPr>
          <a:xfrm>
            <a:off x="548640" y="3200400"/>
            <a:ext cx="13533120" cy="914400"/>
          </a:xfrm>
          <a:prstGeom prst="roundRect">
            <a:avLst>
              <a:gd name="adj" fmla="val 6000"/>
            </a:avLst>
          </a:prstGeom>
          <a:solidFill>
            <a:srgbClr val="FFFFFF"/>
          </a:solidFill>
          <a:ln w="12700">
            <a:solidFill>
              <a:srgbClr val="DCE1E8"/>
            </a:solidFill>
            <a:prstDash val="solid"/>
          </a:ln>
        </p:spPr>
      </p:sp>
      <p:sp>
        <p:nvSpPr>
          <p:cNvPr id="15" name="Text 13"/>
          <p:cNvSpPr/>
          <p:nvPr/>
        </p:nvSpPr>
        <p:spPr>
          <a:xfrm>
            <a:off x="731520" y="3200400"/>
            <a:ext cx="731520" cy="914400"/>
          </a:xfrm>
          <a:prstGeom prst="rect">
            <a:avLst/>
          </a:prstGeom>
          <a:noFill/>
          <a:ln/>
        </p:spPr>
        <p:txBody>
          <a:bodyPr wrap="square" rtlCol="0" anchor="ctr"/>
          <a:lstStyle/>
          <a:p>
            <a:pPr algn="ctr" indent="0" marL="0">
              <a:buNone/>
            </a:pPr>
            <a:r>
              <a:rPr lang="en-US" sz="2200" dirty="0">
                <a:solidFill>
                  <a:srgbClr val="4A90D9"/>
                </a:solidFill>
                <a:latin typeface="Hiragino Sans W6" pitchFamily="34" charset="0"/>
                <a:ea typeface="Hiragino Sans W6" pitchFamily="34" charset="-122"/>
                <a:cs typeface="Hiragino Sans W6" pitchFamily="34" charset="-120"/>
              </a:rPr>
              <a:t>02</a:t>
            </a:r>
            <a:endParaRPr lang="en-US" sz="2200" dirty="0"/>
          </a:p>
        </p:txBody>
      </p:sp>
      <p:sp>
        <p:nvSpPr>
          <p:cNvPr id="16" name="Shape 14"/>
          <p:cNvSpPr/>
          <p:nvPr/>
        </p:nvSpPr>
        <p:spPr>
          <a:xfrm>
            <a:off x="1554480" y="3337560"/>
            <a:ext cx="27432" cy="640080"/>
          </a:xfrm>
          <a:prstGeom prst="rect">
            <a:avLst/>
          </a:prstGeom>
          <a:solidFill>
            <a:srgbClr val="DCE1E8"/>
          </a:solidFill>
          <a:ln/>
        </p:spPr>
      </p:sp>
      <p:sp>
        <p:nvSpPr>
          <p:cNvPr id="17" name="Text 15"/>
          <p:cNvSpPr/>
          <p:nvPr/>
        </p:nvSpPr>
        <p:spPr>
          <a:xfrm>
            <a:off x="1783080" y="3200400"/>
            <a:ext cx="4114800" cy="914400"/>
          </a:xfrm>
          <a:prstGeom prst="rect">
            <a:avLst/>
          </a:prstGeom>
          <a:noFill/>
          <a:ln/>
        </p:spPr>
        <p:txBody>
          <a:bodyPr wrap="square" rtlCol="0" anchor="ctr"/>
          <a:lstStyle/>
          <a:p>
            <a:pPr indent="0" marL="0">
              <a:buNone/>
            </a:pPr>
            <a:r>
              <a:rPr lang="en-US" sz="1400" dirty="0">
                <a:solidFill>
                  <a:srgbClr val="2C3E50"/>
                </a:solidFill>
                <a:latin typeface="Hiragino Sans W6" pitchFamily="34" charset="0"/>
                <a:ea typeface="Hiragino Sans W6" pitchFamily="34" charset="-122"/>
                <a:cs typeface="Hiragino Sans W6" pitchFamily="34" charset="-120"/>
              </a:rPr>
              <a:t>海外展開に対応した権利基盤</a:t>
            </a:r>
            <a:endParaRPr lang="en-US" sz="1400" dirty="0"/>
          </a:p>
        </p:txBody>
      </p:sp>
      <p:sp>
        <p:nvSpPr>
          <p:cNvPr id="18" name="Text 16"/>
          <p:cNvSpPr/>
          <p:nvPr/>
        </p:nvSpPr>
        <p:spPr>
          <a:xfrm>
            <a:off x="5943600" y="3200400"/>
            <a:ext cx="7863840" cy="914400"/>
          </a:xfrm>
          <a:prstGeom prst="rect">
            <a:avLst/>
          </a:prstGeom>
          <a:noFill/>
          <a:ln/>
        </p:spPr>
        <p:txBody>
          <a:bodyPr wrap="square" rtlCol="0" anchor="ctr"/>
          <a:lstStyle/>
          <a:p>
            <a:pPr indent="0" marL="0">
              <a:lnSpc>
                <a:spcPct val="130000"/>
              </a:lnSpc>
              <a:buNone/>
            </a:pPr>
            <a:r>
              <a:rPr lang="en-US" sz="1100" dirty="0">
                <a:solidFill>
                  <a:srgbClr val="2C3E50"/>
                </a:solidFill>
                <a:latin typeface="Hiragino Sans W3" pitchFamily="34" charset="0"/>
                <a:ea typeface="Hiragino Sans W3" pitchFamily="34" charset="-122"/>
                <a:cs typeface="Hiragino Sans W3" pitchFamily="34" charset="-120"/>
              </a:rPr>
              <a:t>PCT出願により中国・ASEAN での権利確保の道筋を確定。国内1,000ID達成後の海外展開を知財面で支える。</a:t>
            </a:r>
            <a:endParaRPr lang="en-US" sz="1100" dirty="0"/>
          </a:p>
        </p:txBody>
      </p:sp>
      <p:sp>
        <p:nvSpPr>
          <p:cNvPr id="19" name="Shape 17"/>
          <p:cNvSpPr/>
          <p:nvPr/>
        </p:nvSpPr>
        <p:spPr>
          <a:xfrm>
            <a:off x="548640" y="4297680"/>
            <a:ext cx="13533120" cy="914400"/>
          </a:xfrm>
          <a:prstGeom prst="roundRect">
            <a:avLst>
              <a:gd name="adj" fmla="val 6000"/>
            </a:avLst>
          </a:prstGeom>
          <a:solidFill>
            <a:srgbClr val="FFFFFF"/>
          </a:solidFill>
          <a:ln w="12700">
            <a:solidFill>
              <a:srgbClr val="DCE1E8"/>
            </a:solidFill>
            <a:prstDash val="solid"/>
          </a:ln>
        </p:spPr>
      </p:sp>
      <p:sp>
        <p:nvSpPr>
          <p:cNvPr id="20" name="Text 18"/>
          <p:cNvSpPr/>
          <p:nvPr/>
        </p:nvSpPr>
        <p:spPr>
          <a:xfrm>
            <a:off x="731520" y="4297680"/>
            <a:ext cx="731520" cy="914400"/>
          </a:xfrm>
          <a:prstGeom prst="rect">
            <a:avLst/>
          </a:prstGeom>
          <a:noFill/>
          <a:ln/>
        </p:spPr>
        <p:txBody>
          <a:bodyPr wrap="square" rtlCol="0" anchor="ctr"/>
          <a:lstStyle/>
          <a:p>
            <a:pPr algn="ctr" indent="0" marL="0">
              <a:buNone/>
            </a:pPr>
            <a:r>
              <a:rPr lang="en-US" sz="2200" dirty="0">
                <a:solidFill>
                  <a:srgbClr val="4A90D9"/>
                </a:solidFill>
                <a:latin typeface="Hiragino Sans W6" pitchFamily="34" charset="0"/>
                <a:ea typeface="Hiragino Sans W6" pitchFamily="34" charset="-122"/>
                <a:cs typeface="Hiragino Sans W6" pitchFamily="34" charset="-120"/>
              </a:rPr>
              <a:t>03</a:t>
            </a:r>
            <a:endParaRPr lang="en-US" sz="2200" dirty="0"/>
          </a:p>
        </p:txBody>
      </p:sp>
      <p:sp>
        <p:nvSpPr>
          <p:cNvPr id="21" name="Shape 19"/>
          <p:cNvSpPr/>
          <p:nvPr/>
        </p:nvSpPr>
        <p:spPr>
          <a:xfrm>
            <a:off x="1554480" y="4434840"/>
            <a:ext cx="27432" cy="640080"/>
          </a:xfrm>
          <a:prstGeom prst="rect">
            <a:avLst/>
          </a:prstGeom>
          <a:solidFill>
            <a:srgbClr val="DCE1E8"/>
          </a:solidFill>
          <a:ln/>
        </p:spPr>
      </p:sp>
      <p:sp>
        <p:nvSpPr>
          <p:cNvPr id="22" name="Text 20"/>
          <p:cNvSpPr/>
          <p:nvPr/>
        </p:nvSpPr>
        <p:spPr>
          <a:xfrm>
            <a:off x="1783080" y="4297680"/>
            <a:ext cx="4114800" cy="914400"/>
          </a:xfrm>
          <a:prstGeom prst="rect">
            <a:avLst/>
          </a:prstGeom>
          <a:noFill/>
          <a:ln/>
        </p:spPr>
        <p:txBody>
          <a:bodyPr wrap="square" rtlCol="0" anchor="ctr"/>
          <a:lstStyle/>
          <a:p>
            <a:pPr indent="0" marL="0">
              <a:buNone/>
            </a:pPr>
            <a:r>
              <a:rPr lang="en-US" sz="1400" dirty="0">
                <a:solidFill>
                  <a:srgbClr val="2C3E50"/>
                </a:solidFill>
                <a:latin typeface="Hiragino Sans W6" pitchFamily="34" charset="0"/>
                <a:ea typeface="Hiragino Sans W6" pitchFamily="34" charset="-122"/>
                <a:cs typeface="Hiragino Sans W6" pitchFamily="34" charset="-120"/>
              </a:rPr>
              <a:t>営業秘密の管理体系</a:t>
            </a:r>
            <a:endParaRPr lang="en-US" sz="1400" dirty="0"/>
          </a:p>
        </p:txBody>
      </p:sp>
      <p:sp>
        <p:nvSpPr>
          <p:cNvPr id="23" name="Text 21"/>
          <p:cNvSpPr/>
          <p:nvPr/>
        </p:nvSpPr>
        <p:spPr>
          <a:xfrm>
            <a:off x="5943600" y="4297680"/>
            <a:ext cx="7863840" cy="914400"/>
          </a:xfrm>
          <a:prstGeom prst="rect">
            <a:avLst/>
          </a:prstGeom>
          <a:noFill/>
          <a:ln/>
        </p:spPr>
        <p:txBody>
          <a:bodyPr wrap="square" rtlCol="0" anchor="ctr"/>
          <a:lstStyle/>
          <a:p>
            <a:pPr indent="0" marL="0">
              <a:lnSpc>
                <a:spcPct val="130000"/>
              </a:lnSpc>
              <a:buNone/>
            </a:pPr>
            <a:r>
              <a:rPr lang="en-US" sz="1100" dirty="0">
                <a:solidFill>
                  <a:srgbClr val="2C3E50"/>
                </a:solidFill>
                <a:latin typeface="Hiragino Sans W3" pitchFamily="34" charset="0"/>
                <a:ea typeface="Hiragino Sans W3" pitchFamily="34" charset="-122"/>
                <a:cs typeface="Hiragino Sans W3" pitchFamily="34" charset="-120"/>
              </a:rPr>
              <a:t>自立支援マトリックスの不正競争防止法に基づく管理体系を確立。社内規程・アクセス制御・秘密保持契約の三位一体。</a:t>
            </a:r>
            <a:endParaRPr lang="en-US" sz="1100" dirty="0"/>
          </a:p>
        </p:txBody>
      </p:sp>
      <p:sp>
        <p:nvSpPr>
          <p:cNvPr id="24" name="Shape 22"/>
          <p:cNvSpPr/>
          <p:nvPr/>
        </p:nvSpPr>
        <p:spPr>
          <a:xfrm>
            <a:off x="548640" y="5394960"/>
            <a:ext cx="13533120" cy="914400"/>
          </a:xfrm>
          <a:prstGeom prst="roundRect">
            <a:avLst>
              <a:gd name="adj" fmla="val 6000"/>
            </a:avLst>
          </a:prstGeom>
          <a:solidFill>
            <a:srgbClr val="FFFFFF"/>
          </a:solidFill>
          <a:ln w="12700">
            <a:solidFill>
              <a:srgbClr val="DCE1E8"/>
            </a:solidFill>
            <a:prstDash val="solid"/>
          </a:ln>
        </p:spPr>
      </p:sp>
      <p:sp>
        <p:nvSpPr>
          <p:cNvPr id="25" name="Text 23"/>
          <p:cNvSpPr/>
          <p:nvPr/>
        </p:nvSpPr>
        <p:spPr>
          <a:xfrm>
            <a:off x="731520" y="5394960"/>
            <a:ext cx="731520" cy="914400"/>
          </a:xfrm>
          <a:prstGeom prst="rect">
            <a:avLst/>
          </a:prstGeom>
          <a:noFill/>
          <a:ln/>
        </p:spPr>
        <p:txBody>
          <a:bodyPr wrap="square" rtlCol="0" anchor="ctr"/>
          <a:lstStyle/>
          <a:p>
            <a:pPr algn="ctr" indent="0" marL="0">
              <a:buNone/>
            </a:pPr>
            <a:r>
              <a:rPr lang="en-US" sz="2200" dirty="0">
                <a:solidFill>
                  <a:srgbClr val="4A90D9"/>
                </a:solidFill>
                <a:latin typeface="Hiragino Sans W6" pitchFamily="34" charset="0"/>
                <a:ea typeface="Hiragino Sans W6" pitchFamily="34" charset="-122"/>
                <a:cs typeface="Hiragino Sans W6" pitchFamily="34" charset="-120"/>
              </a:rPr>
              <a:t>04</a:t>
            </a:r>
            <a:endParaRPr lang="en-US" sz="2200" dirty="0"/>
          </a:p>
        </p:txBody>
      </p:sp>
      <p:sp>
        <p:nvSpPr>
          <p:cNvPr id="26" name="Shape 24"/>
          <p:cNvSpPr/>
          <p:nvPr/>
        </p:nvSpPr>
        <p:spPr>
          <a:xfrm>
            <a:off x="1554480" y="5532120"/>
            <a:ext cx="27432" cy="640080"/>
          </a:xfrm>
          <a:prstGeom prst="rect">
            <a:avLst/>
          </a:prstGeom>
          <a:solidFill>
            <a:srgbClr val="DCE1E8"/>
          </a:solidFill>
          <a:ln/>
        </p:spPr>
      </p:sp>
      <p:sp>
        <p:nvSpPr>
          <p:cNvPr id="27" name="Text 25"/>
          <p:cNvSpPr/>
          <p:nvPr/>
        </p:nvSpPr>
        <p:spPr>
          <a:xfrm>
            <a:off x="1783080" y="5394960"/>
            <a:ext cx="4114800" cy="914400"/>
          </a:xfrm>
          <a:prstGeom prst="rect">
            <a:avLst/>
          </a:prstGeom>
          <a:noFill/>
          <a:ln/>
        </p:spPr>
        <p:txBody>
          <a:bodyPr wrap="square" rtlCol="0" anchor="ctr"/>
          <a:lstStyle/>
          <a:p>
            <a:pPr indent="0" marL="0">
              <a:buNone/>
            </a:pPr>
            <a:r>
              <a:rPr lang="en-US" sz="1400" dirty="0">
                <a:solidFill>
                  <a:srgbClr val="2C3E50"/>
                </a:solidFill>
                <a:latin typeface="Hiragino Sans W6" pitchFamily="34" charset="0"/>
                <a:ea typeface="Hiragino Sans W6" pitchFamily="34" charset="-122"/>
                <a:cs typeface="Hiragino Sans W6" pitchFamily="34" charset="-120"/>
              </a:rPr>
              <a:t>自律的な知財経営能力</a:t>
            </a:r>
            <a:endParaRPr lang="en-US" sz="1400" dirty="0"/>
          </a:p>
        </p:txBody>
      </p:sp>
      <p:sp>
        <p:nvSpPr>
          <p:cNvPr id="28" name="Text 26"/>
          <p:cNvSpPr/>
          <p:nvPr/>
        </p:nvSpPr>
        <p:spPr>
          <a:xfrm>
            <a:off x="5943600" y="5394960"/>
            <a:ext cx="7863840" cy="914400"/>
          </a:xfrm>
          <a:prstGeom prst="rect">
            <a:avLst/>
          </a:prstGeom>
          <a:noFill/>
          <a:ln/>
        </p:spPr>
        <p:txBody>
          <a:bodyPr wrap="square" rtlCol="0" anchor="ctr"/>
          <a:lstStyle/>
          <a:p>
            <a:pPr indent="0" marL="0">
              <a:lnSpc>
                <a:spcPct val="130000"/>
              </a:lnSpc>
              <a:buNone/>
            </a:pPr>
            <a:r>
              <a:rPr lang="en-US" sz="1100" dirty="0">
                <a:solidFill>
                  <a:srgbClr val="2C3E50"/>
                </a:solidFill>
                <a:latin typeface="Hiragino Sans W3" pitchFamily="34" charset="0"/>
                <a:ea typeface="Hiragino Sans W3" pitchFamily="34" charset="-122"/>
                <a:cs typeface="Hiragino Sans W3" pitchFamily="34" charset="-120"/>
              </a:rPr>
              <a:t>支援終了後も自社で知財判断ができる体制。弁理士との継続的連携、社内の知財リテラシー向上。</a:t>
            </a:r>
            <a:endParaRPr lang="en-US" sz="1100" dirty="0"/>
          </a:p>
        </p:txBody>
      </p:sp>
      <p:sp>
        <p:nvSpPr>
          <p:cNvPr id="29" name="Shape 27"/>
          <p:cNvSpPr/>
          <p:nvPr/>
        </p:nvSpPr>
        <p:spPr>
          <a:xfrm>
            <a:off x="548640" y="6492240"/>
            <a:ext cx="13533120" cy="914400"/>
          </a:xfrm>
          <a:prstGeom prst="roundRect">
            <a:avLst>
              <a:gd name="adj" fmla="val 6000"/>
            </a:avLst>
          </a:prstGeom>
          <a:solidFill>
            <a:srgbClr val="FFFFFF"/>
          </a:solidFill>
          <a:ln w="12700">
            <a:solidFill>
              <a:srgbClr val="DCE1E8"/>
            </a:solidFill>
            <a:prstDash val="solid"/>
          </a:ln>
        </p:spPr>
      </p:sp>
      <p:sp>
        <p:nvSpPr>
          <p:cNvPr id="30" name="Text 28"/>
          <p:cNvSpPr/>
          <p:nvPr/>
        </p:nvSpPr>
        <p:spPr>
          <a:xfrm>
            <a:off x="731520" y="6492240"/>
            <a:ext cx="731520" cy="914400"/>
          </a:xfrm>
          <a:prstGeom prst="rect">
            <a:avLst/>
          </a:prstGeom>
          <a:noFill/>
          <a:ln/>
        </p:spPr>
        <p:txBody>
          <a:bodyPr wrap="square" rtlCol="0" anchor="ctr"/>
          <a:lstStyle/>
          <a:p>
            <a:pPr algn="ctr" indent="0" marL="0">
              <a:buNone/>
            </a:pPr>
            <a:r>
              <a:rPr lang="en-US" sz="2200" dirty="0">
                <a:solidFill>
                  <a:srgbClr val="4A90D9"/>
                </a:solidFill>
                <a:latin typeface="Hiragino Sans W6" pitchFamily="34" charset="0"/>
                <a:ea typeface="Hiragino Sans W6" pitchFamily="34" charset="-122"/>
                <a:cs typeface="Hiragino Sans W6" pitchFamily="34" charset="-120"/>
              </a:rPr>
              <a:t>05</a:t>
            </a:r>
            <a:endParaRPr lang="en-US" sz="2200" dirty="0"/>
          </a:p>
        </p:txBody>
      </p:sp>
      <p:sp>
        <p:nvSpPr>
          <p:cNvPr id="31" name="Shape 29"/>
          <p:cNvSpPr/>
          <p:nvPr/>
        </p:nvSpPr>
        <p:spPr>
          <a:xfrm>
            <a:off x="1554480" y="6629400"/>
            <a:ext cx="27432" cy="640080"/>
          </a:xfrm>
          <a:prstGeom prst="rect">
            <a:avLst/>
          </a:prstGeom>
          <a:solidFill>
            <a:srgbClr val="DCE1E8"/>
          </a:solidFill>
          <a:ln/>
        </p:spPr>
      </p:sp>
      <p:sp>
        <p:nvSpPr>
          <p:cNvPr id="32" name="Text 30"/>
          <p:cNvSpPr/>
          <p:nvPr/>
        </p:nvSpPr>
        <p:spPr>
          <a:xfrm>
            <a:off x="1783080" y="6492240"/>
            <a:ext cx="4114800" cy="914400"/>
          </a:xfrm>
          <a:prstGeom prst="rect">
            <a:avLst/>
          </a:prstGeom>
          <a:noFill/>
          <a:ln/>
        </p:spPr>
        <p:txBody>
          <a:bodyPr wrap="square" rtlCol="0" anchor="ctr"/>
          <a:lstStyle/>
          <a:p>
            <a:pPr indent="0" marL="0">
              <a:buNone/>
            </a:pPr>
            <a:r>
              <a:rPr lang="en-US" sz="1400" dirty="0">
                <a:solidFill>
                  <a:srgbClr val="2C3E50"/>
                </a:solidFill>
                <a:latin typeface="Hiragino Sans W6" pitchFamily="34" charset="0"/>
                <a:ea typeface="Hiragino Sans W6" pitchFamily="34" charset="-122"/>
                <a:cs typeface="Hiragino Sans W6" pitchFamily="34" charset="-120"/>
              </a:rPr>
              <a:t>助成金の効果的活用実績</a:t>
            </a:r>
            <a:endParaRPr lang="en-US" sz="1400" dirty="0"/>
          </a:p>
        </p:txBody>
      </p:sp>
      <p:sp>
        <p:nvSpPr>
          <p:cNvPr id="33" name="Text 31"/>
          <p:cNvSpPr/>
          <p:nvPr/>
        </p:nvSpPr>
        <p:spPr>
          <a:xfrm>
            <a:off x="5943600" y="6492240"/>
            <a:ext cx="7863840" cy="914400"/>
          </a:xfrm>
          <a:prstGeom prst="rect">
            <a:avLst/>
          </a:prstGeom>
          <a:noFill/>
          <a:ln/>
        </p:spPr>
        <p:txBody>
          <a:bodyPr wrap="square" rtlCol="0" anchor="ctr"/>
          <a:lstStyle/>
          <a:p>
            <a:pPr indent="0" marL="0">
              <a:lnSpc>
                <a:spcPct val="130000"/>
              </a:lnSpc>
              <a:buNone/>
            </a:pPr>
            <a:r>
              <a:rPr lang="en-US" sz="1100" dirty="0">
                <a:solidFill>
                  <a:srgbClr val="2C3E50"/>
                </a:solidFill>
                <a:latin typeface="Hiragino Sans W3" pitchFamily="34" charset="0"/>
                <a:ea typeface="Hiragino Sans W3" pitchFamily="34" charset="-122"/>
                <a:cs typeface="Hiragino Sans W3" pitchFamily="34" charset="-120"/>
              </a:rPr>
              <a:t>ハンズオン支援の実績を基に、助成金申請（知財活用製品化支援等）へ展開。知財投資のROIを最大化。</a:t>
            </a:r>
            <a:endParaRPr lang="en-US" sz="1100" dirty="0"/>
          </a:p>
        </p:txBody>
      </p:sp>
      <p:sp>
        <p:nvSpPr>
          <p:cNvPr id="34" name="Text 32"/>
          <p:cNvSpPr/>
          <p:nvPr/>
        </p:nvSpPr>
        <p:spPr>
          <a:xfrm>
            <a:off x="548640" y="7315200"/>
            <a:ext cx="13533120" cy="411480"/>
          </a:xfrm>
          <a:prstGeom prst="rect">
            <a:avLst/>
          </a:prstGeom>
          <a:noFill/>
          <a:ln/>
        </p:spPr>
        <p:txBody>
          <a:bodyPr wrap="square" rtlCol="0" anchor="ctr"/>
          <a:lstStyle/>
          <a:p>
            <a:pPr algn="ctr" indent="0" marL="0">
              <a:buNone/>
            </a:pPr>
            <a:r>
              <a:rPr lang="en-US" sz="1200" dirty="0">
                <a:solidFill>
                  <a:srgbClr val="4A90D9"/>
                </a:solidFill>
                <a:latin typeface="Hiragino Sans W6" pitchFamily="34" charset="0"/>
                <a:ea typeface="Hiragino Sans W6" pitchFamily="34" charset="-122"/>
                <a:cs typeface="Hiragino Sans W6" pitchFamily="34" charset="-120"/>
              </a:rPr>
              <a:t>本支援を通じて、福祉施設運営者が自ら知的財産を武器に事業を成長させるモデルケースとなることを目指します。</a:t>
            </a:r>
            <a:endParaRPr lang="en-US" sz="1200" dirty="0"/>
          </a:p>
        </p:txBody>
      </p:sp>
      <p:sp>
        <p:nvSpPr>
          <p:cNvPr id="35" name="Text 33"/>
          <p:cNvSpPr/>
          <p:nvPr/>
        </p:nvSpPr>
        <p:spPr>
          <a:xfrm>
            <a:off x="13258800" y="7818120"/>
            <a:ext cx="914400" cy="274320"/>
          </a:xfrm>
          <a:prstGeom prst="rect">
            <a:avLst/>
          </a:prstGeom>
          <a:noFill/>
          <a:ln/>
        </p:spPr>
        <p:txBody>
          <a:bodyPr wrap="square" rtlCol="0" anchor="ctr"/>
          <a:lstStyle/>
          <a:p>
            <a:pPr algn="r" indent="0" marL="0">
              <a:buNone/>
            </a:pPr>
            <a:r>
              <a:rPr lang="en-US" sz="800" dirty="0">
                <a:solidFill>
                  <a:srgbClr val="7F8C8D"/>
                </a:solidFill>
                <a:latin typeface="Hiragino Sans W3" pitchFamily="34" charset="0"/>
                <a:ea typeface="Hiragino Sans W3" pitchFamily="34" charset="-122"/>
                <a:cs typeface="Hiragino Sans W3" pitchFamily="34" charset="-120"/>
              </a:rPr>
              <a:t>15 / 15</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ハンズオン支援事業 補足説明資料</dc:subject>
  <dc:creator>株式会社サンライズ</dc:creator>
  <cp:lastModifiedBy>株式会社サンライズ</cp:lastModifiedBy>
  <cp:revision>1</cp:revision>
  <dcterms:created xsi:type="dcterms:W3CDTF">2026-03-26T12:02:13Z</dcterms:created>
  <dcterms:modified xsi:type="dcterms:W3CDTF">2026-03-26T12:02:13Z</dcterms:modified>
</cp:coreProperties>
</file>