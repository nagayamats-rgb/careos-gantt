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280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Universal Care OS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280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2D9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補助金・助成金 2トラック戦略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3840480"/>
            <a:ext cx="27432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11480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A: JV法人（CareOS株式会社）  Track B: 株式会社サンライズ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2026年3月24日  全制度精査完了版（採択率・スケジュール反映）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777240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2D9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Confidential — JV関係者限り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株式会社サンライズの実態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補助金戦略の前提となる法人情報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法人プロファイル（公開情報に基づく）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6583680" cy="274320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240280"/>
            <a:ext cx="73152" cy="2743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株式会社サンライズ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42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834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2019年8月14日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3182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42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代表取締役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1821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大野孝徳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35295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42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本店登記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5295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東京都多摩市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8770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42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事業所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877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横浜市青葉区しらとり台3-10（2施設）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4224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42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従業員数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224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約50名（求人情報より推定）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42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資本金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未公開（要確認）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2240280"/>
            <a:ext cx="6839712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0" y="2240280"/>
            <a:ext cx="73152" cy="2743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331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中小企業該当性の評価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0" y="2834640"/>
            <a:ext cx="6400800" cy="6400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中小企業（サービス業）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0" y="3127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資本金5,000万以下（確認済）/ 従業員約50名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161520" y="2926080"/>
            <a:ext cx="1645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121615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該当（確定）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3611880"/>
            <a:ext cx="6400800" cy="6400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小規模事業者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0" y="3904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サービス業: 従業員5人以下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161520" y="3703320"/>
            <a:ext cx="1645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16152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該当しない（約50名）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4389120"/>
            <a:ext cx="6400800" cy="64008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持続化補助金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80960" y="4681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障害福祉サービス給付費を受ける事業者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2161520" y="4480560"/>
            <a:ext cx="1645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12161520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対象外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" y="5212080"/>
            <a:ext cx="13679424" cy="237744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" y="5212080"/>
            <a:ext cx="73152" cy="237744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49240"/>
            <a:ext cx="457200" cy="4572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371600" y="5303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戦略上の重要ポイント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749808" y="5806440"/>
            <a:ext cx="13258800" cy="16459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 サンライズの本店登記は東京都多摩市。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→ Track Bでも東京都DX推進助成金に直接申請可能（JV設立を待たずに着手できる）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 サンライズの主たる収入は自立支援給付（公金）。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→ 一部の補助金（持続化補助金等）は公金事業者を対象外とする規定あり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JV法人（CareOS株式会社）はSaaS事業が本業であり、公金制約を受けない。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→ 中小企業庁系の主力補助金はJVから申請するのが安全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2トラック戦略 全体図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JV法人とサンライズの役割分担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A: JV法人（CareOS株式会社）        Track B: 株式会社サンライズ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6583680" cy="53035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240280"/>
            <a:ext cx="73152" cy="5303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33172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245242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A: JV法人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49808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CareOS株式会社（東京都に設立）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3337560"/>
            <a:ext cx="6217920" cy="56692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東京都創業助成事業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3337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400万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3375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2/3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60720" y="333756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採択15%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3995928"/>
            <a:ext cx="6217920" cy="56692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995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東京都DX推進助成金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83280" y="39959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最大3,000万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2040" y="399592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1/2〜3/4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60720" y="39959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採択30-50%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" y="4654296"/>
            <a:ext cx="6217920" cy="56692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6542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新事業進出・ものづくり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83280" y="46542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最大9,000万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46542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1/2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760720" y="46542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採択35-37%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" y="5312664"/>
            <a:ext cx="6217920" cy="56692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3126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SBIR（厚労省）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83280" y="53126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Phase1: 1,500万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2040" y="531266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定額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760720" y="53126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採択10-30%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58368" y="5971032"/>
            <a:ext cx="6217920" cy="56692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59710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Go-Tech事業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383280" y="59710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年4,500万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92040" y="59710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2/3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60720" y="597103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採択20-30%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8368" y="7223760"/>
            <a:ext cx="621792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8" name="Text 35"/>
          <p:cNvSpPr/>
          <p:nvPr/>
        </p:nvSpPr>
        <p:spPr>
          <a:xfrm>
            <a:off x="749808" y="7223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A 最大ポテンシャル: 約2.0億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315200" y="2240280"/>
            <a:ext cx="6839712" cy="53035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315200" y="2240280"/>
            <a:ext cx="73152" cy="5303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Shape 38"/>
          <p:cNvSpPr/>
          <p:nvPr/>
        </p:nvSpPr>
        <p:spPr>
          <a:xfrm>
            <a:off x="7498080" y="233172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1" y="2452421"/>
            <a:ext cx="307238" cy="30723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8211312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B: サンライズ</a:t>
            </a:r>
            <a:endParaRPr lang="en-US" sz="2000" dirty="0"/>
          </a:p>
        </p:txBody>
      </p:sp>
      <p:sp>
        <p:nvSpPr>
          <p:cNvPr id="44" name="Text 40"/>
          <p:cNvSpPr/>
          <p:nvPr/>
        </p:nvSpPr>
        <p:spPr>
          <a:xfrm>
            <a:off x="7589520" y="2880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株式会社サンライズ（本店: 東京都多摩市）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7498080" y="3337560"/>
            <a:ext cx="6473952" cy="68580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6" name="Text 42"/>
          <p:cNvSpPr/>
          <p:nvPr/>
        </p:nvSpPr>
        <p:spPr>
          <a:xfrm>
            <a:off x="758952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省力化投資補助金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1033272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採択67-69%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75895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最大1億 | 1/2〜2/3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1152144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採択率最高。即時着手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7498080" y="4160520"/>
            <a:ext cx="6473952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1" name="Text 47"/>
          <p:cNvSpPr/>
          <p:nvPr/>
        </p:nvSpPr>
        <p:spPr>
          <a:xfrm>
            <a:off x="75895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デジタル化・AI導入補助金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10332720" y="4160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採択40-55%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75895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最大450万 | 1/2〜4/5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11521440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3/30募集開始 1次5/12締切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7498080" y="4983480"/>
            <a:ext cx="6473952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6" name="Text 52"/>
          <p:cNvSpPr/>
          <p:nvPr/>
        </p:nvSpPr>
        <p:spPr>
          <a:xfrm>
            <a:off x="758952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障害福祉ICT導入支援</a:t>
            </a:r>
            <a:endParaRPr lang="en-US" sz="1300" dirty="0"/>
          </a:p>
        </p:txBody>
      </p:sp>
      <p:sp>
        <p:nvSpPr>
          <p:cNvPr id="57" name="Text 53"/>
          <p:cNvSpPr/>
          <p:nvPr/>
        </p:nvSpPr>
        <p:spPr>
          <a:xfrm>
            <a:off x="10332720" y="4983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採択50-80%</a:t>
            </a:r>
            <a:endParaRPr lang="en-US" sz="1100" dirty="0"/>
          </a:p>
        </p:txBody>
      </p:sp>
      <p:sp>
        <p:nvSpPr>
          <p:cNvPr id="58" name="Text 54"/>
          <p:cNvSpPr/>
          <p:nvPr/>
        </p:nvSpPr>
        <p:spPr>
          <a:xfrm>
            <a:off x="758952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数百万〜1,000万 | 補助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11521440" y="5029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神奈川県窓口 予算消化型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7498080" y="5806440"/>
            <a:ext cx="6473952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1" name="Text 57"/>
          <p:cNvSpPr/>
          <p:nvPr/>
        </p:nvSpPr>
        <p:spPr>
          <a:xfrm>
            <a:off x="758952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東京都DX推進助成金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10332720" y="5806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採択30-50%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7589520" y="6126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最大3,000万 | 1/2〜3/4</a:t>
            </a:r>
            <a:endParaRPr lang="en-US" sz="1100" dirty="0"/>
          </a:p>
        </p:txBody>
      </p:sp>
      <p:sp>
        <p:nvSpPr>
          <p:cNvPr id="64" name="Text 60"/>
          <p:cNvSpPr/>
          <p:nvPr/>
        </p:nvSpPr>
        <p:spPr>
          <a:xfrm>
            <a:off x="11521440" y="5852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本店東京都→直接申請可⚠公金要確認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7498080" y="6675120"/>
            <a:ext cx="6473952" cy="411480"/>
          </a:xfrm>
          <a:prstGeom prst="rect">
            <a:avLst/>
          </a:prstGeom>
          <a:solidFill>
            <a:srgbClr val="FFEBEE"/>
          </a:solidFill>
          <a:ln/>
        </p:spPr>
      </p:sp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6693408"/>
            <a:ext cx="274320" cy="274320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7955280" y="6675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持続化補助金 → 障害福祉給付費事業者は対象外（確定）</a:t>
            </a:r>
            <a:endParaRPr lang="en-US" sz="1100" dirty="0"/>
          </a:p>
        </p:txBody>
      </p:sp>
      <p:sp>
        <p:nvSpPr>
          <p:cNvPr id="68" name="Shape 63"/>
          <p:cNvSpPr/>
          <p:nvPr/>
        </p:nvSpPr>
        <p:spPr>
          <a:xfrm>
            <a:off x="7498080" y="7223760"/>
            <a:ext cx="6473952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9" name="Text 64"/>
          <p:cNvSpPr/>
          <p:nvPr/>
        </p:nvSpPr>
        <p:spPr>
          <a:xfrm>
            <a:off x="7589520" y="72237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B: 省力化投資(採択69%)が最も確実な財源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JV資本構成 — 段階的スキーム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関連会社制約を回避し、開発費を補助対象経費にする最適設計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1（設立〜補助事業完了）→ Phase 2（補助事業完了後）の2段階出資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6583680" cy="25603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240280"/>
            <a:ext cx="73152" cy="2560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3317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10" y="244236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1: JV設立〜補助事業完了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9808" y="2926080"/>
            <a:ext cx="640080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サンライズ 75%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50608" y="2926080"/>
            <a:ext cx="2286000" cy="5029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4" name="Text 11"/>
          <p:cNvSpPr/>
          <p:nvPr/>
        </p:nvSpPr>
        <p:spPr>
          <a:xfrm>
            <a:off x="7150608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FDSi 25%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9808" y="3566160"/>
            <a:ext cx="5943600" cy="10972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DataBeeは資本関係のない純粋な外注先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JV→DataBee開発委託費 = 全額が補助対象経費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「関連会社への外注は対象外」制約を完全回避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3017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Shape 14"/>
          <p:cNvSpPr/>
          <p:nvPr/>
        </p:nvSpPr>
        <p:spPr>
          <a:xfrm>
            <a:off x="7315200" y="2240280"/>
            <a:ext cx="6839712" cy="25603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0" y="2240280"/>
            <a:ext cx="73152" cy="2560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0" y="233172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722" y="2442362"/>
            <a:ext cx="281635" cy="28163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1381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2: 補助事業完了後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589520" y="2926080"/>
            <a:ext cx="288036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19"/>
          <p:cNvSpPr/>
          <p:nvPr/>
        </p:nvSpPr>
        <p:spPr>
          <a:xfrm>
            <a:off x="7589520" y="2926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サンライズ 45%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0469880" y="2926080"/>
            <a:ext cx="25603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1"/>
          <p:cNvSpPr/>
          <p:nvPr/>
        </p:nvSpPr>
        <p:spPr>
          <a:xfrm>
            <a:off x="1046988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DataBee 40%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13030200" y="2926080"/>
            <a:ext cx="960120" cy="50292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7" name="Text 23"/>
          <p:cNvSpPr/>
          <p:nvPr/>
        </p:nvSpPr>
        <p:spPr>
          <a:xfrm>
            <a:off x="1303020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FDSi 15%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589520" y="3566160"/>
            <a:ext cx="6400800" cy="10972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DataBeeが増資引受で資本参画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ガバナンス・配当権を正式取得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みなし大企業チェック全項目クリア（最大45%&lt;50%）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75488" y="5029200"/>
            <a:ext cx="6583680" cy="274320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75488" y="5029200"/>
            <a:ext cx="73152" cy="274320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18872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なぜ段階的スキームが必要か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749808" y="5532120"/>
            <a:ext cx="5943600" cy="21031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補助金の公募要領には「資本関係がある事業者への
外注費は補助対象外」と明記されている。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DataBeeがJV株主のまま開発を受託すると、
初期開発費2,400万円が全額対象外になるリスク。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1ではDataBeeを外注先に特化させ、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補助事業完了後に資本参画する段階的設計で解決。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315200" y="5029200"/>
            <a:ext cx="6839712" cy="27432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7315200" y="5029200"/>
            <a:ext cx="73152" cy="27432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5120640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955280" y="5074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みなし大企業チェック（Phase 2構成）</a:t>
            </a:r>
            <a:endParaRPr lang="en-US" sz="14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5577840"/>
            <a:ext cx="228600" cy="228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77240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1社50%以上所有？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10972800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最大45%→回避</a:t>
            </a:r>
            <a:endParaRPr lang="en-US" sz="11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5980176"/>
            <a:ext cx="228600" cy="2286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772400" y="59344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大企業が合計2/3以上？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10972800" y="5934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全社中小企業→問題なし</a:t>
            </a:r>
            <a:endParaRPr lang="en-US" sz="11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6382512"/>
            <a:ext cx="228600" cy="2286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772400" y="6336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大企業役員が過半数兼務？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10972800" y="6336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バランス選任→回避</a:t>
            </a:r>
            <a:endParaRPr lang="en-US" sz="11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6784848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772400" y="6739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親会社が大企業チェーン？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10972800" y="6739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3社とも無関係（確認済）</a:t>
            </a:r>
            <a:endParaRPr lang="en-US" sz="11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7187184"/>
            <a:ext cx="228600" cy="22860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772400" y="7141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課税所得15億超？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10972800" y="7141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JV設立直後→該当なし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全制度精査マトリックス（2026-03-24 Web調査完了）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11制度を採択率×スピードの2軸で評価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採択されやすさ × 交付までのスピード — 全制度の公式サイト・公募要領・採択実績を個別検証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13679424" cy="512064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10160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速い（3ヶ月以内）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97312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遅い（1年以上）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560320"/>
            <a:ext cx="13679424" cy="18288"/>
          </a:xfrm>
          <a:prstGeom prst="rect">
            <a:avLst/>
          </a:prstGeom>
          <a:solidFill>
            <a:srgbClr val="74655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4800600"/>
            <a:ext cx="13679424" cy="18288"/>
          </a:xfrm>
          <a:prstGeom prst="rect">
            <a:avLst/>
          </a:prstGeom>
          <a:solidFill>
            <a:srgbClr val="E2D9CF"/>
          </a:solidFill>
          <a:ln/>
        </p:spPr>
      </p:sp>
      <p:sp>
        <p:nvSpPr>
          <p:cNvPr id="11" name="Shape 9"/>
          <p:cNvSpPr/>
          <p:nvPr/>
        </p:nvSpPr>
        <p:spPr>
          <a:xfrm>
            <a:off x="7296912" y="2560320"/>
            <a:ext cx="18288" cy="4800600"/>
          </a:xfrm>
          <a:prstGeom prst="rect">
            <a:avLst/>
          </a:prstGeom>
          <a:solidFill>
            <a:srgbClr val="E2D9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" y="274320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採択されやすい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（50%以上）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493776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中程度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（15-40%）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834640"/>
            <a:ext cx="2651760" cy="685800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834640"/>
            <a:ext cx="54864" cy="685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省力化投資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67-69%  サンライズ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2834640"/>
            <a:ext cx="2651760" cy="685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2834640"/>
            <a:ext cx="54864" cy="685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3977640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デジタル化・AI導入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7764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40-55%  サンライズ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3657600"/>
            <a:ext cx="2651760" cy="685800"/>
          </a:xfrm>
          <a:prstGeom prst="rect">
            <a:avLst/>
          </a:prstGeom>
          <a:solidFill>
            <a:srgbClr val="E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3657600"/>
            <a:ext cx="54864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特許庁減免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100%  両方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2834640"/>
            <a:ext cx="2651760" cy="6858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9520" y="2834640"/>
            <a:ext cx="54864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DX推進助成金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2668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30-50%  JV推奨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15600" y="2834640"/>
            <a:ext cx="2651760" cy="6858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15600" y="2834640"/>
            <a:ext cx="54864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10652760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ハンズオン支援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5276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年10社  JV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5029200"/>
            <a:ext cx="2651760" cy="6858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" y="5029200"/>
            <a:ext cx="54864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5047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創業助成事業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15%  JV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5029200"/>
            <a:ext cx="2651760" cy="6858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0" y="5029200"/>
            <a:ext cx="54864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0" name="Text 38"/>
          <p:cNvSpPr/>
          <p:nvPr/>
        </p:nvSpPr>
        <p:spPr>
          <a:xfrm>
            <a:off x="3977640" y="5047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特許調査助成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7764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比較的高  JV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4400" y="5852160"/>
            <a:ext cx="2651760" cy="685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4400" y="5852160"/>
            <a:ext cx="54864" cy="685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1051560" y="5870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ICT導入支援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51560" y="6199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50-80%  サンライズ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5029200"/>
            <a:ext cx="2651760" cy="68580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589520" y="5029200"/>
            <a:ext cx="54864" cy="6858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8" name="Text 46"/>
          <p:cNvSpPr/>
          <p:nvPr/>
        </p:nvSpPr>
        <p:spPr>
          <a:xfrm>
            <a:off x="7726680" y="5047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新事業進出・もの補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2668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348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35-37%  JV(2年目)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515600" y="5029200"/>
            <a:ext cx="2651760" cy="68580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515600" y="5029200"/>
            <a:ext cx="54864" cy="6858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2" name="Text 50"/>
          <p:cNvSpPr/>
          <p:nvPr/>
        </p:nvSpPr>
        <p:spPr>
          <a:xfrm>
            <a:off x="10652760" y="5047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Go-Tech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65276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348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20-30%  JV(2年目)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589520" y="5852160"/>
            <a:ext cx="2651760" cy="68580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589520" y="5852160"/>
            <a:ext cx="54864" cy="6858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56" name="Text 54"/>
          <p:cNvSpPr/>
          <p:nvPr/>
        </p:nvSpPr>
        <p:spPr>
          <a:xfrm>
            <a:off x="7726680" y="5870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SBIR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726680" y="6199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348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10-30%  JV(2年目)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75488" y="7452360"/>
            <a:ext cx="1367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■ サンライズ   ■ JV法人   ■ 2年目以降   ■ 両方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Year 1 獲得見込み（2026年度）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保守的〜楽観的シナリオ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11制度精査に基づく初年度の現実的見込み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240280"/>
          <a:ext cx="13679424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188720"/>
                <a:gridCol w="1188720"/>
                <a:gridCol w="1188720"/>
                <a:gridCol w="618134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制度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申請主体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保守的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楽観的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採択率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備考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創業助成事業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400万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15%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面接勝負。4/7〜4/16締切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デジタル化・AI導入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サンライズ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150万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450万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40-55%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3/30開始 1次5/12締切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省力化投資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サンライズ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500万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1,000万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69%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最も確実な財源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DX推進助成金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1,500万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30-50%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アドバイザー3ヶ月必要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特許庁減免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両方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100%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自動適用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特許調査費用助成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100万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比較的高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知財相談が前提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ICT導入支援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サンライズ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500万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50-80%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神奈川県窓口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" y="6080760"/>
            <a:ext cx="13679424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" y="6080760"/>
            <a:ext cx="73152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612648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合計: </a:t>
            </a:r>
            <a:pPr indent="0" marL="0">
              <a:buNone/>
            </a:pPr>
            <a:r>
              <a:rPr lang="en-US" sz="14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保守的 </a:t>
            </a:r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880万</a:t>
            </a:r>
            <a:pPr indent="0" marL="0">
              <a:buNone/>
            </a:pPr>
            <a:r>
              <a:rPr lang="en-US" sz="14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〜  楽観的 </a:t>
            </a:r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4,000万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" y="6949440"/>
            <a:ext cx="13679424" cy="82296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" y="6949440"/>
            <a:ext cx="73152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6995160"/>
            <a:ext cx="13258800" cy="731520"/>
          </a:xfrm>
          <a:prstGeom prst="rect">
            <a:avLst/>
          </a:prstGeom>
          <a:noFill/>
          <a:ln/>
        </p:spPr>
        <p:txBody>
          <a:bodyPr wrap="square" lIns="10160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最重要発見: </a:t>
            </a:r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省力化投資補助金の採択率69%（過去最高水準）が判明。サンライズの最も確実な財源。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デジタル化・AI導入補助金（旧IT導入補助金）は2026年3/30から募集開始。1次締切5/12。両方同時申請可能。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東京都DX推進助成金（Track A/B 共通の最大柱）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補助率の正確な理解と最大化戦略 — サンライズ本店が東京都のためTrack Bからも申請可能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補助率テーブル（公式サイト 2026-03-23検証済み）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13679424" cy="91440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240280"/>
            <a:ext cx="73152" cy="91440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31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331720"/>
            <a:ext cx="1280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旧版「3/4〜4/5」は誤り。中小企業の基本補助率は1/2。賃金引上げ計画の策定が補助率引上げの鍵。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3337560"/>
          <a:ext cx="1367942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4572000"/>
                <a:gridCol w="453542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区分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補助率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条件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3,000万申請時の自己負担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中小企業（基本）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1/2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なし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3,000万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中小企業＋賃上げ計画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3/4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賃金引上げ計画を策定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1,000万  ← 推奨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小規模＋賃上げ or 働き方改革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4/5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小規模事業者+追加計画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750万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5212080"/>
            <a:ext cx="13679424" cy="25603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" y="5212080"/>
            <a:ext cx="73152" cy="2560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5303520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推奨: 賃金引上げ計画で3/4を確保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9808" y="5760720"/>
            <a:ext cx="13258800" cy="1828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1: </a:t>
            </a:r>
            <a:pPr indent="0" marL="0">
              <a:buNone/>
            </a:pPr>
            <a:r>
              <a:rPr lang="en-US" sz="14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JV法人で最低1名を雇用（プロジェクトマネージャー等）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2: </a:t>
            </a:r>
            <a:pPr indent="0" marL="0">
              <a:buNone/>
            </a:pPr>
            <a:r>
              <a:rPr lang="en-US" sz="14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賃金引上げ計画を策定（年3%以上の賃上げ計画）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3: </a:t>
            </a:r>
            <a:pPr indent="0" marL="0">
              <a:buNone/>
            </a:pPr>
            <a:r>
              <a:rPr lang="en-US" sz="14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DXアドバイザー支援に申込（無料・必須。3ヶ月のリードタイム）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4: </a:t>
            </a:r>
            <a:pPr indent="0" marL="0">
              <a:buNone/>
            </a:pPr>
            <a:r>
              <a:rPr lang="en-US" sz="14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アドバイザー提案書に基づきDX推進助成金を申請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現実的な申請プラン: 対象経費4,000万 × 補助率3/4 = 補助3,000万 / 自己負担1,000万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時系列アクションプラン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2026年4月〜 具体的な申請スケジュール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即時着手（4月） → 申請ラッシュ（5-6月） → 面接・審査（7-9月） → 2年目大型狙い（2027〜）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3355848" cy="53035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240280"/>
            <a:ext cx="73152" cy="5303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40280"/>
            <a:ext cx="3282696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22677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即時着手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2026年4月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04288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3200400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TOKYO創業ステーション申込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" y="3730752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3730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創業助成 4/7〜4/16締切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" y="4261104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42611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gBizIDプライム取得開始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" y="4791456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" y="4791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DXアドバイザー派遣申請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" y="5321808"/>
            <a:ext cx="320040" cy="320040"/>
          </a:xfrm>
          <a:prstGeom prst="rect">
            <a:avLst/>
          </a:prstGeom>
          <a:solidFill>
            <a:srgbClr val="746558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5321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-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" y="5321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振興公社 知財相談予約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14216" y="2240280"/>
            <a:ext cx="3355848" cy="53035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14216" y="2240280"/>
            <a:ext cx="73152" cy="5303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Shape 26"/>
          <p:cNvSpPr/>
          <p:nvPr/>
        </p:nvSpPr>
        <p:spPr>
          <a:xfrm>
            <a:off x="4087368" y="2240280"/>
            <a:ext cx="3282696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4151376" y="22677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申請ラッシュ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5〜6月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43016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5-6月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51376" y="3200400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4151376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62856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デジタル化・AI導入 1次5/12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51376" y="3730752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4151376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62856" y="3730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省力化投資 第6回 4-5月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51376" y="4261104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8" name="Text 36"/>
          <p:cNvSpPr/>
          <p:nvPr/>
        </p:nvSpPr>
        <p:spPr>
          <a:xfrm>
            <a:off x="4151376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62856" y="42611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特許調査助成 5/8〜5/22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51376" y="4791456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1" name="Text 39"/>
          <p:cNvSpPr/>
          <p:nvPr/>
        </p:nvSpPr>
        <p:spPr>
          <a:xfrm>
            <a:off x="4151376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62856" y="4791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DX推進 第1回予約 5/15〜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51376" y="5321808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4151376" y="5321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62856" y="5321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デジタル化・AI 2次6/15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52944" y="2240280"/>
            <a:ext cx="3355848" cy="475488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552944" y="2240280"/>
            <a:ext cx="73152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Shape 46"/>
          <p:cNvSpPr/>
          <p:nvPr/>
        </p:nvSpPr>
        <p:spPr>
          <a:xfrm>
            <a:off x="7626096" y="2240280"/>
            <a:ext cx="3282696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7690104" y="22677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審査・交付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7〜12月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381744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Q3-Q4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690104" y="3200400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2" name="Text 50"/>
          <p:cNvSpPr/>
          <p:nvPr/>
        </p:nvSpPr>
        <p:spPr>
          <a:xfrm>
            <a:off x="7690104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01584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創業助成 面接7月→採択9月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90104" y="3794760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5" name="Text 53"/>
          <p:cNvSpPr/>
          <p:nvPr/>
        </p:nvSpPr>
        <p:spPr>
          <a:xfrm>
            <a:off x="7690104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01584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ICT導入支援 神奈川県公募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90104" y="4389120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8" name="Text 56"/>
          <p:cNvSpPr/>
          <p:nvPr/>
        </p:nvSpPr>
        <p:spPr>
          <a:xfrm>
            <a:off x="7690104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01584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DX推進 第2回予約 10月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690104" y="4983480"/>
            <a:ext cx="320040" cy="320040"/>
          </a:xfrm>
          <a:prstGeom prst="rect">
            <a:avLst/>
          </a:prstGeom>
          <a:solidFill>
            <a:srgbClr val="746558"/>
          </a:solidFill>
          <a:ln/>
        </p:spPr>
      </p:sp>
      <p:sp>
        <p:nvSpPr>
          <p:cNvPr id="61" name="Text 59"/>
          <p:cNvSpPr/>
          <p:nvPr/>
        </p:nvSpPr>
        <p:spPr>
          <a:xfrm>
            <a:off x="7690104" y="4983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-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01584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CareOS MVP開発・実証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1091672" y="2240280"/>
            <a:ext cx="3355848" cy="475488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1091672" y="2240280"/>
            <a:ext cx="73152" cy="4754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164824" y="2240280"/>
            <a:ext cx="3282696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6" name="Text 64"/>
          <p:cNvSpPr/>
          <p:nvPr/>
        </p:nvSpPr>
        <p:spPr>
          <a:xfrm>
            <a:off x="11228832" y="22677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2年目以降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2027〜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2920472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2027+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1228832" y="3200400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9" name="Text 67"/>
          <p:cNvSpPr/>
          <p:nvPr/>
        </p:nvSpPr>
        <p:spPr>
          <a:xfrm>
            <a:off x="11228832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1640312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新事業進出（最大9,000万）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1228832" y="3794760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2" name="Text 70"/>
          <p:cNvSpPr/>
          <p:nvPr/>
        </p:nvSpPr>
        <p:spPr>
          <a:xfrm>
            <a:off x="11228832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1640312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SBIR Phase1（1,500万）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1228832" y="4389120"/>
            <a:ext cx="320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5" name="Text 73"/>
          <p:cNvSpPr/>
          <p:nvPr/>
        </p:nvSpPr>
        <p:spPr>
          <a:xfrm>
            <a:off x="11228832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1640312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ハンズオン伴走支援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1228832" y="4983480"/>
            <a:ext cx="320040" cy="320040"/>
          </a:xfrm>
          <a:prstGeom prst="rect">
            <a:avLst/>
          </a:prstGeom>
          <a:solidFill>
            <a:srgbClr val="746558"/>
          </a:solidFill>
          <a:ln/>
        </p:spPr>
      </p:sp>
      <p:sp>
        <p:nvSpPr>
          <p:cNvPr id="78" name="Text 76"/>
          <p:cNvSpPr/>
          <p:nvPr/>
        </p:nvSpPr>
        <p:spPr>
          <a:xfrm>
            <a:off x="11228832" y="4983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-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1640312" y="4983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他施設2〜5箇所へ横展開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75488" y="7360920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81" name="Text 79"/>
          <p:cNvSpPr/>
          <p:nvPr/>
        </p:nvSpPr>
        <p:spPr>
          <a:xfrm>
            <a:off x="658368" y="7360920"/>
            <a:ext cx="1331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Year 1 見込み: 880万〜4,000万  |  3年間累計ポテンシャル: 1.1億〜3.8億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リスクと対策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2トラック戦略の主要リスク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リスク影響度と対応方針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13679424" cy="91440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240280"/>
            <a:ext cx="73152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468880"/>
            <a:ext cx="4572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468880"/>
            <a:ext cx="50292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DX推進助成金の不採択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265176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省力化投資補助金・ものづくり補助金をバックアップとして同時準備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291840"/>
            <a:ext cx="13679424" cy="91440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291840"/>
            <a:ext cx="73152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520440"/>
            <a:ext cx="4572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3520440"/>
            <a:ext cx="50292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520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補助金審査の長期化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03120" y="370332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複数の補助金を時差で申請し入金タイミングを分散。Track Bで先行申請しキャッシュフローを確保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" y="4343400"/>
            <a:ext cx="13679424" cy="91440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4343400"/>
            <a:ext cx="73152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4572000"/>
            <a:ext cx="4572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572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4572000"/>
            <a:ext cx="50292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572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031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ICT導入支援制度の移行・廃止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103120" y="475488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神奈川県・横浜市の独自制度も並行確認。IT導入補助金で代替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" y="5394960"/>
            <a:ext cx="13679424" cy="91440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" y="5394960"/>
            <a:ext cx="73152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5623560"/>
            <a:ext cx="4572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623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371600" y="5623560"/>
            <a:ext cx="50292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5623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0312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JV設立の遅延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103120" y="580644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定款・登記・口座開設の事前準備を並行進行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" y="6446520"/>
            <a:ext cx="13679424" cy="91440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" y="6446520"/>
            <a:ext cx="73152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0" name="Shape 38"/>
          <p:cNvSpPr/>
          <p:nvPr/>
        </p:nvSpPr>
        <p:spPr>
          <a:xfrm>
            <a:off x="749808" y="6675120"/>
            <a:ext cx="4572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6675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371600" y="6675120"/>
            <a:ext cx="50292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3" name="Text 41"/>
          <p:cNvSpPr/>
          <p:nvPr/>
        </p:nvSpPr>
        <p:spPr>
          <a:xfrm>
            <a:off x="1371600" y="6675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103120" y="6492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賃金引上げ計画が困難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103120" y="685800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補助率1/2でも申請可能。対象経費を6,000万に拡大して補助3,000万を確保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最優先アクション（2026年4月〜）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具体的な締切と担当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即時着手 → 5月申請ラッシュ → JV設立 → DX推進助成金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240280"/>
          <a:ext cx="13679424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0"/>
                <a:gridCol w="1371600"/>
                <a:gridCol w="1097280"/>
                <a:gridCol w="61813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#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アクション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担当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期限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理由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✓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サンライズ中小企業要件 → 確定（資本金5,000万以下）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確認済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完了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全補助金に申請可能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TOKYO創業ステーション プランコンサルティング申込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永山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4月即時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創業助成事業の必須要件（2ヶ月以上受講）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サンライズ: gBizIDプライム取得開始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大野社長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4月即時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デジタル化・AI導入補助金の必須要件（2-3週間）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DXアドバイザー派遣申請（JV or サンライズ名義）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永山/大野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4月即時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DX推進助成金の前提条件（3ヶ月支援）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デジタル化・AI導入補助金 1次申請（サンライズ）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大野社長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5/12締切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採択率40-55%。3/30から募集開始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省力化投資補助金 第6回申請（サンライズ）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大野社長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4-5月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採択率69%。最も確実な財源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✓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みなし大企業チェック完了 → 全項目クリア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確認済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完了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Phase 1: 75/25 → Phase 2: 45/40/15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" y="7680960"/>
            <a:ext cx="1367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本レポートは2026年3月24日時点の制度検証に基づきます（第5部: 全制度精査マトリックス反映）。申請前に最新の公募要領を必ず確認してください。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知財助成制度 2トラック戦略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特許・商標・意匠の出願コストを助成金で最大80%カバー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A: JV法人（設立10年未満→特許庁1/3減免）   Track B: サンライズ（創業約7年→ハンズオン対象）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" y="2240280"/>
            <a:ext cx="6583680" cy="48463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240280"/>
            <a:ext cx="73152" cy="4846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33172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245242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A: JV法人の知財戦略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" y="2880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CareOS株式会社（東京都・設立10年未満）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" y="3246120"/>
            <a:ext cx="621792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246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特許庁 中小企業減免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出願費用1/3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JV設立直後〜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" y="3840480"/>
            <a:ext cx="621792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特許調査費用助成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3756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上限100万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即時（公社相談後）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" y="4434840"/>
            <a:ext cx="621792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8"/>
          <p:cNvSpPr/>
          <p:nvPr/>
        </p:nvSpPr>
        <p:spPr>
          <a:xfrm>
            <a:off x="749808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知財活用製品化支援助成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337560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上限500万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 Q3〜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8368" y="5029200"/>
            <a:ext cx="621792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ハンズオン伴走支援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37560" y="5029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上限1,500万(3年間)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46320" y="5029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 Q2公募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58368" y="5623560"/>
            <a:ext cx="621792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" y="5623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外国特許出願費用助成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37560" y="5623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上限400万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46320" y="5623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3（2028〜）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58368" y="6217920"/>
            <a:ext cx="621792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6217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外国商標出願費用助成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337560" y="6217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上限60万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46320" y="6217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 3（2028〜）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" y="6903720"/>
            <a:ext cx="621792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7" name="Text 34"/>
          <p:cNvSpPr/>
          <p:nvPr/>
        </p:nvSpPr>
        <p:spPr>
          <a:xfrm>
            <a:off x="749808" y="6903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A 知財助成ポテンシャル: 最大6,060万（3年間）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315200" y="2240280"/>
            <a:ext cx="6839712" cy="4846320"/>
          </a:xfrm>
          <a:prstGeom prst="rect">
            <a:avLst/>
          </a:prstGeom>
          <a:solidFill>
            <a:srgbClr val="F9F6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315200" y="2240280"/>
            <a:ext cx="73152" cy="4846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0" name="Shape 37"/>
          <p:cNvSpPr/>
          <p:nvPr/>
        </p:nvSpPr>
        <p:spPr>
          <a:xfrm>
            <a:off x="7498080" y="233172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1" y="2452421"/>
            <a:ext cx="307238" cy="30723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211312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B: サンライズの知財戦略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758952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株式会社サンライズ（東京都多摩市・2019年設立→創業約7年）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7498080" y="3246120"/>
            <a:ext cx="6473952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5" name="Text 41"/>
          <p:cNvSpPr/>
          <p:nvPr/>
        </p:nvSpPr>
        <p:spPr>
          <a:xfrm>
            <a:off x="75895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特許庁 中小企業減免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58952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出願費用1/2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1060704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法人形態ベースの減免 → 公金収入の影響なし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7498080" y="4023360"/>
            <a:ext cx="6473952" cy="64008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49" name="Text 45"/>
          <p:cNvSpPr/>
          <p:nvPr/>
        </p:nvSpPr>
        <p:spPr>
          <a:xfrm>
            <a:off x="758952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特許調査費用助成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7589520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上限100万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1060704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⚠ 公金収入事業者の適格性要確認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7498080" y="4800600"/>
            <a:ext cx="6473952" cy="64008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53" name="Text 49"/>
          <p:cNvSpPr/>
          <p:nvPr/>
        </p:nvSpPr>
        <p:spPr>
          <a:xfrm>
            <a:off x="7589520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ハンズオン伴走支援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7589520" y="5093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上限1,500万(3年間)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10607040" y="4846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⚠ 公金収入事業者の適格性要確認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7498080" y="5577840"/>
            <a:ext cx="6473952" cy="64008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57" name="Text 53"/>
          <p:cNvSpPr/>
          <p:nvPr/>
        </p:nvSpPr>
        <p:spPr>
          <a:xfrm>
            <a:off x="7589520" y="5577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知財活用製品化支援助成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7589520" y="5870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上限500万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10607040" y="5623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⚠ 公金収入事業者の適格性要確認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7498080" y="6400800"/>
            <a:ext cx="6473952" cy="365760"/>
          </a:xfrm>
          <a:prstGeom prst="rect">
            <a:avLst/>
          </a:prstGeom>
          <a:solidFill>
            <a:srgbClr val="FFEBEE"/>
          </a:solidFill>
          <a:ln/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6428232"/>
            <a:ext cx="256032" cy="256032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7909560" y="6400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グローバルニッチトップ助成 → 現段階では市場シェア実績不足で対象外</a:t>
            </a:r>
            <a:endParaRPr lang="en-US" sz="1000" dirty="0"/>
          </a:p>
        </p:txBody>
      </p:sp>
      <p:sp>
        <p:nvSpPr>
          <p:cNvPr id="63" name="Shape 58"/>
          <p:cNvSpPr/>
          <p:nvPr/>
        </p:nvSpPr>
        <p:spPr>
          <a:xfrm>
            <a:off x="7498080" y="6903720"/>
            <a:ext cx="6473952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4" name="Text 59"/>
          <p:cNvSpPr/>
          <p:nvPr/>
        </p:nvSpPr>
        <p:spPr>
          <a:xfrm>
            <a:off x="7589520" y="6903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Track B 知財助成: 特許庁減免のみ確定。振興公社制度は公金収入の適格性要確認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475488" y="7315200"/>
            <a:ext cx="13679424" cy="50292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1"/>
          <p:cNvSpPr/>
          <p:nvPr/>
        </p:nvSpPr>
        <p:spPr>
          <a:xfrm>
            <a:off x="475488" y="7315200"/>
            <a:ext cx="73152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7" name="Text 62"/>
          <p:cNvSpPr/>
          <p:nvPr/>
        </p:nvSpPr>
        <p:spPr>
          <a:xfrm>
            <a:off x="749808" y="7360920"/>
            <a:ext cx="1325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重要: サンライズは障害福祉サービス報酬(公金)が主収入。振興公社の知財助成は株式会社で法人形態上は対象だが、公金収入事業者の適格性は要確認。→ JV法人(Track A)経由での申請を優先推奨。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知財 最優先アクション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234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補助金申請と連動した知財保護スケジュール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solidFill>
            <a:srgbClr val="484237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536192"/>
            <a:ext cx="13679424" cy="502920"/>
          </a:xfrm>
          <a:prstGeom prst="rect">
            <a:avLst/>
          </a:prstGeom>
          <a:noFill/>
          <a:ln/>
        </p:spPr>
        <p:txBody>
          <a:bodyPr wrap="square" lIns="45720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即時着手 → 出願準備 → 出願・助成申請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240280"/>
          <a:ext cx="13679424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0"/>
                <a:gridCol w="1280160"/>
                <a:gridCol w="1005840"/>
                <a:gridCol w="5084064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#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アクション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担当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期限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理由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Track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42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東京都知的財産総合センターに相談予約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永山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即時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全知財助成の入口。無料。特許調査助成の前提条件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共通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INPIT知財総合支援窓口で先行技術調査を相談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永山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即時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特許3件の先行技術を無料で調査支援してもらえる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共通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特許調査費用助成に申請（年2回: 5月・10月）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JV法人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2026 Q2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弁理士による先行技術調査費用を1/2助成（上限100万）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A推奨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ハンズオン伴走支援に応募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JV法人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2026 Q2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①無償伴走(最大3年)+②助成上限1,500万(1/2)。年10社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A推奨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弁理士選定・特許出願(1)AI虐待予防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JV法人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2026 Q3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Phase 1開発中に出願。公開前が鉄則。費用80-100万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6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商標出願 Universal Care OS / わかるじゃん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JV法人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2026 Q2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費用は1件約5-10万。中小企業減免で印紙代1/2-1/3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8423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7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8282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GビズIDプライム取得（JV法人名義）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永山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JV設立後即</a:t>
                      </a:r>
                      <a:endParaRPr lang="en-US" sz="11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jGrants電子申請の必須要件。取得に2-3週間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</a:t>
                      </a:r>
                      <a:endParaRPr lang="en-US" sz="10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" y="7086600"/>
            <a:ext cx="13679424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" y="7086600"/>
            <a:ext cx="73152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7132320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知財費用概算: </a:t>
            </a:r>
            <a:pPr indent="0" marL="0">
              <a:buNone/>
            </a:pPr>
            <a:r>
              <a:rPr lang="en-US" sz="1300" dirty="0">
                <a:solidFill>
                  <a:srgbClr val="4A4A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特許3件(240-300万) + 意匠3件(30-45万) + 商標4件(20-40万) = </a:t>
            </a:r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合計 約290-385万</a:t>
            </a:r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→ ハンズオン支援(上限1,500万/3年間)採択で実質全額カバー可能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" y="7680960"/>
            <a:ext cx="1367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465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知財助成の金額は2026年3月24日時点の東京都中小企業振興公社公開情報に基づく。申請前に最新公募要領を確認のこと。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 panose="020F0302020204030204"/>
        <a:ea typeface="Hiragino Sans"/>
        <a:cs typeface="Hiragino Sans"/>
        <a:font script="Jpan" typeface="Hiragino Sans"/>
        <a:font script="Hang" typeface="Hiragino Sans"/>
        <a:font script="Hans" typeface="Hiragino Sans"/>
        <a:font script="Hant" typeface="Hiragino San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Hiragino Sans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 panose="020F0502020204030204"/>
        <a:ea typeface="Hiragino Sans"/>
        <a:cs typeface="Hiragino Sans"/>
        <a:font script="Jpan" typeface="Hiragino Sans"/>
        <a:font script="Hang" typeface="Hiragino Sans"/>
        <a:font script="Hans" typeface="Hiragino Sans"/>
        <a:font script="Hant" typeface="Hiragino San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Hiragino Sans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CareOS 補助金 2トラック戦略</dc:title>
  <dc:subject>PptxGenJS Presentation</dc:subject>
  <dc:creator>CareOS / FDSi</dc:creator>
  <cp:lastModifiedBy>CareOS / FDSi</cp:lastModifiedBy>
  <cp:revision>1</cp:revision>
  <dcterms:created xsi:type="dcterms:W3CDTF">2026-03-24T22:28:36Z</dcterms:created>
  <dcterms:modified xsi:type="dcterms:W3CDTF">2026-03-24T22:28:36Z</dcterms:modified>
</cp:coreProperties>
</file>